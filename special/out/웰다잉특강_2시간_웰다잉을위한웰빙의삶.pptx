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1분
인사. 오늘은 2시간 동안 "어떻게 죽을까"가 아니라 "어떻게 살아갈까"를 이야기합니다.
워크북과 필기구를 확인한다. 화장실 위치, 중간 휴식(약 60분 지점)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천천히, 객석을 둘러보며 세 번 묻는다. 대답을 기다린다.
오른쪽 부고장을 가리키며: "우리가 일상에서 가장 자주 받는 소식 중 하나가 이 부고입니다. 그런데 정작 우리는 이 이야기를 잘 하지 않지요."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영화 「그대를 사랑합니다」(2011) 한 장면. 김만석 어르신의 대사를 실감 나게 읽어 준다.
"오늘 여기 오신 여러분은 이미 충분히 아름다운 삶을 사셨습니다." — 인정과 존중으로 시작.
[영상 삽입 후보] 영화 예고편 1~2분.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2분
주인공 네 분이 모두 세상을 떠났다는 사실을 전하며 잠시 멈춘다.
"죽음은 영화 속 이야기가 아니라, 우리 모두의 이야기입니다."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간단한 자기소개. 엔딩노트와 WLC 교재를 직접 들어 보여 주면 좋다.
"저는 16주 동안 웰다잉라이프코치를 양성하는 과정을 가르치고 있습니다. 오늘은 그 16주의 가장 중요한 이야기를 두 시간에 담아 왔습니다."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[강사 이야기] 시신기증을 결심하게 된 계기를 직접, 짧게 들려준다(2~3분).
강의의 출발점: "죽음을 미리 생각해 본 경험이 제 삶을 바꾸었습니다."
※ 등록증의 개인정보(주소 등)가 화면에 크게 보이지 않도록 이미지 크기를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"처음 이런 글을 정리한 때는 1999년 5월이었고, 2000년, 2005년, 그리고 올해 부모님 기일에 네 번째로 정리했습니다."
핵심 메시지: 유언·엔딩노트는 "완성"이 아니라 "업데이트". 오늘 워크북도 그 첫 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[강사 이야기] 사진 속 사람들과 장소에 얽힌 이야기를 직접 들려준다.
"함께 웃던 얼굴들 가운데 벌써 떠난 이들이 있습니다. 그때 미처 하지 못한 말이 오늘 강의를 하게 된 또 하나의 이유입니다."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세 질문을 천천히 읽고 1분 침묵. 옆 사람과 짧게 나누어도 좋다.
"오늘 두 시간이 끝날 때, 세 번째 질문에 대한 나만의 답 하나를 가져가시면 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1분
오늘의 지도. "16주 과정 전체를 두 시간에 담을 수는 없습니다. 그래서 가장 중요한 네 걸음만 함께 걷겠습니다."
시간 배분(참고): 열기 15분 · 1부 20분 · 2부 25분 · 휴식 5분 · 3부 15분 · 4부 30분 · 닫기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
1부 시작. 약 20분.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"여러분이 생각하는 좋은 죽음은 어느 쪽에 가깝습니까?"
좋은 죽음의 핵심 두 단어: 존엄, 자기결정.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2분
생물마다 정해진 수명이 있다. 사람의 최대 수명은 약 120년 안팎으로 본다(Dong 외, Nature 2016).
가벼운 호기심으로 분위기를 푸는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1분
죽음이 있기에 오늘이 소중하다. 잡스의 축사 한 구절.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인구 피라미드가 "항아리"에서 "역삼각형"으로 바뀐다. 2026년 우리나라 인구는 약 5,160만 명, 65세 이상이 빠르게 늘고 있다.
수치는 통계청 장래인구추계 기준 — 수업 직전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"준비되지 않은 장수는 축복이 아닌 가족 전체의 위기가 될 수 있습니다."
원본 슬라이드 수치(노인 빈곤율 39.7%, 유병기간 약 18년)는 발표 전 최신 통계로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참여 질문: "나는 지금 몇 번에 가까운가요? 손가락으로 표시해 보세요."
1~5는 퀴블러-로스가 말한 부정·분노·타협·우울·수용과도 닮아 있다. 정답은 없다 — 어느 번호든 자연스러운 마음.
웃음이 나오는 대목. 충분히 웃게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로마 개선장군 뒤에서 노예가 외쳤다는 "메멘토 모리".
웰다잉(준비된 끝)과 웰빙(충만한 현재)은 하나로 이어진 고리.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WLC 교재 1·2장의 핵심을 세 가지로 압축. 시니어 청중이 "내 이야기"로 느끼도록 각 항목마다 짧은 질문을 던진다.
예) "자녀에게 내 치료에 대해 말해 둔 적 있으세요?"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1분
1부 마무리. "그래서 오늘 우리는 죽음을 이야기하면서 사실은 삶을 이야기합니다."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
2부 시작. 약 25분. 정보가 많은 구간이므로 "다 외우실 필요 없습니다, 어디에 물어보면 되는지만 기억하세요"라고 안심시킨다.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대다수가 무의미한 연명의료를 원하지 않는다고 답하지만, 실제로 미리 서류로 남긴 사람은 많지 않다 — "의지와 실행의 간극".
원본 수치(사전연명의료의향서 등록 300만 명 돌파, 84.1% 거부 희망 등)는 국립연명의료관리기관 최신 통계로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WLC 9강 내용 요약. 등록기관(보건소, 국민건강보험공단 지사, 일부 의료기관·복지관 등)은 국립연명의료관리기관 누리집에서 확인 — 수업 직전 재확인.
"이 서류는 죽음을 서두르는 서류가 아니라, 내 뜻을 지키고 가족의 짐을 덜어 주는 서류입니다."
워크북 6쪽(의료·장례 희망)과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2분
"병원이 아닌 우리 집에서" 살다가 마무리할 수 있도록 돕는 제도. 대상·신청 절차는 지자체마다 다르므로 주민센터 문의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세부 요건은 법률 전문가(변호사·법무사·공증인)에게 확인하도록 안내 — WLC는 법률 자문을 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자필증서 유언은 내용 전부·날짜·주소·성명을 직접 쓰고 도장을 찍어야 한다. 하나라도 빠지면 무효가 될 수 있다.
디지털 유산(사진·계정·구독 서비스)은 7강 내용. 비밀번호를 종이에 적어 두는 것보다 "어디에 무엇이 있는지" 알려 두는 것이 우선.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화장률은 1990년대 초 20% 안팎에서 최근 90% 이상으로 높아졌다. 산분장 관련 규정은 2025년 시행 — 세부 기준은 e하늘 장사정보시스템에서 확인.
"장례의 크기보다, 어떤 마음으로 보내고 싶은지가 중요해졌습니다."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1분
"너는 흙이니 흙으로 돌아갈 것이니라." 신앙 안에서 장례·장묘를 바라보는 시선.
워크북 6쪽 "원하는 장례 방식"으로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1분
영화·방송·현장 사진. 웰다잉이 사회적 관심사가 되었음을 보여 준다.
[영상 삽입 후보] 관련 다큐 또는 드라마 장면 1~2분.
이 슬라이드 뒤에 5분 휴식을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5분
5분 휴식. 무거운 정보 뒤에 몸과 마음을 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
3부 시작. 약 15분.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호스피스 간병인 브로니 웨어가 들은 이야기. 다섯 가지 중 "나에게 가장 와닿는 번호"를 마음속으로 골라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다섯 문장을 다 같이 소리 내어 읽는다. 3번(고맙다)은 워크북 2·5쪽으로 이어진다.
"인생은 선택입니다. 행복을 선택하십시오." — 브로니 웨어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WLC 13강(임종 돌봄) "마지막 대화"의 핵심.
"이 말들은 마지막에만 하는 말이 아닙니다. 오늘 집에 가서 해도 되는 말입니다."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"많은 말보다, 곁에 있어 주는 것." 간병 경험이 있는 분들께 깊이 와닿는 대목.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3분
WLC 11강(상실·애도) 요약. 배우자를 먼저 보낸 분이 계실 수 있으니 따뜻하게, 천천히.
두 시간 이상 일상이 무너지거나 "따라가고 싶다"는 말이 반복되면 전문 상담(정신건강복지센터, 자살예방상담전화 109)으로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
4부 워크북 실습. 약 30분. 각 질문당 3~4분. 시간이 부족하면 1·4·7번을 우선하고 나머지는 집에서 쓰도록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워크북 전체 흐름 소개. 표지에 이름·날짜·구역을 먼저 쓰게 한다.
"이 워크북은 오늘 다 채우지 않아도 됩니다. 제가 네 번 고쳐 썼듯이, 오늘은 첫 장입니다."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5분 · 워크북 2쪽
좋은 마무리는 좋았던 삶을 기억하는 데서 시작한다. 성찰 질문: "지금의 나를 있게 한 하나님의 손길은 어느 순간에 가장 선명했습니까?"
나눔은 자원자 1~2명만. 강요하지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4분 · 워크북 3쪽
가치 예시를 몇 개 보여 주면 쉽게 쓴다: 가족, 정직, 신앙, 나눔, 건강, 배움, 성실.
성찰 질문: "내가 지켜온 가치 중 가족에게 가장 물려주고 싶은 것은?"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4분 · 워크북 4쪽
웰다잉은 죽음을 준비하는 것이 아니라 삶을 정리하고 완성하는 과정. 정답·점수는 없다.
7번(사전연명의료의향서)에 "아직"이 많으면 2부 슬라이드로 잠깐 돌아가 등록기관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7분 · 워크북 5쪽
오늘 실습의 중심. 잔잔한 음악(찬양 연주곡)을 틀어 둔다. [음악·영상 삽입 후보]
다 쓴 분 중 원하는 1~2분이 낭독. 울컥하는 분이 있으면 휴지를 건네고 기다린다.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5분 · 워크북 6쪽
※ 법적 효력이 필요한 문서(사전연명의료의향서·유언장)는 지정 등록기관이나 전문가의 도움을 받아 작성하도록 반드시 안내.
"이 쪽을 가족과 교회에 함께 전해 두시면 좋습니다."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5분 · 워크북 7쪽
성찰 질문: "내 이름이 불릴 때 사람들이 가장 먼저 떠올렸으면 하는 단어는?"
시간이 있으면 다음 슬라이드(소풍 부고장)를 함께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3분
시간이 넉넉할 때 또는 다음 모임 과제로. 미래의 어느 날짜(예: 2050년)를 쓰게 하면 무겁지 않게 웃으며 쓸 수 있다.
워크북에는 없는 활동이므로 별도 인쇄물 또는 워크북 여백 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4분 · 워크북 8쪽
마지막 질문은 반드시 "행동"으로 끝낸다. 다 쓴 뒤 두세 분의 "한 걸음"을 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신앙 공동체 안에서 죽음을 바라보는 소망. 짧게 기도로 연결해도 좋다(교회 담당자와 사전 협의).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 · 시간이 부족하면 넘김] 2분
[영상 삽입 후보] My Way 1절.
"남은 시간에 꼭 해 보고 싶은 일 세 가지" — 워크북 7쪽 여백에 적어도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오늘의 결론 문장. 다 같이 마지막 줄을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등록기관 목록은 국립연명의료관리기관 누리집에서 확인 가능 — 수업 직전 연락처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1분
마지막으로 한 문장을 마음에 새긴다. 워크북 8쪽의 "한 걸음"과 같은 내용임을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2분
마무리 인사. 디모데후서 4:7은 워크북 마지막 쪽과 같은 말씀이며, 표지의 사도행전 20:24와 수미상관을 이룬다.
질문 받기(시간이 있다면). 워크북은 집에 가져가 가족과 함께 보도록 권한다.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jpg"/><Relationship Id="rId5" Type="http://schemas.openxmlformats.org/officeDocument/2006/relationships/image" Target="../media/image-29-5.jpg"/><Relationship Id="rId6" Type="http://schemas.openxmlformats.org/officeDocument/2006/relationships/image" Target="../media/image-2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lc-note/special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0506"/>
            <a:ext cx="2377440" cy="5305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웰다잉을 위한 웰빙의 삶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- 하나님 안에서 내 삶을 완성하는 7가지 질문 -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3794760"/>
            <a:ext cx="99669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3931920"/>
            <a:ext cx="99669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B6B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“나의 달려갈 길과 주 예수께 받은 사명 … 을 마치려 함에는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B6B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나의 생명조차 조금도 귀한 것으로 여기지 아니하노라”  — 사도행전 20:24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0" y="5120640"/>
            <a:ext cx="42062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삶잇다협동조합_이 미 경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97280" y="5760720"/>
            <a:ext cx="99669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897880"/>
            <a:ext cx="9966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585216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2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안녕하세요?</a:t>
            </a:r>
            <a:endParaRPr lang="en-US" sz="4200" dirty="0"/>
          </a:p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2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어떻게 지내세요?</a:t>
            </a:r>
            <a:endParaRPr lang="en-US" sz="4200" dirty="0"/>
          </a:p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42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별 일 없으시지요?</a:t>
            </a:r>
            <a:endParaRPr lang="en-US" sz="4200" dirty="0"/>
          </a:p>
        </p:txBody>
      </p:sp>
      <p:pic>
        <p:nvPicPr>
          <p:cNvPr id="8" name="Image 0" descr="/home/user/wlc-note/special/img/bu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754" y="914400"/>
            <a:ext cx="4374492" cy="521208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pic>
        <p:nvPicPr>
          <p:cNvPr id="7" name="Image 0" descr="/home/user/wlc-note/special/img/movie_st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1005840"/>
            <a:ext cx="6096000" cy="45720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86384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여러분은 이미</a:t>
            </a:r>
            <a:endParaRPr lang="en-US" sz="34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충분히 아름다운</a:t>
            </a:r>
            <a:endParaRPr lang="en-US" sz="34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삶을 사셨습니다.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7772400" y="42062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4251960"/>
            <a:ext cx="37490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“호상? 잘 죽어? 세상에 잘 죽은 게 어디 있어? 늙어서 죽으면 好喪이야?”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— 영화 속 김만석 어르신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그대를 사랑합니다  [2011년 작, 강풀 원작 / 추창민 감독]</a:t>
            </a:r>
            <a:endParaRPr lang="en-US" sz="2600" dirty="0"/>
          </a:p>
        </p:txBody>
      </p:sp>
      <p:pic>
        <p:nvPicPr>
          <p:cNvPr id="8" name="Image 0" descr="/home/user/wlc-note/special/img/movie_po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0074"/>
            <a:ext cx="3291840" cy="4557932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4206240" y="1554480"/>
            <a:ext cx="74066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장군봉 부부 ➔ 치매 아내를 돌보다 ‘동반’</a:t>
            </a:r>
            <a:endParaRPr lang="en-US" sz="24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김만석 &amp; 송이쁜 ➔ 노년의 사랑과 이별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206240" y="3017520"/>
            <a:ext cx="7406640" cy="237744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3108960"/>
            <a:ext cx="70408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네 분 모두 이미 별세</a:t>
            </a:r>
            <a:endParaRPr lang="en-US" sz="21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윤소정  2017년, 향년 74세</a:t>
            </a:r>
            <a:endParaRPr lang="en-US" sz="21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송재호  2020년, 향년 83세</a:t>
            </a:r>
            <a:endParaRPr lang="en-US" sz="21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김수미  2024년, 향년 75세</a:t>
            </a:r>
            <a:endParaRPr lang="en-US" sz="21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이순재  2025년, 향년 91세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206240" y="5486400"/>
            <a:ext cx="74066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화면 속에서 우리를 웃기고 울리던 분들도, 모두 삶을 마치셨습니다.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457200"/>
            <a:ext cx="38404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반갑습니다~!</a:t>
            </a:r>
            <a:endParaRPr lang="en-US" sz="3200" dirty="0"/>
          </a:p>
        </p:txBody>
      </p:sp>
      <p:pic>
        <p:nvPicPr>
          <p:cNvPr id="8" name="Image 0" descr="/home/user/wlc-note/special/img/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2" y="1188720"/>
            <a:ext cx="3110796" cy="393192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54864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 미 경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Ph.D.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5623560"/>
            <a:ext cx="34747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삶잇다협동조합 · 웰다잉라이프코치(WLC) 과정 운영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E-mail. girin0822@gmail.com</a:t>
            </a:r>
            <a:endParaRPr lang="en-US" sz="1200" dirty="0"/>
          </a:p>
        </p:txBody>
      </p:sp>
      <p:pic>
        <p:nvPicPr>
          <p:cNvPr id="11" name="Image 1" descr="/home/user/wlc-note/special/img/endingno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571" y="1188720"/>
            <a:ext cx="3519499" cy="46634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12" name="Image 2" descr="/home/user/wlc-note/special/img/textboo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449" y="1188720"/>
            <a:ext cx="3408703" cy="46634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4206240" y="5852160"/>
            <a:ext cx="3566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엔딩노트 「아하소풍」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046720" y="5852160"/>
            <a:ext cx="3566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WLC 자격과정 공식교재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강의를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제가 이 이야기를 하게 된 이유</a:t>
            </a:r>
            <a:endParaRPr lang="en-US" sz="3200" dirty="0"/>
          </a:p>
        </p:txBody>
      </p:sp>
      <p:pic>
        <p:nvPicPr>
          <p:cNvPr id="8" name="Image 0" descr="/home/user/wlc-note/special/img/body_don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43" y="1417320"/>
            <a:ext cx="2865074" cy="484632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420624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1999년 4월 26일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06240" y="2286000"/>
            <a:ext cx="73152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저는 사후에 제 몸을 의과대학에</a:t>
            </a:r>
            <a:endParaRPr lang="en-US" sz="28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기증하기로 등록했습니다.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206240" y="3840480"/>
            <a:ext cx="7406640" cy="1920240"/>
          </a:xfrm>
          <a:prstGeom prst="roundRect">
            <a:avLst>
              <a:gd name="adj" fmla="val 5714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3931920"/>
            <a:ext cx="704088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그날 이후, 죽음은 두려운 끝이 아니라</a:t>
            </a:r>
            <a:endParaRPr lang="en-US" sz="24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“그렇다면 오늘을 어떻게 살 것인가”를</a:t>
            </a:r>
            <a:endParaRPr lang="en-US" sz="24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묻게 하는 질문이 되었습니다.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강의를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네 번 고쳐 쓴 “마지막 글”</a:t>
            </a:r>
            <a:endParaRPr lang="en-US" sz="3200" dirty="0"/>
          </a:p>
        </p:txBody>
      </p:sp>
      <p:pic>
        <p:nvPicPr>
          <p:cNvPr id="8" name="Image 0" descr="/home/user/wlc-note/special/img/lette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3189"/>
            <a:ext cx="6949440" cy="2542903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548640" y="448056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1999년 5월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정리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31720" y="448056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2000년 10월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33172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0" y="448056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2005년 2월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11480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출장 앞두고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97880" y="448056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4572000"/>
            <a:ext cx="1645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2026년 5월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897880" y="5120640"/>
            <a:ext cx="1645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기일에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0" y="1554480"/>
            <a:ext cx="38404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마지막 글은</a:t>
            </a:r>
            <a:endParaRPr lang="en-US" sz="28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한 번 쓰고 끝나는 것이 아니라,</a:t>
            </a:r>
            <a:endParaRPr lang="en-US" sz="28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삶이 바뀔 때마다</a:t>
            </a:r>
            <a:endParaRPr lang="en-US" sz="28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다시 쓰는 것입니다.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강의를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기억 속의 얼굴들, 먼저 떠난 사람들</a:t>
            </a:r>
            <a:endParaRPr lang="en-US" sz="3200" dirty="0"/>
          </a:p>
        </p:txBody>
      </p:sp>
      <p:pic>
        <p:nvPicPr>
          <p:cNvPr id="8" name="Image 0" descr="/home/user/wlc-note/special/img/family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413" y="1417320"/>
            <a:ext cx="3465095" cy="233172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9" name="Image 1" descr="/home/user/wlc-note/special/img/family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66642"/>
            <a:ext cx="5120640" cy="2279396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10" name="Image 2" descr="/home/user/wlc-note/special/img/roc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50647"/>
            <a:ext cx="5669280" cy="4688225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우리에게 ‘삶’과 ‘좋은 마무리’란?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10362895" cy="1143000"/>
          </a:xfrm>
          <a:prstGeom prst="roundRect">
            <a:avLst>
              <a:gd name="adj" fmla="val 96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45920"/>
            <a:ext cx="9814255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 스스로 생각하는 가장 평안하고 존엄한 죽음의 모습은 무엇인가요?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0362895" cy="1143000"/>
          </a:xfrm>
          <a:prstGeom prst="roundRect">
            <a:avLst>
              <a:gd name="adj" fmla="val 96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017520"/>
            <a:ext cx="9814255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 그 순간을 위해 지금까지 어떤 준비를 해 오셨나요?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10362895" cy="1143000"/>
          </a:xfrm>
          <a:prstGeom prst="roundRect">
            <a:avLst>
              <a:gd name="adj" fmla="val 9600"/>
            </a:avLst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89120"/>
            <a:ext cx="9814255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 그리고 이제, 우리는 어떤 준비가 필요할까요?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16주의 웰다잉 과정을, 오늘 네 걸음으로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0472" y="1783080"/>
            <a:ext cx="768096" cy="7680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1783080"/>
            <a:ext cx="768096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죽음을 이해하면</a:t>
            </a:r>
            <a:endParaRPr lang="en-US" sz="24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삶이 보입니다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2468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1~3강 · 죽음의 이해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초고령사회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64992" y="15544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1783080"/>
            <a:ext cx="768096" cy="7680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783080"/>
            <a:ext cx="768096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56432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미리 준비하는</a:t>
            </a:r>
            <a:endParaRPr lang="en-US" sz="24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사랑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56432" y="4206240"/>
            <a:ext cx="2468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6~9강 · 연명의료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유언 · 장례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81344" y="15544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23176" y="1783080"/>
            <a:ext cx="768096" cy="76809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1783080"/>
            <a:ext cx="768096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72784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관계를 정리하고</a:t>
            </a:r>
            <a:endParaRPr lang="en-US" sz="24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마음을 전합니다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72784" y="4206240"/>
            <a:ext cx="2468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10·11·13강 · 관계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애도 · 임종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97696" y="155448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39528" y="1783080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9528" y="1783080"/>
            <a:ext cx="768096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089136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나를 완성하는</a:t>
            </a:r>
            <a:endParaRPr lang="en-US" sz="24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7가지 질문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089136" y="4206240"/>
            <a:ext cx="2468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E6F0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실습</a:t>
            </a:r>
            <a:endParaRPr lang="en-US" sz="16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E6F0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걸음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죽음을 배우는 시간은, 결국 오늘을 더 잘 사는 법을 배우는 시간입니다.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6070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죽음을 이해하면 삶이 보입니다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삶과 죽음은 나뉘지 않는다 · 초고령사회의 현실 · 죽음교육의 필요성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삶과 죽음은 나뉘지 않는다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728655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10180015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정의 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사람은 죽음을 피할 수 없다.</a:t>
            </a:r>
            <a:endParaRPr lang="en-US" sz="2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생물학적 ➔ 세포와 장기의 기능이 한계에 도달</a:t>
            </a:r>
            <a:endParaRPr lang="en-US" sz="2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철학적·윤리적 ➔ 죽음이 삶의 의미를 성찰하게 하는 필연적 과정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72888" cy="2194560"/>
          </a:xfrm>
          <a:prstGeom prst="roundRect">
            <a:avLst>
              <a:gd name="adj" fmla="val 500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7288" y="3794760"/>
            <a:ext cx="5272888" cy="2194560"/>
          </a:xfrm>
          <a:prstGeom prst="roundRect">
            <a:avLst>
              <a:gd name="adj" fmla="val 5000"/>
            </a:avLst>
          </a:prstGeom>
          <a:solidFill>
            <a:srgbClr val="F6E3E0"/>
          </a:solidFill>
          <a:ln w="12700">
            <a:solidFill>
              <a:srgbClr val="F6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51206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‘좋은 죽음’</a:t>
            </a:r>
            <a:endParaRPr lang="en-US" sz="22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환자의 존엄과 자기결정권이 존중되고 고통이 최소화되는 죽음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70168" y="3886200"/>
            <a:ext cx="51206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‘나쁜 죽음’</a:t>
            </a:r>
            <a:endParaRPr lang="en-US" sz="22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불필요한 연명치료와 고통 속에서 맞이하는 죽음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사람은 도대체 얼마나 살 수 있을까?</a:t>
            </a:r>
            <a:endParaRPr lang="en-US" sz="3200" dirty="0"/>
          </a:p>
        </p:txBody>
      </p:sp>
      <p:pic>
        <p:nvPicPr>
          <p:cNvPr id="8" name="Image 0" descr="/home/user/wlc-note/special/img/lifesp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0110"/>
            <a:ext cx="7589520" cy="4117861"/>
          </a:xfrm>
          <a:prstGeom prst="rect">
            <a:avLst/>
          </a:prstGeom>
        </p:spPr>
      </p:pic>
      <p:pic>
        <p:nvPicPr>
          <p:cNvPr id="9" name="Image 1" descr="/home/user/wlc-note/special/img/jellyfi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103" y="1371600"/>
            <a:ext cx="3289713" cy="32004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8229600" y="4663440"/>
            <a:ext cx="34747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불로장생 해파리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(투리톱시스 뉴트리큘라)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늙으면 다시 아기로 돌아가는 유일한 동물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의미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죽음은 생명의 최고 발명품이다……?</a:t>
            </a:r>
            <a:endParaRPr lang="en-US" sz="3200" dirty="0"/>
          </a:p>
        </p:txBody>
      </p:sp>
      <p:pic>
        <p:nvPicPr>
          <p:cNvPr id="8" name="Image 0" descr="/home/user/wlc-note/special/img/why_d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60" y="1371600"/>
            <a:ext cx="3163799" cy="46634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9" name="Image 1" descr="/home/user/wlc-note/special/img/job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400" y="1371600"/>
            <a:ext cx="6854881" cy="4023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5440680"/>
            <a:ext cx="74980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스티브 잡스, 2005년 6월 스탠퍼드 대학 졸업식 축사 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“죽음은 낡은 것을 치우고 새로운 것에 길을 내어 준다.”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초고령사회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초고령사회 대한민국, 1960 → 2026 → 2072</a:t>
            </a:r>
            <a:endParaRPr lang="en-US" sz="3200" dirty="0"/>
          </a:p>
        </p:txBody>
      </p:sp>
      <p:pic>
        <p:nvPicPr>
          <p:cNvPr id="8" name="Image 0" descr="/home/user/wlc-note/special/img/pyram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60" y="1325880"/>
            <a:ext cx="8773576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한국인의 임종 현실 — 숫자가 말하는 준비의 필요성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약 18년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3832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E6F0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건강수명과 기대수명 사이,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E6F0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아프며 사는 기간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39.7%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389120" y="2560320"/>
            <a:ext cx="33832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노인 빈곤율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(OECD 평균의 약 2.7배)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7~10년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138160" y="2560320"/>
            <a:ext cx="33832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치매 간병 평균 기간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간병비 월 250~350만 원</a:t>
            </a:r>
            <a:endParaRPr lang="en-US" sz="1700" dirty="0"/>
          </a:p>
        </p:txBody>
      </p:sp>
      <p:pic>
        <p:nvPicPr>
          <p:cNvPr id="17" name="Image 0" descr="/home/user/wlc-note/special/img/gap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754" y="3886200"/>
            <a:ext cx="4576813" cy="21945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766560" y="3886200"/>
            <a:ext cx="4873752" cy="2194560"/>
          </a:xfrm>
          <a:prstGeom prst="roundRect">
            <a:avLst>
              <a:gd name="adj" fmla="val 50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3931920"/>
            <a:ext cx="46177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간병 파산</a:t>
            </a:r>
            <a:endParaRPr lang="en-US" sz="1900" dirty="0"/>
          </a:p>
          <a:p>
            <a:pPr algn="l"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가족이 간병하느라 일을 그만두거나, 간병비를 감당하다 가족 전체가 빈곤해지는 현상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죽음이 어느 날 내게 온다면……,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1732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1.  무슨 소리야? 상상도 하기 싫어~!!!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5740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2.  나, 이제 겨우 살 만한데? 벌써? 아니 아니…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9748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3.  잠깐만, 뭐든 준비를 해야 할 거 아냐?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3756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4.  그래, 언젠가는 올 줄 알았지?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7764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5.  그래도 잠깐만, 아주 잠깐만 시간을 줘~!!!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61772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6.  그래, 알았다. 준비됐으니 같이 가자~!!!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" y="5257800"/>
            <a:ext cx="10545775" cy="548640"/>
          </a:xfrm>
          <a:prstGeom prst="roundRect">
            <a:avLst>
              <a:gd name="adj" fmla="val 8333"/>
            </a:avLst>
          </a:prstGeom>
          <a:solidFill>
            <a:srgbClr val="F7DDF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257800"/>
            <a:ext cx="1018001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7.  이제껏 잘 살았으니, 모두에게, 세상에게 감사해야지……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메멘토 모리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죽음을 기억하라, 고로 오늘을 살아라</a:t>
            </a:r>
            <a:endParaRPr lang="en-US" sz="3200" dirty="0"/>
          </a:p>
        </p:txBody>
      </p:sp>
      <p:pic>
        <p:nvPicPr>
          <p:cNvPr id="8" name="Image 0" descr="/home/user/wlc-note/special/img/gladia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18267"/>
            <a:ext cx="4023360" cy="3015626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548640" y="1417320"/>
            <a:ext cx="68580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“메멘토 모리 (Memento Mori)”</a:t>
            </a:r>
            <a:endParaRPr lang="en-US" sz="26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“죽음을 기억하라” — 라틴어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6858000" cy="237744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697480"/>
            <a:ext cx="649224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오늘 내가 가장 소중히 여기는 것은 무엇인가?</a:t>
            </a:r>
            <a:endParaRPr lang="en-US" sz="22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혹시, 무엇을 미루고 있는가?</a:t>
            </a:r>
            <a:endParaRPr lang="en-US" sz="22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꼭 했어야 할 ‘고맙다는 말’을 전하지 못했는가?</a:t>
            </a:r>
            <a:endParaRPr lang="en-US" sz="2200" dirty="0"/>
          </a:p>
        </p:txBody>
      </p:sp>
      <p:pic>
        <p:nvPicPr>
          <p:cNvPr id="12" name="Image 1" descr="/home/user/wlc-note/special/img/infinit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06" y="5120640"/>
            <a:ext cx="2434068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521208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➩  웰다잉 = 웰빙의 완성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초고령사회, 왜 지금 죽음교육이 필요할까요?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길어진 마지막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31546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아프며 사는 시간이 길어졌습니다.</a:t>
            </a:r>
            <a:endParaRPr lang="en-US" sz="19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돌봄·의료·비용을 미리 생각하지 않으면 가족이 떠안게 됩니다.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737360"/>
            <a:ext cx="640080" cy="6400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57800" y="173736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대신 내려야 하는 결정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2560320"/>
            <a:ext cx="31546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말할 수 없게 되면 연명의료·장례를 가족이 대신 정합니다.</a:t>
            </a:r>
            <a:endParaRPr lang="en-US" sz="19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내 뜻을 미리 알려 두는 것이 사랑입니다.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737360"/>
            <a:ext cx="640080" cy="6400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06840" y="173736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전하지 못한 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1546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마지막 순간에 가장 많이 남는 것은</a:t>
            </a:r>
            <a:endParaRPr lang="en-US" sz="19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“고맙다, 미안하다, 사랑한다”를 못 한 후회입니다.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22960" y="5440680"/>
            <a:ext cx="10545775" cy="59436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40680"/>
            <a:ext cx="10545775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죽음교육은 죽음을 앞당기는 공부가 아니라, 남은 삶을 지키는 공부입니다.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죽음도 삶처럼 준비와 교육이 필요하다!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8686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554480"/>
            <a:ext cx="832104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“죽음을 이해할 때, 현재 나의 삶을 어떻게 살아야 할지 성찰할 수 있다.</a:t>
            </a:r>
            <a:endParaRPr lang="en-US" sz="21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죽음의 관점에서 현재를 바라본다면, 욕구 충족의 삶이 아니라</a:t>
            </a:r>
            <a:endParaRPr lang="en-US" sz="21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의미 있는 삶을 위한 선택을 하게 된다.”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 준비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000" dirty="0">
                <a:solidFill>
                  <a:srgbClr val="1F3A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⬍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삶의 준비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926080" y="3977640"/>
            <a:ext cx="8686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4023360"/>
            <a:ext cx="832104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죽음을 논의하는 것은 결국 삶을 논의하는 것이고,</a:t>
            </a:r>
            <a:endParaRPr lang="en-US" sz="21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좋은 죽음은 좋은 삶에 대한 논의가 될 수밖에 없다.</a:t>
            </a:r>
            <a:endParaRPr lang="en-US" sz="21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삶과 죽음은 생명 과정의 양면이기 때문이다.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4088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한림대 생사학연구소 양정연 교수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6070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미리 준비하는 사랑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연명의료 · 돌봄 · 유언 · 장례 — 내 뜻을 미리 알려 두는 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연명의료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존엄성을 잃어버린 연명의료의 역설</a:t>
            </a:r>
            <a:endParaRPr lang="en-US" sz="3200" dirty="0"/>
          </a:p>
        </p:txBody>
      </p:sp>
      <p:pic>
        <p:nvPicPr>
          <p:cNvPr id="8" name="Image 0" descr="/home/user/wlc-note/special/img/lst_g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4193"/>
            <a:ext cx="11094415" cy="35609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5212080"/>
            <a:ext cx="10545775" cy="68580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12080"/>
            <a:ext cx="10545775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막연한 ‘의지’가 아니라, 효력을 갖춘 ‘서류’가 가족의 짐을 덜어 줍니다.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연명의료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사전연명의료의향서와 연명의료계획서, 무엇이 다를까요?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5440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사전연명의료의향서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14600"/>
            <a:ext cx="49834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누가 · 19세 이상 누구나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언제 · 건강할 때 미리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어디서 · 지정된 등록기관에서 상담 후 작성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마음이 바뀌면 · 언제든 변경·철회 가능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508760"/>
            <a:ext cx="5440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연명의료계획서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514600"/>
            <a:ext cx="49834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누가 · 말기·임종과정의 환자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언제 · 병이 깊어졌을 때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어디서 · 담당 의사와 함께 작성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의료기관의 절차에 따라 기록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2960" y="5532120"/>
            <a:ext cx="10545775" cy="54864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32120"/>
            <a:ext cx="1054577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“의사표현이 어렵게 되면, 가족이 무엇을 알았으면 하나요?”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2026년 3월, 살던 곳에서 누리는 ‘통합돌봄’ 시작</a:t>
            </a:r>
            <a:endParaRPr lang="en-US" sz="3200" dirty="0"/>
          </a:p>
        </p:txBody>
      </p:sp>
      <p:pic>
        <p:nvPicPr>
          <p:cNvPr id="8" name="Image 0" descr="/home/user/wlc-note/special/img/care2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2784"/>
            <a:ext cx="7315200" cy="34637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371600"/>
            <a:ext cx="3593592" cy="3566160"/>
          </a:xfrm>
          <a:prstGeom prst="roundRect">
            <a:avLst>
              <a:gd name="adj" fmla="val 3077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1463040"/>
            <a:ext cx="3410712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돌봄통합지원법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2026. 3. 27. 시행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살던 곳에서 의료·요양·돌봄을 통합적으로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읍·면·동 주민센터에서 신청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5212080"/>
            <a:ext cx="10545775" cy="73152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212080"/>
            <a:ext cx="10545775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존엄성을 지키는 돌봄은 단순한 서비스가 아니라, 사람의 삶을 지탱하는 사회적 약속입니다.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유언은 삶의 뜻을 남기는 기록</a:t>
            </a:r>
            <a:endParaRPr lang="en-US" sz="3200" dirty="0"/>
          </a:p>
        </p:txBody>
      </p:sp>
      <p:pic>
        <p:nvPicPr>
          <p:cNvPr id="8" name="Image 0" descr="/home/user/wlc-note/special/img/will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2881"/>
            <a:ext cx="7498080" cy="410367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371600"/>
            <a:ext cx="3410712" cy="4206240"/>
          </a:xfrm>
          <a:prstGeom prst="roundRect">
            <a:avLst>
              <a:gd name="adj" fmla="val 3217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1463040"/>
            <a:ext cx="3227832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민법이 정한</a:t>
            </a:r>
            <a:endParaRPr lang="en-US" sz="2000" dirty="0"/>
          </a:p>
          <a:p>
            <a:pPr algn="ctr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유언의 5가지 방식</a:t>
            </a:r>
            <a:endParaRPr lang="en-US" sz="2000" dirty="0"/>
          </a:p>
          <a:p>
            <a:pPr algn="ctr" indent="0" marL="0">
              <a:lnSpc>
                <a:spcPct val="135000"/>
              </a:lnSpc>
              <a:spcAft>
                <a:spcPts val="600"/>
              </a:spcAft>
              <a:buNone/>
            </a:pPr>
            <a:endParaRPr lang="en-US" sz="2000" dirty="0"/>
          </a:p>
          <a:p>
            <a:pPr algn="ctr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자필증서 · 녹음</a:t>
            </a:r>
            <a:endParaRPr lang="en-US" sz="2000" dirty="0"/>
          </a:p>
          <a:p>
            <a:pPr algn="ctr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공정증서 · 비밀증서</a:t>
            </a:r>
            <a:endParaRPr lang="en-US" sz="2000" dirty="0"/>
          </a:p>
          <a:p>
            <a:pPr algn="ctr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구수증서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5715000"/>
            <a:ext cx="10545775" cy="54864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715000"/>
            <a:ext cx="1054577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정해진 방식을 지키지 않은 유언은 효력이 없을 수 있습니다.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가장 쉽고 확실한 실천 : 자필 유언과 디지털 정리</a:t>
            </a:r>
            <a:endParaRPr lang="en-US" sz="3200" dirty="0"/>
          </a:p>
        </p:txBody>
      </p:sp>
      <p:pic>
        <p:nvPicPr>
          <p:cNvPr id="8" name="Image 0" descr="/home/user/wlc-note/special/img/holo_w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274" y="1371600"/>
            <a:ext cx="5145133" cy="42062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9" name="Image 1" descr="/home/user/wlc-note/special/img/digit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3013"/>
            <a:ext cx="5330952" cy="310613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4572000"/>
            <a:ext cx="5330952" cy="1005840"/>
          </a:xfrm>
          <a:prstGeom prst="roundRect">
            <a:avLst>
              <a:gd name="adj" fmla="val 10909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0" y="4572000"/>
            <a:ext cx="5148072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휴대전화·통장 앱·사진첩의 존재와 접근 방법을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믿을 수 있는 가족에게 미리 알려 두세요.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22960" y="5715000"/>
            <a:ext cx="10545775" cy="54864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5715000"/>
            <a:ext cx="10545775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자필 유언 5요건 : 전문 직접 자필 · 연월일 · 주소 · 성명 · 날인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장례 문화의 변화 — 화장·자연장, 그리고 작은 장례</a:t>
            </a:r>
            <a:endParaRPr lang="en-US" sz="3200" dirty="0"/>
          </a:p>
        </p:txBody>
      </p:sp>
      <p:pic>
        <p:nvPicPr>
          <p:cNvPr id="8" name="Image 0" descr="/home/user/wlc-note/special/img/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796" y="1371600"/>
            <a:ext cx="2734887" cy="1828800"/>
          </a:xfrm>
          <a:prstGeom prst="rect">
            <a:avLst/>
          </a:prstGeom>
        </p:spPr>
      </p:pic>
      <p:pic>
        <p:nvPicPr>
          <p:cNvPr id="9" name="Image 1" descr="/home/user/wlc-note/special/img/f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596" y="1371600"/>
            <a:ext cx="2502568" cy="1828800"/>
          </a:xfrm>
          <a:prstGeom prst="rect">
            <a:avLst/>
          </a:prstGeom>
        </p:spPr>
      </p:pic>
      <p:pic>
        <p:nvPicPr>
          <p:cNvPr id="10" name="Image 2" descr="/home/user/wlc-note/special/img/f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16" y="1371600"/>
            <a:ext cx="2484408" cy="1828800"/>
          </a:xfrm>
          <a:prstGeom prst="rect">
            <a:avLst/>
          </a:prstGeom>
        </p:spPr>
      </p:pic>
      <p:pic>
        <p:nvPicPr>
          <p:cNvPr id="11" name="Image 3" descr="/home/user/wlc-note/special/img/f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564049"/>
            <a:ext cx="2560320" cy="14439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3383280"/>
            <a:ext cx="10728655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2000년대 초 </a:t>
            </a:r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매장 중심 → 화장 장려 정책 시작</a:t>
            </a:r>
            <a:endParaRPr lang="en-US" sz="22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2010년대 </a:t>
            </a:r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화장률 급증, 봉안당·수목장 제도화</a:t>
            </a:r>
            <a:endParaRPr lang="en-US" sz="22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최근 </a:t>
            </a:r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자연장 범위 확대 — 바다에 골분을 뿌리는 산분장 가능</a:t>
            </a:r>
            <a:endParaRPr lang="en-US" sz="22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함께 늘어나는 것 </a:t>
            </a:r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빈소 없는 가족장 · 작은 장례 · 가족 중심의 애도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흙으로 돌아갈 것이니라.  창세기 3:19</a:t>
            </a:r>
            <a:endParaRPr lang="en-US" sz="3200" dirty="0"/>
          </a:p>
        </p:txBody>
      </p:sp>
      <p:pic>
        <p:nvPicPr>
          <p:cNvPr id="8" name="Image 0" descr="/home/user/wlc-note/special/img/dust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7350"/>
            <a:ext cx="5440680" cy="336042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9" name="Image 1" descr="/home/user/wlc-note/special/img/dust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657350"/>
            <a:ext cx="5440680" cy="336042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822960" y="5486400"/>
            <a:ext cx="10545775" cy="59436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5486400"/>
            <a:ext cx="10545775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마지막 공간을 선택하는 일은, 내가 어떤 방식으로 기억되고 싶은지와 연결됩니다.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세상의 인식은 변하고 있습니다</a:t>
            </a:r>
            <a:endParaRPr lang="en-US" sz="3200" dirty="0"/>
          </a:p>
        </p:txBody>
      </p:sp>
      <p:pic>
        <p:nvPicPr>
          <p:cNvPr id="8" name="Image 0" descr="/home/user/wlc-note/special/img/m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9646"/>
            <a:ext cx="3611880" cy="2032748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9" name="Image 1" descr="/home/user/wlc-note/special/img/m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829" y="1371600"/>
            <a:ext cx="2835583" cy="21488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10" name="Image 2" descr="/home/user/wlc-note/special/img/m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573" y="1371600"/>
            <a:ext cx="1800175" cy="21488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11" name="Image 3" descr="/home/user/wlc-note/special/img/m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" y="3611880"/>
            <a:ext cx="2667000" cy="21488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12" name="Image 4" descr="/home/user/wlc-note/special/img/m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1990" y="3611880"/>
            <a:ext cx="3223260" cy="21488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pic>
        <p:nvPicPr>
          <p:cNvPr id="13" name="Image 5" descr="/home/user/wlc-note/special/img/m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604" y="3611880"/>
            <a:ext cx="3316111" cy="214884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14" name="Text 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죽음은 숨기는 주제가 아니라, 함께 배워야 할 삶의 주제가 되었습니다.</a:t>
            </a:r>
            <a:endParaRPr lang="en-US" sz="2000" dirty="0"/>
          </a:p>
        </p:txBody>
      </p:sp>
      <p:sp>
        <p:nvSpPr>
          <p:cNvPr id="15" name="Text 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잠시 쉬어 갑니다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0362895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기지개를 켜고, 물 한 잔 드세요.</a:t>
            </a:r>
            <a:endParaRPr lang="en-US" sz="2600" dirty="0"/>
          </a:p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옆 분께 “오늘 오시길 잘하셨어요” 한마디 건네 볼까요?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6070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관계를 정리하고 마음을 전합니다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후회를 줄이는 다섯 문장 · 마지막 대화 · 곁에 있어 주기 · 슬픔을 지나는 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죽음을 앞둔 이들이 가장 많이 남긴 다섯 가지 후회</a:t>
            </a:r>
            <a:endParaRPr lang="en-US" sz="3200" dirty="0"/>
          </a:p>
        </p:txBody>
      </p:sp>
      <p:pic>
        <p:nvPicPr>
          <p:cNvPr id="8" name="Image 0" descr="/home/user/wlc-note/special/img/regr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446" y="1371600"/>
            <a:ext cx="2823029" cy="4572000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3657600" y="1371600"/>
            <a:ext cx="7982712" cy="749808"/>
          </a:xfrm>
          <a:prstGeom prst="roundRect">
            <a:avLst>
              <a:gd name="adj" fmla="val 14634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1371600"/>
            <a:ext cx="76809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1. 남들의 기대가 아닌, 나 자신에게 충실한 삶을 살 용기가 있었더라면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657600" y="2240280"/>
            <a:ext cx="7982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2240280"/>
            <a:ext cx="76809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2. 그렇게 열심히 일만 하지 않았더라면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3657600" y="3108960"/>
            <a:ext cx="7982712" cy="749808"/>
          </a:xfrm>
          <a:prstGeom prst="roundRect">
            <a:avLst>
              <a:gd name="adj" fmla="val 14634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3108960"/>
            <a:ext cx="76809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3. 내 감정을 표현할 용기가 있었더라면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3657600" y="3977640"/>
            <a:ext cx="7982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3977640"/>
            <a:ext cx="76809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4. 친구들과 계속 연락하고 지냈더라면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3657600" y="4846320"/>
            <a:ext cx="7982712" cy="749808"/>
          </a:xfrm>
          <a:prstGeom prst="roundRect">
            <a:avLst>
              <a:gd name="adj" fmla="val 14634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4846320"/>
            <a:ext cx="76809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5. 좀 더 행복했더라면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657600" y="5760720"/>
            <a:ext cx="7955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: Bronnie Ware, The Top Five Regrets of the Dying (2011)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후회를 줄이는 다섯 문장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1. 나는 나답게 살고 있는가?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8229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2. 사랑한다고 말했는가?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B03A2E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3. 고맙다고 표현했는가?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4069080"/>
            <a:ext cx="8229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4. 미안함을 미루지 않았는가?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0" y="4937760"/>
            <a:ext cx="82296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5. 행복을 선택하고 있는가?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대화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마지막 대화에는 정답이 없습니다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감사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8991295" cy="731520"/>
          </a:xfrm>
          <a:prstGeom prst="roundRect">
            <a:avLst>
              <a:gd name="adj" fmla="val 150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17320"/>
            <a:ext cx="8625535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“함께 살아줘서 고마워요.”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2258568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58568"/>
            <a:ext cx="1645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사과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468880" y="2258568"/>
            <a:ext cx="8991295" cy="731520"/>
          </a:xfrm>
          <a:prstGeom prst="roundRect">
            <a:avLst>
              <a:gd name="adj" fmla="val 150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258568"/>
            <a:ext cx="8625535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“내가 미안했던 일이 있어요. 말하고 싶었어요.”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3099816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99816"/>
            <a:ext cx="1645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사랑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2468880" y="3099816"/>
            <a:ext cx="8991295" cy="731520"/>
          </a:xfrm>
          <a:prstGeom prst="roundRect">
            <a:avLst>
              <a:gd name="adj" fmla="val 150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099816"/>
            <a:ext cx="8625535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“사랑해요. 당신이 우리에게 큰 의미였어요.”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41064"/>
            <a:ext cx="1645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안심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468880" y="3941064"/>
            <a:ext cx="8991295" cy="731520"/>
          </a:xfrm>
          <a:prstGeom prst="roundRect">
            <a:avLst>
              <a:gd name="adj" fmla="val 150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941064"/>
            <a:ext cx="8625535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“걱정되는 일은 우리가 하나씩 해볼게요.”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1520" y="4782312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82312"/>
            <a:ext cx="1645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침묵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2468880" y="4782312"/>
            <a:ext cx="8991295" cy="731520"/>
          </a:xfrm>
          <a:prstGeom prst="roundRect">
            <a:avLst>
              <a:gd name="adj" fmla="val 15000"/>
            </a:avLst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4782312"/>
            <a:ext cx="8625535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손을 잡고 조용히 곁에 있는 것도 충분한 대화입니다.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화해나 용서를 억지로 하지 않아도 됩니다. 어떤 관계는 마지막까지 복잡할 수 있습니다.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죽음을 앞둔 사람을 대하는 법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「죽음을 배우다」 랍 몰 (Rob Moll) / 미국 작가 · 죽음연구가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1828800"/>
            <a:ext cx="9997135" cy="3566160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920240"/>
            <a:ext cx="9448495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첫번째, 남은 목표를 실현할 수 있게 돕고,</a:t>
            </a:r>
            <a:endParaRPr lang="en-US" sz="2600" dirty="0"/>
          </a:p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두번째, 자신의 인생이야기를 정리하게 돕고,</a:t>
            </a:r>
            <a:endParaRPr lang="en-US" sz="2600" dirty="0"/>
          </a:p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세번째, 가족과 친구들에게 진정으로 이별하고 작별 인사를 할 수 있게 돕고,</a:t>
            </a:r>
            <a:endParaRPr lang="en-US" sz="2600" dirty="0"/>
          </a:p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그리고, </a:t>
            </a:r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600" b="1" u="sng" dirty="0">
                <a:solidFill>
                  <a:srgbClr val="1F5FD1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곁에 있어 줘라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슬픔은 사랑의 다른 이름입니다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728655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◆  애도에는 정해진 기간도, 순서도 없습니다.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0728655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◆  울지 않는 사람도, 오래 우는 사람도 모두 자연스럽습니다.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728655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◆  떠난 사람과의 사랑은 끝나지 않고 다른 방식으로 이어집니다.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6E3E0"/>
          </a:solidFill>
          <a:ln w="12700">
            <a:solidFill>
              <a:srgbClr val="F6E3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379476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507492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아픔이 되는 말</a:t>
            </a:r>
            <a:endParaRPr lang="en-US" sz="2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“이제 그만 울어.”</a:t>
            </a:r>
            <a:endParaRPr lang="en-US" sz="2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“좋은 곳 가셨으니 됐어.”</a:t>
            </a:r>
            <a:endParaRPr lang="en-US" sz="2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B03A2E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“시간이 약이야.”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3840480"/>
            <a:ext cx="507492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힘이 되는 말</a:t>
            </a:r>
            <a:endParaRPr lang="en-US" sz="2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“많이 보고 싶으시지요.”</a:t>
            </a:r>
            <a:endParaRPr lang="en-US" sz="2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“그분 이야기 더 들려주세요.”</a:t>
            </a:r>
            <a:endParaRPr lang="en-US" sz="2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“제가 곁에 있을게요.”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6070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8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하나님 안에서 내 삶을 완성하는 7가지 질문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444444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워크북을 펴 주세요. 쓰고 싶은 만큼만, 쓰기 어려우면 생각만 해도 괜찮습니다.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오늘 함께 쓸 일곱 가지 질문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81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81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490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나를 여기까지 인도하신 은혜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1965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2쪽 · 감사의 순간 세 가지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24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24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633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내가 소중히 여기며 살아온 것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3108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3쪽 · 나의 가치 세 가지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867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67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3776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지금 나는 얼마나 준비되어 있는가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46304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4쪽 · 준비 점검표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977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준비하기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010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010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63040" y="4919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고마운 사람에게 전하는 한마디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463040" y="5394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5쪽 · 짧은 감사 편지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전하기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72200" y="1417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581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581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86600" y="1490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나의 의료·장례 희망 사항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7086600" y="1965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6쪽 · 장소·방식·바람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469880" y="1691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6988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준비하기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72200" y="2560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724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724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086600" y="2633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내가 남기고 싶은 믿음의 기억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7086600" y="3108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7쪽 · 기억되고 싶은 모습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469880" y="2834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6988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전하기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172200" y="3703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3867912"/>
            <a:ext cx="676656" cy="676656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867912"/>
            <a:ext cx="676656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086600" y="3776472"/>
            <a:ext cx="3337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오늘, 한 걸음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708660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 8쪽 · 바로 실천할 한 가지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469880" y="3977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69880" y="3977640"/>
            <a:ext cx="10058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4D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72200" y="4846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4846320"/>
            <a:ext cx="52578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돌아보기 → 준비하기 → 전하기 → 시작하기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1. 나를 여기까지 인도하신 하나님의 은혜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70408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“범사에 감사하라 이것이 그리스도 예수 안에서 너희를 향하신 하나님의 뜻이니라”  — 데살로니가전서 5:18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살아오며 가장 감사했던 순간 세 가지를 적습니다.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가장 힘들었지만, 지나고 보니 감사한 일 하나를 적습니다.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원하시면 옆 분과 한 가지만 나눕니다.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05740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2쪽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2278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79476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시간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322783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4분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4495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않고 생각만 해도 괜찮습니다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2. 내가 소중히 여기며 살아온 것들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70408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무엇을 지키며 살아왔는지가 곧 나의 삶입니다.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내 삶에서 가장 소중했던 가치 세 가지를 적습니다.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“나는 하나님 앞에서 …” 로 시작하는 신앙 고백 한 줄을 씁니다.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 가치를 지키기 위해 이번 주 실천할 작은 순종 하나를 적습니다.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05740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3쪽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2278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79476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시간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322783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3분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4495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않고 생각만 해도 괜찮습니다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7040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가족 · 정직 · 신앙 · 나눔 · 성실 · 배움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3. 지금 나는 얼마나 준비되어 있는가?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7680960" cy="50292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점검 항목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예      아직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65960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지금 감사한 사람이 바로 떠오른다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532888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32888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화해하고 싶은 사람이 있다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09360" y="2532888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099816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99816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가족에게 내 마음을 충분히 표현했다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09360" y="3099816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3666744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66744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나의 소중한 물건·기록을 정리하고 있다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09360" y="3666744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233672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신앙의 유산을 다음 세대에 남기고 싶다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309360" y="4233672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00600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남은 삶에 이루고 싶은 목표가 있다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09360" y="4800600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5367528"/>
            <a:ext cx="7680960" cy="530352"/>
          </a:xfrm>
          <a:prstGeom prst="roundRect">
            <a:avLst>
              <a:gd name="adj" fmla="val 5172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367528"/>
            <a:ext cx="5486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사전연명의료의향서를 알고 있다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309360" y="5367528"/>
            <a:ext cx="1828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     □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0" y="141732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155448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12480" y="201168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4쪽</a:t>
            </a:r>
            <a:endParaRPr lang="en-US" sz="5400" dirty="0"/>
          </a:p>
        </p:txBody>
      </p:sp>
      <p:sp>
        <p:nvSpPr>
          <p:cNvPr id="35" name="Shape 33"/>
          <p:cNvSpPr/>
          <p:nvPr/>
        </p:nvSpPr>
        <p:spPr>
          <a:xfrm>
            <a:off x="8412480" y="3657600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3749040"/>
            <a:ext cx="3044952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“아직”에 체크한 것 중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오늘 가장 먼저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시작하고 싶은 것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하나에 ○ 표시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4. 고마운 사람에게 전하는 한마디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70408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“말하지 못한 감사는 상처가 되고, 전한 감사는 유산이 됩니다.”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지금 가장 감사한 사람 한 명을 떠올립니다.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“사랑하는 ______ 에게,” 로 시작하는 짧은 편지를 씁니다.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오늘 저녁, 이 편지를 사진으로 보내거나 전화로 읽어 드립니다.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05740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5쪽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2278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79476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시간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322783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6분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4495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않고 생각만 해도 괜찮습니다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5. 나의 의료·장례 희망 사항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70408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내 뜻을 미리 정해 두면 남은 가족의 짐을 덜 수 있습니다.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마지막을 맞고 싶은 장소에 표시합니다. (집 · 호스피스·병원 · 아직)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원하는 장례 방식에 표시합니다. (화장 후 봉안·자연장 · 매장 · 가족과 의논)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장례에서 꼭 있었으면 하는 것을 적습니다. (찬송, 성도들의 기도 등)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05740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6쪽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2278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79476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시간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322783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4분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4495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않고 생각만 해도 괜찮습니다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7040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법적 효력이 필요한 문서는 지정 등록기관·전문가와 작성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6. 내가 남기고 싶은 믿음의 기억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70408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나, ______ 은(는) 평생 ______ 을(를) 소중히 여기며 살아왔고, 가족과 이웃에게 ______ 으로 기억되기를 바랍니다.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빈칸을 채워 나의 문장을 완성합니다.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사람들에게 남기고 싶은 가장 따뜻한 기억 하나를 적습니다.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다음 세대에게 물려주고 싶은 신앙의 한마디를 적습니다.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05740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7쪽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2278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79476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시간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322783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4분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4495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않고 생각만 해도 괜찮습니다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실습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더 해 보기 : 내가 쓰는 소풍 부고장</a:t>
            </a:r>
            <a:endParaRPr lang="en-US" sz="3200" dirty="0"/>
          </a:p>
        </p:txBody>
      </p:sp>
      <p:pic>
        <p:nvPicPr>
          <p:cNvPr id="8" name="Image 0" descr="/home/user/wlc-note/special/img/che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9146"/>
            <a:ext cx="3657600" cy="3551068"/>
          </a:xfrm>
          <a:prstGeom prst="rect">
            <a:avLst/>
          </a:prstGeom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pic>
      <p:sp>
        <p:nvSpPr>
          <p:cNvPr id="9" name="Shape 6"/>
          <p:cNvSpPr/>
          <p:nvPr/>
        </p:nvSpPr>
        <p:spPr>
          <a:xfrm>
            <a:off x="548640" y="502920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29200"/>
            <a:ext cx="347472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“아름다운 이 세상 소풍 끝내는 날,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가서, 아름다웠더라고 말하리라……”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— 천상병, 「귀천」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80560" y="1371600"/>
            <a:ext cx="7159752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663440" y="1463040"/>
            <a:ext cx="6793992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나 (          ) 은(는)</a:t>
            </a:r>
            <a:endParaRPr lang="en-US" sz="19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_____년 __월 __일, ________ 에서 태어나,</a:t>
            </a:r>
            <a:endParaRPr lang="en-US" sz="19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이제 __세를 일기로 세상을 떠나</a:t>
            </a:r>
            <a:endParaRPr lang="en-US" sz="19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아름다운 하늘로 소풍을 떠난다.</a:t>
            </a:r>
            <a:endParaRPr lang="en-US" sz="19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나의 가족은 _____ 외 __명으로 ________ 에 살고 있다.</a:t>
            </a:r>
            <a:endParaRPr lang="en-US" sz="19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나의 죽음을 슬퍼하지 말고,</a:t>
            </a:r>
            <a:endParaRPr lang="en-US" sz="19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장례식은 조용하고 평온하게 치러 주기를 부탁드린다.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29600" y="566928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2050. 2. 14.   이름 :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7. 오늘, 한 걸음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704088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F3A68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큰 결심보다 오늘 드릴 수 있는 작은 순종 한 가지가 삶을 바꿉니다.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0408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하나님께 더 맡기고 싶은 일을 적습니다.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오늘 강의가 끝나면 바로 실천할 믿음의 한 가지를 적습니다.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가족과 함께 나누고 싶은 기도 제목을 적습니다.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0" y="1463040"/>
            <a:ext cx="3227832" cy="201168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0020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CFE3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2057400"/>
            <a:ext cx="32278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54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8쪽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2278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794760"/>
            <a:ext cx="322783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시간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322783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3분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4495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않고 생각만 해도 괜찮습니다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영원한 생명과 위로의 약속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20116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부활과</a:t>
            </a:r>
            <a:endParaRPr lang="en-US" sz="28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영생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697480" y="1417320"/>
            <a:ext cx="8945575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463040"/>
            <a:ext cx="8579815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부활과 영생의 소망 (요한복음 11:25-26, 14:1-3)</a:t>
            </a:r>
            <a:endParaRPr lang="en-US" sz="21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고통 없는 하늘나라의 위로 (요한계시록 21:4, 시편 23:4)</a:t>
            </a:r>
            <a:endParaRPr lang="en-US" sz="2100" dirty="0"/>
          </a:p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✓ 영원한 집과 상급 (고린도후서 5:1, 디모데후서 4:7-8)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67328"/>
            <a:ext cx="32918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천국 환송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" y="4297680"/>
            <a:ext cx="329184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 땅에서의 수고를 다 하시고, 이제 아픔도 눈물도 없는 주님의 품에서 참된 안식을 누리시길.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767328"/>
            <a:ext cx="32918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재회의 소망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434840" y="4297680"/>
            <a:ext cx="329184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잠시 동안의 이별이지만, 천국에서 다시 만날 확실한 소망이 있음을 믿습니다.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046720" y="370332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767328"/>
            <a:ext cx="32918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동행하시는 주님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183880" y="4297680"/>
            <a:ext cx="329184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슬픔 중에 있는 유가족에게 성령 하나님의 세밀한 위로와 평안이 가득하기를.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버킷리스트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버킷리스트는 삶의 선언입니다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08760"/>
            <a:ext cx="512064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And now, the end is near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And so I face the final curtain…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I’ve lived a life that’s full.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이제 끝이 가까워졌네. 나는 마지막 장을 마주하고 있다네.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벗이여, 나는 충만한 삶을 살아왔다고 분명히 말하네.</a:t>
            </a: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endParaRPr lang="en-US" sz="17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33333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MY WAY _ Frank Sinatra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1463040"/>
            <a:ext cx="52120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당하는 죽음 (말고),</a:t>
            </a:r>
            <a:endParaRPr lang="en-US" sz="32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맞이하는 죽음~!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400800" y="3063240"/>
            <a:ext cx="523951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63240"/>
            <a:ext cx="5056632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죽기 전에 꼭 해 보고 싶은 일과</a:t>
            </a:r>
            <a:endParaRPr lang="en-US" sz="21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보고 싶은 것들을 적은 목록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343400"/>
            <a:ext cx="5239512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B6B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‘죽다’ ➔ ‘킥 더 버킷(kick the bucket)’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B6B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양동이를 걷어차는 데서 유래한 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존엄한 삶의 완성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05840" y="1463040"/>
            <a:ext cx="1018001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63040"/>
            <a:ext cx="9997135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웰다잉은 죽음을 기다리는 것이 아니라,</a:t>
            </a:r>
            <a:endParaRPr lang="en-US" sz="28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1E4D3A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마지막 순간까지 나답게 살아가는 과정입니다.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97280" y="3063240"/>
            <a:ext cx="999713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4D3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280160" y="3108960"/>
            <a:ext cx="9631375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대한민국 헌법 제10조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“모든 국민은 인간으로서의 존엄과 가치를 가지며, 행복을 추구할 권리를 가진다. 국가는 개인이 가지는 불가침의 기본적 인권을 확인하고 이를 보장할 의무를 진다.”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solidFill>
            <a:srgbClr val="F7DDF0"/>
          </a:solidFill>
          <a:ln w="12700">
            <a:solidFill>
              <a:srgbClr val="F7DD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잘 죽는다는 것은 잘 살았다는 것의 증명입니다.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아름다운 마무리, 이번 주에 할 세 가지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대화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가장 믿을 수 있는 사람과</a:t>
            </a:r>
            <a:endParaRPr lang="en-US" sz="21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내 가치관과 바람을 나눕니다.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32918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산책이나 식사 자리에서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 대화”만 열어도 충분합니다.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의향서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297680" y="22860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사전연명의료의향서</a:t>
            </a:r>
            <a:endParaRPr lang="en-US" sz="21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등록기관을 확인합니다.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32918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보건소·국민건강보험공단 지사 등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전화로 먼저 문의하면 수월합니다.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1463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실천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046720" y="22860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이번 주에 할 수 있는</a:t>
            </a:r>
            <a:endParaRPr lang="en-US" sz="21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작은 한 가지를 정합니다.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183880" y="3749040"/>
            <a:ext cx="32918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쓴 감사 편지를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전하는 것부터 시작해 보세요.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F3A68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그리고 지금, 그 준비를 시작해 봅시다~!!!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웰다잉을 위한 웰빙의 삶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88575" y="1371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88575" y="137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인천금곡교회 웰다잉 특강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날마다 한 문장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6561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63040"/>
            <a:ext cx="9265615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이제부터 실천할 아름다운 마무리 한 가지는?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2926080"/>
            <a:ext cx="4754880" cy="2560320"/>
          </a:xfrm>
          <a:prstGeom prst="roundRect">
            <a:avLst>
              <a:gd name="adj" fmla="val 4286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063240"/>
            <a:ext cx="4206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가족에게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37360" y="3749040"/>
            <a:ext cx="42062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고맙다, 사랑한다, 미안하다를</a:t>
            </a:r>
            <a:endParaRPr lang="en-US" sz="23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하루도 미루지 않습니다.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583680" y="2926080"/>
            <a:ext cx="4754880" cy="2560320"/>
          </a:xfrm>
          <a:prstGeom prst="roundRect">
            <a:avLst>
              <a:gd name="adj" fmla="val 4286"/>
            </a:avLst>
          </a:prstGeom>
          <a:solidFill>
            <a:srgbClr val="FBF7EF"/>
          </a:solidFill>
          <a:ln w="12700">
            <a:solidFill>
              <a:srgbClr val="E6DC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063240"/>
            <a:ext cx="42062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나에게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3749040"/>
            <a:ext cx="42062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말씀과 기도 속에서</a:t>
            </a:r>
            <a:endParaRPr lang="en-US" sz="23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222222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남은 시간을 나답게 선택합니다.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rgbClr val="6B6B6B"/>
                </a:solidFill>
                <a:latin typeface="HY견명조" pitchFamily="34" charset="0"/>
                <a:ea typeface="HY견명조" pitchFamily="34" charset="-122"/>
                <a:cs typeface="HY견명조" pitchFamily="34" charset="-120"/>
              </a:rPr>
              <a:t>“내가 선한 싸움을 싸우고 나의 달려갈 길을 마치고 믿음을 지켰으니”  — 디모데후서 4:7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잘 사는 법을 배운 사람은</a:t>
            </a:r>
            <a:endParaRPr lang="en-US" sz="4400" dirty="0"/>
          </a:p>
          <a:p>
            <a:pPr algn="ctr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4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잘 죽는 법도 알아갑니다.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1E4D3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오늘의 삶이 가장 아름다운 준비입니다.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600" dirty="0">
                <a:solidFill>
                  <a:srgbClr val="222222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감사합니다.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삶잇다협동조합 이미경  ·  girin0822@gmail.com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웰다잉을 위한 웰빙의 삶</dc:title>
  <dc:subject>PptxGenJS Presentation</dc:subject>
  <dc:creator>삶잇다협동조합 이미경</dc:creator>
  <cp:lastModifiedBy>삶잇다협동조합 이미경</cp:lastModifiedBy>
  <cp:revision>1</cp:revision>
  <dcterms:created xsi:type="dcterms:W3CDTF">2026-10-30T02:10:03Z</dcterms:created>
  <dcterms:modified xsi:type="dcterms:W3CDTF">2026-10-30T02:10:03Z</dcterms:modified>
</cp:coreProperties>
</file>