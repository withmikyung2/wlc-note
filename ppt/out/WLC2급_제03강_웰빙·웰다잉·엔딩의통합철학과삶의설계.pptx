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notesMasterIdLst>
    <p:notesMasterId r:id="rId5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열기" id="{ea99fcc2-c756-4011-e0fe-124fc50c23f0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1교시 삶을 다시 읽다" id="{7918da37-e9b9-eefe-305b-d24476bb929a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2교시 후회에서 설계로" id="{8f091cbc-af66-0195-58f5-9b526f54e92e}">
          <p14:sldIdLst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</p14:sldIdLst>
        </p14:section>
        <p14:section name="3교시 나의 남은 삶 설계" id="{e1d00015-9c0f-1013-fe34-c09ae5f6dfca}">
          <p14:sldIdLst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</p14:sldIdLst>
        </p14:section>
        <p14:section name="정리와 예고" id="{56e60ac9-0e96-2922-1665-ddd25988d123}">
          <p14:sldIdLst>
            <p14:sldId id="306"/>
            <p14:sldId id="307"/>
            <p14:sldId id="308"/>
            <p14:sldId id="309"/>
            <p14:sldId id="310"/>
            <p14:sldId id="31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notesMaster" Target="notesMasters/notesMaster1.xml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heme" Target="theme/theme1.xml"/><Relationship Id="rId6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0:00–0:01 (1분)
인사. "1강은 나의 죽음, 2강은 우리 사회의 죽음을 보았습니다. 오늘은 다시 나에게 돌아와, 남은 삶을 설계합니다."
제1부의 마지막 시간.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0:01–0:02 (1분)
📖 교재: 교재 목차
제1부(삶과 죽음을 이해하다)를 마무리하고, 다음 시간부터 제2부(변화하는 죽음문화)로 넘어간다.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0:02–0:03 (1분)
오늘의 결과물: 인생그래프, 나의 남은 삶 1페이지, 레거시 선언문 — 세 장이 남는다.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0:03–0:08 (5분)
📖 교재: 2강 과제 · 2장 16절 사례 3
2~3명에게 "효과가 있었던 첫 문장"을 듣고 칠판에 적는다. 2교시 "가족대화 시작 문장"(14절)과 연결된다.
지역 자원 지도는 4강(엔딩산업 지도)에서 다시 쓰니 보관하도록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0:08–0:10 (2분)
📖 교재: 2장 핵심정리 · 21절
짧게 복습.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0:10–0:14 (4분)
📖 교재: 2절 · 전환 질문
예상 단어: 건강, 가족, 존엄, 자유, 배움, 신앙, 웃음.
"같은 질문을 내담자에게 던지면, 대화가 죽음이 아니라 삶에서 시작됩니다. 이것이 오늘의 첫 번째 기술입니다."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0:14–0:15 (1분)
📖 교재: 3장 표제 · 핵심 메시지
핵심 메시지를 천천히 읽는다.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0:15–0:17 (2분)
📖 교재: 3장 학습목표 1~8
굵은 키워드만 짚는다.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0:17–0:18 (1분)
📖 교재: 3장 핵심 키워드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전환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0:18–0:21 (3분)
📖 교재: 1절 · WLC 통합 공식
1강의 4단계 프레임(Ending Awareness → Well-Dying → Well-Being → Legacy)을 삶의 설계(Life Design) 중심으로 다시 그린 것.
서술형 Q1과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0:21–0:24 (3분)
📖 교재: 2절 · 전환 질문
시간이 무한하다고 느낄 때 중요한 일을 미룬다. 끝이 있음을 자각하면 "지금"의 선택이 중요해진다.
WLC는 죽음을 공포의 메시지로 쓰지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0:24–0:28 (4분)
📖 교재: 3.1절 · WLC 코칭 태도
필기 빈출(객관식 5번: 노년기 과제 = 자아통합 대 절망). OX 1번 함정: "완벽했다고 평가" → X.
WLC는 내담자의 삶을 평가하지 않고 의미·강점·관계·선택의 맥락을 함께 찾는다.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0:28–0:30 (2분)
📖 교재: 3.2절
중장년 대상 교육에서도 자아통합 질문을 쓸 수 있는 근거. 코치노트 6: 초고령 내담자에게 속도를 강요하지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0:30–0:33 (3분)
📖 교재: 4절
로버트 버틀러(Butler, 1963)의 생애회고 개념. 서술형 Q3.
"과거를 다시 쓰는 것이 아니라 의미를 다시 읽는 일."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0:33–0:38 (5분)
📖 교재: 4절 · 표
여섯 질문은 3교시 인생그래프 나눔에서 그대로 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0:38–0:42 (4분)
📖 교재: 5절 · 코칭 포인트
3교시에 직접 그린다. 질문 예: 가장 높았던/낮았던 지점, 견디게 한 사람·가치·행동, 다시 어려움이 오면 쓸 자원, 앞으로 높일 한 가지.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0:42–0:48 (6분)
📖 교재: 3.1절 코칭 태도 · 4절 저점
말하기 어려운 기억은 "패스" 가능. 강사가 먼저 짧게 자신의 예를 들면 분위기가 열린다.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0:48–1:00 (12분)
1교시 정리 2분 + 휴식 10분.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전환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1:00–1:05 (5분)
📖 교재: 6절 · 표
Bronnie Ware(2012) The Top Five Regrets of the Dying. 임종 돌봄 경험에서 반복해 들은 후회를 정리한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1:05–1:07 (2분)
📖 교재: 6절 중요
객관식 4번(정답: 성찰 질문 + 작은 행동). 서술형 Q4.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1:07–1:13 (6분)
📖 교재: 16.1절 · 실습지
5분 작성 후 가장 낮은 주제 하나에 별표. 1강 "죽음 태도 점검"의 성찰 방식(가장 낮은 점수 +1)과 같은 원리.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1:13–1:17 (4분)
📖 교재: 7절 · 표
역설계 = 원하는 미래를 먼저 그리고 현재 행동을 거꾸로 찾아오는 방식. "어떤 마지막을 원하는가"를 먼저 묻는다.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1:17–1:21 (4분)
📖 교재: 8절
객관식 1번 함정: ①은 남성(80.8/64.6), ③은 여성(86.6/66.4), 정답 ②(83.7/65.5).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1:21–1:24 (3분)
📖 교재: 8절 · 통계 해석 주의
서술형 Q5. OX 3번(O).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1:24–1:28 (4분)
📖 교재: 9절 · 표
1강 실습 4(나의 남은 삶 6영역)를 확장한 것. 3교시 "1페이지 설계"의 뼈대.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1:28–1:31 (3분)
📖 교재: 10절 · 표 / 법적 효력 주의
엔딩노트 작성 과정 자체가 삶을 돌아보고 관계를 정리하는 교육이 되도록 설계한다. 객관식 3번, OX 2번(X).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1:31–1:36 (5분)
📖 교재: 11절 · 민법 제1065~1070조
교재 본문은 자필증서·공정증서·구수증서 요건을 예로 든다. 나머지 요건은 개요이므로 수강생에게 "외우기"보다 "다섯 방식이 있고 요건이 엄격하다"를 기억하게 한다.
참고: 대법원 2026.4.2. 선고 2024다309430 판결(구수증서 요건).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1:36–1:38 (2분)
📖 교재: 11절 WLC 역할 경계
8강(경제적 웰다잉)에서 상속·유언을 더 다룬다. 서술형 Q10.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1:38–1:42 (4분)
📖 교재: 12절 · 표
객관식 2번: 레거시 4영역에 "재산"은 없다. 서술형 Q7. 1강 실습 3의 한 문장을 꺼내 보게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1:42–1:45 (3분)
📖 교재: 13절
비움은 모든 물건을 없애는 것이 아니라 무엇을 남기고 나눌지 선택하는 과정. 생전정리·유품정리의 실무는 7강. 서술형 Q8.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1:45–1:49 (4분)
📖 교재: 14절 · 표
열기 시간에 칠판에 적은 수강생들의 "효과 있었던 첫 문장"과 비교. 혼자 쓴 계획은 가족이 모르면 실행되지 않는다(서술형 Q9).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1:49–2:00 (11분)
2교시 정리 1분 + 휴식 10분. 3교시 준비물: A4 또는 실습지 16.2(인생그래프), 색연필.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전환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2:00–2:09 (9분)
📖 교재: 16.2절 · 5절
가져온 사진이 있다면 옆에 둔다. 점수의 정확도는 중요하지 않다.
울컥하는 수강생에게는 잠시 쉬어도 된다고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2:09–2:15 (6분)
📖 교재: 5절 · 표
듣는 사람은 평가하지 않는다("잘 사셨네요" 금지 — 3.1 코칭 태도).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2:15–2:19 (4분)
📖 교재: 17절 · 표
상황: 60대 남성이 "평생 가족을 위해 일만 했는데, 정작 아내와 아이들과 좋은 기억이 별로 없는 것 같다"고 말한다.
다섯 단계: 공감 → 의미 탐색 → 후회 구체화 → 가능성 탐색 → 행동. 1강의 4단계 코칭 구조와 비교해 보게 한다.
강사가 내담자 역할을 하고 수강생 한 명이 WLC 대사를 읽어도 좋다.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2:19–2:26 (7분)
📖 교재: 17절 · 6~7절
시간이 되면 역할을 바꿔 한 번 더. 실기시험 상담 시연과 같은 구조.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2:26–2:33 (7분)
📖 교재: 16.3절 · 실습지
모든 칸을 채우지 않아도 된다. "이번 달 첫 행동" 열은 최소 2개 채우게 한다(과제와 연결).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2:33–2:38 (5분)
📖 교재: 16.4절 · 12절
1강의 "한 문장 레거시"를 발전시킨 것. 희망자 1~2명 낭독. 16강(1년 성장계획)에서 다시 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2:38–2:41 (3분)
📖 교재: 15절 · 표
평가표가 아니라 다음 대화를 시작하는 점검도구. 체크하지 못한 항목이 앞으로의 강의(의료 9강, 장례 6·14강, 기록 7강)와 이어진다고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2:41–2:44 (3분)
📖 교재: 18절 · 표
서술형 Q10과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2:44–2:46 (2분)
📖 교재: 3.1·4·8·10절
정답: 1 X / 2 X / 3 O / 4 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2:46–2:47 (1분)
📖 교재: 8절
정답 ②. ①은 남성, ③은 여성 수치.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2:47–2:48 (1분)
📖 교재: 12절
정답 ③. 레거시는 가치·행동·관계·기록의 네 영역이며 재산 상속에 한정하지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2:48–2:49 (1분)
📖 교재: 10절
정답 ③. 엔딩노트는 법정 유언장을 대신하지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2:49–2:50 (1분)
📖 교재: 6절
정답 ②. 보편 법칙이 아닌 성찰 도구로 활용한다.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2:50–2:51 (1분)
📖 교재: 3.1절
정답 ④.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2:51–2:54 (3분)
📖 교재: 강사용 해설서 제3장 B
객관식 5번 정답 ④(자아통합 대 절망)는 구두로 확인.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2:54–2:55 (1분)
📖 교재: 19절 학습점검 Q1~Q10
채점 기준(문항당 10점): 핵심요소 3개 10점 / 2개 7점 / 1개 4점 / 없음 0점, 역할경계 이탈 -3점. 모범답안은 강사용 해설서 제3장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2:55–2:56 (1분)
📖 교재: 20절 핵심정리
굵은 부분을 함께 읽는다.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2:56–2:57 (1분)
📖 교재: 21절 코치 노트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2:57–2:58 (1분)
📖 교재: 16.3~16.4절 · 10절
다음 시간 첫 5분에 경험을 나눈다. 4강 준비: 집에 있는 상조·장례 광고나 안내물 1개(선택).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2:58–2:59 (1분)
📖 교재: 20절 · 제3장의 마지막 질문
10초 침묵. 제1부(1~3강)를 마친 것을 축하하며 마무리.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2:59–3:00 (1분)
📖 교재: 22절 제4장으로의 연결
제3장이 개인의 삶을 설계했다면, 제4장은 그 변화가 사회·시장·서비스 산업으로 어떻게 확장되는지 본다. 제2부의 시작.
마무리 인사.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F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F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WLC 2급 자격과정  ·  제3강 웰빙·웰다잉·엔딩의 통합철학과 삶의 설계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dirty="0">
                <a:solidFill>
                  <a:srgbClr val="2E7D6B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4E4A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TIVITY">
    <p:bg>
      <p:bgPr>
        <a:solidFill>
          <a:srgbClr val="EA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WLC 2급 자격과정  ·  제3강 웰빙·웰다잉·엔딩의 통합철학과 삶의 설계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dirty="0">
                <a:solidFill>
                  <a:srgbClr val="2E7D6B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4E4A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image" Target="../media/image-5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2E7D6B">
              <a:alpha val="45000"/>
            </a:srgbClr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566160"/>
            <a:ext cx="3840480" cy="3840480"/>
          </a:xfrm>
          <a:prstGeom prst="ellipse">
            <a:avLst/>
          </a:prstGeom>
          <a:solidFill>
            <a:srgbClr val="8FB9A8">
              <a:alpha val="30000"/>
            </a:srgbClr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8C5BC"/>
                </a:solidFill>
              </a:rPr>
              <a:t>WLC 2급 자격과정  ·  제1부 삶과 죽음을 이해하다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제3강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웰빙·웰다잉·엔딩의 통합철학과 삶의 설계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434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FE3DC"/>
                </a:solidFill>
              </a:rPr>
              <a:t>Integrated Philosophy of Well-being, Well-dying &amp; Ending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983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3시간 과정  ·  1교시 50분 · 2교시 50분 · 3교시 60분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6692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삶잇다협동조합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과정 안내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WLC 2급 16강 로드맵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제1부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삶과 죽음을 이해하다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죽음을 이해하는 통찰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초고령사회와 죽음교육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105656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4151376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3강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웰빙·웰다잉·엔딩 통합철학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04099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41259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제2부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변화하는 죽음문화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804099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41259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4강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웰다잉 문화와 엔딩산업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804099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41259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5강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일본 슈카츠와 세계 웰다잉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804099" y="4105656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941259" y="4151376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6강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장례·장묘 제도의 변화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804099" y="4946904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941259" y="4992624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7강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생전정리·유품·디지털 유산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59558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96718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제3부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삶의 존엄을 준비하다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59558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96718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8강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경제적 웰다잉과 재산 보호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59558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96718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9강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의료결정·사전돌봄·후견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59558" y="4105656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196718" y="4151376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10강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가족소통·생명윤리·갈등중재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315017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52177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제4부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상실과 임종을 동행하다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315017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452177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11강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상실·애도와 관계회복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315017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52177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12강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예기치 않은 죽음·재난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315017" y="4105656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452177" y="4151376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13강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임종 단계별 돌봄 실무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315017" y="4946904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452177" y="4992624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14강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사망 직후 초기지원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9570476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707636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제5부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WLC로 활동하다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9570476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707636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15강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WLC 코칭 실무·교육 운영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9570476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707636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16강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전문직 윤리·자격검정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오늘의 3시간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오늘은 이렇게 진행합니다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026918" cy="1051560"/>
          </a:xfrm>
          <a:prstGeom prst="roundRect">
            <a:avLst>
              <a:gd name="adj" fmla="val 10435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28440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1교시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50분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063240"/>
            <a:ext cx="29354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삶을 다시 읽다
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과제 나눔·전환 질문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통합 공식·자아통합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생애회고·인생그래프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30422" y="1737360"/>
            <a:ext cx="561492" cy="1051560"/>
          </a:xfrm>
          <a:prstGeom prst="roundRect">
            <a:avLst>
              <a:gd name="adj" fmla="val 19542"/>
            </a:avLst>
          </a:prstGeom>
          <a:solidFill>
            <a:srgbClr val="D9DEDC"/>
          </a:solidFill>
          <a:ln w="12700">
            <a:solidFill>
              <a:srgbClr val="D9DE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21862" y="1828800"/>
            <a:ext cx="3786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B6B"/>
                </a:solidFill>
              </a:rPr>
              <a:t>휴식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10분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46778" y="1737360"/>
            <a:ext cx="3026918" cy="1051560"/>
          </a:xfrm>
          <a:prstGeom prst="roundRect">
            <a:avLst>
              <a:gd name="adj" fmla="val 10435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38218" y="1828800"/>
            <a:ext cx="28440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2교시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50분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292498" y="3063240"/>
            <a:ext cx="29354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후회에서 설계로
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다섯 가지 후회·역설계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“나의 남은 삶” 6영역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엔딩노트·유언·레거시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28560" y="1737360"/>
            <a:ext cx="561492" cy="1051560"/>
          </a:xfrm>
          <a:prstGeom prst="roundRect">
            <a:avLst>
              <a:gd name="adj" fmla="val 19542"/>
            </a:avLst>
          </a:prstGeom>
          <a:solidFill>
            <a:srgbClr val="D9DEDC"/>
          </a:solidFill>
          <a:ln w="12700">
            <a:solidFill>
              <a:srgbClr val="D9DE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20000" y="1828800"/>
            <a:ext cx="3786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B6B"/>
                </a:solidFill>
              </a:rPr>
              <a:t>휴식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10분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44917" y="1737360"/>
            <a:ext cx="3643274" cy="1051560"/>
          </a:xfrm>
          <a:prstGeom prst="roundRect">
            <a:avLst>
              <a:gd name="adj" fmla="val 10435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36357" y="1828800"/>
            <a:ext cx="34603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3교시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60분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990637" y="3063240"/>
            <a:ext cx="355183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나의 남은 삶 설계
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인생그래프 그리기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코칭 롤플레이·1페이지 설계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레거시 선언문·퀴즈·예고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과제 나눔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가족과 “삶 이야기”, 해 보셨나요?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4A"/>
                </a:solidFill>
              </a:rPr>
              <a:t>2강 과제 — 가족의 삶 이야기 10분, 지역 자원 지도, 안부 한 통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짝과 2분씩, 가족과 나눈 대화를 이야기합니다.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8892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889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87096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어떤 첫 문장으로 시작했는지 알려 줍니다.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9255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92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90728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대화를 못 했다면 무엇이 어려웠는지 나눕니다.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5분</a:t>
            </a:r>
            <a:endParaRPr lang="en-US" sz="2800" dirty="0"/>
          </a:p>
        </p:txBody>
      </p:sp>
      <p:sp>
        <p:nvSpPr>
          <p:cNvPr id="20" name="Shape 17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2인 1조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효과가 있었던 첫 문장 1개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지난 시간 돌아보기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제2강에서 가져올 세 문장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15258" cy="352044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68880"/>
            <a:ext cx="305805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혼자 사는 것 ≠ 고립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가구형태가 아니라 연결망을 봅니다.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38218" y="1554480"/>
            <a:ext cx="3515258" cy="352044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66818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6681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66818" y="2468880"/>
            <a:ext cx="305805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죽음교육 ≠ 자살예방교육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위기 신호는 즉시 전문체계로.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127797" y="1554480"/>
            <a:ext cx="3515258" cy="352044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56397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56397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56397" y="2468880"/>
            <a:ext cx="305805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설계 원칙 7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모든 교육은 반드시 다시 삶으로.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6EA5"/>
                </a:solidFill>
              </a:rPr>
              <a:t>오늘의 확장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1·2강이 “죽음은 무엇이고, 왜 배워야 하는가”였다면, 3강은 “그렇다면 남은 삶을 어떻게 설계할 것인가”입니다.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822960" cy="82296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610" y="1311250"/>
            <a:ext cx="395021" cy="39502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1234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C5BC"/>
                </a:solidFill>
              </a:rPr>
              <a:t>오프닝 질문 · 전환 질문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4028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“남은 삶에서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꼭 지키고 싶은 것은 무엇입니까?”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062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DC"/>
                </a:solidFill>
              </a:rPr>
              <a:t>“죽을 준비가 되어 있습니까?”보다 먼저 물어야 할 질문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4983480"/>
            <a:ext cx="11094415" cy="1051560"/>
          </a:xfrm>
          <a:prstGeom prst="roundRect">
            <a:avLst>
              <a:gd name="adj" fmla="val 10435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5230368"/>
            <a:ext cx="548640" cy="54864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5373014"/>
            <a:ext cx="263347" cy="26334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54480" y="5074920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30초 동안 떠오르는 단어 3개를 적고, 짝과 1분씩 나눕니다.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8FB9A8"/>
                </a:solidFill>
              </a:rPr>
              <a:t>“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죽음을 성찰하는 것은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남은 삶을 다시 선택하는 일이다.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24612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8C5BC"/>
                </a:solidFill>
              </a:rPr>
              <a:t>— WLC 교육 메시지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206240"/>
            <a:ext cx="11094415" cy="1600200"/>
          </a:xfrm>
          <a:prstGeom prst="roundRect">
            <a:avLst>
              <a:gd name="adj" fmla="val 6857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343400"/>
            <a:ext cx="104543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8FB9A8"/>
                </a:solidFill>
              </a:rPr>
              <a:t>이 강의의 핵심 메시지
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엔딩을 준비하는 것은 죽음을 준비하는 일에 머물지 않는다. 삶을 돌아보고, 지금의 선택을 바꾸고, 관계를 정리하고, 존엄을 지키며, 의미를 남기는 과정 전체가 웰다잉이며 그 과정 자체가 웰빙이다.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학습목표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오늘 수업을 마치면 할 수 있는 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4E4A"/>
                </a:solidFill>
              </a:rPr>
              <a:t>통합 이해 </a:t>
            </a:r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웰빙·웰다잉·엔딩·레거시를 하나의 생애과정으로 설명한다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48640" y="275463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5463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72719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4E4A"/>
                </a:solidFill>
              </a:rPr>
              <a:t>생애회고 </a:t>
            </a:r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자아통합과 생애회고로 삶을 통합하는 질문을 만든다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548640" y="390906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9090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88162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4E4A"/>
                </a:solidFill>
              </a:rPr>
              <a:t>역설계 코칭 </a:t>
            </a:r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다섯 가지 후회를 현재의 행동을 바꾸는 도구로 쓴다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548640" y="506349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506349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503605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4E4A"/>
                </a:solidFill>
              </a:rPr>
              <a:t>통계 해석 </a:t>
            </a:r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기대수명·건강수명을 개인의 운명으로 단정하지 않는다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6233008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33008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4800" y="157276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4E4A"/>
                </a:solidFill>
              </a:rPr>
              <a:t>엔딩노트 </a:t>
            </a:r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법적 문서가 아닌 자기설계 도구로 설명한다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6233008" y="275463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33008" y="275463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54800" y="272719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4E4A"/>
                </a:solidFill>
              </a:rPr>
              <a:t>레거시 </a:t>
            </a:r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가치·행동·관계·기록의 유산으로 확장해 코칭한다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6233008" y="390906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33008" y="39090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54800" y="388162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4E4A"/>
                </a:solidFill>
              </a:rPr>
              <a:t>비움과 나눔 </a:t>
            </a:r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웰빙과 웰다잉을 잇는 일상 실천을 설계한다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6233008" y="506349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33008" y="506349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54800" y="503605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4E4A"/>
                </a:solidFill>
              </a:rPr>
              <a:t>역할 경계 </a:t>
            </a:r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법률·의료·재무 자문 없이 실행과 연계를 지원한다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핵심 키워드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오늘 만날 단어들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886968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886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웰빙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636776" y="1691640"/>
            <a:ext cx="1101852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36776" y="1691640"/>
            <a:ext cx="11018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웰다잉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939796" y="1691640"/>
            <a:ext cx="886968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39796" y="1691640"/>
            <a:ext cx="886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엔딩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027932" y="1691640"/>
            <a:ext cx="1101852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027932" y="1691640"/>
            <a:ext cx="11018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레거시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330952" y="1691640"/>
            <a:ext cx="1316736" cy="566928"/>
          </a:xfrm>
          <a:prstGeom prst="roundRect">
            <a:avLst>
              <a:gd name="adj" fmla="val 19355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30952" y="1691640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자아통합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848856" y="1691640"/>
            <a:ext cx="1316736" cy="566928"/>
          </a:xfrm>
          <a:prstGeom prst="roundRect">
            <a:avLst>
              <a:gd name="adj" fmla="val 19355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48856" y="1691640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생애회고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366760" y="1691640"/>
            <a:ext cx="1531620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66760" y="1691640"/>
            <a:ext cx="15316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인생그래프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2487168"/>
            <a:ext cx="1650492" cy="566928"/>
          </a:xfrm>
          <a:prstGeom prst="roundRect">
            <a:avLst>
              <a:gd name="adj" fmla="val 19355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487168"/>
            <a:ext cx="16504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역설계 코칭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400300" y="2487168"/>
            <a:ext cx="1984248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400300" y="2487168"/>
            <a:ext cx="1984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다섯 가지 후회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585716" y="2487168"/>
            <a:ext cx="1769364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85716" y="2487168"/>
            <a:ext cx="17693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남은 삶 설계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556248" y="2487168"/>
            <a:ext cx="1316736" cy="566928"/>
          </a:xfrm>
          <a:prstGeom prst="roundRect">
            <a:avLst>
              <a:gd name="adj" fmla="val 19355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56248" y="2487168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엔딩노트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074152" y="2487168"/>
            <a:ext cx="1316736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74152" y="2487168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관계정리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592056" y="2487168"/>
            <a:ext cx="1650492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592056" y="2487168"/>
            <a:ext cx="16504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비움과 나눔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548640" y="3282696"/>
            <a:ext cx="1316736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3282696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기록유산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2066544" y="3282696"/>
            <a:ext cx="1316736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066544" y="3282696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가족대화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3584448" y="3282696"/>
            <a:ext cx="1316736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584448" y="3282696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자기결정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39" name="Text 36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6EA5"/>
                </a:solidFill>
              </a:rPr>
              <a:t>시험 포인트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기대수명 83.7년·유병기간 제외 65.5년, 레거시 4영역, “엔딩노트 ≠ 유언장”이 자주 나옵니다.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FB9A8"/>
                </a:solidFill>
              </a:rPr>
              <a:t>1교시</a:t>
            </a:r>
            <a:endParaRPr lang="en-US" sz="2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삶을 다시 읽다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DC"/>
                </a:solidFill>
              </a:rPr>
              <a:t>잘 살기와 잘 죽기는 하나의 여정입니다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WLC 통합 공식과 전환 질문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에릭슨의 자아통합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생애회고와 인생그래프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1절 하나의 여정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WLC 통합 공식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582369" cy="1828800"/>
          </a:xfrm>
          <a:prstGeom prst="roundRect">
            <a:avLst>
              <a:gd name="adj" fmla="val 6934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1225" y="201168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11225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06040"/>
            <a:ext cx="130804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4E4A"/>
                </a:solidFill>
              </a:rPr>
              <a:t>Well-being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 rot="5400000">
            <a:off x="2204161" y="2624328"/>
            <a:ext cx="182880" cy="237744"/>
          </a:xfrm>
          <a:prstGeom prst="triangle">
            <a:avLst/>
          </a:prstGeom>
          <a:solidFill>
            <a:srgbClr val="8FB9A8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51049" y="1828800"/>
            <a:ext cx="1582369" cy="1828800"/>
          </a:xfrm>
          <a:prstGeom prst="roundRect">
            <a:avLst>
              <a:gd name="adj" fmla="val 6934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13634" y="201168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13634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588209" y="2606040"/>
            <a:ext cx="130804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4E4A"/>
                </a:solidFill>
              </a:rPr>
              <a:t>Life Design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 rot="5400000">
            <a:off x="4106570" y="2624328"/>
            <a:ext cx="182880" cy="237744"/>
          </a:xfrm>
          <a:prstGeom prst="triangle">
            <a:avLst/>
          </a:prstGeom>
          <a:solidFill>
            <a:srgbClr val="8FB9A8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53458" y="1828800"/>
            <a:ext cx="1582369" cy="1828800"/>
          </a:xfrm>
          <a:prstGeom prst="roundRect">
            <a:avLst>
              <a:gd name="adj" fmla="val 6934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16043" y="201168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16043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490618" y="2606040"/>
            <a:ext cx="130804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4E4A"/>
                </a:solidFill>
              </a:rPr>
              <a:t>Well-dying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 rot="5400000">
            <a:off x="6008980" y="2624328"/>
            <a:ext cx="182880" cy="237744"/>
          </a:xfrm>
          <a:prstGeom prst="triangle">
            <a:avLst/>
          </a:prstGeom>
          <a:solidFill>
            <a:srgbClr val="8FB9A8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55868" y="1828800"/>
            <a:ext cx="1582369" cy="1828800"/>
          </a:xfrm>
          <a:prstGeom prst="roundRect">
            <a:avLst>
              <a:gd name="adj" fmla="val 6934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18452" y="201168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18452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393028" y="2606040"/>
            <a:ext cx="130804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4E4A"/>
                </a:solidFill>
              </a:rPr>
              <a:t>Ending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 rot="5400000">
            <a:off x="7911389" y="2624328"/>
            <a:ext cx="182880" cy="237744"/>
          </a:xfrm>
          <a:prstGeom prst="triangle">
            <a:avLst/>
          </a:prstGeom>
          <a:solidFill>
            <a:srgbClr val="8FB9A8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58277" y="1828800"/>
            <a:ext cx="1582369" cy="1828800"/>
          </a:xfrm>
          <a:prstGeom prst="roundRect">
            <a:avLst>
              <a:gd name="adj" fmla="val 6934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20861" y="201168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720861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295437" y="2606040"/>
            <a:ext cx="130804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4E4A"/>
                </a:solidFill>
              </a:rPr>
              <a:t>Legacy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 rot="5400000">
            <a:off x="9813798" y="2624328"/>
            <a:ext cx="182880" cy="237744"/>
          </a:xfrm>
          <a:prstGeom prst="triangle">
            <a:avLst/>
          </a:prstGeom>
          <a:solidFill>
            <a:srgbClr val="8FB9A8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60686" y="1828800"/>
            <a:ext cx="1582369" cy="1828800"/>
          </a:xfrm>
          <a:prstGeom prst="roundRect">
            <a:avLst>
              <a:gd name="adj" fmla="val 6934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623271" y="2011680"/>
            <a:ext cx="457200" cy="457200"/>
          </a:xfrm>
          <a:prstGeom prst="ellipse">
            <a:avLst/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623271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0197846" y="2606040"/>
            <a:ext cx="130804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</a:rPr>
              <a:t>다시 Well-being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548640" y="4023360"/>
            <a:ext cx="11094415" cy="1051560"/>
          </a:xfrm>
          <a:prstGeom prst="roundRect">
            <a:avLst>
              <a:gd name="adj" fmla="val 10435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2960" y="4187952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웰빙: 지금의 삶을 건강하고 의미 있게 살아가는 상태와 과정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웰다잉: 유한성을 인식하고 가치에 따라 관계·의료·돌봄·장례·재산·기록을 준비하는 과정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엔딩: 그 준비가 삶의 마지막 국면에서 실현되는 시간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38" name="Text 35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6B"/>
                </a:solidFill>
              </a:rPr>
              <a:t>핵심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죽음을 생각한 결과가 오늘의 삶을 바꾸지 못한다면, 웰다잉 교육은 아직 삶에 연결되지 않은 것입니다.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2절 유한성이 삶을 바꾼다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“언젠가”에서 “지금”으로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10512"/>
            <a:ext cx="548640" cy="548640"/>
          </a:xfrm>
          <a:prstGeom prst="ellipse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953158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6B6B"/>
                </a:solidFill>
              </a:rPr>
              <a:t>불안을 키우는 질문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60320"/>
            <a:ext cx="481568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“죽을 준비가 되어 있습니까?”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“언제 죽을지 모릅니다.”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공포가 행동을 멈추게 함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278728" y="15544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53048" y="1810512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694" y="1953158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84568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삶을 여는 질문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6553048" y="2560320"/>
            <a:ext cx="481568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“남은 삶에서 꼭 지키고 싶은 것은 무엇입니까?”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“유한한 시간이기에 무엇을 더 소중히 살 것인가?”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건강·관계·일·용서·감사·배움의 우선순위를 다시 묻게 함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3.1 에릭슨의 자아통합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노년기의 과제: 자아통합 대 절망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64328" cy="3520440"/>
          </a:xfrm>
          <a:prstGeom prst="roundRect">
            <a:avLst>
              <a:gd name="adj" fmla="val 3117"/>
            </a:avLst>
          </a:prstGeom>
          <a:solidFill>
            <a:srgbClr val="F8E6E1"/>
          </a:solidFill>
          <a:ln w="12700">
            <a:solidFill>
              <a:srgbClr val="F8E6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10512"/>
            <a:ext cx="548640" cy="548640"/>
          </a:xfrm>
          <a:prstGeom prst="ellipse">
            <a:avLst/>
          </a:prstGeom>
          <a:solidFill>
            <a:srgbClr val="B5452F"/>
          </a:solidFill>
          <a:ln w="12700">
            <a:solidFill>
              <a:srgbClr val="B5452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953158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절망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60320"/>
            <a:ext cx="48156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되돌릴 수 없는 과거에 대한 강한 후회와 분노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자신의 삶을 무가치하게 느끼는 상태의 지속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278728" y="1554480"/>
            <a:ext cx="5364328" cy="3520440"/>
          </a:xfrm>
          <a:prstGeom prst="roundRect">
            <a:avLst>
              <a:gd name="adj" fmla="val 3117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53048" y="1810512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694" y="1953158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84568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자아통합 (Ego Integrity)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6553048" y="2560320"/>
            <a:ext cx="48156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삶을 “완벽했다”고 평가하는 것이 아님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성공과 실패, 기쁨과 상처를 모두 내 삶의 일부로 받아들이는 것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6EA5"/>
                </a:solidFill>
              </a:rPr>
              <a:t>WLC 코칭 태도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“잘 살아오셨네요”로 성급히 결론 내리지 않고, “가장 힘들었던 때를 버티게 한 힘은 무엇이었나요?”라고 묻습니다.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3.2 마지막 순간의 과제가 아니다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삶의 전환기마다 다시 통합한다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962851" cy="1737360"/>
          </a:xfrm>
          <a:prstGeom prst="roundRect">
            <a:avLst>
              <a:gd name="adj" fmla="val 6316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01466" y="201168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01466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06040"/>
            <a:ext cx="168853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4E4A"/>
                </a:solidFill>
              </a:rPr>
              <a:t>중년의 전환기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 rot="5400000">
            <a:off x="2584643" y="2578608"/>
            <a:ext cx="182880" cy="237744"/>
          </a:xfrm>
          <a:prstGeom prst="triangle">
            <a:avLst/>
          </a:prstGeom>
          <a:solidFill>
            <a:srgbClr val="8FB9A8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31531" y="1828800"/>
            <a:ext cx="1962851" cy="1737360"/>
          </a:xfrm>
          <a:prstGeom prst="roundRect">
            <a:avLst>
              <a:gd name="adj" fmla="val 6316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84357" y="201168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84357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968691" y="2606040"/>
            <a:ext cx="168853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4E4A"/>
                </a:solidFill>
              </a:rPr>
              <a:t>은퇴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 rot="5400000">
            <a:off x="4867534" y="2578608"/>
            <a:ext cx="182880" cy="237744"/>
          </a:xfrm>
          <a:prstGeom prst="triangle">
            <a:avLst/>
          </a:prstGeom>
          <a:solidFill>
            <a:srgbClr val="8FB9A8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14422" y="1828800"/>
            <a:ext cx="1962851" cy="1737360"/>
          </a:xfrm>
          <a:prstGeom prst="roundRect">
            <a:avLst>
              <a:gd name="adj" fmla="val 6316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67248" y="201168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67248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251582" y="2606040"/>
            <a:ext cx="168853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4E4A"/>
                </a:solidFill>
              </a:rPr>
              <a:t>질병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 rot="5400000">
            <a:off x="7150425" y="2578608"/>
            <a:ext cx="182880" cy="237744"/>
          </a:xfrm>
          <a:prstGeom prst="triangle">
            <a:avLst/>
          </a:prstGeom>
          <a:solidFill>
            <a:srgbClr val="8FB9A8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97313" y="1828800"/>
            <a:ext cx="1962851" cy="1737360"/>
          </a:xfrm>
          <a:prstGeom prst="roundRect">
            <a:avLst>
              <a:gd name="adj" fmla="val 6316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50139" y="201168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50139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534473" y="2606040"/>
            <a:ext cx="168853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4E4A"/>
                </a:solidFill>
              </a:rPr>
              <a:t>사별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 rot="5400000">
            <a:off x="9433316" y="2578608"/>
            <a:ext cx="182880" cy="237744"/>
          </a:xfrm>
          <a:prstGeom prst="triangle">
            <a:avLst/>
          </a:prstGeom>
          <a:solidFill>
            <a:srgbClr val="8FB9A8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80204" y="1828800"/>
            <a:ext cx="1962851" cy="1737360"/>
          </a:xfrm>
          <a:prstGeom prst="roundRect">
            <a:avLst>
              <a:gd name="adj" fmla="val 6316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433030" y="201168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43303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817364" y="2606040"/>
            <a:ext cx="168853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4E4A"/>
                </a:solidFill>
              </a:rPr>
              <a:t>자녀의 독립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548640" y="3931920"/>
            <a:ext cx="11094415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" y="4096512"/>
            <a:ext cx="1054577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자아통합은 80세 이후 한 번 수행하는 과제가 아닙니다.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큰 변화가 올 때마다 “나는 어떻게 살아왔고 이제 어떻게 살 것인가”를 다시 묻습니다.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4절 생애회고(Life Review)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추억 회상과 생애회고는 다르다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64328" cy="3520440"/>
          </a:xfrm>
          <a:prstGeom prst="roundRect">
            <a:avLst>
              <a:gd name="adj" fmla="val 3117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10512"/>
            <a:ext cx="548640" cy="548640"/>
          </a:xfrm>
          <a:prstGeom prst="ellipse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953158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6B6B"/>
                </a:solidFill>
              </a:rPr>
              <a:t>추억 회상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60320"/>
            <a:ext cx="48156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과거의 사건을 떠올림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즐거운 기억 중심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이야기로 끝남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278728" y="1554480"/>
            <a:ext cx="5364328" cy="3520440"/>
          </a:xfrm>
          <a:prstGeom prst="roundRect">
            <a:avLst>
              <a:gd name="adj" fmla="val 3117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53048" y="1810512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694" y="1953158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84568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생애회고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6553048" y="2560320"/>
            <a:ext cx="48156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과거 경험을 되짚고 미해결 갈등을 재해석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반복된 가치·선택·회복의 힘을 발견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삶의 의미를 하나의 이야기로 통합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E04"/>
                </a:solidFill>
              </a:rPr>
              <a:t>경계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WLC의 생애회고는 치료를 대신하지 않습니다. 삶을 이야기로 바라보도록 돕는 코칭 과정입니다.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4절 생애회고의 여섯 영역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무엇을 묻고, 무엇을 발견하는가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5303520"/>
                <a:gridCol w="411480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회고 영역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탐색 질문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발견할 수 있는 것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사람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내 삶에 가장 큰 영향을 준 사람은 누구인가?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관계유산, 감사, 미해결 관계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전환점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삶의 방향이 바뀐 사건은 무엇인가?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선택의 기준, 가치 변화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저점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가장 힘들었던 시기를 어떻게 버텼는가?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회복탄력성, 강점, 도움의 자원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정점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가장 살아 있다고 느꼈던 때는 언제인가?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기쁨, 몰입, 정체성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후회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다시 한다면 다르게 하고 싶은 것은?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현재의 행동 변화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유산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누구에게 무엇을 남기고 싶은가?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가치·행동·관계·기록의 레거시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5절 인생그래프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삶을 한눈에 바라보는 도구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15258" cy="352044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68880"/>
            <a:ext cx="305805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가로축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나이 또는 생애 시기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38218" y="1554480"/>
            <a:ext cx="3515258" cy="352044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66818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6681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66818" y="2468880"/>
            <a:ext cx="305805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세로축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주관적 행복도·만족도 (-10 ~ +10)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127797" y="1554480"/>
            <a:ext cx="3515258" cy="352044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56397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56397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56397" y="2468880"/>
            <a:ext cx="305805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핵심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점수가 아니라 “왜 그 시기가 높거나 낮았는가”를 탐색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E04"/>
                </a:solidFill>
              </a:rPr>
              <a:t>코칭 포인트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저점은 실패의 증거가 아니라 회복력과 자원을 발견하는 자료입니다. 심한 외상이 드러나면 깊이 파고들지 말고 안전을 우선합니다.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짝 활동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나를 버티게 한 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4A"/>
                </a:solidFill>
              </a:rPr>
              <a:t>“가장 힘들었던 때를 버티게 한 힘은 무엇이었나요?”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떠오르는 시기 하나를 고릅니다(말하고 싶은 만큼만).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8892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889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87096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그때 나를 버티게 한 사람·가치·행동을 적습니다.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9255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92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90728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짝과 2분씩 나눕니다. 듣는 사람은 “그 힘이 지금 당신에게 무엇을 남겼나요?”라고 묻습니다.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6분</a:t>
            </a:r>
            <a:endParaRPr lang="en-US" sz="2800" dirty="0"/>
          </a:p>
        </p:txBody>
      </p:sp>
      <p:sp>
        <p:nvSpPr>
          <p:cNvPr id="20" name="Shape 17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2인 1조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나의 회복 자원 1~2개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7208" y="1005840"/>
            <a:ext cx="1097280" cy="109728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2500" y="1291133"/>
            <a:ext cx="526694" cy="5266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2860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휴식 10분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291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B9A8"/>
                </a:solidFill>
              </a:rPr>
              <a:t>지금까지 기억할 세 가지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잘 살기와 잘 죽기는 하나의 여정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338218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66818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자아통합은 완벽함이 아니라 모두를 내 삶으로 받아들이는 것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8127797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56397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생애회고는 과거를 다시 쓰지 않고 의미를 다시 읽는 일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623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다음  ▸  2교시 — 후회에서 설계로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FB9A8"/>
                </a:solidFill>
              </a:rPr>
              <a:t>2교시</a:t>
            </a:r>
            <a:endParaRPr lang="en-US" sz="2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후회에서 설계로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DC"/>
                </a:solidFill>
              </a:rPr>
              <a:t>마지막에서 출발해, 오늘로 돌아옵니다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다섯 가지 후회와 역설계 코칭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“마지막 18년”에서 “나의 남은 삶”으로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엔딩노트·유언장·레거시·비움·가족대화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6절 다섯 가지 후회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브로니 웨어의 다섯 가지 후회를 오늘의 질문으로</a:t>
            </a:r>
            <a:endParaRPr lang="en-US" sz="2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572000"/>
                <a:gridCol w="374904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후회의 주제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삶의 질문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오늘의 작은 행동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타인의 기대보다 내 삶을 살 용기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누구의 기대에 맞추느라 나의 바람을 미루고 있는가?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오래 미룬 선택 하나와 첫 행동 정하기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일에만 매이지 않는 삶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일 밖에서 나를 살아 있게 하는 것은?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가족·취미·휴식 시간을 일정에 넣기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감정을 표현할 용기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말하지 못한 감사·미안함·사랑은?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한 사람에게 짧은 메시지 보내기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친구와 관계를 유지하기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오래 연락 못 했지만 만나고 싶은 사람은?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오늘 한 번 연락하기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행복을 선택할 용기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무엇이 나를 기쁘게 하는지 알고 있는가?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작고 현실적인 즐거움 하나 실행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6절 중요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후회를 다룰 때의 두 가지 원칙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2011680"/>
          </a:xfrm>
          <a:prstGeom prst="roundRect">
            <a:avLst>
              <a:gd name="adj" fmla="val 5455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822960" cy="82296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50" y="21799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65960" y="1783080"/>
            <a:ext cx="93570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후회를 죄책감을 키우는 도구로 쓰지 않습니다.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목표는 과거를 바로잡기가 아니라, 남은 시간에서 다른 선택이 가능하도록 돕는 것입니다.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48640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D98E04"/>
                </a:solidFill>
              </a:rPr>
              <a:t>보편 법칙이 아니다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“모든 사람이 하는 후회”로 소개하지 않고 성찰 질문으로 씁니다.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4338218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6818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D98E04"/>
                </a:solidFill>
              </a:rPr>
              <a:t>점수로 평가하지 않는다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내담자의 후회를 판정하지 않습니다.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8127797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56397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D98E04"/>
                </a:solidFill>
              </a:rPr>
              <a:t>작은 행동으로 연결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질문은 반드시 오늘의 행동 하나로 끝납니다.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16.1 실습 1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후회 없는 삶 점검표</a:t>
            </a:r>
            <a:endParaRPr lang="en-US" sz="2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743200"/>
                <a:gridCol w="5394960"/>
              </a:tblGrid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주제</a:t>
                      </a: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현재 만족도 (1~10)</a:t>
                      </a: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후회를 줄일 오늘의 행동</a:t>
                      </a: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내 뜻대로 살기</a:t>
                      </a: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일과 삶의 균형</a:t>
                      </a: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감정 표현하기</a:t>
                      </a: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친구·관계 유지</a:t>
                      </a: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행복을 선택하기</a:t>
                      </a: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7절 역설계 코칭(Backcasting)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마지막에서 오늘로 거꾸로 걸어오기</a:t>
            </a:r>
            <a:endParaRPr lang="en-US" sz="2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749040"/>
                <a:gridCol w="3749040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원하는 마지막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현재 점검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이번 주 행동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가족과 평온하게 마지막을 맞고 싶다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의료·돌봄 이야기를 해 본 적이 있는가?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가족 한 사람에게 대화를 제안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후회 없이 관계를 마무리하고 싶다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미해결 관계가 있는가?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감사·사과·용서 중 하나를 준비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자녀에게 정리 부담을 남기고 싶지 않다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문서·물건·계정이 정리되어 있는가?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서류 한 묶음 또는 계정 한 분야 정리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나답게 기억되고 싶다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어떤 가치로 기억되고 싶은가?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한 문장 레거시 작성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8절 “마지막 18년”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기대수명과 건강하게 사는 기간의 차이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67864" cy="4069080"/>
          </a:xfrm>
          <a:prstGeom prst="roundRect">
            <a:avLst>
              <a:gd name="adj" fmla="val 4273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74520"/>
            <a:ext cx="2202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83.7년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926080"/>
            <a:ext cx="2202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FE3DC"/>
                </a:solidFill>
              </a:rPr>
              <a:t>기대수명 (2024)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703320"/>
            <a:ext cx="22021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전체 인구 기준 평균값입니다.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390824" y="1600200"/>
            <a:ext cx="2567864" cy="4069080"/>
          </a:xfrm>
          <a:prstGeom prst="roundRect">
            <a:avLst>
              <a:gd name="adj" fmla="val 427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73704" y="1874520"/>
            <a:ext cx="2202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E7D6B"/>
                </a:solidFill>
              </a:rPr>
              <a:t>65.5년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3573704" y="2926080"/>
            <a:ext cx="2202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4A"/>
                </a:solidFill>
              </a:rPr>
              <a:t>유병기간 제외 기대수명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573704" y="3703320"/>
            <a:ext cx="22021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</a:rPr>
              <a:t>질병 없이 사는 것으로 기대되는 기간입니다.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33008" y="1600200"/>
            <a:ext cx="2567864" cy="4069080"/>
          </a:xfrm>
          <a:prstGeom prst="roundRect">
            <a:avLst>
              <a:gd name="adj" fmla="val 427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15888" y="1874520"/>
            <a:ext cx="2202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E7D6B"/>
                </a:solidFill>
              </a:rPr>
              <a:t>18.2년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6415888" y="2926080"/>
            <a:ext cx="2202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4A"/>
                </a:solidFill>
              </a:rPr>
              <a:t>두 지표의 단순 차이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15888" y="3703320"/>
            <a:ext cx="22021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</a:rPr>
              <a:t>“마지막 18년”이라는 교육 프레임의 근거입니다.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075191" y="1600200"/>
            <a:ext cx="2567864" cy="4069080"/>
          </a:xfrm>
          <a:prstGeom prst="roundRect">
            <a:avLst>
              <a:gd name="adj" fmla="val 427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58071" y="1874520"/>
            <a:ext cx="2202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E7D6B"/>
                </a:solidFill>
              </a:rPr>
              <a:t>80.8 / 86.6</a:t>
            </a:r>
            <a:endParaRPr lang="en-US" sz="3100" dirty="0"/>
          </a:p>
        </p:txBody>
      </p:sp>
      <p:sp>
        <p:nvSpPr>
          <p:cNvPr id="18" name="Text 16"/>
          <p:cNvSpPr txBox="1"/>
          <p:nvPr/>
        </p:nvSpPr>
        <p:spPr>
          <a:xfrm>
            <a:off x="9258071" y="2926080"/>
            <a:ext cx="2202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4A"/>
                </a:solidFill>
              </a:rPr>
              <a:t>기대수명 남 / 여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258071" y="3703320"/>
            <a:ext cx="22021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</a:rPr>
              <a:t>유병기간 제외 기대수명: 남 64.6년 · 여 66.4년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8064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출처: 국가데이터처 「2024년 생명표」(2025)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8절 통계 해석 주의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통계를 공포가 아니라 준비의 질문으로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F8E6E1"/>
          </a:solidFill>
          <a:ln w="12700">
            <a:solidFill>
              <a:srgbClr val="F8E6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10512"/>
            <a:ext cx="548640" cy="548640"/>
          </a:xfrm>
          <a:prstGeom prst="ellipse">
            <a:avLst/>
          </a:prstGeom>
          <a:solidFill>
            <a:srgbClr val="B5452F"/>
          </a:solidFill>
          <a:ln w="12700">
            <a:solidFill>
              <a:srgbClr val="B5452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953158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이렇게 말하지 않습니다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60320"/>
            <a:ext cx="481568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“18년 동안 아프게 됩니다.”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평균값을 개인의 남은 수명처럼 설명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숫자로 불안을 자극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278728" y="15544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53048" y="1810512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694" y="1953158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84568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이렇게 묻습니다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6553048" y="2560320"/>
            <a:ext cx="481568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“건강과 기능이 변하더라도 내가 지키고 싶은 삶은 무엇인가요?”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18.2년은 인구집단 수준의 지표 차이임을 설명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질병의 정도·기능·삶의 질은 사람마다 다름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9절 나의 남은 삶 설계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여섯 영역으로 설계한다</a:t>
            </a:r>
            <a:endParaRPr lang="en-US" sz="2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846320"/>
                <a:gridCol w="438912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영역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핵심 질문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준비 예시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건강·돌봄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어떤 건강상태에서도 지키고 싶은 일상은?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운동·건강관리·돌봄 선호·의료대화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관계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누구와 더 가까이 지내고 싶은가?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가족대화·친구관계·이웃·모임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거주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어디에서 누구와 살고 싶은가?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주거안전·이동·돌봄 접근성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경제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생활·의료·돌봄 비용을 어떻게 준비할 것인가?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재무점검·전문가 상담·공적제도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역할·활동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무엇을 계속 배우고 기여하고 싶은가?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일·봉사·취미·배움·여행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엔딩·레거시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무엇을 정리하고 무엇을 남길 것인가?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엔딩노트·장례선호·기록·유품정리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10절 엔딩노트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죽음서류가 아니라 삶의 통합 노트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15258" cy="1623060"/>
          </a:xfrm>
          <a:prstGeom prst="roundRect">
            <a:avLst>
              <a:gd name="adj" fmla="val 676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755648"/>
            <a:ext cx="2326538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나의 삶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인생그래프, 가치, 나의 이야기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38218" y="1554480"/>
            <a:ext cx="3515258" cy="1623060"/>
          </a:xfrm>
          <a:prstGeom prst="roundRect">
            <a:avLst>
              <a:gd name="adj" fmla="val 676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66818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6681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298338" y="1755648"/>
            <a:ext cx="2326538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관계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감사·미안함·화해·연락처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127797" y="1554480"/>
            <a:ext cx="3515258" cy="1623060"/>
          </a:xfrm>
          <a:prstGeom prst="roundRect">
            <a:avLst>
              <a:gd name="adj" fmla="val 676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56397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56397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9087917" y="1755648"/>
            <a:ext cx="2326538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건강·의료·돌봄</a:t>
            </a:r>
            <a:endParaRPr lang="en-US" sz="2200" dirty="0"/>
          </a:p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돌봄 선호, 의료결정에 관한 생각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3451860"/>
            <a:ext cx="3515258" cy="1623060"/>
          </a:xfrm>
          <a:prstGeom prst="roundRect">
            <a:avLst>
              <a:gd name="adj" fmla="val 676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68046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36804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3653028"/>
            <a:ext cx="2326538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재산·문서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중요문서의 위치, 전문가 연락처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338218" y="3451860"/>
            <a:ext cx="3515258" cy="1623060"/>
          </a:xfrm>
          <a:prstGeom prst="roundRect">
            <a:avLst>
              <a:gd name="adj" fmla="val 676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66818" y="368046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66818" y="36804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5298338" y="3653028"/>
            <a:ext cx="2326538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장례·추모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방식, 의례, 음악·사진의 바람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8127797" y="3451860"/>
            <a:ext cx="3515258" cy="1623060"/>
          </a:xfrm>
          <a:prstGeom prst="roundRect">
            <a:avLst>
              <a:gd name="adj" fmla="val 676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56397" y="368046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56397" y="36804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087917" y="3653028"/>
            <a:ext cx="2326538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레거시·메시지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편지·사진·음성·영상·가치 선언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E04"/>
                </a:solidFill>
              </a:rPr>
              <a:t>법적 효력 주의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엔딩노트에 재산 분배 의사를 적어도 자동으로 법적 유언이 되지 않습니다. 유언은 민법이 정한 방식을 따라야 합니다.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11절 엔딩노트와 유언장은 다르다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민법이 정한 유언의 다섯 가지 방식</a:t>
            </a:r>
            <a:endParaRPr lang="en-US" sz="2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방식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핵심 요건 (개요)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자필증서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전문·연월일·주소·성명을 모두 직접 쓰고 날인 (컴퓨터 작성·대필 불가)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녹음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유언의 취지·성명·연월일을 말하고, 증인이 그 정확함과 성명을 함께 녹음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공정증서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증인 2인이 참여한 가운데 공증인 면전에서 법정 절차에 따라 작성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비밀증서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봉한 유언서를 증인 2인 이상에게 제출하고 확정일자 등 절차를 거침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구수증서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질병 등 급박한 사유로 다른 방식이 불가능할 때, 증인 2인 이상과 사후 검인 필요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E04"/>
                </a:solidFill>
              </a:rPr>
              <a:t>2026년 9월 기준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민법 제1065조 이하. 각 방식은 요건이 엄격하며, 개별 사안은 반드시 변호사·공증인과 확인합니다.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11절 WLC 역할 경계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유언 앞에서 WLC가 하는 일과 하지 않는 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2011680"/>
          </a:xfrm>
          <a:prstGeom prst="roundRect">
            <a:avLst>
              <a:gd name="adj" fmla="val 5455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822960" cy="82296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50" y="21799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65960" y="1783080"/>
            <a:ext cx="93570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E4A"/>
                </a:solidFill>
              </a:rPr>
              <a:t>WLC는 “유언이 필요한 상황을 생각해 보도록” 안내할 수 있지만,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1F4E4A"/>
                </a:solidFill>
              </a:rPr>
              <a:t>유리한 방식을 판단하거나 유언문안을 작성해 주지 않습니다.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548640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D98E04"/>
                </a:solidFill>
              </a:rPr>
              <a:t>할 수 있는 일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가치·바람을 정리하고 전문가에게 할 질문을 준비하도록 돕기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4338218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6818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D98E04"/>
                </a:solidFill>
              </a:rPr>
              <a:t>하지 않는 일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유언의 유효성·상속분·세금 판단, 문안 작성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8127797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56397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D98E04"/>
                </a:solidFill>
              </a:rPr>
              <a:t>연결할 곳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변호사·공증인·법률구조 기관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12절 레거시 디자인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레거시는 재산보다 넓다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67864" cy="3520440"/>
          </a:xfrm>
          <a:prstGeom prst="roundRect">
            <a:avLst>
              <a:gd name="adj" fmla="val 427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468880"/>
            <a:ext cx="21106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가치 유산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내가 지켜 온 원칙과 신념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정직·배려·도전·나눔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390824" y="1554480"/>
            <a:ext cx="2567864" cy="3520440"/>
          </a:xfrm>
          <a:prstGeom prst="roundRect">
            <a:avLst>
              <a:gd name="adj" fmla="val 427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19424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070" y="19257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19424" y="2468880"/>
            <a:ext cx="21106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행동 유산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반복해서 실천한 행동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봉사·교육·돌봄·기부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6233008" y="1554480"/>
            <a:ext cx="2567864" cy="3520440"/>
          </a:xfrm>
          <a:prstGeom prst="roundRect">
            <a:avLst>
              <a:gd name="adj" fmla="val 427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61608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254" y="192572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461608" y="2468880"/>
            <a:ext cx="21106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관계 유산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사람들에게 남긴 경험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가족 전통·후배에게 준 영향</a:t>
            </a:r>
            <a:endParaRPr lang="en-US" sz="2200" dirty="0"/>
          </a:p>
        </p:txBody>
      </p:sp>
      <p:sp>
        <p:nvSpPr>
          <p:cNvPr id="16" name="Shape 11"/>
          <p:cNvSpPr/>
          <p:nvPr/>
        </p:nvSpPr>
        <p:spPr>
          <a:xfrm>
            <a:off x="9075191" y="1554480"/>
            <a:ext cx="2567864" cy="3520440"/>
          </a:xfrm>
          <a:prstGeom prst="roundRect">
            <a:avLst>
              <a:gd name="adj" fmla="val 427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303791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6438" y="1925726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303791" y="2468880"/>
            <a:ext cx="21106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기록 유산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삶을 전하는 기록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편지·사진·자서전·레시피</a:t>
            </a:r>
            <a:endParaRPr lang="en-US" sz="2200" dirty="0"/>
          </a:p>
        </p:txBody>
      </p:sp>
      <p:sp>
        <p:nvSpPr>
          <p:cNvPr id="20" name="Shape 14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6B"/>
                </a:solidFill>
              </a:rPr>
              <a:t>한 문장 레거시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“나는 ______을 중요하게 여기며, 사람들에게 ______한 사람으로 기억되고 싶다.”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13절 비움과 나눔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엔딩 준비를 오늘의 웰빙으로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1040861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한 달에 한 서랍.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 매달 한 서랍 또는 한 상자만 정리한다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523744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23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496312"/>
            <a:ext cx="1040861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사연과 함께.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 가족에게 의미 있는 물건은 사연과 함께 미리 전달한다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447288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447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419856"/>
            <a:ext cx="1040861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누가 보관할까.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 사진과 기록은 보관할 사람까지 정한다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370832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370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4343400"/>
            <a:ext cx="1040861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의미를 나눈다.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 기부·나눔하고 싶은 물건과 재산의 의미를 가족과 대화한다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5294376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294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5266944"/>
            <a:ext cx="1040861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디지털도.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 디지털 계정과 기록은 제7강의 디지털 유산 원칙과 연결한다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14절 가족대화로 완성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가족대화, 이렇게 시작해 보세요</a:t>
            </a:r>
            <a:endParaRPr lang="en-US" sz="28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869680"/>
              </a:tblGrid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대화 주제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시작 문장 예시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삶의 우선순위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“나이가 들수록 내가 가장 지키고 싶은 일상이 뭔지 생각해 봤어.”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돌봄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“내가 도움이 많이 필요해지면 너희가 어떤 부담을 느낄지 함께 이야기하고 싶어.”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의료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“치료가 어려운 상황이 오면 내가 중요하게 생각하는 게 뭔지 미리 말해 두고 싶어.”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장례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“장례를 크게 하자는 뜻이 아니라, 내 바람을 알아 두면 가족이 덜 힘들 것 같아.”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재산·문서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“돈 얘기가 아니라, 중요한 서류와 연락처가 어디 있는지 알려 두고 싶어.”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7208" y="1005840"/>
            <a:ext cx="1097280" cy="109728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2500" y="1291133"/>
            <a:ext cx="526694" cy="5266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2860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휴식 10분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291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B9A8"/>
                </a:solidFill>
              </a:rPr>
              <a:t>지금까지 기억할 세 가지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후회는 죄책감이 아니라 오늘 행동의 나침반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338218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66818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18.2년은 개인의 운명이 아니라 준비의 질문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8127797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56397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엔딩노트 ≠ 유언장, 레거시 ≠ 재산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623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다음  ▸  3교시 — 나의 남은 삶을 직접 설계합니다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FB9A8"/>
                </a:solidFill>
              </a:rPr>
              <a:t>3교시</a:t>
            </a:r>
            <a:endParaRPr lang="en-US" sz="2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나의 남은 삶 설계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DC"/>
                </a:solidFill>
              </a:rPr>
              <a:t>돌아보고, 바꾸고, 남깁니다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실습 2 인생그래프 · 짝 나눔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코칭 사례 “평생 일만 했습니다” 롤플레이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실습 3 남은 삶 1페이지 · 실습 4 레거시 선언문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16.2 실습 2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나의 인생그래프 그리기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4A"/>
                </a:solidFill>
              </a:rPr>
              <a:t>가로축은 나이, 세로축은 행복도(-10~+10). 중요한 사건을 점으로 찍고 이어 봅니다.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태어나서 지금까지 중요한 사건 5~8개를 시기 순으로 적습니다.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6301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6118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각 사건의 행복도를 점으로 찍고 선으로 잇습니다.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40740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38912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가장 높은 점과 가장 낮은 점에 짧은 제목을 붙입니다.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" y="51846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184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51663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그래프 오른쪽 끝에 “앞으로 높이고 싶은 영역”을 적습니다.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9분</a:t>
            </a:r>
            <a:endParaRPr lang="en-US" sz="2800" dirty="0"/>
          </a:p>
        </p:txBody>
      </p:sp>
      <p:sp>
        <p:nvSpPr>
          <p:cNvPr id="23" name="Shape 20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개인 작성</a:t>
            </a:r>
            <a:endParaRPr lang="en-US" sz="1800" dirty="0"/>
          </a:p>
        </p:txBody>
      </p:sp>
      <p:sp>
        <p:nvSpPr>
          <p:cNvPr id="28" name="Shape 24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나의 인생그래프 1장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짝 나눔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그래프가 말해 주는 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4A"/>
                </a:solidFill>
              </a:rPr>
              <a:t>나누고 싶은 만큼만 이야기합니다.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가장 높았던 지점: 그때 무엇이 있었나요?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6301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6118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가장 낮았던 지점: 무엇이 나를 견디게 했나요?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40740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38912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비슷한 어려움이 다시 온다면 무엇을 활용할 수 있나요?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" y="51846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184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51663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앞으로 그래프를 조금 높이기 위한 한 가지는?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6분</a:t>
            </a:r>
            <a:endParaRPr lang="en-US" sz="2800" dirty="0"/>
          </a:p>
        </p:txBody>
      </p:sp>
      <p:sp>
        <p:nvSpPr>
          <p:cNvPr id="23" name="Shape 20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2인 1조 (3분씩)</a:t>
            </a:r>
            <a:endParaRPr lang="en-US" sz="1800" dirty="0"/>
          </a:p>
        </p:txBody>
      </p:sp>
      <p:sp>
        <p:nvSpPr>
          <p:cNvPr id="28" name="Shape 24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앞으로 높일 한 가지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17절 코칭 사례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“평생 일만 했습니다” — 다섯 단계 대화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1040861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4A"/>
                </a:solidFill>
              </a:rPr>
              <a:t>공감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  “열심히 살아오셨는데, 돌아보니 함께하지 못한 시간이 마음에 남으시는군요.”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304288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304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276856"/>
            <a:ext cx="1040861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4A"/>
                </a:solidFill>
              </a:rPr>
              <a:t>의미 탐색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  “그렇게까지 일하게 했던 가장 중요한 마음은 무엇이었나요?”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008376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008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2980944"/>
            <a:ext cx="1040861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4A"/>
                </a:solidFill>
              </a:rPr>
              <a:t>후회 구체화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  “가장 아쉬운 관계나 장면 하나를 꼽는다면요?”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12464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12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3685032"/>
            <a:ext cx="1040861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4A"/>
                </a:solidFill>
              </a:rPr>
              <a:t>가능성 탐색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  “과거는 바꿀 수 없어도, 지금 다르게 만들 수 있는 관계가 있을까요?”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4416552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416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4389120"/>
            <a:ext cx="1040861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4A"/>
                </a:solidFill>
              </a:rPr>
              <a:t>행동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  “이번 주 가장 작은 행동은요? 전화, 식사, 편지 중 하나를 골라 볼까요?”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6B"/>
                </a:solidFill>
              </a:rPr>
              <a:t>코칭 핵심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60대 남성: “가족을 위해 일만 했는데 좋은 기억이 없다.” — “후회하지 마세요” 대신, 후회를 현재의 행동으로 전환합니다.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역설계 코칭 롤플레이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후회를 오늘의 행동으로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4A"/>
                </a:solidFill>
              </a:rPr>
              <a:t>다섯 단계로 대화해 봅니다: 공감 → 의미 탐색 → 후회 구체화 → 가능성 탐색 → 행동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3인 1조: 내담자·WLC·관찰자를 정합니다.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6301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6118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내담자는 실습 1에서 별표한 주제로 고민을 말합니다.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40740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38912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WLC는 다섯 단계 질문으로 대화합니다(4분).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" y="51846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184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51663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관찰자가 빠진 단계와 좋았던 질문 하나를 알려 줍니다.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7분</a:t>
            </a:r>
            <a:endParaRPr lang="en-US" sz="2800" dirty="0"/>
          </a:p>
        </p:txBody>
      </p:sp>
      <p:sp>
        <p:nvSpPr>
          <p:cNvPr id="23" name="Shape 20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3인 1조</a:t>
            </a:r>
            <a:endParaRPr lang="en-US" sz="1800" dirty="0"/>
          </a:p>
        </p:txBody>
      </p:sp>
      <p:sp>
        <p:nvSpPr>
          <p:cNvPr id="28" name="Shape 24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이번 주 작은 행동 1개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16.3 실습 3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나의 남은 삶 1페이지 설계</a:t>
            </a:r>
            <a:endParaRPr lang="en-US" sz="28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108960"/>
                <a:gridCol w="3017520"/>
                <a:gridCol w="301752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영역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5년 후 바라는 모습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이번 1년의 준비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이번 달 첫 행동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건강·돌봄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관계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거주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경제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배움·활동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엔딩·레거시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16.4 실습 4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나의 레거시 선언문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4A"/>
                </a:solidFill>
              </a:rPr>
              <a:t>네 문장을 완성하면, 나의 레거시 선언문이 됩니다.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나는 ________을 중요하게 여겨 왔다.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6301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6118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앞으로 ________을 더 실천하고 싶다.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40740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38912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사람들에게 ________한 사람으로 기억되고 싶다.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" y="51846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184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51663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그 기억을 위해 이번 달에 ________을 하겠다.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5분</a:t>
            </a:r>
            <a:endParaRPr lang="en-US" sz="2800" dirty="0"/>
          </a:p>
        </p:txBody>
      </p:sp>
      <p:sp>
        <p:nvSpPr>
          <p:cNvPr id="23" name="Shape 20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개인 작성</a:t>
            </a:r>
            <a:endParaRPr lang="en-US" sz="1800" dirty="0"/>
          </a:p>
        </p:txBody>
      </p:sp>
      <p:sp>
        <p:nvSpPr>
          <p:cNvPr id="28" name="Shape 24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레거시 선언문 4문장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15절 통합 체크리스트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좋은 삶과 좋은 마무리, 나는 어디쯤?</a:t>
            </a:r>
            <a:endParaRPr lang="en-US" sz="28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89611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영역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점검 문항 (해당하면 ☑)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삶과 가치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☐ 내가 중요하게 여기는 삶의 가치 3가지를 말할 수 있다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삶과 가치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☐ 남은 삶에서 해 보고 싶은 일과 줄이고 싶은 일을 안다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관계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☐ 감사·사과·용서가 필요한 관계를 안다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관계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☐ 위기 시 연락할 사람과 정기적인 관계망이 있다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의료·돌봄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☐ 기능이 변할 때 지키고 싶은 일상을 말할 수 있다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의료·돌봄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☐ 의료·돌봄 선호를 신뢰하는 사람과 이야기했다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기록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☐ 중요한 문서·연락처·계정의 위치를 가족이 알 수 있다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장례·추모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☐ 장례와 추모에 대한 기본적인 바람을 생각해 봤다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레거시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☐ 무엇으로 기억되고 싶은지 한 문장으로 말할 수 있다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실천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☐ 30일 안에 실행할 작은 변화 한 가지를 정했다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18절 WLC의 역할과 경계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WLC가 하는 일, 전문가에게 연결할 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F8E6E1"/>
          </a:solidFill>
          <a:ln w="12700">
            <a:solidFill>
              <a:srgbClr val="F8E6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10512"/>
            <a:ext cx="548640" cy="548640"/>
          </a:xfrm>
          <a:prstGeom prst="ellipse">
            <a:avLst/>
          </a:prstGeom>
          <a:solidFill>
            <a:srgbClr val="B5452F"/>
          </a:solidFill>
          <a:ln w="12700">
            <a:solidFill>
              <a:srgbClr val="B5452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953158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전문가에게 연결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60320"/>
            <a:ext cx="481568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우울·외상·자살위험 등 정신건강 치료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유언의 유효성·상속분·세금 자문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가족분쟁의 법적 중재·소송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의학적 진단·치료 결정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투자상품 추천·재무설계 대행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278728" y="15544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53048" y="1810512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694" y="1953158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84568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WLC가 할 수 있는 일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6553048" y="2560320"/>
            <a:ext cx="481568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삶의 가치·우선순위 탐색 질문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생애회고·인생그래프·레거시 실습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엔딩노트 작성 촉진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가족대화 준비와 소통 촉진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전문가에게 할 질문 정리 지원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OX 퀵퀴즈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맞으면 O, 틀리면 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11655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1165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554480"/>
            <a:ext cx="798545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자아통합은 자신의 삶을 완벽했다고 평가하는 것이다.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722815" y="172021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6EA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22815" y="172021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6EA5"/>
                </a:solidFill>
              </a:rPr>
              <a:t>O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0637215" y="172021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452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37215" y="172021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X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270891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966085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296608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2708910"/>
            <a:ext cx="798545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엔딩노트에 재산 분배 의사를 적으면 자동으로 법적 유언이 된다.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722815" y="287464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6EA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722815" y="287464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6EA5"/>
                </a:solidFill>
              </a:rPr>
              <a:t>O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0637215" y="287464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452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637215" y="287464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X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48640" y="386334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120515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12051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3863340"/>
            <a:ext cx="798545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기대수명과 유병기간 제외 기대수명의 차이(18.2년)는 개인이 그만큼 아프다는 예측이 아니다.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722815" y="402907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6EA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722815" y="402907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6EA5"/>
                </a:solidFill>
              </a:rPr>
              <a:t>O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10637215" y="402907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452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637215" y="402907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X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548640" y="501777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5274945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527494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463040" y="5017770"/>
            <a:ext cx="798545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생애회고는 과거를 떠올리는 것을 넘어 의미를 재해석·통합하는 과정이다.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9722815" y="518350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6EA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722815" y="518350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6EA5"/>
                </a:solidFill>
              </a:rPr>
              <a:t>O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10637215" y="518350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452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637215" y="518350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X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1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기대수명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E4A"/>
                </a:solidFill>
              </a:rPr>
              <a:t>2024년 생명표 기준 기대수명과 유병기간 제외 기대수명의 조합으로 옳은 것은?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80.8년 / 64.6년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83.7년 / 65.5년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86.6년 / 66.4년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83.5년 / 70.1년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2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레거시의 네 영역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교재가 제시한 레거시의 네 영역에 포함되지 않는 것은?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가치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행동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재산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기록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3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엔딩노트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엔딩노트에 대한 설명으로 옳은 것은?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작성하면 법적 유언과 같은 효력이 있다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공증을 받아야만 작성할 수 있다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삶·관계·의료·재산·장례·기록을 정리하는 생활형 자기설계 도구다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의료진이 작성해 주는 문서다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4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다섯 가지 후회의 활용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브로니 웨어의 다섯 가지 후회 활용법으로 가장 적절한 것은?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모든 사람이 하는 후회로 소개한다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현재의 삶을 점검하는 성찰 질문으로 쓰고 작은 행동으로 연결한다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내담자의 후회를 점수로 평가한다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임종기 환자에게만 사용한다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5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에릭슨의 노년기 과제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에릭슨이 제시한 노년기의 발달과제는?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신뢰 대 불신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친밀감 대 고립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생산성 대 침체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자아통합 대 절망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정답과 해설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퀴즈 정답 확인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OX 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50876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X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2331720" y="155448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성공·실패를 모두 내 삶으로 받아들이는 것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68605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68605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OX 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68605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X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331720" y="273177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유언은 민법이 정한 방식을 따라야 함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86334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86334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OX 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86334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O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90906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인구집단 수준의 지표 차이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504063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504063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OX 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504063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O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2331720" y="508635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의미를 다시 읽고 통합하는 과정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233008" y="150876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15888" y="150876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객관식 1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93128" y="150876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②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8016088" y="155448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83.7년 / 65.5년 (①남, ③여)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233008" y="268605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15888" y="268605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객관식 2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193128" y="268605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③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8016088" y="273177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가치·행동·관계·기록 — 재산 아님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233008" y="386334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15888" y="386334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객관식 3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193128" y="386334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③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8016088" y="390906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생활형 자기설계 도구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233008" y="504063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15888" y="504063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객관식 4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193128" y="504063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②</a:t>
            </a:r>
            <a:endParaRPr lang="en-US" sz="2200" dirty="0"/>
          </a:p>
        </p:txBody>
      </p:sp>
      <p:sp>
        <p:nvSpPr>
          <p:cNvPr id="35" name="Text 33"/>
          <p:cNvSpPr txBox="1"/>
          <p:nvPr/>
        </p:nvSpPr>
        <p:spPr>
          <a:xfrm>
            <a:off x="8016088" y="508635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성찰 질문 + 작은 행동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19절 학습점검 · 복습 과제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서술형으로 정리해 보세요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웰빙·웰다잉·엔딩·레거시를 하나의 생애과정으로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523744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23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496312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자아통합 개념의 WLC 코칭 적용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447288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447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419856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생애회고와 추억 회상의 차이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370832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370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4343400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다섯 가지 후회를 역설계 코칭에 쓸 때 주의점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5294376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294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5266944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기대수명 차이를 개인에게 적용하면 안 되는 이유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33008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33008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54800" y="1572768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엔딩노트와 법적 유언장의 차이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233008" y="2523744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33008" y="2523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54800" y="2496312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레거시 네 영역과 각 사례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233008" y="3447288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33008" y="3447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54800" y="3419856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비움과 나눔이 웰빙과 웰다잉을 잇는 이유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6233008" y="4370832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33008" y="4370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9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854800" y="4343400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삶의 설계에서 가족대화가 중요한 이유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233008" y="5294376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33008" y="5294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10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854800" y="5266944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유언·재산·의료 영역의 WLC 역할 경계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20절 핵심정리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제3강에서 꼭 기억할 여섯 문장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웰다잉은 웰빙과 분리되지 않는다.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좋은 마무리는 지금의 삶과 선택에서 시작된다.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36982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3698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34238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생애회고는 삶을 다시 이해하는 일이다.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저점과 후회도 의미와 강점의 자료가 된다.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13944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39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11200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후회는 행동의 나침반이다.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과거를 탓하지 않고 오늘의 작은 선택으로 바꾼다.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90906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9090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388162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엔딩노트는 삶의 통합 도구다.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가치·관계·기록·메시지까지 함께 다룬다.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67868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678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465124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레거시는 재산보다 넓다.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가치·행동·관계·기록이 다음 사람에게 이어진다.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54483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4483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170432" y="542086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통계는 개인의 운명이 아니다.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코칭은 개인의 실제 삶에서 출발한다.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21절 WLC 코치 노트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현장에서 기억할 여섯 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4724248" cy="1466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죽음은 삶을 비추는 거울이다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313944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139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3112008"/>
            <a:ext cx="4724248" cy="1466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생애회고에서 평가하지 않는다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467868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678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4651248"/>
            <a:ext cx="4724248" cy="1466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후회를 죄책감으로 만들지 않는다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233008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33008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54800" y="1572768"/>
            <a:ext cx="4724248" cy="1466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기록으로 남기도록 돕는다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33008" y="313944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33008" y="3139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4800" y="3112008"/>
            <a:ext cx="4724248" cy="1466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법률적 효력을 혼동하지 않는다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33008" y="467868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33008" y="4678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54800" y="4651248"/>
            <a:ext cx="4724248" cy="1466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초고령 내담자에게 속도를 강요하지 않는다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이번 주 과제와 실천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다음 시간까지 해 올 세 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46888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이번 달 첫 행동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1페이지 설계의 “이번 달 첫 행동” 중 하나를 실행합니다.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338218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66818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465" y="19257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66818" y="246888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엔딩노트 첫 장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엔딩노트 6영역 중 “나의 삶” 한 쪽을 써 봅니다.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8127797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356397" y="1783080"/>
            <a:ext cx="548640" cy="54864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043" y="192572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356397" y="246888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3A6EA5"/>
                </a:solidFill>
              </a:rPr>
              <a:t>레거시 선언문 나누기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가족이나 친구 한 사람에게 선언문을 읽어 줍니다.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B9A8"/>
                </a:solidFill>
              </a:rPr>
              <a:t>제3강의 마지막 질문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03120"/>
            <a:ext cx="101800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“내가 바라는 마지막 모습이 있다면,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그것을 위해 오늘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무엇을 바꾸어야 하는가?”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4805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3DC"/>
                </a:solidFill>
              </a:rPr>
              <a:t>제1부를 마치며 — 죽음을 이해하는 것은 삶을 다시 선택하는 일입니다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다음 회차 예고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다음 시간에 만날 이야기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937760" cy="4572000"/>
          </a:xfrm>
          <a:prstGeom prst="roundRect">
            <a:avLst>
              <a:gd name="adj" fmla="val 2400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FB9A8"/>
                </a:solidFill>
              </a:rPr>
              <a:t>다음 시간  ·  제4강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9456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웰다잉 문화와 엔딩산업의 확장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49040"/>
            <a:ext cx="4389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8FB9A8"/>
                </a:solidFill>
              </a:rPr>
              <a:t>다음 질문
</a:t>
            </a:r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</a:rPr>
              <a:t>“개인의 엔딩 준비가 사회의 문화와 산업으로 확장될 때, WLC는 어떤 역할을 해야 하는가?”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1554480"/>
            <a:ext cx="5882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D6B"/>
                </a:solidFill>
              </a:rPr>
              <a:t>이런 내용을 다룹니다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60720" y="2029968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60720" y="2029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011680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타나톨로지와 “라이프엔딩 생태계”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760720" y="2606040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60720" y="2606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587752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상조산업의 성장과 소비자가 확인할 질문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760720" y="3182112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60720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3163824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장례·장묘 문화의 변화와 공공서비스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760720" y="3758184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760720" y="3758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3739896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데스카페·펫로스·디지털 유산·AI 추모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5760720" y="4334256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760720" y="4334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4315968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엔딩산업의 윤리적 위험과 WLC의 중립성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5760720" y="5029200"/>
            <a:ext cx="5882335" cy="1097280"/>
          </a:xfrm>
          <a:prstGeom prst="roundRect">
            <a:avLst>
              <a:gd name="adj" fmla="val 10000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5257800"/>
            <a:ext cx="548640" cy="54864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6246" y="5400446"/>
            <a:ext cx="263347" cy="263347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6675120" y="5074920"/>
            <a:ext cx="47850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미리 읽기: 교재 제4장 1~8절  ·  가져올 것: 2강 지역 자원 지도, 상조·장례 광고 1개(선택)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KR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erif KR Blac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56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5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WLC 2급 제3강 웰빙·웰다잉·엔딩의 통합철학과 삶의 설계</dc:title>
  <dc:subject>PptxGenJS Presentation</dc:subject>
  <dc:creator>삶잇다협동조합</dc:creator>
  <cp:lastModifiedBy>삶잇다협동조합</cp:lastModifiedBy>
  <cp:revision>1</cp:revision>
  <dcterms:created xsi:type="dcterms:W3CDTF">2026-10-29T23:51:28Z</dcterms:created>
  <dcterms:modified xsi:type="dcterms:W3CDTF">2026-10-29T23:51:28Z</dcterms:modified>
</cp:coreProperties>
</file>