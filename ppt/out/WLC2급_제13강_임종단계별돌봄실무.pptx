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45f1c9e7-34ec-d701-b72f-0b506fbff6d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임종이 가까워질 때의 변화" id="{8e4887ec-0916-8d25-a4c7-dc662334ef8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교시 곁에 있는 돌봄과 준비" id="{2e1765da-737c-221f-1e30-4c4b6b86d04f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3교시 임종 돌봄 워크숍" id="{b854ed46-3754-500e-816a-e56a2c85be32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정리와 예고" id="{8f8f7d15-e828-a644-a763-01f9b1c0118d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제4부 세 번째 시간.
"오늘은 마지막 시간이 실제로 가까워졌을 때 몸과 의식에 어떤 변화가 오는지, 가족과 WLC는 어떻게 곁에 있어야 하는지를 배웁니다."
의학적 고지: 오늘 다루는 신체 변화는 가족교육을 위한 일반 정보다. 실제 증상·약물·산소·수액·응급대응은 담당 의료진·호스피스팀의 평가를 따른다.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9강(의료결정) → 11강(애도) → 12강(갑작스러운 죽음) → 13강(임종 돌봄) → 14강(사망 직후 지원).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마지막 대화 선택카드, 가정임종 준비표, 나의 임종 돌봄 철학 선언.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0:03–0:07 (4분)
📖 교재: 12강 과제
연결처가 비어 있는 수강생에게는 오늘 다룰 호스피스·완화의료 기관도 함께 적도록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0:07–0:09 (2분)
📖 교재: 참고문헌 고지 · 1절
"그때 이걸 알았더라면" 하는 자책이 올라올 수 있다. "그때 최선을 다하셨습니다"로 받아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0:09–0:13 (4분)
📖 교재: 1절
대부분 "숨이 이상해지는 것", "먹지 못하는 것", "아무것도 못 해 주는 것". 이 포스트잇을 1교시 내용과 연결해 하나씩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0:13–0:14 (1분)
📖 교재: 13장 표제 · 핵심 메시지
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0:14–0:16 (2분)
📖 교재: 13장 학습목표 1~10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0:16–0:19 (3분)
📖 교재: 1절 · WLC 역할 정의
서술형 Q10과 연결. "이 경계는 임종 현장에서 반드시 유지해야 한다."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0:19–0:22 (3분)
📖 교재: 2절 · 가족 안내 문장
코치노트 1. 전문 완화의료에서도 임종 시점 예측에는 불확실성이 있다. OX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0:22–0:28 (6분)
📖 교재: 3절 · 표 (NHS)
서술형 Q1. 오프닝 포스트잇 중 "먹지 못함"을 여기서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0:28–0:34 (6분)
📖 교재: 4절 · 표
모틀링 = 혈액순환 변화로 피부에 생기는 얼룩무늬. 3교시 롤플레이 상황.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0:34–0:38 (4분)
📖 교재: 5절 · 가족에게 할 말
서술형 Q3. 객관식 1번. 코치노트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5절 · 18절
"곧 돌아가실 것 같아요" 같은 예측이 나오면 바로 짚어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0:42–0:46 (4분)
📖 교재: 6절 · WLC 금지선
서술형 Q2. 음식과 물은 가족에게 사랑의 상징이라 "굶기는 것 같다"는 죄책감이 생긴다. 코치노트 2. 객관식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0:46–0:48 (2분)
📖 교재: 7절 · Blundon 외(2020)
서술형 Q4. 코치노트 4. OX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8절 · 표 / 중요
서술형 Q6. 객관식 3번. 코치노트 6. 어떤 관계는 마지막까지 복잡할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1:05–1:10 (5분)
📖 교재: 19.2절
가족 상담 시 그대로 쓸 수 있는 도구. "아무 말 없이 곁에 있기"를 고른 사람도 존중.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1:10–1:15 (5분)
📖 교재: 9절 · 표
코치노트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1:15–1:20 (5분)
📖 교재: 10절 · 표
서술형 Q5. 자연스러운 변화라 생각되더라도 환자가 편안하지 않거나 가족이 불안하면 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1:20–1:24 (4분)
📖 교재: 10절
"언제부터, 어떻게, 얼마나 자주"를 넣으면 좋은 전달.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1:24–1:29 (5분)
📖 교재: 11절 · 표
보건복지부: 호스피스·완화의료 = 통증·신체증상 완화, 돌봄계획, 임종관리, 환자·가족 교육, 심리사회·영적 지원. 9강 호스피스와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1:29–1:33 (4분)
📖 교재: 12절 · 의료법 제17조 (수업 직전 재확인)
서술형 Q7·Q8. 코치노트 8·9. 객관식 4번. 법령은 국가법령정보센터에서 수업 직전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1:33–1:37 (4분)
📖 교재: 13절 · 표
코치노트 7. 임종을 지키는 가족은 "숨은 환자"가 될 수 있다. 10강 가족회의와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1:37–1:42 (5분)
📖 교재: 14.1~14.4절
어린 자녀 설명은 12강 9절 표와 동일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1:42–1:46 (4분)
📖 교재: 15절 · 표
서술형 Q9. 14강으로 이어지는 지점. OX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1:46–1:49 (3분)
📖 교재: 16절
가족 상담 시 출력해 건넬 수 있는 도구.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3인 1조 편성.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2:00–2:06 (6분)
📖 교재: 17절 · 표
감정 → 정보 → 안전 → 대안 → 연계의 5단계.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2:06–2:11 (5분)
📖 교재: 18절 · 표
1교시 짝 연습에서 쓴 문장과 비교해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2:11–2:26 (15분)
📖 교재: 19.1절 · 4절
가족이 할 수 있는 일: 세게 문지르지 않고 편안히 덮어 주기, 손잡기, 조용히 곁에 있기. 실기시험 시연과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2:26–2:31 (5분)
📖 교재: 15절
14강 사망 직후 72시간 지원의 예행연습.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2:31–2:39 (8분)
📖 교재: 19.3절 · 실습지
내담자 가정을 가정해 작성. 서류 항목은 "의료팀에 확인할 질문"으로 적게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2:39–2:45 (6분)
📖 교재: 19.4절 · 실습지
자원자 2~3명이 낭독. 16강 수료 때 다시 읽어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2:45–2:47 (2분)
📖 교재: 2·7·9·15절
정답: 1 X / 2 X / 3 O / 4 X
※ 13강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5절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6절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8절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12절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2:51–2:52 (1분)
📖 교재: 13절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2:52–2:54 (2분)
📖 교재: 13장 본문 (강사 제작 문항)
객관식 5번 정답 ②는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20절 학습점검 Q1~Q10
채점 기준(문항당 10점): 핵심요소 3개 10점 / 2개 7점 / 1개 4점 / 없음 0점, 역할경계 이탈(의료 판단·지시) -3점.
※ 13장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21절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22절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11절 · 8절 · 7강 엔딩노트
"마지막 대화는 마지막에만 하는 것이 아닙니다." 14강 준비: 6강 장례 자료, 엔딩노트.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21절 · 제13장의 마지막 질문
10초 침묵. 오늘 함께해 준 수강생들에게 감사를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23절 제14장으로의 연결
임종 돌봄이 "마지막까지 살아 있는 사람을 돌보는 일"이라면, 사망 직후부터는 남겨진 가족의 현실적 결정과 초기 애도를 함께 지원한다.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제13강 임종 단계별 돌봄 실무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제13강 임종 단계별 돌봄 실무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제4부 상실과 임종을 동행하다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제13강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임종 단계별 돌봄 실무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Practical End-of-Life Care by Stage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임종이 가까워질 때의 변화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정확한 시간표는 없다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수주~수일 전 · 수일~수시간 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호흡 · 먹고 마시기 · 청각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곁에 있는 돌봄과 준비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마지막 대화 · 편안함 돌봄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즉시 알릴 변화 · 임종 장소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 역할 · 사망 직후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임종 돌봄 워크숍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2가지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임종 징후 안내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가정임종 준비표 · 철학 선언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위기 연결처, 찾아보셨나요?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12강 과제 — 위기 연결처 확인, PFA 문장 카드, 나를 지키는 시간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함께 자원지도에 적은 연결처를 서로 보여 줍니다.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PFA 문장 카드에 적은 문장 하나를 소리 내어 읽어 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보완할 연결처 1곳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 수업의 전제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이 수업을 듣는 마음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가족의 기억이 떠오를 수 있음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가족의 임종을 지켜본 분은 그때가 떠오를 수 있습니다. 언제든 쉬어도 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일반 정보입니다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오늘의 변화 설명은 가족교육용 일반 정보입니다. 판단은 의료진이 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의료행위는 하지 않습니다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WLC의 역할은 정보·정서지지·가족대화·전문가 연계입니다.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“사랑하는 사람의 마지막 곁에서,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나는 무엇이 가장 두려울까요?”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모르는 변화? 고통? 아니면 아무것도 해 줄 수 없다는 느낌?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두려운 것 하나를 포스트잇에 적어 칠판에 붙입니다(무기명).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임종의 자리에서 중요한 것은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무언가를 더 해내는 것보다,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편안함과 존엄을 지키며 곁에 있는 일이다.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임종은 사람마다 다르고 정확한 시점을 예측할 수 없다. 그러나 흔한 징후를 미리 알면 가족은 공포를 줄이고 필요한 도움을 더 일찍 요청할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단계별 변화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수주~수일·수일~수시간 전의 변화를 설명한다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먹고 마시기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억지로 먹이는 위험과 편안함 중심 안내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놀라기 쉬운 징후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불규칙 호흡·분비물·모틀링을 쉬운 말로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청각과 존중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단정하지 않고 존중되는 말과 접촉을 권한다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즉시 알릴 증상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통증·호흡곤란·섬망은 의료진 평가로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임종 장소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가정·병원·호스피스별 준비를 구분한다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마지막 대화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감사·사과·사랑·작별을 강요 없이 제안한다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사망 직후와 경계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 절차로 연결하고 의료행위를 하지 않는다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임종이 가까워질 때의 변화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알면 덜 두렵다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WLC가 임종 돌봄을 알아야 하는 이유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수주~수일 전 · 수일~수시간 전의 변화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호흡 · 먹고 마시기 · 반응이 없을 때의 존중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WLC가 임종 돌봄을 알아야 하는 이유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WLC의 임종 역할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1466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146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의료처치 X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진단·처치는 하지 않음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643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1531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357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35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쉬운 설명</a:t>
            </a:r>
            <a:endParaRPr lang="en-US" sz="20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변화의 의미를 일반인의 언어로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67534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4422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1582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감정 지지</a:t>
            </a:r>
            <a:endParaRPr lang="en-US" sz="20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가족의 공포와 죄책감 받아주기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50425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313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0139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013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34473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가치 확인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환자의 가치와 돌봄계획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33316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0204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33030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3303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17364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연결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의료·호스피스팀에 연결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94415" cy="2057400"/>
          </a:xfrm>
          <a:prstGeom prst="roundRect">
            <a:avLst>
              <a:gd name="adj" fmla="val 5333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279392"/>
            <a:ext cx="105457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가족은 “왜 먹지 않느냐”, “숨이 왜 이상하냐”, “손발이 차가워졌다”에 놀랍니다. 미리 들으면 공포가 줄고, 의료진에게 무엇을 물을지 알게 됩니다.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정확한 시간표는 없다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“오늘 밤일 것 같아요”라고 말하지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임종 과정은 사람마다 다릅니다. 몇 가지 징후가 보여도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WLC는 “몇 시간 남았다”처럼 시간을 예측하지 않습니다.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교육적 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오늘 배우는 단계는 흐름을 이해하기 위한 지도입니다.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판단은 의료진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실제 임종 판단과 증상평가는 담당 의료진이 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가족 안내 문장</a:t>
            </a:r>
            <a:endParaRPr lang="en-US" sz="21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“정확한 시간은 사람마다 다릅니다. 의료팀과 상태를 공유하며 편안함을 먼저 살펴보겠습니다.”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수주~수일 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몸이 점차 에너지를 줄이는 시기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53035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변화 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흔히 나타날 수 있는 모습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가족에게 설명할 핵심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식욕·수분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먹고 마시는 양 감소, 삼키기 어려움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몸의 요구가 줄 수 있다. 억지로 먹이지 말고 안전한 섭취를 의료진과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수면·활동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잠이 늘고 깨어 있는 시간 감소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억지로 깨우기보다 편안한 환경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관계·대화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말수가 줄고 방문을 힘들어함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사랑하지 않아서가 아니라 에너지가 적기 때문일 수 있다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걷기·화장실·자세변경에 도움 필요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낙상·욕창·통증 예방을 위해 간호팀의 돌봄법을 배운다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인지·정서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혼란·불안·생생한 꿈이나 환각 같은 경험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통증·약물·감염 등 원인이 있을 수 있어 의료진에게 알림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수일~수시간 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신체 기능과 의식의 변화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  <a:gridCol w="5486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보일 수 있는 징후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안내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잠이 깊어지고 반응이 적음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반응이 없어도 존중되는 언어, 소음 줄이기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호흡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얕고 불규칙, 깊은 호흡과 멈춤 반복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의료진에게 알리고 편안함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분비물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침·가래가 고여 거친 소리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소리가 크다고 반드시 심한 고통은 아님. 의료진이 평가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순환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손발 차가움, 피부색 변화, 모틀링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세게 마사지하지 않고 편안하게 덮어줌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소변량 감소, 실금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간호팀과 위생·피부보호 상의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불안·섬망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안절부절, 낯선 말, 혼란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교정 가능한 원인이 있을 수 있어 의료진 평가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가족이 가장 놀라는 변화: 호흡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숨이 멈췄다가 다시 쉴 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얕고 불규칙한 호흡, 깊은 호흡과 무호흡이 반복되는 체인-스토크스형 호흡,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분비물로 인한 “가래 끓는 소리”가 나타날 수 있습니다.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WLC가 하지 않는 일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호흡 패턴으로 사망 시점을 예측하거나 산소·약물을 지시하지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33008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가족에게 할 말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“임종기에 흔히 나타날 수 있는 변화지만, 불편함이 있는지는 의료팀이 평가해야 합니다. 지금 간호사에게 알려 함께 확인하겠습니다.”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호흡 변화, 가족에게 설명하기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“선생님, 숨이 멈췄다가 다시 쉬어요. 어떻게 해요?”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A는 가족, B는 WLC입니다.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B는 공감 → 쉬운 설명 → 역할 경계 → 의료진 연락 순서로 30초 안에 답합니다.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바꿉니다.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나만의 호흡 안내 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먹고 마시는 일이 줄어들 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사랑을 “강요”로 바꾸지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이렇게 돕습니다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원하고 안전하게 삼킬 수 있으면 소량씩 천천히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기침·사레·숨가쁨이 심하면 중단하고 의료진에게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삼키기 어려우면 입술·입안 구강돌봄 우선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수액·인공영양은 의료진과 개별 결정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WLC 금지선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“수액은 무조건 필요 없다”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“물을 주면 안 된다”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“먹지 않으면 굶어서 돌아가신다”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— 어느 쪽으로도 일반화하지 않습니다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반응이 없어도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존중되는 말과 접촉을 이어간다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소규모 호스피스 연구: 반응하지 않는 일부 임종환자에게도 소리에 대한 뇌의 반응이 관찰됨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그러나 모든 환자가 말을 의식적으로 이해한다는 뜻은 아닙니다.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단정하지 않기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“분명히 다 듣고 계세요”라고 보장하지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33008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안전한 표현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“들으신다고 단정할 수는 없지만, 평소처럼 존중받는 말투로 말씀을 건네는 것은 좋습니다.”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임종에 정확한 시간표는 없다 — 판단은 의료진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먹이기보다 편안함, 호흡 변화는 미리 설명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반응이 없어도 존엄은 계속된다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곁에 있는 돌봄과 준비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곁에 있는 돌봄과 준비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해야 할 말보다, 허락된 침묵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마지막 대화 · 비의료적 편안함 돌봄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즉시 알릴 변화 · 임종 장소와 가정임종 준비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가족 역할 분담 · 특수 상황 · 사망 직후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마지막 대화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해야 할 말보다 “허락된 침묵”도 중요하다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 방향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“함께 살아줘서 고마워요.”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“내가 미안했던 일이 있어요. 말하고 싶었어요.”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“사랑해요. 당신이 우리에게 큰 의미였어요.”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“걱정되는 일은 우리가 하나씩 해볼게요.”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“편안히 쉬셔도 괜찮아요.” — 반드시 필요한 문구는 아님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침묵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손을 잡고 조용히 곁에 있는 것도 충분한 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“이제 가셔도 됩니다” 같은 문장을 공식처럼 강요하지 않습니다. 화해·용서도 강요하지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마지막 대화 선택카드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내가 사랑하는 사람의 마지막 곁에 있다면, 무엇을 하고 싶은가요?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감사·사과·사랑·안심·기도/음악·침묵 중 하고 싶은 것에 ☑ 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고른 것 하나에 실제로 건넬 한 문장을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원하는 분만 짝과 나눕니다.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 → 자율 나눔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마지막 대화 선택카드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비의료적 편안함 돌봄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가족이 할 수 있는 일, 의료진에게 확인할 것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846320"/>
                <a:gridCol w="47548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가족이 할 수 있는 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의료진에게 확인할 것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환경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조명을 부드럽게, 소음·방문객 수 조절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의료기기·안전 제한사항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손잡기, 이마 쓰다듬기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 부위·부종·피부상태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입술·입안 건조를 줄이는 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도구·빈도·삼킴 위험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편안한 자세 관찰, 베개로 지지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체위변경·욕창·호흡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음악·향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익숙한 음악·기도·낭독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산소 사용 중 화기·향초 금지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방문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가까운 사람의 짧고 조용한 방문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피로·감염·병동 규정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WLC는 처방하지 않는다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진통제 용량, 산소 유량, 흡인, 수액, 진정제는 의료행위입니다. WLC는 관찰을 전달하고 질문을 정리합니다.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즉시 의료팀에 알릴 변화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관찰한 것을 그대로 전달한다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관찰할 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전달 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“얼굴을 찡그리고 몸을 움츠리며 만지면 더 힘들어합니다.”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호흡곤란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“숨이 매우 가쁘고 불안해 보입니다. 평소보다 호흡이 크게 달라졌습니다.”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섬망·초조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“갑자기 침대에서 내려가려 하고 가족을 알아보지 못합니다.”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분비물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“호흡소리가 갑자기 커졌고 가족이 매우 걱정하고 있습니다.”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삼킴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“물 한 모금에도 계속 사레가 들립니다.”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출혈·경련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“갑작스러운 출혈/경련이 발생했습니다.”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관찰 언어로 전달하기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“아버지가 계속 끙끙거리고 이불을 걷어차세요.”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 상황을 간호사에게 전화로 전달하는 문장을 씁니다.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해석(“아프신 것 같아요”) 대신 보이는 것(표정·동작·시간)을 씁니다.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바꿔 읽고 “관찰”과 “판단”을 구분해 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관찰 언어 전달 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어디에서 임종할 것인가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“좋은 장소”보다 준비된 장소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5778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장소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장점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준비·주의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가정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익숙한 환경, 가족과의 시간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의료팀 연락체계·야간·응급·돌봄인력·장비·사망 후 절차 사전확인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입원형 호스피스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전문적 증상조절, 다학제 돌봄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입원대상·기관가용성·면회 규정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일반 병원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검사·치료·의료접근성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치료목표·연명의료계획·면회·임종돌봄 공유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요양병원·시설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장기간 돌봄의 연속성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윤리위원회·호스피스 연계·응급이송 계획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가정임종 — 사전 연락계획과 서류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단정하지 말고, 미리 확인하게 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사망확인과 사망진단서·시체검안서 발급은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환자의 진료관계와 사망상황에 따라 달라질 수 있습니다.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예상된 가정임종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담당 의료팀·가정형 호스피스와 “사망 시 누구에게 먼저 연락할지” 사전에 정리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예상치 못한 사망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사고·외상·사인 불명은 공식 응급·검안 절차. WLC가 119·경찰 여부를 판단하지 않음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출판용 교정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“가정임종 = 반드시 119” 또는 “담당의사만 발급” 같은 단정 금지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가족 역할 분담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한 사람이 모두 감당하지 않게 한다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 연락 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의사·간호사에게 증상변화와 질문 전달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 돌봄 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물품·식사·구강돌봄·세탁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방문 조정 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가족·친지 방문시간과 인원 조절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 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약·증상·의료진 안내·중요 전화번호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행정 준비 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장례식장·종교인·가족 연락망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 돌봄자 보호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교대시간을 만들고 잠·식사·휴식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돌봄자도 돌봄이 필요하다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잠시 자리를 비웠다고 임종을 놓친 죄인이 되는 것은 아닙니다.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특수 상황별 임종 돌봄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상황에 따라 더 살펴야 할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461772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치매 환자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슬픔과 함께 긴 돌봄이 끝나는 안도감이 올 수 있습니다. 죄책감으로 만들지 않습니다.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4617720"/>
          </a:xfrm>
          <a:prstGeom prst="roundRect">
            <a:avLst>
              <a:gd name="adj" fmla="val 4273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어린 자녀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“잠들었다”, “여행 갔다” 대신 발달수준에 맞는 사실. 질문을 반복해서 받아줍니다.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461772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갑작스러운 악화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출혈·경련·극심한 호흡곤란·낙상은 즉시 의료팀·응급체계에 연락합니다.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461772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종교·문화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기도·경전·성직자 방문·사후 의례는 환자의 뜻을 우선하고 병원 규정과 조율합니다.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사망 직후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서두르기보다 확인하고 연결한다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우선순위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확인·공식 절차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의료팀 또는 기관의 안내를 우선하도록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가족의 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가능한 범위에서 곁에 머물고 작별할 시간 존중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종교·문화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원하는 의례·기도·성직자 연락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연락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준비한 장례기관·가족 연락순서를 차분히 실행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개인정보·귀중품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의료기관·가족의 절차에 따라 안전하게 관리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초기 애도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“울어야 한다”, “강해야 한다”는 압박 없이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사망 직후의 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“많이 애쓰셨습니다. 지금 당장 모든 것을 결정하지 않으셔도 됩니다.”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마지막 시간 체크리스트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가족에게 건네는 열 가지 점검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불편해 보이는 증상이 있으면 의료진에게 바로 알렸다.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먹거나 마시기를 강요하지 않고 삼킴 안전을 확인했다.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방을 붐비게 하지 않고 환자의 피로와 선호를 존중했다.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반응이 없어도 존중되는 언어를 사용했다.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하고 싶은 말은 하되 화해·작별을 강요하지 않았다.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종교·음악·접촉 등 환자가 좋아한 방식을 확인했다.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주 돌봄자가 쉬고 먹고 잘 수 있도록 역할을 나누었다.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사망 시 연락할 의료기관·장례기관·가족 연락망을 확인했다.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사전연명의료의향서·연명의료계획이 의료팀과 공유되어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WLC가 의료행위를 대신하지 않고 의료체계와 협력한다.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마지막 대화에 정답은 없다 — 침묵도 충분하다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관찰한 것을 그대로 의료진에게 전달한다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가정임종은 사전 연락계획이 핵심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임종 돌봄 워크숍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임종 돌봄 워크숍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지금 이 사람이 편안하고 존중받고 있는가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— “물도 안 드세요”, “숨이 멈췄다가 다시 쉬어요”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임종 징후 안내 롤플레이 · 사망 직후의 말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가정임종 준비표 · 나의 임종 돌봄 철학 선언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코칭 사례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“엄마가 물도 안 드세요”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 인정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“먹이는 것이 사랑과 돌봄이라고 느끼시니, 못 드시는 모습을 보는 것이 정말 힘드시겠어요.”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 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“임종이 가까워지면 몸이 음식과 물을 덜 필요로 하고 삼키는 힘도 약해질 수 있습니다.”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“사레가 자주 들면 억지로 드리는 것이 더 힘들 수 있으니 간호사에게 확인해 보겠습니다.”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“입안과 입술을 편안하게 하는 구강돌봄을 간호사에게 배워서 해드릴 수도 있습니다.”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“수액이나 영양이 도움이 될지는 의료진이 설명하도록 질문을 같이 정리하겠습니다.”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호스피스 병동의 84세 어머니가 물도 삼키기 어려워졌습니다. 딸은 “굶어 돌아가시는 것 아니냐”며 계속 물을 먹이려 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코칭 사례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“숨이 멈췄다가 다시 쉬어요”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“호흡이 멈춰 보였다가 다시 시작하니 많이 무서우셨겠습니다.”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관찰 언어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“임종기에 호흡의 깊이와 간격이 크게 달라지는 경우가 있습니다.”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 경계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“하지만 제가 상태를 의학적으로 판단할 수는 없습니다.”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 담당 호스피스 간호사에게 호흡 변화와 표정을 설명해 확인하겠습니다.”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가족지지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“의료팀이 오는 동안 방을 조용히 하고, 원하시면 손을 잡고 곁에 있어 주세요.”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가정형 호스피스 이용 중, 호흡이 깊어졌다 얕아지고 수십 초씩 멈추는 패턴. 가족이 공포에 빠져 있습니다.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19.1 실습 1 · 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임종 징후 안내 롤플레이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“발에 얼룩무늬가 생기고 손발이 차가워졌어요. 응급처치를 해야 하나요?” (호스피스 입원 80대 환자)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가족·WLC·관찰자를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WLC는 공감 → 가능한 변화 설명 → 의료진 확인 → 가족이 할 수 있는 일 순으로 4분간 대화합니다.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관찰자는 “시간을 예측했는지”, “의료 지시를 했는지”, “가족이 할 일을 제시했는지” 체크합니다.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세 번 진행하고 1분씩 소감을 나눕니다.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4단계 안내 스크립트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사망 직후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“많이 애쓰셨습니다”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방금 어머니가 돌아가셨습니다. 딸이 “이제 뭘 해야 하죠?”라며 휴대폰을 붙잡고 있습니다.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조 그대로, WLC 역할이 15절의 우선순위로 첫 2분을 안내합니다.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“지금 결정하지 않아도 되는 것”을 하나 이상 말해 줍니다.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서두르게 만든 말이 있었는지 피드백합니다.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사망 직후 첫 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가정임종 준비표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준비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 의료기관/호스피스 연락처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야간·휴일 연락방법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증상 악화 시 연락 기준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시 첫 연락 대상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사망진단서/검안서 관련 기관 안내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장례기관·종교인 연락처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역할분담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19.4 실습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임종 돌봄 철학 선언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선언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나는 임종 현장에서 ______ 을 최우선으로 한다.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나는 가족에게 ______ 을 절대 강요하지 않는다.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나는 의료적 판단이 필요한 경우 ______ 에게 즉시 연결한다.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나는 마지막 순간에도 환자를 ______ 한 사람으로 대한다.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WLC는 임종 징후를 보고 “오늘 밤일 것 같다”고 가족에게 알려 주어야 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반응이 없는 임종환자도 “분명히 다 듣고 있다”고 가족에게 보장해도 된다.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산소 유량, 진통제 용량, 흡인은 의료행위이므로 WLC가 지시하지 않는다.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직후 가족에게 모든 결정을 서둘러 내리도록 안내하는 것이 좋다.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호흡 변화 안내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체인-스토크스형 호흡에 놀란 가족에게 WLC의 대응으로 가장 적절한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“곧 돌아가실 신호이니 가족을 부르세요.”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“산소를 더 올려 드리세요.”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“흔히 나타날 수 있는 변화지만, 불편함은 의료팀이 평가하도록 지금 알리겠습니다.”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“정상이니 신경 쓰지 않으셔도 됩니다.”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먹고 마시기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임종기 음식·수분 섭취 감소에 대한 안내로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수액은 무조건 필요 없다고 설명한다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사레가 들어도 조금씩 계속 먹이도록 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삼킴이 어려우면 구강돌봄을 우선하고, 수액·영양은 의료진과 개별 결정한다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물을 주면 안 된다고 안내한다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마지막 대화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마지막 대화에 대한 WLC의 태도로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가족이 “이제 가셔도 됩니다”라고 말하게 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반드시 화해와 용서가 이루어지도록 돕는다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감사·사랑·작별을 제안하되 강요하지 않고, 침묵도 충분한 대화로 존중한다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말을 하지 않으면 후회한다고 설득한다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가정임종 준비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가정임종 준비에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가정임종은 반드시 119와 경찰을 불러야 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사망진단서는 언제나 담당의사만 발급할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담당 의료팀과 사망 시 연락순서·서류 발급 절차를 미리 확인한다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119 신고 여부를 판단한다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돌봄자 지원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주 돌봄자가 “잠깐 잠든 사이 돌아가실까 봐 못 쉬겠어요”라고 할 때 WLC의 대응은?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임종을 지키는 것이 도리이니 버티도록 격려한다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 역할을 나눠 교대시간을 만들고, 쉬는 것이 죄가 아님을 지지한다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의료진에게 임종 시간을 정확히 물어 준다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수면제를 권한다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임종 시점을 예측하지 않는다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가능성은 설명, 보장하지 않음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의료행위는 의료진의 영역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당장 모든 결정을 하지 않아도 됨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공감·설명·의료팀 연결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구강돌봄 우선, 개별 결정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제안하되 강요하지 않음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사전 연락계획 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수주~수일 전 대표적 변화 네 가지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음식·수분 감소 시 가족 안내 원칙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체인-스토크스 호흡과 분비물 소리 설명법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“청각은 마지막까지 살아 있다”고 단정하지 않는 이유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통증·섬망·호흡곤란에서의 역할 경계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감사·사과·작별을 강요하지 않는 이유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가정임종 시 의료팀과 확인할 내용 네 가지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사망진단서·검안서 발급이 달라지는 이유와 안내 원칙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직후 WLC의 지원 네 가지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임종 돌봄에서 WLC 역할을 한 문장으로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제13강에서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임종에 정확한 시간표는 없다.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징후는 지도이며 판단은 의료진의 영역이다.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먹고 마시는 감소는 자연스러운 변화일 수 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강요하지 않고 편안함을 우선한다.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호흡과 피부 변화는 미리 설명한다.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알고 있으면 공포가 줄어든다.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반응이 없어도 존엄은 계속된다.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존중되는 언어와 편안한 접촉.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마지막 대화에는 정답이 없다.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침묵과 곁에 있음도 충분하다.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의료인이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증상과 절차는 의료·호스피스팀에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열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임종 시점을 예측하지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먹이기를 사랑의 의무로 만들지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호흡 변화에 놀랄 것을 예상한다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청각을 단정하지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의료행위를 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마지막 말을 강요하지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돌봄자의 휴식을 정당화한다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가정임종은 사전계획이 핵심이다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예상치 못한 사망은 별도 절차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이후에도 지원은 이어진다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호스피스 기관 찾기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우리 지역 입원형·가정형 호스피스 기관을 자원지도에 추가합니다.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마지막 대화 카드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 쓴 선택카드의 한 문장을, 지금 살아 있는 그 사람에게 미리 건네 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엔딩노트 점검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 엔딩노트의 “장례·연락처” 칸을 다시 확인합니다(14강 준비).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제13강의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“지금 이 사람이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편안하고 존중받고 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“마지막 순간에 무엇을 더 할 수 있을까?”보다 먼저 묻는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제14강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사망 직후 초기지원·장례 준비와 가족 지원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“사망 직후 가장 혼란스러운 몇 시간과 며칠 동안, 무엇을 먼저 확인하고 어떤 결정을 서두르지 않아야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사망 직후의 초기지원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사망신고와 장례 준비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가족 역할과 의사결정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유품·디지털 정보 보호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공영장례·지역자원과 첫 애도지원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제14장  ·  가져올 것: 6강 장례 자료, 엔딩노트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제13강 임종 단계별 돌봄 실무</dc:title>
  <dc:subject>PptxGenJS Presentation</dc:subject>
  <dc:creator>삶잇다협동조합</dc:creator>
  <cp:lastModifiedBy>삶잇다협동조합</cp:lastModifiedBy>
  <cp:revision>1</cp:revision>
  <dcterms:created xsi:type="dcterms:W3CDTF">2026-10-29T23:41:04Z</dcterms:created>
  <dcterms:modified xsi:type="dcterms:W3CDTF">2026-10-29T23:41:04Z</dcterms:modified>
</cp:coreProperties>
</file>