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7b2d9bbe-a3b6-aa4a-39bc-d9c38ed5d3e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교시 죽음을 여러 눈으로" id="{3eaf7147-c9cc-b0b0-cdcf-e90840a46f1f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교시 두려움과 경계" id="{ce2f117a-59f1-3816-202b-a8ee1f69be26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3교시 통찰을 삶으로" id="{834f9170-b270-620b-8600-93e2a19c4c55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정리와 예고" id="{872ffcc9-e452-a407-c38d-b971bbb47ad7}">
          <p14:sldIdLst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인사와 강사 소개. 오늘부터 16회, 매주 3시간을 함께한다는 점을 알린다.
"죽음을 공부하러 오셨지만, 사실은 삶을 공부하는 시간입니다."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0:01–0:04 (3분)
📖 교재: 교재 목차
5부 16강의 흐름을 짚는다.
제1부: 죽음과 삶의 철학 → 제2부: 사회·문화·산업 → 제3부: 경제·의료·가족 → 제4부: 상실과 임종 동행 → 제5부: WLC 실무와 윤리.
오늘(1강)은 모든 강의의 기초가 되는 "죽음 이해"다.
자격검정: 실기 40점·필기 60점(세부 기준은 최신 수험생 공지 우선).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0:04–0:06 (2분)
3교시 구성: 이해(1교시) → 태도와 경계(2교시) → 실습과 내재화(3교시).
휴식은 정확히 10분씩 지킨다고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0:06–0:09 (3분)
죽음 주제는 개인의 상실 경험을 건드릴 수 있다. 첫 시간에 반드시 안전 규칙을 합의한다.
손을 들어 동의를 확인하는 것도 좋다.
위기 신호(자살 언급 등)가 보이면 코칭이 아니라 전문체계(정신건강위기상담 109 등)로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0:09–0:15 (6분)
📖 교재: 1장 1절 · WLC의 첫 질문
진행: 옆 사람과 짝 → A가 3분 말하기, B는 듣기만 → 교대.
마친 뒤 2~3명에게 "어떤 단어가 나왔나요?"만 짧게 묻는다(내용 공개 강요 금지).
예상 단어: 이별, 끝, 쉼, 두려움, 하늘나라, 자연으로 돌아감 → 칠판에 적어 두고 "같은 단어가 하나도 없죠? 이것이 오늘의 첫 번째 통찰입니다."로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1장 표제 · 핵심 메시지
핵심 메시지를 천천히 읽는다. "오늘 3시간 동안 이 문장 하나를 몸으로 이해하는 것이 목표입니다."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0:17–0:19 (2분)
📖 교재: 1장 학습목표 1~8
8개 목표를 모두 읽지 말고, 굵은 글씨 키워드만 짚는다.
"특히 6번 자기 점검이 중요합니다. 자신의 죽음을 바라보지 않은 코치는 다른 사람의 죽음불안을 안정적으로 다루기 어렵습니다."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0:19–0:20 (1분)
📖 교재: 1장 핵심 키워드
키워드는 수업이 끝날 때 다시 확인한다(마무리 퀴즈와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0:20–0:23 (3분)
📖 교재: 1장 1절
오프닝 질문에서 나온 단어들을 세 카드에 분류해 보이면 효과적이다.
강조: WLC가 복합성을 이해하는 이유는 "선택을 대신하기 위해서가 아니라, 내담자가 자기 기준으로 더 주체적으로 선택하도록 돕기 위해서".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0:23–0:25 (2분)
왼쪽 질문이 틀린 것이 아니라 "순서"의 문제임을 강조.
의미를 먼저 알아야 이후 선택이 그 사람다워진다.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0:25–0:27 (2분)
📖 교재: 1장 2~7절
오늘 수업의 지도. 1교시에 앞의 셋(의학·철학·사회), 2교시에 뒤의 셋(심리·영성·생애사)을 다룬다고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0:27–0:31 (4분)
📖 교재: 2.1절 · 표 / 2026년 9월 공식 법령 확인
시험 빈출(객관식 1번). 사망시각 = 뇌사판정위원회의 판정 시각.
인공호흡기·중환자의학·장기이식의 발전이 "뇌사"라는 별도 판단 체계를 필요로 하게 되었다는 배경을 설명.
WLC는 의학적 판정을 하지 않으며, 개념을 정확히 구분해 설명할 수 있으면 충분하다.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0:31–0:35 (4분)
📖 교재: 2.2절
"죽음의 의료화(Medicalization of Death)": 의학은 생명 연장과 증상 조절에 기여했지만, 죽음이 개인·가족의 삶에서 분리되는 경향도 커졌다.
핵심: WLC는 의료판단을 내리는 사람이 아니라 "가치의 언어화"를 돕는 사람(객관식 5번).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0:35–0:38 (3분)
📖 교재: 3.1~3.2절
철학자 이름 암기보다 "유한성 → 선택과 책임"의 흐름을 이해시키는 데 집중.
적용 질문을 수강생에게 직접 던지고 10초 침묵을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0:38–0:40 (2분)
📖 교재: 3.3절
로마 개선행렬 일화는 후대 전승이 섞여 있으므로 역사적 사실로 단정하지 않는다(교재 주의).
다음 슬라이드 미니 활동으로 바로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0:40–0:44 (4분)
📖 교재: 3.3절 · 교재 여백 또는 노트
배경음악을 낮게 틀어도 좋다. 발표는 시키지 않는다(3교시 실습으로 연결).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0:44–0:48 (4분)
📖 교재: 4절 · 관계의 연속성
시험 빈출(객관식 3번, 서술형 Q5).
질문: "주변에 이 화살표 중간쯤에 계신 분이 떠오르시나요?" — 이름은 말하지 않게 한다.
WLC는 죽음 준비 이전에 관계 회복과 사회적 연결망을 함께 살핀다.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
세 문장을 함께 소리 내어 읽고 휴식.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5.1절 · 표
Elisabeth Kübler-Ross(1969) On Death and Dying.
각 단계의 "WLC 태도" 열이 핵심. 반응 열은 수강생에게 경험을 떠올리게 하는 용도.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1:05–1:07 (2분)
📖 교재: 5.1절 주의
시험 빈출(객관식 2번, 서술형 Q4). 오답 유형: "수용 단계에 도달하도록 돕는 것이 목표" → X.
내담자를 특정 단계에 끼워 맞추거나 수용을 강요하지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1:07–1:12 (5분)
📖 교재: 5.2절 · 표
무엇이 두려운지를 구체화해야 적절한 지지와 준비가 가능하다.
서술형 Q8: 유형 3가지 + 각 유형에 맞는 열린 질문.
수강생에게 "나는 어느 칸이 가장 크게 느껴지나요?" 속으로만 생각해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1:12–1:15 (3분)
📖 교재: 5.2절 · 피해야 할 말
왼쪽 말은 선의지만 불안을 "지우려는" 반응이 된다. 오른쪽은 감정 인정 → 구체화 → 정보·관계·행동 연결의 3단계.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1:15–1:20 (5분)
📖 교재: 5.2절
강사가 먼저 한 번 시연한다.
주의: 실제 자살 사고를 말하는 내담자라면 코칭이 아니라 위기 대응·전문기관 연결이 먼저라는 점을 덧붙인다(제11·12·16강에서 심화).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1:20–1:23 (3분)
📖 교재: 6절 · WLC 원칙
영성(Spirituality) ≠ 특정 종교. 의미·가치·연결·초월·용서·감사를 포함하는 영역.
서술형 Q9: 영성과 종교 구분 / 신념 전파 금지 / 원하는 영적 돌봄 자원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1:23–1:26 (3분)
📖 교재: 7절 · 7.1 생애회고
죽음 태도를 이해하려면 그 사람이 어떤 삶을 살았고 어떤 관계·상처·성취를 가졌는지 알아야 한다.
제3강(에릭슨 자아통합, 인생그래프, 후회 없는 삶)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1:26–1:31 (5분)
📖 교재: 8절 · 표 / 통합 코칭 전략
"동양은 순환, 서양은 단절" 같은 이분법은 위험(서술형 Q7).
여러 전통을 성찰 자원으로 소개하되 정답으로 제시하지 않는다. 내담자 본인의 죽음관을 직접 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1:31–1:34 (3분)
📖 교재: 9절 · 표
교육 대상을 정할 때 이 표를 출발점으로 쓴다. 학교·재난 애도는 제2·12강에서 심화.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1:34–1:36 (2분)
📖 교재: 10절 · 핵심 문장
죽음교육은 공포 교육이 아니다. 사회적 배경과 실제 프로그램은 제2강 주제.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1:36–1:41 (5분)
📖 교재: 11.1~11.4절
1강에서는 "지도"만 그린다. 세부 요건·절차는 각 전문 강의에서.
법령 기준: 연명의료결정법 2025.10.2 시행본, 시행규칙 2026.1.13 시행본(2026년 9월 확인). 수업 시점에 국가법령정보센터에서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1:41–1:43 (2분)
📖 교재: 11.1절 용어 주의 · 11.4절
OX 퀴즈에 출제. 교육·출판 원고에서는 두 표현을 혼용하지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1:43–1:46 (3분)
📖 교재: 12절 · 표
"비판단" 행의 질문 바꾸기 예시를 꼭 소리 내어 읽게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1:46–1:49 (3분)
📖 교재: 12.1절 · WLC의 핵심 역할
오른쪽 4단계 = WLC의 핵심 역할(이해 → 발견 → 대화 → 연결). 제16강 전문직 윤리의 예고편.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3교시 실습 준비: 교재 15절(실습지) 펼쳐 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2:00–2:04 (4분)
📖 교재: 13절 · 표 / WLC 순환 구조
16강 전체를 관통하는 프레임. 이후 모든 강의의 마지막 질문은 "그렇다면 오늘 어떻게 살 것인가"로 돌아온다.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2:04–2:08 (4분)
📖 교재: 14절 · 표
강사 2명 또는 강사+자원자 1명이 소리 내어 읽는다.
질문: "WLC는 두려움을 없애 주었나요?" → 아니다. 두려움을 이해 가능한 언어와 실행 가능한 준비로 바꿨다.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2:08–2:16 (8분)
📖 교재: 14절 · 코칭 구조
주제 예시: "요양원에 가게 될까 봐 두렵다", "자식들에게 짐이 될까 걱정이다".
관찰자는 4단계 중 빠진 단계를 알려 준다. 실기시험(40점)의 기본 구조이므로 반복 연습을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2:16–2:22 (6분)
📖 교재: 15.1절 · 실습지
교재 실습지에 직접 체크. 5분 작성, 점수 합계는 비교하지 않는다(정답·등급 없음).
2번 문항은 점수가 높을수록 불안이 큰 역문항임을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2:22–2:25 (3분)
📖 교재: 15.1절 성찰 질문
자신의 행동을 실습지 하단에 한 줄로 적게 한다. 다음 강의 시작 때 "해 보셨나요?"로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2:25–2:32 (7분)
📖 교재: 15.2절 · 실습지
코칭 포인트: 후회는 과거를 비난하는 도구가 아니라, 앞으로 무엇을 더 소중히 살아야 하는지 알려 주는 나침반.
울컥하는 수강생이 있으면 쉬어도 된다는 약속을 다시 상기.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2:32–2:36 (4분)
📖 교재: 15.3절
예시: "따뜻하게 들어 주던", "끝까지 배우기를 멈추지 않던".
이 문장은 제3강 레거시 디자인, 제16강 1년 성장계획에서 다시 쓴다. 버리지 말고 보관하도록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2:36–2:39 (3분)
📖 교재: 15.4절 · 실습지
"마지막 18년"은 기대수명과 건강수명의 통계적 간극을 보여 주는 교육 프레임. 평균값을 개인에게 그대로 적용하지 않고 "나의 남은 삶"으로 바꿔 말한다.
수업 중에는 한 영역만 적고, 나머지는 과제로. 최신 통계는 제3강에서.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2:39–2:43 (4분)
📖 교재: 15절 실습 전체
비밀유지 약속을 다시 언급. 시간이 되면 2~3명에게 "남은 단어"만 전체 공유.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2:43–2:45 (2분)
📖 교재: 6·9·11·12절
정답: 1 X / 2 X / 3 O / 4 X (해설은 정답 슬라이드).
손으로 O·X 표시하게 하거나 카드로 들게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2:45–2:46 (1분)
📖 교재: 2.1절
정답 ③. 같은 법은 뇌사자의 사망시각을 뇌사판정위원회가 뇌사판정을 한 시각으로 정한다.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5.1절
정답 ③. 반응은 겹치거나 되돌아갈 수 있으므로 고정된 순서로 해석하지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4절
정답 ②. 장기투병·시설 입소·관계 단절 등으로 사회에서 보이지 않게 되는 경험.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3.3절 · 코치 노트 3
정답 ③. 통계를 교육생을 겁주는 도구로 사용하지 않는 것이 WLC의 원칙.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2.2절
정답 ②. WLC는 의료판단을 내리지 않고, 가치의 언어화와 소통을 돕는 조정자.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2:50–2:53 (3분)
📖 교재: 강사용 해설서 제1장 B
객관식 5번 정답 ②(가치의 언어화와 소통 조정)는 구두로 확인.
틀린 문항은 교재 해당 절을 다시 읽도록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2:53–2:54 (1분)
📖 교재: 16절 학습점검 Q1~Q10
채점 기준(문항당 10점): 핵심요소 3개 충족 10점 / 2개 7점 / 1개 4점 / 없음 0점, 역할경계 이탈 서술 -3점.
모범답안은 강사용 해설서 제1장 A 참고(수강생 배포 금지).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2:54–2:56 (2분)
📖 교재: 17절 핵심정리
다섯 문장의 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18절 코치 노트
코치 노트는 실기 평가의 태도 기준과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15.4절 · 부록 1
다음 강의 첫 10분에 짝과 과제 경험을 나눈다고 미리 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17절 · 제1장의 마지막 질문
10초 침묵. 답을 듣지 않고 질문을 가지고 돌아가게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19절 제2장으로의 연결
제1장이 "죽음이란 무엇인가"를 묻는 장이라면, 제2장은 질문을 개인에서 사회 전체로 확장한다.
마무리 인사: "오늘 오신 것 자체가 삶을 잘 살겠다는 선택입니다. 다음 주에 뵙겠습니다."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제1강 죽음을 이해하는 통찰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제1강 죽음을 이해하는 통찰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제1부 삶과 죽음을 이해하다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제1강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죽음을 이해하는 통찰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Insight into Understanding Death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죽음을 여러 눈으로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의학·철학·사회적 관점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메멘토 모리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두려움과 경계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퀴블러 로스·죽음불안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영성·문화·생애단계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법·제도·WLC 윤리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통찰을 내 삶으로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통합 프레임·코칭 사례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실습 4가지·나눔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퀴즈·정리·다음 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안전한 배움을 위한 약속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이 교실의 네 가지 약속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참여는 선택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말하고 싶지 않은 이야기는 "패스"해도 됩니다.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비밀 유지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교실에서 들은 개인 이야기는 밖으로 가져가지 않습니다.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판단하지 않기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죽음관·종교·가족문화에 정답은 없습니다.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쉬어도 괜찮음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마음이 무거우면 잠시 멈추고 쉬어도 됩니다.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강사 안내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최근 사별을 겪었거나 마음이 힘든 분은 수업 후 개별적으로 말씀해 주세요. 필요하면 전문기관을 안내합니다.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“선생님에게 죽는다는 것은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어떤 의미입니까?”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“장례는 어떻게 하고 싶으세요?”보다 먼저 물어야 할 질문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짝 대화 6분 — 한 사람이 3분씩 이야기합니다. 듣는 사람은 조언하지 않고 끝까지 들어 줍니다.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철학함은 죽음을 성찰하는 일과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깊이 연결되어 있다.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플라톤, 『파이돈』 64a의 취지를 반영한 표현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죽음을 이해하는 목적은 죽음에 머무르기 위해서가 아니다. 삶의 유한성을 인식해 지금의 삶을 더 주체적으로 선택하고, 관계와 가치를 정리하며, 존엄한 마무리를 준비하기 위해서다.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다차원 이해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죽음을 6가지 관점에서 설명한다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인간 경험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죽음을 의미·관계·문화·가치와 연결된 경험으로 이해한다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문화 비교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동서양 죽음관을 일반화하지 않고 코칭 언어를 고른다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죽음불안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불안 유형을 구분하고 가치·행동으로 잇는 질문을 만든다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생애단계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대상에 맞는 접근을 선택한다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자기 점검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나의 죽음 태도와 WLC로서의 준비를 성찰한다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역할 경계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의료·법률·장례·애도에서 전문가 영역을 구분한다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4A"/>
                </a:solidFill>
              </a:rPr>
              <a:t>통합 설계 </a:t>
            </a:r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웰빙–웰다잉–엔딩–레거시로 삶의 설계를 잇는다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18개의 단어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죽음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36776" y="1691640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36776" y="1691640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유한성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39796" y="1691640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9796" y="1691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죽음의 의료화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06340" y="1691640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06340" y="1691640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심폐사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뇌사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97496" y="1691640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97496" y="1691640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사회적 죽음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49156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49156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죽음불안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실존주의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066544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066544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메멘토 모리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918204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18204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자아통합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36108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36108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생애회고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54012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54012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영성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42148" y="2487168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2148" y="248716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문화적 죽음관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108692" y="2487168"/>
            <a:ext cx="1531620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08692" y="2487168"/>
            <a:ext cx="15316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자기결정권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죽음교육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066544" y="3282696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066544" y="3282696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웰다잉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369564" y="3282696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69564" y="3282696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엔딩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457700" y="3282696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57700" y="3282696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레거시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색칠한 4개 단어는 필기·실기 모두에서 자주 쓰입니다. 수업 중 나올 때마다 표시해 두세요.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죽음을 여러 눈으로 보기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죽음은 한 가지 사건이 아니라 여러 겹의 경험입니다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왜 WLC는 “죽음 이해”에서 출발하는가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의학·철학·사회학의 눈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메멘토 모리 미니 활동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1장 1절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같은 죽음, 서로 다른 의미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신체기능의 종료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어떤 사람에게 죽음은 몸의 기능이 멈추는 일입니다.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사랑하는 이와의 이별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또 다른 사람에게는 관계가 끊어지는 슬픔입니다.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영적·철학적 사건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누군가에게는 삶 전체를 돌아보게 하는 전환입니다.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WLC의 역할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“죽음의 정답”을 설명하는 사람이 아니라, 그 사람이 자기 삶의 맥락에서 죽음을 어떻게 이해하는지 함께 탐색하는 사람입니다.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1장 1절 · WLC의 첫 질문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무엇을 먼저 물어야 할까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먼저 묻기 쉬운 질문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“장례는 어떻게 하고 싶으세요?”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“연명의료는 받으실 건가요?”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“유언장은 써 두셨어요?”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WLC가 먼저 묻는 질문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“선생님에게 죽는다는 것은 어떤 의미입니까?”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이 답이 의료결정·관계정리·장례설계·레거시 코칭의 방향을 정합니다.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1장 2~7절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죽음을 보는 여섯 개의 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의학적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생명 기능의 비가역적 정지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98338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철학적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유한성이 삶의 의미를 묻게 함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087917" y="175564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사회학적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관계와 역할에서 사라지는 “사회적 죽음”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717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심리적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죽음을 받아들이는 감정과 불안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4338218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66818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7174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98338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영성적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의미·연결·용서·감사의 질문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8127797" y="4000500"/>
            <a:ext cx="351525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56397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71746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087917" y="4201668"/>
            <a:ext cx="232653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생애사적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한 사람의 전체 삶 속의 죽음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2.1 의학적 관점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심폐사와 뇌사는 어떻게 다른가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4846320"/>
              </a:tblGrid>
              <a:tr h="1005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구분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개념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이해할 점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심폐사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심장박동과 자발호흡이 비가역적으로 정지한 상태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일반적으로 죽음을 인식하는 전통적·의학적 기준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뇌사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법이 정한 판정기준·절차에 따라 뇌 전체의 기능이 되살아날 수 없는 상태로 정지되었다고 판정된 경우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「장기등 이식에 관한 법률」의 엄격한 절차와 장기기증·이식 맥락에서 이해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법령 확인(2026.9)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뇌사자의 사망시각은 뇌사판정위원회가 뇌사판정을 한 시각입니다. 뇌사를 일반적 사망판정과 단순히 같은 것으로 설명하지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2.2 죽음의 의료화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죽음은 어디에서 일어나는가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33574" cy="1874520"/>
          </a:xfrm>
          <a:prstGeom prst="roundRect">
            <a:avLst>
              <a:gd name="adj" fmla="val 585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6827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8682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가정·공동체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일상 속에서 함께 겪던 죽음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5366" y="26471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2254" y="1828800"/>
            <a:ext cx="2533574" cy="1874520"/>
          </a:xfrm>
          <a:prstGeom prst="roundRect">
            <a:avLst>
              <a:gd name="adj" fmla="val 585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0441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044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39414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병원·의료체계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전문 영역으로 이동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08980" y="26471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828800"/>
            <a:ext cx="2533574" cy="1874520"/>
          </a:xfrm>
          <a:prstGeom prst="roundRect">
            <a:avLst>
              <a:gd name="adj" fmla="val 585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4055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405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의료적 판단 의존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삶에서 분리되는 죽음의 과정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62593" y="264718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9481" y="1828800"/>
            <a:ext cx="2533574" cy="1874520"/>
          </a:xfrm>
          <a:prstGeom prst="roundRect">
            <a:avLst>
              <a:gd name="adj" fmla="val 5854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7668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76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46641" y="2606040"/>
            <a:ext cx="22592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WLC의 역할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가치를 말로 표현하고 소통하도록 돕기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094415" cy="1005840"/>
          </a:xfrm>
          <a:prstGeom prst="roundRect">
            <a:avLst>
              <a:gd name="adj" fmla="val 10909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233672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어디에서 마지막 시간을 보내고 싶은가?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회복 가능성이 매우 낮을 때 어떤 치료를 어디까지 원하는가?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가족과 의견이 다를 때 무엇을 기준으로 대화할 것인가?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연결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연명의료결정·사전연명의료의향서·호스피스·후견의 구체적 제도는 제9강에서 다룹니다.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3.1~3.2 철학적 관점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유한성을 알 때 삶을 묻게 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유한성의 자각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시간이 유한하다는 것을 알 때 “어떻게 살아야 하는가”를 묻게 됩니다.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플라톤 『파이돈』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죽음의 성찰은 삶의 포기가 아니라, 무엇이 좋은 삶인지 묻는 일입니다.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하이데거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“죽음을 향한 존재” — 대신할 수 없는 나의 죽음을 자각하면 선택과 책임이 선명해집니다.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적용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“삶에 끝이 있다는 사실을 지금보다 더 선명하게 느낀다면, 오늘 무엇을 다르게 선택하시겠습니까?”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3.3 메멘토 모리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죽음을 기억하면 지금이 보인다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우선순위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내가 정말 중요하게 생각하는 것은 무엇인가?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3128" y="175564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관계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누구에게 감사·사과·용서의 말을 전하고 싶은가?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345186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68046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82310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65302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미룬 일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미루고 있는 일 중 지금 시작해야 할 것은?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233008" y="345186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61608" y="368046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82310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3128" y="365302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기억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나는 어떤 사람으로 기억되고 싶은가?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메멘토 모리는 공포를 자극하는 도구가 아니라, 삶의 우선순위를 회복하는 성찰의 도구입니다.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미니 활동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나에게 메멘토 모리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네 가지 질문 중 지금 가장 마음이 가는 질문 하나를 고르세요.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질문 하나를 고릅니다.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떠오르는 답을 단어나 짧은 문장으로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답을 위해 이번 주에 할 수 있는 일을 한 줄 덧붙입니다.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질문 1개와 이번 주 작은 행동 1줄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사회학적 관점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살아 있지만 보이지 않게 될 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82369" cy="16002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1225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122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3080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은퇴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 rot="5400000">
            <a:off x="2204161" y="25100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51049" y="1828800"/>
            <a:ext cx="1582369" cy="16002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3634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363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8209" y="2606040"/>
            <a:ext cx="13080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역할 감소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106570" y="25100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3458" y="1828800"/>
            <a:ext cx="1582369" cy="16002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6043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16043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90618" y="2606040"/>
            <a:ext cx="13080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관계 축소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rot="5400000">
            <a:off x="6008980" y="25100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5868" y="1828800"/>
            <a:ext cx="1582369" cy="16002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8452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845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93028" y="2606040"/>
            <a:ext cx="13080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외출 감소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 rot="5400000">
            <a:off x="7911389" y="25100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8277" y="1828800"/>
            <a:ext cx="1582369" cy="1600200"/>
          </a:xfrm>
          <a:prstGeom prst="roundRect">
            <a:avLst>
              <a:gd name="adj" fmla="val 693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861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2086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95437" y="2606040"/>
            <a:ext cx="13080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4E4A"/>
                </a:solidFill>
              </a:rPr>
              <a:t>사회적 고립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813798" y="251002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60686" y="1828800"/>
            <a:ext cx="1582369" cy="1600200"/>
          </a:xfrm>
          <a:prstGeom prst="roundRect">
            <a:avLst>
              <a:gd name="adj" fmla="val 6934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23271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2327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97846" y="2606040"/>
            <a:ext cx="130804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</a:rPr>
              <a:t>돌봄의 공백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3959352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“사회적 죽음(Social Death)”: 장기투병·치매·시설 입소·은퇴·관계 단절로 사회적 역할과 교류가 크게 줄어드는 경험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초고령사회의 질문은 “언제 죽는가” 못지않게 “마지막까지 누구와 연결되어 살아가는가”입니다.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연결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고독사·1인가구·지역사회 연결망은 제2강에서 최신 통계와 함께 다룹니다.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죽음의 의미는 사람마다 다르다 — 직접 묻고 확인한다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WLC는 의료판단이 아니라 가치의 언어화를 돕는다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메멘토 모리는 공포가 아니라 우선순위 회복의 도구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사람은 죽음을 어떻게 받아들이는가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두려움을 이해하고 경계를 지키기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마음의 눈 · 문화의 눈 · 그리고 WLC의 선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퀴블러 로스 5단계와 죽음불안 6유형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영성·생애사·동서양 죽음관·생애단계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법·제도 기초 지도와 WLC 기본 윤리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5.1 심리적 관점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퀴블러 로스의 5단계와 WLC의 태도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474720"/>
                <a:gridCol w="61264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대표적 반응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WLC의 태도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부정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“사실이 아닐 거야.”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현실을 서둘러 강요하지 않고 안전하게 들을 시간을 준다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분노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“왜 하필 나인가.”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분노를 판단하지 않고 그 밑의 두려움과 상실을 탐색한다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타협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“조금만 더 시간을 준다면….”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통제하고 싶은 마음을 이해하고 지금 할 수 있는 선택으로 잇는다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우울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깊은 슬픔, 무기력, 상실감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섣부른 격려보다 침묵·경청·안전한 지지를 제공한다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수용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현실을 받아들이며 정리하기 시작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관계·가치·마지막 바람을 구체화하도록 돕는다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5.1 주의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5단계는 정답표가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5단계는 모든 사람에게 순서대로 나타나지 않습니다.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진단표가 아니라 “이해의 지도”로 사용합니다.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건너뛸 수 있다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어떤 단계는 나타나지 않을 수 있습니다.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반복될 수 있다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수용했다가 다시 분노로 돌아가기도 합니다.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동시에 나타난다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여러 감정이 한꺼번에 섞여 나타납니다.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5.2 죽음불안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“죽는 게 무섭다” 속의 여섯 가지 두려움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55778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불안의 유형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실제로 두려워하는 것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탐색 질문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미지의 불안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 이후를 알 수 없음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“가장 알 수 없어서 두려운 것은 무엇인가요?”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고통의 불안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통증·호흡곤란·기능상실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“죽음보다 죽어가는 과정이 더 걱정되시나요?”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관계상실의 불안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사랑하는 사람과의 이별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“누구와 헤어지는 일이 가장 마음에 남습니까?”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고독의 불안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혼자 죽거나 발견되지 않음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“마지막에 누구와 연결되어 있고 싶으신가요?”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미완성의 불안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하지 못한 일, 풀지 못한 관계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“아직 끝내지 못했다고 느끼는 일은 무엇인가요?”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존재소멸의 불안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내가 사라지고 잊힘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“당신의 삶에서 무엇이 남기를 바라십니까?”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5.2 피해야 할 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불안을 지우지 말고, 이해하기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피해야 할 말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“그런 생각 하지 마세요.”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“아직 오래 사실 거예요.”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“긍정적으로 생각하세요.”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이렇게 바꿔 봅니다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감정 인정: “그런 생각이 드시는군요.”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구체화: “어떤 점이 가장 걱정되세요?”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연결: “그 걱정을 덜기 위해 함께 준비할 수 있는 것을 찾아볼까요?”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바꿔 말하기 연습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“요즘 자꾸 죽는 생각이 나서 무서워요.”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A가 내담자 역할로 위 문장을 말합니다.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B는 “감정 인정 → 구체화” 두 문장으로 답합니다.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바꿔 한 번 더 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어떤 말이 가장 편안했는지 서로 한 마디씩 나눕니다.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 역할극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감정 인정·구체화 문장 각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영성적 관점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종교가 아니어도, 의미는 묻는다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나는 왜 살아왔는가?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3128" y="175564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나의 삶에는 어떤 의미가 있었는가?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345186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68046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82310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365302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내가 받은 사랑과 준 사랑은 무엇인가?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233008" y="3451860"/>
            <a:ext cx="5410048" cy="1623060"/>
          </a:xfrm>
          <a:prstGeom prst="roundRect">
            <a:avLst>
              <a:gd name="adj" fmla="val 676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61608" y="368046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82310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3128" y="3653028"/>
            <a:ext cx="422132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죽은 뒤에도 무엇이 남기를 바라는가?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종교를 설명할 수는 있지만 권유해서는 안 됩니다. 신앙인에게는 그 신앙의 언어를, 비신앙인에게는 가치·관계·기억의 언어를 씁니다.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생애사적 관점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죽음은 그 사람의 전체 삶 속에서 이해한다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4E4A"/>
                </a:solidFill>
              </a:rPr>
              <a:t>“충분히 살았다”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같은 나이, 같은 질병이라도 삶을 충분히 살았다고 느끼는 사람이 있습니다.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61608" y="2468880"/>
            <a:ext cx="495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1F4E4A"/>
                </a:solidFill>
              </a:rPr>
              <a:t>“내 삶을 살아보지 못했다”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반대로 한 번도 자기 삶을 살지 못했다고 느끼는 사람도 있습니다.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생애회고(Life Review)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중요한 사건과 관계를 돌아보며 의미를 재해석하는 과정. 자아통합(Ego Integrity)과 연결되며 제3강에서 실습으로 심화합니다.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동서양의 죽음관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문화는 지도일 뿐, 사람은 직접 묻는다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7D6B"/>
                </a:solidFill>
              </a:rPr>
              <a:t>동아시아 전통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유교·불교·도가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관계·조화·무상·가족의 연속성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7D6B"/>
                </a:solidFill>
              </a:rPr>
              <a:t>그리스·스토아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소크라테스·플라톤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 성찰을 통한 좋은 삶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7D6B"/>
                </a:solidFill>
              </a:rPr>
              <a:t>기독교 전통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구원·소망·공동체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 이후의 의미와 신앙의 지지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2E7D6B"/>
                </a:solidFill>
              </a:rPr>
              <a:t>실존주의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하이데거·얄롬</a:t>
            </a:r>
            <a:endParaRPr lang="en-US" sz="19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유한성·자유·책임·진정성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통합 코칭 전략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“자연스러운 수용”과 “주체적 준비”를 대립시키지 않습니다. 받아들이면서도 자기 가치에 따라 준비하도록 돕습니다.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생애단계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생애단계에 따라 달라지는 질문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62851" cy="3108960"/>
          </a:xfrm>
          <a:prstGeom prst="roundRect">
            <a:avLst>
              <a:gd name="adj" fmla="val 559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1466" y="17830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0146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688531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아동·청소년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첫 상실 경험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발달에 맞는 죽음 개념·안전한 애도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2584643" y="30358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1531" y="1600200"/>
            <a:ext cx="1962851" cy="3108960"/>
          </a:xfrm>
          <a:prstGeom prst="roundRect">
            <a:avLst>
              <a:gd name="adj" fmla="val 559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357" y="17830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357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77440"/>
            <a:ext cx="1688531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청년·성인 초기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미디어로 접하는 죽음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삶의 우선순위·디지털 유산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67534" y="30358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4422" y="1600200"/>
            <a:ext cx="1962851" cy="3108960"/>
          </a:xfrm>
          <a:prstGeom prst="roundRect">
            <a:avLst>
              <a:gd name="adj" fmla="val 559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67248" y="17830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672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51582" y="2377440"/>
            <a:ext cx="1688531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중년기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부모의 노화·자신의 건강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웰빙→웰다잉 전환의 핵심 시기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50425" y="30358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313" y="1600200"/>
            <a:ext cx="1962851" cy="3108960"/>
          </a:xfrm>
          <a:prstGeom prst="roundRect">
            <a:avLst>
              <a:gd name="adj" fmla="val 559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0139" y="17830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0139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34473" y="2377440"/>
            <a:ext cx="1688531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노년기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배우자·친구의 상실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생애회고·의료결정·레거시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33316" y="303580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0204" y="1600200"/>
            <a:ext cx="1962851" cy="3108960"/>
          </a:xfrm>
          <a:prstGeom prst="roundRect">
            <a:avLst>
              <a:gd name="adj" fmla="val 559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33030" y="17830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3303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17364" y="2377440"/>
            <a:ext cx="1688531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초고령기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상실 누적·관계망 축소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작은 선택권의 보존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연령 구분은 절대적 세대 특성이 아니라, 대상에 맞는 질문을 설계하기 위한 참고 틀입니다.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죽음교육의 입구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죽음을 배우는 것은 삶을 배우는 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죽음교육의 목표는 “죽음을 잘 아는 사람”이 아니라, 유한한 삶을 더 책임 있게 살고 상실을 더 인간답게 견디는 사람을 만드는 것입니다.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자연스러운 일부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죽음이 삶의 일부임을 이해합니다.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안전한 표현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상실과 죽음의 감정을 안전하게 표현합니다.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선택과 존중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자신의 가치와 선택을 생각하고 타인의 상실을 존중합니다.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법·제도·윤리의 기초 지도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알아 두어야 할 네 가지 영역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1004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55648"/>
            <a:ext cx="422132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연명의료결정 → 제9강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연명의료결정법은 임종과정 환자의 자기결정권을 존중합니다. 서류 이름보다 “미리 묻고 공유하기”가 핵심입니다.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33008" y="1554480"/>
            <a:ext cx="541004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3128" y="1755648"/>
            <a:ext cx="422132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장례·장묘 → 제6·14강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매장 중심에서 화장·봉안·자연장·산분 등으로 변화. 죽음 이후도 미리 대화할 수 있는 선택입니다.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48640" y="4000500"/>
            <a:ext cx="5410048" cy="2171700"/>
          </a:xfrm>
          <a:prstGeom prst="roundRect">
            <a:avLst>
              <a:gd name="adj" fmla="val 505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422910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37174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08760" y="4201668"/>
            <a:ext cx="422132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고독사와 사회적 연결 → 제2강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개인 문제가 아니라 관계 단절·고립·돌봄 공백이 결합된 사회문제입니다.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233008" y="4000500"/>
            <a:ext cx="5410048" cy="2171700"/>
          </a:xfrm>
          <a:prstGeom prst="roundRect">
            <a:avLst>
              <a:gd name="adj" fmla="val 5053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61608" y="42291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437174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3128" y="4201668"/>
            <a:ext cx="4221328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안락사·조력사망 → 제10강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연명의료중단과 서로 다른 개념·법적 지위. 법적 허용 여부를 임의로 해석하지 않습니다.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11.1 용어 주의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“존엄사”라는 말을 쓸 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일상·언론 표현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“존엄사”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“소극적 안락사”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법률 설명 시 법정 용어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“연명의료중단등결정”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연명의료중단등결정을 소극적 안락사와 같은 표현으로 취급하지 않습니다.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WLC 기본 윤리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지켜야 할 다섯 가지 원칙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502920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원칙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현장 적용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자기결정권 존중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내담자의 가치와 선택을 중심에 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코치가 “좋은 선택”을 대신 결정하지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비판단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죽음관·종교·가족문화·감정을 평가하지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“왜 그렇게 생각하세요?”보다 “그 생각에는 어떤 의미가 있나요?”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중립성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개인의 종교·윤리·장례관을 강요하지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정보를 주되 특정 선택으로 몰아가지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정확한 정보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의료·법률·장례 정보를 추측하지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변경 가능성이 큰 정보는 공식기관 최신자료 확인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전문가 연계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 밖 문제는 전문가에게 연결한다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의료판단·법률자문·심리치료·세무·투자는 하지 않는다</a:t>
                      </a:r>
                      <a:endParaRPr lang="en-US" sz="16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12.1 역할 경계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WLC가 하지 않는 것, 하는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하지 않는 것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질병 진단·치료 지시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연명의료 여부를 대신 결정·설득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특정 장례·종교의례를 “좋은 죽음”으로 규정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상속·유언·세금·투자 개별 자문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위기·자살위험을 코칭만으로 붙잡아 두기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하는 것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정보를 이해하도록 돕는다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자신의 가치관을 발견하도록 질문한다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가족과 대화하도록 돕는다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필요한 전문가와 지역자원에 연결한다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5단계는 진단표가 아니라 이해의 지도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불안은 지우지 말고 구체화한다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WLC는 이해 → 발견 → 대화 → 연결을 돕는다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통찰을 내 삶으로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통찰을 내 삶으로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죽음을 성찰하면, 다시 오늘로 돌아옵니다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WLC 통합 프레임과 코칭 사례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1~4 · 소그룹 나눔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퀴즈 · 핵심정리 · 다음 시간 예고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통합 프레임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 이해를 삶으로 잇는 네 단계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33574" cy="2377440"/>
          </a:xfrm>
          <a:prstGeom prst="roundRect">
            <a:avLst>
              <a:gd name="adj" fmla="val 461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6827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86827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25925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Ending Awareness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“끝이 있다는 사실을 나는 어떻게 받아들이는가?”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 rot="5400000">
            <a:off x="3155366" y="28986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2254" y="1828800"/>
            <a:ext cx="2533574" cy="2377440"/>
          </a:xfrm>
          <a:prstGeom prst="roundRect">
            <a:avLst>
              <a:gd name="adj" fmla="val 461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0441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0441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39414" y="2606040"/>
            <a:ext cx="225925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Well-Dying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“어떤 마지막을 원하며 무엇을 준비할 것인가?”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08980" y="28986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828800"/>
            <a:ext cx="2533574" cy="2377440"/>
          </a:xfrm>
          <a:prstGeom prst="roundRect">
            <a:avLst>
              <a:gd name="adj" fmla="val 461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4055" y="20116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4055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93028" y="2606040"/>
            <a:ext cx="225925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4E4A"/>
                </a:solidFill>
              </a:rPr>
              <a:t>Well-Being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“그렇다면 오늘부터 어떻게 살 것인가?”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62593" y="2898648"/>
            <a:ext cx="182880" cy="237744"/>
          </a:xfrm>
          <a:prstGeom prst="triangle">
            <a:avLst/>
          </a:prstGeom>
          <a:solidFill>
            <a:srgbClr val="8FB9A8"/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9481" y="1828800"/>
            <a:ext cx="2533574" cy="2377440"/>
          </a:xfrm>
          <a:prstGeom prst="roundRect">
            <a:avLst>
              <a:gd name="adj" fmla="val 461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7668" y="2011680"/>
            <a:ext cx="457200" cy="457200"/>
          </a:xfrm>
          <a:prstGeom prst="ellipse">
            <a:avLst/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76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46641" y="2606040"/>
            <a:ext cx="225925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Legacy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“무엇을 남기고 어떻게 기억되고 싶은가?”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WLC 순환 구조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성찰한다 → 가치를 발견한다 → 행동을 바꾼다 → 관계를 정리한다 → 마지막을 준비한다 → 의미를 남긴다 → 다시 오늘로.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코칭 대화 사례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“혼자 죽는 것이 두렵습니다”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72세 내담자가 밤마다 죽음이 두렵고, 특히 아무도 모르게 혼자 죽을까 걱정합니다.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412480" cy="591312"/>
          </a:xfrm>
          <a:prstGeom prst="roundRect">
            <a:avLst>
              <a:gd name="adj" fmla="val 18557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9728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내담자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20240"/>
            <a:ext cx="6995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“요즘 밤만 되면 죽는 게 무서워요. 혼자 죽으면 어떡하나 싶어요.”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30575" y="2621280"/>
            <a:ext cx="8412480" cy="591312"/>
          </a:xfrm>
          <a:prstGeom prst="roundRect">
            <a:avLst>
              <a:gd name="adj" fmla="val 1855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3455" y="2621280"/>
            <a:ext cx="109728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WLC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65015" y="2621280"/>
            <a:ext cx="6995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“밤에 혼자 계실 때 그런 두려움이 더 커지시는군요.”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322320"/>
            <a:ext cx="8412480" cy="591312"/>
          </a:xfrm>
          <a:prstGeom prst="roundRect">
            <a:avLst>
              <a:gd name="adj" fmla="val 18557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22320"/>
            <a:ext cx="109728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내담자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322320"/>
            <a:ext cx="6995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“아무도 모르게 죽고 며칠이 지나서야 발견될까 봐요.”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230575" y="4023360"/>
            <a:ext cx="8412480" cy="591312"/>
          </a:xfrm>
          <a:prstGeom prst="roundRect">
            <a:avLst>
              <a:gd name="adj" fmla="val 1855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3455" y="4023360"/>
            <a:ext cx="109728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WLC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65015" y="4023360"/>
            <a:ext cx="6995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“죽음 자체보다 ‘아무도 모른 채 혼자 있게 되는 것’이 더 두려우신 것 같아요. 지금 정기적으로 연락하는 분이 있으세요?”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724400"/>
            <a:ext cx="8412480" cy="591312"/>
          </a:xfrm>
          <a:prstGeom prst="roundRect">
            <a:avLst>
              <a:gd name="adj" fmla="val 18557"/>
            </a:avLst>
          </a:prstGeom>
          <a:solidFill>
            <a:srgbClr val="F1F1EF"/>
          </a:solidFill>
          <a:ln w="12700">
            <a:solidFill>
              <a:srgbClr val="F1F1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724400"/>
            <a:ext cx="109728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내담자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724400"/>
            <a:ext cx="6995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“딸은 멀리 살고, 친구들과도 자주 연락하지 않아요.”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230575" y="5425440"/>
            <a:ext cx="8412480" cy="591312"/>
          </a:xfrm>
          <a:prstGeom prst="roundRect">
            <a:avLst>
              <a:gd name="adj" fmla="val 1855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3455" y="5425440"/>
            <a:ext cx="109728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WLC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65015" y="5425440"/>
            <a:ext cx="6995160" cy="591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“‘혼자라는 느낌’을 줄일 방법은 함께 찾아볼 수 있겠습니다. 한 주에 한 번 연결될 사람이나 지역서비스를 찾아볼까요?”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코칭 구조 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감정 인정 → 구체화 → 자원 확인 → 작은 행동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앞의 대화를 4단계로 나누어 보고, 같은 구조로 새 대화를 해 봅니다.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감정 인정: 내담자의 감정을 그대로 받아 줍니다.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두려움의 구체화: 무엇이 가장 두려운지 묻습니다.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관계·자원 확인: 연결된 사람과 서비스를 찾습니다.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작은 행동 설계: 이번 주 할 수 있는 한 가지를 함께 정합니다.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 (내담자·WLC·관찰자)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관찰자가 4단계 체크 후 피드백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나의 죽음 태도 점검 (1점 전혀 아니다 ~ 5점 매우 그렇다)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13816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번호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문항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나는 죽음에 대해 비교적 편안하게 이야기할 수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죽음을 생각하면 막연한 불안이 생긴다.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가족과 나의 죽음에 대해 이야기해 본 적이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내가 원하는 마지막 모습에 대해 생각해 본 적이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장례방식에 대해 생각해 본 적이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연명의료에 대한 나의 생각이 어느 정도 정리되어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7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지금 죽음을 맞는다면 가장 후회될 일이 무엇인지 알고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8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감사하거나 미안한 사람에게 마음을 표현하고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9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죽은 뒤 무엇으로 기억되고 싶은지 생각해 본 적이 있다.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10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죽음을 생각하면 오히려 오늘을 더 잘 살고 싶어진다.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1  2  3  4  5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15.1 성찰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가장 낮은 점수에서 시작합니다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가장 낮은 점수를 준 문항 하나를 고르세요.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그 점수를 1점 높이기 위해 이번 주에 할 수 있는 가장 작은 행동은 무엇인가요?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예) 3번이 1점이라면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“이번 주말 식사 때 가족에게 이 수업 이야기를 꺼내 본다.”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예) 8번이 2점이라면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“고마운 친구 한 명에게 문자 한 통을 보낸다.”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작을수록 좋습니다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거창한 결심보다 이번 주에 정말 할 수 있는 일 하나.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후회의 나침반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“주어진 시간이 생각보다 짧다는 것을 알게 된다면?”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가장 먼저 후회할 일은 무엇인가?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후회는 지금 나에게 무엇을 중요하게 여기라고 말해 주는가?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이번 주 안에 시작할 수 있는 가장 작은 행동은 무엇인가?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작성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실습지 15.2의 답 3줄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15.3 실습 3 — 나의 한 문장 레거시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나는 ____________________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한 사람으로 기억되고 싶다.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그렇게 기억되기 위해 지금 더 해야 할 행동은 무엇인가요?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개인 작성 4분 — 실습지 15.3에 한 문장과 행동 한 가지를 적습니다.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15.4 실습 4 · 과제로 이어집니다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“마지막 18년”에서 “나의 남은 삶”으로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669280"/>
                <a:gridCol w="36576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질문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지금 준비할 한 가지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거주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어디에서, 누구와 살고 싶은가?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누구와 더 많은 시간을 보내고 싶은가?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경제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의료·돌봄·생활비에 대해 무엇을 점검해야 하는가?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활동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삶의 활력을 위해 계속하고 싶은 활동은?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어떤 의료와 돌봄을 원하며 누구와 상의할 것인가?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레거시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무엇을 남기고 어떻게 기억되고 싶은가?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소그룹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내 마음에 남은 한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실습 1~4 중 하나를 골라, 나누고 싶은 만큼만 이야기합니다.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3~4명이 한 조가 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한 사람당 1분씩 이야기합니다(패스 가능).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듣는 사람은 조언 대신 “고맙습니다”로 답합니다.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3~4인 소그룹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나눔 후 마음에 남은 단어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영성은 특정 종교와 같은 의미이다.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“존엄사”는 연명의료결정법의 법정 용어이다.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생애단계 구분은 절대적 세대 특성이 아니라 질문 설계를 위한 참고 틀이다.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WLC는 내담자에게 가장 바람직한 장례방식을 권해야 한다.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뇌사자의 사망시각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「장기등 이식에 관한 법률」상 뇌사자의 사망시각은?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심장박동이 멈춘 시각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인공호흡기를 제거한 시각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뇌사판정위원회가 뇌사판정을 한 시각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 장기기증에 동의한 시각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퀴블러 로스 모델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퀴블러 로스 모델에 대한 설명으로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사람은 다섯 단계를 순서대로 거친다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수용 단계에 도달하도록 돕는 것이 코칭의 목표다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감정 이해의 참고틀이며 고정된 순서로 해석하면 안 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분노 단계에서는 대화를 중단해야 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사회적 죽음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“사회적 죽음”의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법적으로 사망신고가 끝난 상태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생물학적으로 살아 있으나 관계와 역할에서 사라지는 경험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장례를 사회적으로 치르는 것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뇌사 판정을 받은 상태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메멘토 모리의 활용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4A"/>
                </a:solidFill>
              </a:rPr>
              <a:t>메멘토 모리를 코칭에 활용하는 방식으로 적절하지 않은 것은?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삶의 우선순위를 묻는 질문으로 연결한다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미루고 있는 일을 떠올리게 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고독사 통계를 보여 주며 두려움을 강조한다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오늘의 작은 행동 하나로 마무리한다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죽음의 의료화와 WLC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“죽음의 의료화” 속에서 WLC의 역할로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치료 중단 여부를 판단해 가족에게 알린다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내담자가 가치와 우선순위를 말로 표현하고 의료진·가족과 소통하도록 돕는다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의료진의 판단에 이의를 제기하도록 권한다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의료적 설명을 대신 해 준다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영성은 의미·연결·용서·감사를 포함하는 더 넓은 영역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법정 용어는 “연명의료중단등결정”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대상에 맞는 질문을 설계하기 위한 참고 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특정 장례방식을 “좋은 죽음”으로 규정하지 않음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뇌사판정위원회가 뇌사판정을 한 시각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감정 이해의 참고틀, 고정 순서 아님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살아 있으나 관계·역할에서 사라지는 경험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통계로 두려움을 자극하지 않는다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죽음을 다차원적 현상으로 이해해야 하는 이유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심폐사와 장기이식법상 뇌사 개념의 차이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“죽음의 의료화”의 의미와 WLC에게 주는 시사점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퀴블러 로스 5단계 모델 사용 시 주의점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사회적 죽음의 의미와 초고령사회에서의 중요성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메멘토 모리를 성찰 도구로 활용하는 방법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동서양 죽음관을 단순화하지 않는 통합 원칙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죽음불안 유형 3가지와 유형별 질문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종교·영성 배경이 다른 내담자 코칭 원칙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“죽음을 이야기하는 것은 삶을 이야기하는 것”과 WLC의 역할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제1강에서 꼭 기억할 다섯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죽음은 생물학적 사건만이 아니다.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의학·철학·심리·사회·관계·문화·영성이 함께 작용하는 총체적 경험이다.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죽음을 바라보면 삶이 보인다.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죽음 성찰의 목적은 삶의 우선순위를 발견하는 데 있다.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사람마다 죽음은 다르다.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세대·문화·종교·가족·경험에 따라 다르므로 직접 묻고 확인한다.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WLC는 정답을 주는 사람이 아니다.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스스로 답을 발견하도록 질문하고 전문가·자원에 연결한다.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웰다잉의 출발점은 웰빙이다.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어떤 마지막을 원하는지 생각하면 오늘의 선택이 달라진다.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다섯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9427" cy="4617720"/>
          </a:xfrm>
          <a:prstGeom prst="roundRect">
            <a:avLst>
              <a:gd name="adj" fmla="val 548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1542227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7D6B"/>
                </a:solidFill>
              </a:rPr>
              <a:t>먼저 나의 죽음을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자신의 죽음불안을 먼저 바라본다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22387" y="1554480"/>
            <a:ext cx="1999427" cy="4617720"/>
          </a:xfrm>
          <a:prstGeom prst="roundRect">
            <a:avLst>
              <a:gd name="adj" fmla="val 548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098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098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50987" y="2468880"/>
            <a:ext cx="1542227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7D6B"/>
                </a:solidFill>
              </a:rPr>
              <a:t>정답을 가르치지 않기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문화·종교·가족·삶이 다르다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96134" y="1554480"/>
            <a:ext cx="1999427" cy="4617720"/>
          </a:xfrm>
          <a:prstGeom prst="roundRect">
            <a:avLst>
              <a:gd name="adj" fmla="val 548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2473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2473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24734" y="2468880"/>
            <a:ext cx="1542227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7D6B"/>
                </a:solidFill>
              </a:rPr>
              <a:t>두려움을 이용하지 않기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통계로 겁주지 않는다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69881" y="1554480"/>
            <a:ext cx="1999427" cy="4617720"/>
          </a:xfrm>
          <a:prstGeom prst="roundRect">
            <a:avLst>
              <a:gd name="adj" fmla="val 548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9848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98481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598481" y="2468880"/>
            <a:ext cx="1542227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7D6B"/>
                </a:solidFill>
              </a:rPr>
              <a:t>모르면 확인·연결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전문영역 존중, 공식기관 확인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43628" y="1554480"/>
            <a:ext cx="1999427" cy="4617720"/>
          </a:xfrm>
          <a:prstGeom prst="roundRect">
            <a:avLst>
              <a:gd name="adj" fmla="val 5488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222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22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872228" y="2468880"/>
            <a:ext cx="1542227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7D6B"/>
                </a:solidFill>
              </a:rPr>
              <a:t>다시 삶으로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“오늘부터 어떻게 살고 싶은가?”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실습 4 완성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“나의 남은 삶” 6영역 표를 끝까지 채워 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부록 1 작성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웰다잉 준비도 점검표를 작성하고, 가장 비어 있는 영역에 표시합니다.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작은 행동 1개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실습 1 성찰에서 정한 행동을 실제로 해 봅니다.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제1강의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“죽음을 생각한 뒤,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나는 오늘부터 어떻게 살고 싶은가?”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모든 죽음에 관한 대화는 다시 삶으로 돌아옵니다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제2강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초고령사회와 죽음교육의 필요성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“초고령사회에 진입한 지금, 왜 우리는 죽음을 배우고 가르쳐야 하는가?”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한국은 이미 초고령사회 — 65세 이상 인구 20.3%(2025)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1인가구·고독사·사회적 고립: 관계망의 문제로 보기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생애주기별·학교 죽음교육, 자살예방교육과의 구분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예기치 않은 죽음·재난과 집단적 상실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WLC 죽음교육 프로그램 설계의 7대 원칙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제2장 1~6절  ·  가져올 것: 실습 4 과제지, 부록 1 점검표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제1강 죽음을 이해하는 통찰</dc:title>
  <dc:subject>PptxGenJS Presentation</dc:subject>
  <dc:creator>삶잇다협동조합</dc:creator>
  <cp:lastModifiedBy>삶잇다협동조합</cp:lastModifiedBy>
  <cp:revision>1</cp:revision>
  <dcterms:created xsi:type="dcterms:W3CDTF">2026-10-29T23:51:48Z</dcterms:created>
  <dcterms:modified xsi:type="dcterms:W3CDTF">2026-10-29T23:51:48Z</dcterms:modified>
</cp:coreProperties>
</file>