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열기" id="{68d5306f-b019-45de-b5a5-0dd3e988476e}">
          <p14:sldIdLst>
            <p14:sldId id="256"/>
            <p14:sldId id="257"/>
            <p14:sldId id="258"/>
            <p14:sldId id="259"/>
            <p14:sldId id="260"/>
            <p14:sldId id="261"/>
            <p14:sldId id="262"/>
            <p14:sldId id="263"/>
            <p14:sldId id="264"/>
          </p14:sldIdLst>
        </p14:section>
        <p14:section name="1교시 듣고 말하는 기술" id="{98dea166-fe71-28cd-d514-e7f5fb8802be}">
          <p14:sldIdLst>
            <p14:sldId id="265"/>
            <p14:sldId id="266"/>
            <p14:sldId id="267"/>
            <p14:sldId id="268"/>
            <p14:sldId id="269"/>
            <p14:sldId id="270"/>
            <p14:sldId id="271"/>
            <p14:sldId id="272"/>
          </p14:sldIdLst>
        </p14:section>
        <p14:section name="2교시 생명윤리와 중재의 원칙" id="{cab7f9ee-d997-fc69-de3e-e61691d0f51b}">
          <p14:sldIdLst>
            <p14:sldId id="273"/>
            <p14:sldId id="274"/>
            <p14:sldId id="275"/>
            <p14:sldId id="276"/>
            <p14:sldId id="277"/>
            <p14:sldId id="278"/>
            <p14:sldId id="279"/>
            <p14:sldId id="280"/>
            <p14:sldId id="281"/>
            <p14:sldId id="282"/>
            <p14:sldId id="283"/>
            <p14:sldId id="284"/>
          </p14:sldIdLst>
        </p14:section>
        <p14:section name="3교시 가족회의를 촉진하다" id="{a4d5ef8e-745e-028f-a171-1906f3e39164}">
          <p14:sldIdLst>
            <p14:sldId id="285"/>
            <p14:sldId id="286"/>
            <p14:sldId id="287"/>
            <p14:sldId id="288"/>
            <p14:sldId id="289"/>
            <p14:sldId id="290"/>
            <p14:sldId id="291"/>
            <p14:sldId id="292"/>
            <p14:sldId id="293"/>
            <p14:sldId id="294"/>
            <p14:sldId id="295"/>
            <p14:sldId id="296"/>
            <p14:sldId id="297"/>
            <p14:sldId id="298"/>
            <p14:sldId id="299"/>
            <p14:sldId id="300"/>
          </p14:sldIdLst>
        </p14:section>
        <p14:section name="정리와 예고" id="{c35b0126-0480-a6b3-3f4c-b3f520af151f}">
          <p14:sldIdLst>
            <p14:sldId id="301"/>
            <p14:sldId id="302"/>
            <p14:sldId id="303"/>
            <p14:sldId id="304"/>
            <p14:sldId id="305"/>
            <p14:sldId id="30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0:00–0:01 (1분)
인사. 제3부의 마지막 시간.
"지난 시간 법과 제도를 배웠습니다. 그런데 현장에서 가장 어려운 것은 법이 아니라 가족입니다. 오늘은 사랑이 충돌하는 자리에서 대화를 여는 법을 배웁니다."
안락사·자살 관련 내용이 나오므로 수업 시작 때 안전 안내를 다시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0:01–0:02 (1분)
📖 교재: 교재 목차
오늘로 제3부를 마치고 다음 시간부터 제4부(상실과 임종을 동행하다)로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0:02–0:03 (1분)
오늘의 결과물: I-Message 문장, 사실·가치·감정 분리표, 조별 가족회의 시뮬레이션 경험.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0:03–0:08 (5분)
📖 교재: 9강 과제
"막혔던 장면"을 2~3개 듣는다. 오늘 배울 경청·I-Message로 그 장면을 다시 써 보게 된다고 예고.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0:08–0:10 (2분)
📖 교재: 9장 핵심정리 · 22절
짧게 복습.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0:10–0:14 (4분)
📖 교재: 1절 · 4절
예: 한 말 "왜 맨날 나만 해?" / 아래 마음 "인정받고 싶었다, 지쳤다". 오늘 수업의 핵심(입장 아래의 욕구)을 체험으로 먼저 만나게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0:14–0:15 (1분)
📖 교재: 10장 표제 · 핵심 메시지
핵심 메시지를 천천히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0:15–0:17 (2분)
📖 교재: 10장 학습목표 1~8
굵은 키워드만 짚는다.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0:17–0:18 (1분)
📖 교재: 10장 핵심 키워드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0:18–0:23 (5분)
📖 교재: 1절 · 갈등을 보는 프레임
핵심정리 1. 오프닝에서 적은 "내가 한 말 / 아래 마음"이 바로 표면과 그 아래.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0:23–0:28 (5분)
📖 교재: 2절 · 표
서술형 Q2. 1강의 감정 인정·구체화 기술의 확장.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0:28–0:33 (5분)
📖 교재: 2절
흔한 실수: "그래도 형도 사정이 있겠죠"(편들기·조언). 강사가 먼저 시연.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0:33–0:39 (6분)
📖 교재: 3절 · 표 · Thomas Gordon
서술형 Q1. 객관식 1번. 3교시 실습 1에서 직접 바꿔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0:39–0:44 (5분)
📖 교재: 4절 · 표
서술형 Q3. 8강의 "상속 갈등의 표면과 그 아래"와 같은 구조. OX 2번.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0:44–0:48 (4분)
📖 교재: 4절
상대의 욕구를 적는 순간 관점이 바뀌는 경험을 하게 하는 것이 목적. 발표 없음.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0:48–1:00 (12분)
1교시 정리 2분 + 휴식 10분.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1:00–1:06 (6분)
📖 교재: 5절 · 표 · Beauchamp &amp; Childress
서술형 Q4. 객관식 2번.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1:06–1:12 (6분)
📖 교재: 5절
정답을 내는 토론이 아니라 질문을 만드는 토론임을 강조. 3교시 사례 1 가족회의 시뮬레이션에 이 질문들을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1:12–1:19 (7분)
📖 교재: 6절 · 표 / 형법 제252조
서술형 Q5. 객관식 3번. OX 3번. 1강 "용어 주의"의 심화. 코치노트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1:19–1:23 (4분)
📖 교재: 7절 · 표
서술형 Q6. 9강의 복습 — 이번에는 "가족의 역할" 열에 주목.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1:23–1:28 (5분)
📖 교재: 8절
서술형 Q7. 객관식 4번. 코치노트 6: 중재를 성급한 합의로 착각하지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1:28–1:33 (5분)
📖 교재: 9절 · 표
서술형 Q8. 핵심정리 5. 3교시 실습 2에서 연습.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1:33–1:37 (4분)
📖 교재: 10절 · 표
3교시 20분 가족회의 시뮬레이션의 뼈대. 코치노트 8: 회의 후 행동을 남긴다.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1:37–1:41 (4분)
📖 교재: 11절 · 안전 원칙
서술형 Q9. 객관식 5번. 자살예방상담전화 109 등 공식 연락처는 수업 시점에 재확인해 안내. WLC는 자살위험을 진단하지 않지만 즉각적 위험을 무시하지 않는다(코치노트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1:41–1:45 (4분)
📖 교재: 11절
위기 상황 역할극이 아니라 "첫 반응" 연습. 연결처는 의료진·호스피스·정신건강복지센터·자살예방상담전화 등(연락처는 수업 시점 재확인).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1:45–1:49 (4분)
📖 교재: 16절 · 표
함께 소리 내어 대안 문장을 읽는다. 12절(종교·효도·문화)의 문화중재 질문도 여기서 소개: "꼭 지키고 싶은 전통이나 신앙은? 그 의미를 지키면서 환자의 뜻도 존중할 방법은?"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1:49–2:00 (11분)
2교시 정리 1분 + 휴식 10분. 휴식 중 5~6명 조 편성(가족회의 시뮬레이션용).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전환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2:00–2:04 (4분)
📖 교재: 13절 · 표
"의미 재구성": 아버님이 중요하게 여긴 편안함과 작별의 시간도 사랑의 방식일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2:04–2:08 (4분)
📖 교재: 14~15절
사례 2에서 WLC가 어느 쪽 기억이 맞는지 판단하지 않는다. 사례 3은 6강 장례의 기능과 연결.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2:08–2:15 (7분)
📖 교재: 17.1절 · 실습지
개인 5분 + 짝과 비교 3분. 좋은 답 2~3개를 함께 듣는다. 열기 시간의 "막혔던 장면"을 하나 더 바꿔 보게 해도 좋다.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2:15–2:22 (7분)
📖 교재: 17.2절 · 실습지
예: 첫 발언 — 사실: 의료진의 치료계획(확인 필요) / 가치: 끝까지 최선 / 감정: 두려움·불신 / 질문: "의료진이 어떤 설명을 했나요?"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2:22–2:24 (2분)
📖 교재: 17.3절
역할: WLC 1명, 관찰자 1명, 가족 3~4명(장남·차남·딸·배우자 등). 사례 1을 기본 시나리오로 쓰고, 조마다 가족 역할 카드를 나눠 준다(각자의 입장과 숨은 욕구를 적은 카드).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2:24–2:41 (17분)
📖 교재: 17.3절 · 10절
강사는 순회하며 시간을 알린다(3·7·11·16·19분). 실기시험의 상담·중재 시연과 직결.
감정이 깊어질 수 있으므로 역할에서 나오는 시간을 반드시 갖는다.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2:41–2:44 (3분)
📖 교재: 17.4절
관찰자가 체크한 결과를 WLC 역할에게 돌려준다. 가장 어려웠던 항목을 전체에서 2~3개 듣는다.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2:44–2:46 (2분)
📖 교재: 18절 · 표
서술형 Q10. 핵심정리 6. OX 4번.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2:46–2:47 (1분)
📖 교재: 2·4·6·18절
정답: 1 X / 2 O / 3 X / 4 X
※ 10강 퀴즈는 강사용 해설서에 문제은행이 없어 교재 본문을 근거로 새로 작성한 문항입니다.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2:47–2:48 (1분)
📖 교재: 3절
정답 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2:48–2:49 (1분)
📖 교재: 5절
정답 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2:49–2:50 (1분)
📖 교재: 6절
정답 ③. ①②④는 허용 제도가 없고 형법상 문제가 발생.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2:50–2:51 (1분)
📖 교재: 8절
정답 ③. 해결을 서두르지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2:51–2:52 (1분)
📖 교재: 11절
정답 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2:52–2:54 (2분)
📖 교재: 10장 본문 (강사 제작 문항)
객관식 5번 정답 ③은 구두로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2:54–2:55 (1분)
📖 교재: 19절 학습점검 Q1~Q10
채점 기준(문항당 10점): 핵심요소 3개 10점 / 2개 7점 / 1개 4점 / 없음 0점, 역할경계 이탈 -3점.
※ 10장 모범답안은 강사용 해설서(제1~4장)에 없으므로 교재 핵심정리·본문을 기준으로 채점.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2:55–2:56 (1분)
📖 교재: 20절 핵심정리
굵은 부분을 함께 읽는다.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2:56–2:57 (1분)
📖 교재: 21절 코치 노트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2:57–2:58 (1분)
📖 교재: 17절 · 7강 30일 프로젝트
다음 시간 첫 나눔에서 30일 프로젝트 전체를 돌아본다. 11강은 상실·애도를 다루므로 최근 사별 수강생에게 사전 안내.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2:58–2:59 (1분)
📖 교재: 20절 · 제10장의 마지막 질문
10초 침묵. 제3부(8~10강: 경제·의료·가족)를 마친 것을 축하하며 마무리.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2:59–3:00 (1분)
📖 교재: 22절 제11장으로의 연결
가족이 충분히 대화하고 결정의 방향을 이해해도, 죽음 이후에는 상실과 애도가 시작된다. WLC의 역할은 잊게 하는 것이 아니라 상실을 견디며 새로운 관계를 찾도록 돕는 것. 제4부의 시작.
마무리 인사.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F4E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F4E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1094415" cy="10058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F4E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제10강 가족소통·생명윤리와 갈등중재</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CTIVITY">
    <p:bg>
      <p:bgPr>
        <a:solidFill>
          <a:srgbClr val="EAF3F0"/>
        </a:solidFill>
      </p:bgPr>
    </p:bg>
    <p:spTree>
      <p:nvGrpSpPr>
        <p:cNvPr id="1" name=""/>
        <p:cNvGrpSpPr/>
        <p:nvPr/>
      </p:nvGrpSpPr>
      <p:grpSpPr>
        <a:xfrm>
          <a:off x="0" y="0"/>
          <a:ext cx="0" cy="0"/>
          <a:chOff x="0" y="0"/>
          <a:chExt cx="0" cy="0"/>
        </a:xfrm>
      </p:grpSpPr>
      <p:sp>
        <p:nvSpPr>
          <p:cNvPr id="2" name="Text 0"/>
          <p:cNvSpPr/>
          <p:nvPr/>
        </p:nvSpPr>
        <p:spPr>
          <a:xfrm>
            <a:off x="548640" y="6473952"/>
            <a:ext cx="7315200" cy="274320"/>
          </a:xfrm>
          <a:prstGeom prst="rect">
            <a:avLst/>
          </a:prstGeom>
          <a:noFill/>
          <a:ln/>
        </p:spPr>
        <p:txBody>
          <a:bodyPr wrap="square" lIns="0" tIns="0" rIns="0" bIns="0" rtlCol="0" anchor="ctr"/>
          <a:lstStyle/>
          <a:p>
            <a:pPr indent="0" marL="0">
              <a:buNone/>
            </a:pPr>
            <a:r>
              <a:rPr lang="en-US" sz="1000" dirty="0">
                <a:solidFill>
                  <a:srgbClr val="6B6B6B"/>
                </a:solidFill>
              </a:rPr>
              <a:t>WLC 2급 자격과정  ·  제10강 가족소통·생명윤리와 갈등중재</a:t>
            </a:r>
            <a:endParaRPr lang="en-US" sz="1000" dirty="0"/>
          </a:p>
        </p:txBody>
      </p:sp>
      <p:sp>
        <p:nvSpPr>
          <p:cNvPr id="3" name="Text 1"/>
          <p:cNvSpPr/>
          <p:nvPr>
            <p:ph idx="101" type="body" hasCustomPrompt="1"/>
          </p:nvPr>
        </p:nvSpPr>
        <p:spPr>
          <a:xfrm>
            <a:off x="548640" y="292608"/>
            <a:ext cx="11094415" cy="292608"/>
          </a:xfrm>
          <a:prstGeom prst="rect">
            <a:avLst/>
          </a:prstGeom>
          <a:noFill/>
          <a:ln/>
        </p:spPr>
        <p:txBody>
          <a:bodyPr wrap="square" rtlCol="0"/>
          <a:lstStyle>
            <a:lvl1pPr indent="0" marL="0">
              <a:buNone/>
              <a:defRPr lang="en-US" sz="1300" b="1" dirty="0">
                <a:solidFill>
                  <a:srgbClr val="2E7D6B"/>
                </a:solidFill>
              </a:defRPr>
            </a:lvl1pPr>
          </a:lstStyle>
          <a:p>
            <a:pPr indent="0" marL="0">
              <a:buNone/>
            </a:pPr>
            <a:endParaRPr lang="en-US" sz="1300" dirty="0"/>
          </a:p>
        </p:txBody>
      </p:sp>
      <p:sp>
        <p:nvSpPr>
          <p:cNvPr id="4" name="Text 1"/>
          <p:cNvSpPr/>
          <p:nvPr>
            <p:ph idx="102" type="title" hasCustomPrompt="1"/>
          </p:nvPr>
        </p:nvSpPr>
        <p:spPr>
          <a:xfrm>
            <a:off x="548640" y="603504"/>
            <a:ext cx="11094415" cy="658368"/>
          </a:xfrm>
          <a:prstGeom prst="rect">
            <a:avLst/>
          </a:prstGeom>
          <a:noFill/>
          <a:ln/>
        </p:spPr>
        <p:txBody>
          <a:bodyPr wrap="square" rtlCol="0"/>
          <a:lstStyle>
            <a:lvl1pPr algn="l" indent="0" marL="0">
              <a:buNone/>
              <a:defRPr lang="en-US" sz="2800" b="1" dirty="0">
                <a:solidFill>
                  <a:srgbClr val="1F4E4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6.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6.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6.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6.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5.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6.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5.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5.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6.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5.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5.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2E7D6B">
              <a:alpha val="45000"/>
            </a:srgbClr>
          </a:solidFill>
          <a:ln w="12700">
            <a:solidFill>
              <a:srgbClr val="2E7D6B"/>
            </a:solidFill>
            <a:prstDash val="solid"/>
          </a:ln>
        </p:spPr>
      </p:sp>
      <p:sp>
        <p:nvSpPr>
          <p:cNvPr id="3" name="Shape 1"/>
          <p:cNvSpPr/>
          <p:nvPr/>
        </p:nvSpPr>
        <p:spPr>
          <a:xfrm>
            <a:off x="9509760" y="3566160"/>
            <a:ext cx="3840480" cy="3840480"/>
          </a:xfrm>
          <a:prstGeom prst="ellipse">
            <a:avLst/>
          </a:prstGeom>
          <a:solidFill>
            <a:srgbClr val="8FB9A8">
              <a:alpha val="30000"/>
            </a:srgbClr>
          </a:solidFill>
          <a:ln w="12700">
            <a:solidFill>
              <a:srgbClr val="8FB9A8"/>
            </a:solidFill>
            <a:prstDash val="solid"/>
          </a:ln>
        </p:spPr>
      </p:sp>
      <p:sp>
        <p:nvSpPr>
          <p:cNvPr id="4" name="Text 2"/>
          <p:cNvSpPr txBox="1"/>
          <p:nvPr/>
        </p:nvSpPr>
        <p:spPr>
          <a:xfrm>
            <a:off x="548640" y="1188720"/>
            <a:ext cx="8229600" cy="365760"/>
          </a:xfrm>
          <a:prstGeom prst="rect">
            <a:avLst/>
          </a:prstGeom>
          <a:noFill/>
          <a:ln/>
        </p:spPr>
        <p:txBody>
          <a:bodyPr wrap="square" lIns="0" tIns="0" rIns="0" bIns="0" rtlCol="0" anchor="t"/>
          <a:lstStyle/>
          <a:p>
            <a:pPr indent="0" marL="0">
              <a:buNone/>
            </a:pPr>
            <a:r>
              <a:rPr lang="en-US" sz="1600" b="1" dirty="0">
                <a:solidFill>
                  <a:srgbClr val="A8C5BC"/>
                </a:solidFill>
              </a:rPr>
              <a:t>WLC 2급 자격과정  ·  제3부 삶의 존엄을 준비하다</a:t>
            </a:r>
            <a:endParaRPr lang="en-US" sz="1600" dirty="0"/>
          </a:p>
        </p:txBody>
      </p:sp>
      <p:sp>
        <p:nvSpPr>
          <p:cNvPr id="5" name="Text 3"/>
          <p:cNvSpPr txBox="1"/>
          <p:nvPr/>
        </p:nvSpPr>
        <p:spPr>
          <a:xfrm>
            <a:off x="548640" y="1828800"/>
            <a:ext cx="8229600" cy="731520"/>
          </a:xfrm>
          <a:prstGeom prst="rect">
            <a:avLst/>
          </a:prstGeom>
          <a:noFill/>
          <a:ln/>
        </p:spPr>
        <p:txBody>
          <a:bodyPr wrap="square" lIns="0" tIns="0" rIns="0" bIns="0" rtlCol="0" anchor="t"/>
          <a:lstStyle/>
          <a:p>
            <a:pPr indent="0" marL="0">
              <a:buNone/>
            </a:pPr>
            <a:r>
              <a:rPr lang="en-US" sz="3200" b="1" dirty="0">
                <a:solidFill>
                  <a:srgbClr val="FFFFFF"/>
                </a:solidFill>
              </a:rPr>
              <a:t>제10강</a:t>
            </a:r>
            <a:endParaRPr lang="en-US" sz="3200" dirty="0"/>
          </a:p>
        </p:txBody>
      </p:sp>
      <p:sp>
        <p:nvSpPr>
          <p:cNvPr id="6" name="Text 4"/>
          <p:cNvSpPr txBox="1"/>
          <p:nvPr/>
        </p:nvSpPr>
        <p:spPr>
          <a:xfrm>
            <a:off x="548640" y="2560320"/>
            <a:ext cx="10607040" cy="1097280"/>
          </a:xfrm>
          <a:prstGeom prst="rect">
            <a:avLst/>
          </a:prstGeom>
          <a:noFill/>
          <a:ln/>
        </p:spPr>
        <p:txBody>
          <a:bodyPr wrap="square" lIns="0" tIns="0" rIns="0" bIns="0" rtlCol="0" anchor="t"/>
          <a:lstStyle/>
          <a:p>
            <a:pPr indent="0" marL="0">
              <a:buNone/>
            </a:pPr>
            <a:r>
              <a:rPr lang="en-US" sz="4800" b="1" dirty="0">
                <a:solidFill>
                  <a:srgbClr val="FFFFFF"/>
                </a:solidFill>
                <a:latin typeface="Noto Serif KR Black" pitchFamily="34" charset="0"/>
                <a:ea typeface="Noto Serif KR Black" pitchFamily="34" charset="-122"/>
                <a:cs typeface="Noto Serif KR Black" pitchFamily="34" charset="-120"/>
              </a:rPr>
              <a:t>가족소통·생명윤리와 갈등중재</a:t>
            </a:r>
            <a:endParaRPr lang="en-US" sz="4800" dirty="0"/>
          </a:p>
        </p:txBody>
      </p:sp>
      <p:sp>
        <p:nvSpPr>
          <p:cNvPr id="7" name="Text 5"/>
          <p:cNvSpPr txBox="1"/>
          <p:nvPr/>
        </p:nvSpPr>
        <p:spPr>
          <a:xfrm>
            <a:off x="548640" y="3703320"/>
            <a:ext cx="8229600" cy="411480"/>
          </a:xfrm>
          <a:prstGeom prst="rect">
            <a:avLst/>
          </a:prstGeom>
          <a:noFill/>
          <a:ln/>
        </p:spPr>
        <p:txBody>
          <a:bodyPr wrap="square" lIns="0" tIns="0" rIns="0" bIns="0" rtlCol="0" anchor="t"/>
          <a:lstStyle/>
          <a:p>
            <a:pPr indent="0" marL="0">
              <a:buNone/>
            </a:pPr>
            <a:r>
              <a:rPr lang="en-US" sz="1800" i="1" dirty="0">
                <a:solidFill>
                  <a:srgbClr val="CFE3DC"/>
                </a:solidFill>
              </a:rPr>
              <a:t>Family Communication, Bioethics &amp; Conflict Mediation</a:t>
            </a:r>
            <a:endParaRPr lang="en-US" sz="1800" dirty="0"/>
          </a:p>
        </p:txBody>
      </p:sp>
      <p:sp>
        <p:nvSpPr>
          <p:cNvPr id="8" name="Text 6"/>
          <p:cNvSpPr txBox="1"/>
          <p:nvPr/>
        </p:nvSpPr>
        <p:spPr>
          <a:xfrm>
            <a:off x="548640" y="5120640"/>
            <a:ext cx="8229600" cy="365760"/>
          </a:xfrm>
          <a:prstGeom prst="rect">
            <a:avLst/>
          </a:prstGeom>
          <a:noFill/>
          <a:ln/>
        </p:spPr>
        <p:txBody>
          <a:bodyPr wrap="square" lIns="0" tIns="0" rIns="0" bIns="0" rtlCol="0" anchor="t"/>
          <a:lstStyle/>
          <a:p>
            <a:pPr indent="0" marL="0">
              <a:buNone/>
            </a:pPr>
            <a:r>
              <a:rPr lang="en-US" sz="1500" dirty="0">
                <a:solidFill>
                  <a:srgbClr val="CFE3DC"/>
                </a:solidFill>
              </a:rPr>
              <a:t>3시간 과정  ·  1교시 50분 · 2교시 50분 · 3교시 60분</a:t>
            </a:r>
            <a:endParaRPr lang="en-US" sz="1500" dirty="0"/>
          </a:p>
        </p:txBody>
      </p:sp>
      <p:sp>
        <p:nvSpPr>
          <p:cNvPr id="9" name="Text 7"/>
          <p:cNvSpPr txBox="1"/>
          <p:nvPr/>
        </p:nvSpPr>
        <p:spPr>
          <a:xfrm>
            <a:off x="548640" y="5669280"/>
            <a:ext cx="5486400" cy="411480"/>
          </a:xfrm>
          <a:prstGeom prst="rect">
            <a:avLst/>
          </a:prstGeom>
          <a:noFill/>
          <a:ln/>
        </p:spPr>
        <p:txBody>
          <a:bodyPr wrap="square" lIns="0" tIns="0" rIns="0" bIns="0" rtlCol="0" anchor="t"/>
          <a:lstStyle/>
          <a:p>
            <a:pPr indent="0" marL="0">
              <a:buNone/>
            </a:pPr>
            <a:r>
              <a:rPr lang="en-US" sz="1800" b="1" dirty="0">
                <a:solidFill>
                  <a:srgbClr val="FFFFFF"/>
                </a:solidFill>
              </a:rPr>
              <a:t>삶잇다협동조합</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과정 안내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WLC 2급 16강 로드맵</a:t>
            </a:r>
            <a:endParaRPr lang="en-US" sz="2800" dirty="0"/>
          </a:p>
        </p:txBody>
      </p:sp>
      <p:sp>
        <p:nvSpPr>
          <p:cNvPr id="4" name="Shape 2"/>
          <p:cNvSpPr/>
          <p:nvPr/>
        </p:nvSpPr>
        <p:spPr>
          <a:xfrm>
            <a:off x="548640" y="1508760"/>
            <a:ext cx="2072579" cy="777240"/>
          </a:xfrm>
          <a:prstGeom prst="roundRect">
            <a:avLst>
              <a:gd name="adj" fmla="val 14118"/>
            </a:avLst>
          </a:prstGeom>
          <a:solidFill>
            <a:srgbClr val="1F4E4A"/>
          </a:solidFill>
          <a:ln w="12700">
            <a:solidFill>
              <a:srgbClr val="1F4E4A"/>
            </a:solidFill>
            <a:prstDash val="solid"/>
          </a:ln>
        </p:spPr>
      </p:sp>
      <p:sp>
        <p:nvSpPr>
          <p:cNvPr id="5" name="Text 3"/>
          <p:cNvSpPr txBox="1"/>
          <p:nvPr/>
        </p:nvSpPr>
        <p:spPr>
          <a:xfrm>
            <a:off x="685800"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제1부
</a:t>
            </a:r>
            <a:pPr indent="0" marL="0">
              <a:buNone/>
            </a:pPr>
            <a:r>
              <a:rPr lang="en-US" sz="1500" b="1" dirty="0">
                <a:solidFill>
                  <a:srgbClr val="FFFFFF"/>
                </a:solidFill>
              </a:rPr>
              <a:t>삶과 죽음을 이해하다</a:t>
            </a:r>
            <a:endParaRPr lang="en-US" sz="1300" dirty="0"/>
          </a:p>
        </p:txBody>
      </p:sp>
      <p:sp>
        <p:nvSpPr>
          <p:cNvPr id="6" name="Shape 4"/>
          <p:cNvSpPr/>
          <p:nvPr/>
        </p:nvSpPr>
        <p:spPr>
          <a:xfrm>
            <a:off x="548640" y="2423160"/>
            <a:ext cx="2072579" cy="731520"/>
          </a:xfrm>
          <a:prstGeom prst="roundRect">
            <a:avLst>
              <a:gd name="adj" fmla="val 15000"/>
            </a:avLst>
          </a:prstGeom>
          <a:solidFill>
            <a:srgbClr val="EAF3F0"/>
          </a:solidFill>
          <a:ln w="12700">
            <a:solidFill>
              <a:srgbClr val="EAF3F0"/>
            </a:solidFill>
            <a:prstDash val="solid"/>
          </a:ln>
        </p:spPr>
      </p:sp>
      <p:sp>
        <p:nvSpPr>
          <p:cNvPr id="7" name="Text 5"/>
          <p:cNvSpPr txBox="1"/>
          <p:nvPr/>
        </p:nvSpPr>
        <p:spPr>
          <a:xfrm>
            <a:off x="685800"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1강  </a:t>
            </a:r>
            <a:pPr indent="0" marL="0">
              <a:buNone/>
            </a:pPr>
            <a:r>
              <a:rPr lang="en-US" sz="1300" dirty="0">
                <a:solidFill>
                  <a:srgbClr val="222222"/>
                </a:solidFill>
              </a:rPr>
              <a:t>죽음을 이해하는 통찰</a:t>
            </a:r>
            <a:endParaRPr lang="en-US" sz="1300" dirty="0"/>
          </a:p>
        </p:txBody>
      </p:sp>
      <p:sp>
        <p:nvSpPr>
          <p:cNvPr id="8" name="Shape 6"/>
          <p:cNvSpPr/>
          <p:nvPr/>
        </p:nvSpPr>
        <p:spPr>
          <a:xfrm>
            <a:off x="548640" y="3264408"/>
            <a:ext cx="2072579" cy="731520"/>
          </a:xfrm>
          <a:prstGeom prst="roundRect">
            <a:avLst>
              <a:gd name="adj" fmla="val 15000"/>
            </a:avLst>
          </a:prstGeom>
          <a:solidFill>
            <a:srgbClr val="EAF3F0"/>
          </a:solidFill>
          <a:ln w="12700">
            <a:solidFill>
              <a:srgbClr val="EAF3F0"/>
            </a:solidFill>
            <a:prstDash val="solid"/>
          </a:ln>
        </p:spPr>
      </p:sp>
      <p:sp>
        <p:nvSpPr>
          <p:cNvPr id="9" name="Text 7"/>
          <p:cNvSpPr txBox="1"/>
          <p:nvPr/>
        </p:nvSpPr>
        <p:spPr>
          <a:xfrm>
            <a:off x="685800"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2강  </a:t>
            </a:r>
            <a:pPr indent="0" marL="0">
              <a:buNone/>
            </a:pPr>
            <a:r>
              <a:rPr lang="en-US" sz="1300" dirty="0">
                <a:solidFill>
                  <a:srgbClr val="222222"/>
                </a:solidFill>
              </a:rPr>
              <a:t>초고령사회와 죽음교육</a:t>
            </a:r>
            <a:endParaRPr lang="en-US" sz="1300" dirty="0"/>
          </a:p>
        </p:txBody>
      </p:sp>
      <p:sp>
        <p:nvSpPr>
          <p:cNvPr id="10" name="Shape 8"/>
          <p:cNvSpPr/>
          <p:nvPr/>
        </p:nvSpPr>
        <p:spPr>
          <a:xfrm>
            <a:off x="548640" y="4105656"/>
            <a:ext cx="2072579" cy="731520"/>
          </a:xfrm>
          <a:prstGeom prst="roundRect">
            <a:avLst>
              <a:gd name="adj" fmla="val 15000"/>
            </a:avLst>
          </a:prstGeom>
          <a:solidFill>
            <a:srgbClr val="EAF3F0"/>
          </a:solidFill>
          <a:ln w="12700">
            <a:solidFill>
              <a:srgbClr val="EAF3F0"/>
            </a:solidFill>
            <a:prstDash val="solid"/>
          </a:ln>
        </p:spPr>
      </p:sp>
      <p:sp>
        <p:nvSpPr>
          <p:cNvPr id="11" name="Text 9"/>
          <p:cNvSpPr txBox="1"/>
          <p:nvPr/>
        </p:nvSpPr>
        <p:spPr>
          <a:xfrm>
            <a:off x="685800"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3강  </a:t>
            </a:r>
            <a:pPr indent="0" marL="0">
              <a:buNone/>
            </a:pPr>
            <a:r>
              <a:rPr lang="en-US" sz="1300" dirty="0">
                <a:solidFill>
                  <a:srgbClr val="222222"/>
                </a:solidFill>
              </a:rPr>
              <a:t>웰빙·웰다잉·엔딩 통합철학</a:t>
            </a:r>
            <a:endParaRPr lang="en-US" sz="1300" dirty="0"/>
          </a:p>
        </p:txBody>
      </p:sp>
      <p:sp>
        <p:nvSpPr>
          <p:cNvPr id="12" name="Shape 10"/>
          <p:cNvSpPr/>
          <p:nvPr/>
        </p:nvSpPr>
        <p:spPr>
          <a:xfrm>
            <a:off x="2804099" y="1508760"/>
            <a:ext cx="2072579" cy="777240"/>
          </a:xfrm>
          <a:prstGeom prst="roundRect">
            <a:avLst>
              <a:gd name="adj" fmla="val 14118"/>
            </a:avLst>
          </a:prstGeom>
          <a:solidFill>
            <a:srgbClr val="1F4E4A"/>
          </a:solidFill>
          <a:ln w="12700">
            <a:solidFill>
              <a:srgbClr val="1F4E4A"/>
            </a:solidFill>
            <a:prstDash val="solid"/>
          </a:ln>
        </p:spPr>
      </p:sp>
      <p:sp>
        <p:nvSpPr>
          <p:cNvPr id="13" name="Text 11"/>
          <p:cNvSpPr txBox="1"/>
          <p:nvPr/>
        </p:nvSpPr>
        <p:spPr>
          <a:xfrm>
            <a:off x="2941259"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제2부
</a:t>
            </a:r>
            <a:pPr indent="0" marL="0">
              <a:buNone/>
            </a:pPr>
            <a:r>
              <a:rPr lang="en-US" sz="1500" b="1" dirty="0">
                <a:solidFill>
                  <a:srgbClr val="FFFFFF"/>
                </a:solidFill>
              </a:rPr>
              <a:t>변화하는 죽음문화</a:t>
            </a:r>
            <a:endParaRPr lang="en-US" sz="1300" dirty="0"/>
          </a:p>
        </p:txBody>
      </p:sp>
      <p:sp>
        <p:nvSpPr>
          <p:cNvPr id="14" name="Shape 12"/>
          <p:cNvSpPr/>
          <p:nvPr/>
        </p:nvSpPr>
        <p:spPr>
          <a:xfrm>
            <a:off x="2804099" y="2423160"/>
            <a:ext cx="2072579" cy="731520"/>
          </a:xfrm>
          <a:prstGeom prst="roundRect">
            <a:avLst>
              <a:gd name="adj" fmla="val 15000"/>
            </a:avLst>
          </a:prstGeom>
          <a:solidFill>
            <a:srgbClr val="EAF3F0"/>
          </a:solidFill>
          <a:ln w="12700">
            <a:solidFill>
              <a:srgbClr val="EAF3F0"/>
            </a:solidFill>
            <a:prstDash val="solid"/>
          </a:ln>
        </p:spPr>
      </p:sp>
      <p:sp>
        <p:nvSpPr>
          <p:cNvPr id="15" name="Text 13"/>
          <p:cNvSpPr txBox="1"/>
          <p:nvPr/>
        </p:nvSpPr>
        <p:spPr>
          <a:xfrm>
            <a:off x="2941259"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4강  </a:t>
            </a:r>
            <a:pPr indent="0" marL="0">
              <a:buNone/>
            </a:pPr>
            <a:r>
              <a:rPr lang="en-US" sz="1300" dirty="0">
                <a:solidFill>
                  <a:srgbClr val="222222"/>
                </a:solidFill>
              </a:rPr>
              <a:t>웰다잉 문화와 엔딩산업</a:t>
            </a:r>
            <a:endParaRPr lang="en-US" sz="1300" dirty="0"/>
          </a:p>
        </p:txBody>
      </p:sp>
      <p:sp>
        <p:nvSpPr>
          <p:cNvPr id="16" name="Shape 14"/>
          <p:cNvSpPr/>
          <p:nvPr/>
        </p:nvSpPr>
        <p:spPr>
          <a:xfrm>
            <a:off x="2804099" y="3264408"/>
            <a:ext cx="2072579" cy="731520"/>
          </a:xfrm>
          <a:prstGeom prst="roundRect">
            <a:avLst>
              <a:gd name="adj" fmla="val 15000"/>
            </a:avLst>
          </a:prstGeom>
          <a:solidFill>
            <a:srgbClr val="EAF3F0"/>
          </a:solidFill>
          <a:ln w="12700">
            <a:solidFill>
              <a:srgbClr val="EAF3F0"/>
            </a:solidFill>
            <a:prstDash val="solid"/>
          </a:ln>
        </p:spPr>
      </p:sp>
      <p:sp>
        <p:nvSpPr>
          <p:cNvPr id="17" name="Text 15"/>
          <p:cNvSpPr txBox="1"/>
          <p:nvPr/>
        </p:nvSpPr>
        <p:spPr>
          <a:xfrm>
            <a:off x="2941259"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5강  </a:t>
            </a:r>
            <a:pPr indent="0" marL="0">
              <a:buNone/>
            </a:pPr>
            <a:r>
              <a:rPr lang="en-US" sz="1300" dirty="0">
                <a:solidFill>
                  <a:srgbClr val="222222"/>
                </a:solidFill>
              </a:rPr>
              <a:t>일본 슈카츠와 세계 웰다잉</a:t>
            </a:r>
            <a:endParaRPr lang="en-US" sz="1300" dirty="0"/>
          </a:p>
        </p:txBody>
      </p:sp>
      <p:sp>
        <p:nvSpPr>
          <p:cNvPr id="18" name="Shape 16"/>
          <p:cNvSpPr/>
          <p:nvPr/>
        </p:nvSpPr>
        <p:spPr>
          <a:xfrm>
            <a:off x="2804099" y="4105656"/>
            <a:ext cx="2072579" cy="731520"/>
          </a:xfrm>
          <a:prstGeom prst="roundRect">
            <a:avLst>
              <a:gd name="adj" fmla="val 15000"/>
            </a:avLst>
          </a:prstGeom>
          <a:solidFill>
            <a:srgbClr val="EAF3F0"/>
          </a:solidFill>
          <a:ln w="12700">
            <a:solidFill>
              <a:srgbClr val="EAF3F0"/>
            </a:solidFill>
            <a:prstDash val="solid"/>
          </a:ln>
        </p:spPr>
      </p:sp>
      <p:sp>
        <p:nvSpPr>
          <p:cNvPr id="19" name="Text 17"/>
          <p:cNvSpPr txBox="1"/>
          <p:nvPr/>
        </p:nvSpPr>
        <p:spPr>
          <a:xfrm>
            <a:off x="2941259"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6강  </a:t>
            </a:r>
            <a:pPr indent="0" marL="0">
              <a:buNone/>
            </a:pPr>
            <a:r>
              <a:rPr lang="en-US" sz="1300" dirty="0">
                <a:solidFill>
                  <a:srgbClr val="222222"/>
                </a:solidFill>
              </a:rPr>
              <a:t>장례·장묘 제도의 변화</a:t>
            </a:r>
            <a:endParaRPr lang="en-US" sz="1300" dirty="0"/>
          </a:p>
        </p:txBody>
      </p:sp>
      <p:sp>
        <p:nvSpPr>
          <p:cNvPr id="20" name="Shape 18"/>
          <p:cNvSpPr/>
          <p:nvPr/>
        </p:nvSpPr>
        <p:spPr>
          <a:xfrm>
            <a:off x="2804099" y="4946904"/>
            <a:ext cx="2072579" cy="731520"/>
          </a:xfrm>
          <a:prstGeom prst="roundRect">
            <a:avLst>
              <a:gd name="adj" fmla="val 15000"/>
            </a:avLst>
          </a:prstGeom>
          <a:solidFill>
            <a:srgbClr val="EAF3F0"/>
          </a:solidFill>
          <a:ln w="12700">
            <a:solidFill>
              <a:srgbClr val="EAF3F0"/>
            </a:solidFill>
            <a:prstDash val="solid"/>
          </a:ln>
        </p:spPr>
      </p:sp>
      <p:sp>
        <p:nvSpPr>
          <p:cNvPr id="21" name="Text 19"/>
          <p:cNvSpPr txBox="1"/>
          <p:nvPr/>
        </p:nvSpPr>
        <p:spPr>
          <a:xfrm>
            <a:off x="2941259"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7강  </a:t>
            </a:r>
            <a:pPr indent="0" marL="0">
              <a:buNone/>
            </a:pPr>
            <a:r>
              <a:rPr lang="en-US" sz="1300" dirty="0">
                <a:solidFill>
                  <a:srgbClr val="222222"/>
                </a:solidFill>
              </a:rPr>
              <a:t>생전정리·유품·디지털 유산</a:t>
            </a:r>
            <a:endParaRPr lang="en-US" sz="1300" dirty="0"/>
          </a:p>
        </p:txBody>
      </p:sp>
      <p:sp>
        <p:nvSpPr>
          <p:cNvPr id="22" name="Shape 20"/>
          <p:cNvSpPr/>
          <p:nvPr/>
        </p:nvSpPr>
        <p:spPr>
          <a:xfrm>
            <a:off x="5059558" y="1508760"/>
            <a:ext cx="2072579" cy="777240"/>
          </a:xfrm>
          <a:prstGeom prst="roundRect">
            <a:avLst>
              <a:gd name="adj" fmla="val 14118"/>
            </a:avLst>
          </a:prstGeom>
          <a:solidFill>
            <a:srgbClr val="1F4E4A"/>
          </a:solidFill>
          <a:ln w="12700">
            <a:solidFill>
              <a:srgbClr val="1F4E4A"/>
            </a:solidFill>
            <a:prstDash val="solid"/>
          </a:ln>
        </p:spPr>
      </p:sp>
      <p:sp>
        <p:nvSpPr>
          <p:cNvPr id="23" name="Text 21"/>
          <p:cNvSpPr txBox="1"/>
          <p:nvPr/>
        </p:nvSpPr>
        <p:spPr>
          <a:xfrm>
            <a:off x="5196718"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제3부
</a:t>
            </a:r>
            <a:pPr indent="0" marL="0">
              <a:buNone/>
            </a:pPr>
            <a:r>
              <a:rPr lang="en-US" sz="1500" b="1" dirty="0">
                <a:solidFill>
                  <a:srgbClr val="FFFFFF"/>
                </a:solidFill>
              </a:rPr>
              <a:t>삶의 존엄을 준비하다</a:t>
            </a:r>
            <a:endParaRPr lang="en-US" sz="1300" dirty="0"/>
          </a:p>
        </p:txBody>
      </p:sp>
      <p:sp>
        <p:nvSpPr>
          <p:cNvPr id="24" name="Shape 22"/>
          <p:cNvSpPr/>
          <p:nvPr/>
        </p:nvSpPr>
        <p:spPr>
          <a:xfrm>
            <a:off x="5059558" y="2423160"/>
            <a:ext cx="2072579" cy="731520"/>
          </a:xfrm>
          <a:prstGeom prst="roundRect">
            <a:avLst>
              <a:gd name="adj" fmla="val 15000"/>
            </a:avLst>
          </a:prstGeom>
          <a:solidFill>
            <a:srgbClr val="EAF3F0"/>
          </a:solidFill>
          <a:ln w="12700">
            <a:solidFill>
              <a:srgbClr val="EAF3F0"/>
            </a:solidFill>
            <a:prstDash val="solid"/>
          </a:ln>
        </p:spPr>
      </p:sp>
      <p:sp>
        <p:nvSpPr>
          <p:cNvPr id="25" name="Text 23"/>
          <p:cNvSpPr txBox="1"/>
          <p:nvPr/>
        </p:nvSpPr>
        <p:spPr>
          <a:xfrm>
            <a:off x="5196718"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8강  </a:t>
            </a:r>
            <a:pPr indent="0" marL="0">
              <a:buNone/>
            </a:pPr>
            <a:r>
              <a:rPr lang="en-US" sz="1300" dirty="0">
                <a:solidFill>
                  <a:srgbClr val="222222"/>
                </a:solidFill>
              </a:rPr>
              <a:t>경제적 웰다잉과 재산 보호</a:t>
            </a:r>
            <a:endParaRPr lang="en-US" sz="1300" dirty="0"/>
          </a:p>
        </p:txBody>
      </p:sp>
      <p:sp>
        <p:nvSpPr>
          <p:cNvPr id="26" name="Shape 24"/>
          <p:cNvSpPr/>
          <p:nvPr/>
        </p:nvSpPr>
        <p:spPr>
          <a:xfrm>
            <a:off x="5059558" y="3264408"/>
            <a:ext cx="2072579" cy="731520"/>
          </a:xfrm>
          <a:prstGeom prst="roundRect">
            <a:avLst>
              <a:gd name="adj" fmla="val 15000"/>
            </a:avLst>
          </a:prstGeom>
          <a:solidFill>
            <a:srgbClr val="EAF3F0"/>
          </a:solidFill>
          <a:ln w="12700">
            <a:solidFill>
              <a:srgbClr val="EAF3F0"/>
            </a:solidFill>
            <a:prstDash val="solid"/>
          </a:ln>
        </p:spPr>
      </p:sp>
      <p:sp>
        <p:nvSpPr>
          <p:cNvPr id="27" name="Text 25"/>
          <p:cNvSpPr txBox="1"/>
          <p:nvPr/>
        </p:nvSpPr>
        <p:spPr>
          <a:xfrm>
            <a:off x="5196718"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9강  </a:t>
            </a:r>
            <a:pPr indent="0" marL="0">
              <a:buNone/>
            </a:pPr>
            <a:r>
              <a:rPr lang="en-US" sz="1300" dirty="0">
                <a:solidFill>
                  <a:srgbClr val="222222"/>
                </a:solidFill>
              </a:rPr>
              <a:t>의료결정·사전돌봄·후견</a:t>
            </a:r>
            <a:endParaRPr lang="en-US" sz="1300" dirty="0"/>
          </a:p>
        </p:txBody>
      </p:sp>
      <p:sp>
        <p:nvSpPr>
          <p:cNvPr id="28" name="Shape 26"/>
          <p:cNvSpPr/>
          <p:nvPr/>
        </p:nvSpPr>
        <p:spPr>
          <a:xfrm>
            <a:off x="5059558" y="4105656"/>
            <a:ext cx="2072579" cy="731520"/>
          </a:xfrm>
          <a:prstGeom prst="roundRect">
            <a:avLst>
              <a:gd name="adj" fmla="val 15000"/>
            </a:avLst>
          </a:prstGeom>
          <a:solidFill>
            <a:srgbClr val="2E7D6B"/>
          </a:solidFill>
          <a:ln w="12700">
            <a:solidFill>
              <a:srgbClr val="2E7D6B"/>
            </a:solidFill>
            <a:prstDash val="solid"/>
          </a:ln>
        </p:spPr>
      </p:sp>
      <p:sp>
        <p:nvSpPr>
          <p:cNvPr id="29" name="Text 27"/>
          <p:cNvSpPr txBox="1"/>
          <p:nvPr/>
        </p:nvSpPr>
        <p:spPr>
          <a:xfrm>
            <a:off x="5196718" y="4151376"/>
            <a:ext cx="1798259" cy="640080"/>
          </a:xfrm>
          <a:prstGeom prst="rect">
            <a:avLst/>
          </a:prstGeom>
          <a:noFill/>
          <a:ln/>
        </p:spPr>
        <p:txBody>
          <a:bodyPr wrap="square" lIns="0" tIns="0" rIns="0" bIns="0" rtlCol="0" anchor="ctr"/>
          <a:lstStyle/>
          <a:p>
            <a:pPr indent="0" marL="0">
              <a:buNone/>
            </a:pPr>
            <a:r>
              <a:rPr lang="en-US" sz="1300" b="1" dirty="0">
                <a:solidFill>
                  <a:srgbClr val="FFFFFF"/>
                </a:solidFill>
              </a:rPr>
              <a:t>10강  </a:t>
            </a:r>
            <a:pPr indent="0" marL="0">
              <a:buNone/>
            </a:pPr>
            <a:r>
              <a:rPr lang="en-US" sz="1300" b="1" dirty="0">
                <a:solidFill>
                  <a:srgbClr val="FFFFFF"/>
                </a:solidFill>
              </a:rPr>
              <a:t>가족소통·생명윤리·갈등중재</a:t>
            </a:r>
            <a:endParaRPr lang="en-US" sz="1300" dirty="0"/>
          </a:p>
        </p:txBody>
      </p:sp>
      <p:sp>
        <p:nvSpPr>
          <p:cNvPr id="30" name="Shape 28"/>
          <p:cNvSpPr/>
          <p:nvPr/>
        </p:nvSpPr>
        <p:spPr>
          <a:xfrm>
            <a:off x="7315017" y="1508760"/>
            <a:ext cx="2072579" cy="777240"/>
          </a:xfrm>
          <a:prstGeom prst="roundRect">
            <a:avLst>
              <a:gd name="adj" fmla="val 14118"/>
            </a:avLst>
          </a:prstGeom>
          <a:solidFill>
            <a:srgbClr val="1F4E4A"/>
          </a:solidFill>
          <a:ln w="12700">
            <a:solidFill>
              <a:srgbClr val="1F4E4A"/>
            </a:solidFill>
            <a:prstDash val="solid"/>
          </a:ln>
        </p:spPr>
      </p:sp>
      <p:sp>
        <p:nvSpPr>
          <p:cNvPr id="31" name="Text 29"/>
          <p:cNvSpPr txBox="1"/>
          <p:nvPr/>
        </p:nvSpPr>
        <p:spPr>
          <a:xfrm>
            <a:off x="7452177"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제4부
</a:t>
            </a:r>
            <a:pPr indent="0" marL="0">
              <a:buNone/>
            </a:pPr>
            <a:r>
              <a:rPr lang="en-US" sz="1500" b="1" dirty="0">
                <a:solidFill>
                  <a:srgbClr val="FFFFFF"/>
                </a:solidFill>
              </a:rPr>
              <a:t>상실과 임종을 동행하다</a:t>
            </a:r>
            <a:endParaRPr lang="en-US" sz="1300" dirty="0"/>
          </a:p>
        </p:txBody>
      </p:sp>
      <p:sp>
        <p:nvSpPr>
          <p:cNvPr id="32" name="Shape 30"/>
          <p:cNvSpPr/>
          <p:nvPr/>
        </p:nvSpPr>
        <p:spPr>
          <a:xfrm>
            <a:off x="7315017" y="2423160"/>
            <a:ext cx="2072579" cy="731520"/>
          </a:xfrm>
          <a:prstGeom prst="roundRect">
            <a:avLst>
              <a:gd name="adj" fmla="val 15000"/>
            </a:avLst>
          </a:prstGeom>
          <a:solidFill>
            <a:srgbClr val="EAF3F0"/>
          </a:solidFill>
          <a:ln w="12700">
            <a:solidFill>
              <a:srgbClr val="EAF3F0"/>
            </a:solidFill>
            <a:prstDash val="solid"/>
          </a:ln>
        </p:spPr>
      </p:sp>
      <p:sp>
        <p:nvSpPr>
          <p:cNvPr id="33" name="Text 31"/>
          <p:cNvSpPr txBox="1"/>
          <p:nvPr/>
        </p:nvSpPr>
        <p:spPr>
          <a:xfrm>
            <a:off x="7452177"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11강  </a:t>
            </a:r>
            <a:pPr indent="0" marL="0">
              <a:buNone/>
            </a:pPr>
            <a:r>
              <a:rPr lang="en-US" sz="1300" dirty="0">
                <a:solidFill>
                  <a:srgbClr val="222222"/>
                </a:solidFill>
              </a:rPr>
              <a:t>상실·애도와 관계회복</a:t>
            </a:r>
            <a:endParaRPr lang="en-US" sz="1300" dirty="0"/>
          </a:p>
        </p:txBody>
      </p:sp>
      <p:sp>
        <p:nvSpPr>
          <p:cNvPr id="34" name="Shape 32"/>
          <p:cNvSpPr/>
          <p:nvPr/>
        </p:nvSpPr>
        <p:spPr>
          <a:xfrm>
            <a:off x="7315017" y="3264408"/>
            <a:ext cx="2072579" cy="731520"/>
          </a:xfrm>
          <a:prstGeom prst="roundRect">
            <a:avLst>
              <a:gd name="adj" fmla="val 15000"/>
            </a:avLst>
          </a:prstGeom>
          <a:solidFill>
            <a:srgbClr val="EAF3F0"/>
          </a:solidFill>
          <a:ln w="12700">
            <a:solidFill>
              <a:srgbClr val="EAF3F0"/>
            </a:solidFill>
            <a:prstDash val="solid"/>
          </a:ln>
        </p:spPr>
      </p:sp>
      <p:sp>
        <p:nvSpPr>
          <p:cNvPr id="35" name="Text 33"/>
          <p:cNvSpPr txBox="1"/>
          <p:nvPr/>
        </p:nvSpPr>
        <p:spPr>
          <a:xfrm>
            <a:off x="7452177"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12강  </a:t>
            </a:r>
            <a:pPr indent="0" marL="0">
              <a:buNone/>
            </a:pPr>
            <a:r>
              <a:rPr lang="en-US" sz="1300" dirty="0">
                <a:solidFill>
                  <a:srgbClr val="222222"/>
                </a:solidFill>
              </a:rPr>
              <a:t>예기치 않은 죽음·재난</a:t>
            </a:r>
            <a:endParaRPr lang="en-US" sz="1300" dirty="0"/>
          </a:p>
        </p:txBody>
      </p:sp>
      <p:sp>
        <p:nvSpPr>
          <p:cNvPr id="36" name="Shape 34"/>
          <p:cNvSpPr/>
          <p:nvPr/>
        </p:nvSpPr>
        <p:spPr>
          <a:xfrm>
            <a:off x="7315017" y="4105656"/>
            <a:ext cx="2072579" cy="731520"/>
          </a:xfrm>
          <a:prstGeom prst="roundRect">
            <a:avLst>
              <a:gd name="adj" fmla="val 15000"/>
            </a:avLst>
          </a:prstGeom>
          <a:solidFill>
            <a:srgbClr val="EAF3F0"/>
          </a:solidFill>
          <a:ln w="12700">
            <a:solidFill>
              <a:srgbClr val="EAF3F0"/>
            </a:solidFill>
            <a:prstDash val="solid"/>
          </a:ln>
        </p:spPr>
      </p:sp>
      <p:sp>
        <p:nvSpPr>
          <p:cNvPr id="37" name="Text 35"/>
          <p:cNvSpPr txBox="1"/>
          <p:nvPr/>
        </p:nvSpPr>
        <p:spPr>
          <a:xfrm>
            <a:off x="7452177" y="4151376"/>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13강  </a:t>
            </a:r>
            <a:pPr indent="0" marL="0">
              <a:buNone/>
            </a:pPr>
            <a:r>
              <a:rPr lang="en-US" sz="1300" dirty="0">
                <a:solidFill>
                  <a:srgbClr val="222222"/>
                </a:solidFill>
              </a:rPr>
              <a:t>임종 단계별 돌봄 실무</a:t>
            </a:r>
            <a:endParaRPr lang="en-US" sz="1300" dirty="0"/>
          </a:p>
        </p:txBody>
      </p:sp>
      <p:sp>
        <p:nvSpPr>
          <p:cNvPr id="38" name="Shape 36"/>
          <p:cNvSpPr/>
          <p:nvPr/>
        </p:nvSpPr>
        <p:spPr>
          <a:xfrm>
            <a:off x="7315017" y="4946904"/>
            <a:ext cx="2072579" cy="731520"/>
          </a:xfrm>
          <a:prstGeom prst="roundRect">
            <a:avLst>
              <a:gd name="adj" fmla="val 15000"/>
            </a:avLst>
          </a:prstGeom>
          <a:solidFill>
            <a:srgbClr val="EAF3F0"/>
          </a:solidFill>
          <a:ln w="12700">
            <a:solidFill>
              <a:srgbClr val="EAF3F0"/>
            </a:solidFill>
            <a:prstDash val="solid"/>
          </a:ln>
        </p:spPr>
      </p:sp>
      <p:sp>
        <p:nvSpPr>
          <p:cNvPr id="39" name="Text 37"/>
          <p:cNvSpPr txBox="1"/>
          <p:nvPr/>
        </p:nvSpPr>
        <p:spPr>
          <a:xfrm>
            <a:off x="7452177" y="4992624"/>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14강  </a:t>
            </a:r>
            <a:pPr indent="0" marL="0">
              <a:buNone/>
            </a:pPr>
            <a:r>
              <a:rPr lang="en-US" sz="1300" dirty="0">
                <a:solidFill>
                  <a:srgbClr val="222222"/>
                </a:solidFill>
              </a:rPr>
              <a:t>사망 직후 초기지원</a:t>
            </a:r>
            <a:endParaRPr lang="en-US" sz="1300" dirty="0"/>
          </a:p>
        </p:txBody>
      </p:sp>
      <p:sp>
        <p:nvSpPr>
          <p:cNvPr id="40" name="Shape 38"/>
          <p:cNvSpPr/>
          <p:nvPr/>
        </p:nvSpPr>
        <p:spPr>
          <a:xfrm>
            <a:off x="9570476" y="1508760"/>
            <a:ext cx="2072579" cy="777240"/>
          </a:xfrm>
          <a:prstGeom prst="roundRect">
            <a:avLst>
              <a:gd name="adj" fmla="val 14118"/>
            </a:avLst>
          </a:prstGeom>
          <a:solidFill>
            <a:srgbClr val="1F4E4A"/>
          </a:solidFill>
          <a:ln w="12700">
            <a:solidFill>
              <a:srgbClr val="1F4E4A"/>
            </a:solidFill>
            <a:prstDash val="solid"/>
          </a:ln>
        </p:spPr>
      </p:sp>
      <p:sp>
        <p:nvSpPr>
          <p:cNvPr id="41" name="Text 39"/>
          <p:cNvSpPr txBox="1"/>
          <p:nvPr/>
        </p:nvSpPr>
        <p:spPr>
          <a:xfrm>
            <a:off x="9707636" y="1581912"/>
            <a:ext cx="1798259" cy="658368"/>
          </a:xfrm>
          <a:prstGeom prst="rect">
            <a:avLst/>
          </a:prstGeom>
          <a:noFill/>
          <a:ln/>
        </p:spPr>
        <p:txBody>
          <a:bodyPr wrap="square" lIns="0" tIns="0" rIns="0" bIns="0" rtlCol="0" anchor="ctr"/>
          <a:lstStyle/>
          <a:p>
            <a:pPr indent="0" marL="0">
              <a:buNone/>
            </a:pPr>
            <a:r>
              <a:rPr lang="en-US" sz="1300" b="1" dirty="0">
                <a:solidFill>
                  <a:srgbClr val="A8C5BC"/>
                </a:solidFill>
              </a:rPr>
              <a:t>제5부
</a:t>
            </a:r>
            <a:pPr indent="0" marL="0">
              <a:buNone/>
            </a:pPr>
            <a:r>
              <a:rPr lang="en-US" sz="1500" b="1" dirty="0">
                <a:solidFill>
                  <a:srgbClr val="FFFFFF"/>
                </a:solidFill>
              </a:rPr>
              <a:t>WLC로 활동하다</a:t>
            </a:r>
            <a:endParaRPr lang="en-US" sz="1300" dirty="0"/>
          </a:p>
        </p:txBody>
      </p:sp>
      <p:sp>
        <p:nvSpPr>
          <p:cNvPr id="42" name="Shape 40"/>
          <p:cNvSpPr/>
          <p:nvPr/>
        </p:nvSpPr>
        <p:spPr>
          <a:xfrm>
            <a:off x="9570476" y="2423160"/>
            <a:ext cx="2072579" cy="731520"/>
          </a:xfrm>
          <a:prstGeom prst="roundRect">
            <a:avLst>
              <a:gd name="adj" fmla="val 15000"/>
            </a:avLst>
          </a:prstGeom>
          <a:solidFill>
            <a:srgbClr val="EAF3F0"/>
          </a:solidFill>
          <a:ln w="12700">
            <a:solidFill>
              <a:srgbClr val="EAF3F0"/>
            </a:solidFill>
            <a:prstDash val="solid"/>
          </a:ln>
        </p:spPr>
      </p:sp>
      <p:sp>
        <p:nvSpPr>
          <p:cNvPr id="43" name="Text 41"/>
          <p:cNvSpPr txBox="1"/>
          <p:nvPr/>
        </p:nvSpPr>
        <p:spPr>
          <a:xfrm>
            <a:off x="9707636" y="2468880"/>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15강  </a:t>
            </a:r>
            <a:pPr indent="0" marL="0">
              <a:buNone/>
            </a:pPr>
            <a:r>
              <a:rPr lang="en-US" sz="1300" dirty="0">
                <a:solidFill>
                  <a:srgbClr val="222222"/>
                </a:solidFill>
              </a:rPr>
              <a:t>WLC 코칭 실무·교육 운영</a:t>
            </a:r>
            <a:endParaRPr lang="en-US" sz="1300" dirty="0"/>
          </a:p>
        </p:txBody>
      </p:sp>
      <p:sp>
        <p:nvSpPr>
          <p:cNvPr id="44" name="Shape 42"/>
          <p:cNvSpPr/>
          <p:nvPr/>
        </p:nvSpPr>
        <p:spPr>
          <a:xfrm>
            <a:off x="9570476" y="3264408"/>
            <a:ext cx="2072579" cy="731520"/>
          </a:xfrm>
          <a:prstGeom prst="roundRect">
            <a:avLst>
              <a:gd name="adj" fmla="val 15000"/>
            </a:avLst>
          </a:prstGeom>
          <a:solidFill>
            <a:srgbClr val="EAF3F0"/>
          </a:solidFill>
          <a:ln w="12700">
            <a:solidFill>
              <a:srgbClr val="EAF3F0"/>
            </a:solidFill>
            <a:prstDash val="solid"/>
          </a:ln>
        </p:spPr>
      </p:sp>
      <p:sp>
        <p:nvSpPr>
          <p:cNvPr id="45" name="Text 43"/>
          <p:cNvSpPr txBox="1"/>
          <p:nvPr/>
        </p:nvSpPr>
        <p:spPr>
          <a:xfrm>
            <a:off x="9707636" y="3310128"/>
            <a:ext cx="1798259" cy="640080"/>
          </a:xfrm>
          <a:prstGeom prst="rect">
            <a:avLst/>
          </a:prstGeom>
          <a:noFill/>
          <a:ln/>
        </p:spPr>
        <p:txBody>
          <a:bodyPr wrap="square" lIns="0" tIns="0" rIns="0" bIns="0" rtlCol="0" anchor="ctr"/>
          <a:lstStyle/>
          <a:p>
            <a:pPr indent="0" marL="0">
              <a:buNone/>
            </a:pPr>
            <a:r>
              <a:rPr lang="en-US" sz="1300" b="1" dirty="0">
                <a:solidFill>
                  <a:srgbClr val="2E7D6B"/>
                </a:solidFill>
              </a:rPr>
              <a:t>16강  </a:t>
            </a:r>
            <a:pPr indent="0" marL="0">
              <a:buNone/>
            </a:pPr>
            <a:r>
              <a:rPr lang="en-US" sz="1300" dirty="0">
                <a:solidFill>
                  <a:srgbClr val="222222"/>
                </a:solidFill>
              </a:rPr>
              <a:t>전문직 윤리·자격검정</a:t>
            </a:r>
            <a:endParaRPr lang="en-US" sz="13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오늘의 3시간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오늘은 이렇게 진행합니다</a:t>
            </a:r>
            <a:endParaRPr lang="en-US" sz="2800" dirty="0"/>
          </a:p>
        </p:txBody>
      </p:sp>
      <p:sp>
        <p:nvSpPr>
          <p:cNvPr id="4" name="Shape 2"/>
          <p:cNvSpPr/>
          <p:nvPr/>
        </p:nvSpPr>
        <p:spPr>
          <a:xfrm>
            <a:off x="548640" y="1737360"/>
            <a:ext cx="3026918" cy="1051560"/>
          </a:xfrm>
          <a:prstGeom prst="roundRect">
            <a:avLst>
              <a:gd name="adj" fmla="val 10435"/>
            </a:avLst>
          </a:prstGeom>
          <a:solidFill>
            <a:srgbClr val="1F4E4A"/>
          </a:solidFill>
          <a:ln w="12700">
            <a:solidFill>
              <a:srgbClr val="1F4E4A"/>
            </a:solidFill>
            <a:prstDash val="solid"/>
          </a:ln>
        </p:spPr>
      </p:sp>
      <p:sp>
        <p:nvSpPr>
          <p:cNvPr id="5" name="Text 3"/>
          <p:cNvSpPr txBox="1"/>
          <p:nvPr/>
        </p:nvSpPr>
        <p:spPr>
          <a:xfrm>
            <a:off x="640080"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1교시</a:t>
            </a:r>
            <a:endParaRPr lang="en-US" sz="2000" dirty="0"/>
          </a:p>
          <a:p>
            <a:pPr algn="ctr" indent="0" marL="0">
              <a:buNone/>
            </a:pPr>
            <a:r>
              <a:rPr lang="en-US" sz="1500" dirty="0">
                <a:solidFill>
                  <a:srgbClr val="CFE3DC"/>
                </a:solidFill>
              </a:rPr>
              <a:t>50분</a:t>
            </a:r>
            <a:endParaRPr lang="en-US" sz="2000" dirty="0"/>
          </a:p>
        </p:txBody>
      </p:sp>
      <p:sp>
        <p:nvSpPr>
          <p:cNvPr id="6" name="Text 4"/>
          <p:cNvSpPr txBox="1"/>
          <p:nvPr/>
        </p:nvSpPr>
        <p:spPr>
          <a:xfrm>
            <a:off x="594360"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듣고 말하는 기술
</a:t>
            </a:r>
            <a:pPr indent="0" marL="0">
              <a:buNone/>
            </a:pPr>
            <a:r>
              <a:rPr lang="en-US" sz="2000" dirty="0">
                <a:solidFill>
                  <a:srgbClr val="222222"/>
                </a:solidFill>
              </a:rPr>
              <a:t>과제 나눔·오프닝 질문</a:t>
            </a:r>
            <a:endParaRPr lang="en-US" sz="2200" dirty="0"/>
          </a:p>
          <a:p>
            <a:pPr indent="0" marL="0">
              <a:buNone/>
            </a:pPr>
            <a:r>
              <a:rPr lang="en-US" sz="2000" dirty="0">
                <a:solidFill>
                  <a:srgbClr val="222222"/>
                </a:solidFill>
              </a:rPr>
              <a:t>갈등을 보는 프레임·적극적 경청</a:t>
            </a:r>
            <a:endParaRPr lang="en-US" sz="2200" dirty="0"/>
          </a:p>
          <a:p>
            <a:pPr indent="0" marL="0">
              <a:buNone/>
            </a:pPr>
            <a:r>
              <a:rPr lang="en-US" sz="2000" dirty="0">
                <a:solidFill>
                  <a:srgbClr val="222222"/>
                </a:solidFill>
              </a:rPr>
              <a:t>I-Message·입장 아래의 욕구</a:t>
            </a:r>
            <a:endParaRPr lang="en-US" sz="2200" dirty="0"/>
          </a:p>
        </p:txBody>
      </p:sp>
      <p:sp>
        <p:nvSpPr>
          <p:cNvPr id="7" name="Shape 5"/>
          <p:cNvSpPr/>
          <p:nvPr/>
        </p:nvSpPr>
        <p:spPr>
          <a:xfrm>
            <a:off x="3630422" y="1737360"/>
            <a:ext cx="561492" cy="1051560"/>
          </a:xfrm>
          <a:prstGeom prst="roundRect">
            <a:avLst>
              <a:gd name="adj" fmla="val 19542"/>
            </a:avLst>
          </a:prstGeom>
          <a:solidFill>
            <a:srgbClr val="D9DEDC"/>
          </a:solidFill>
          <a:ln w="12700">
            <a:solidFill>
              <a:srgbClr val="D9DEDC"/>
            </a:solidFill>
            <a:prstDash val="solid"/>
          </a:ln>
        </p:spPr>
      </p:sp>
      <p:sp>
        <p:nvSpPr>
          <p:cNvPr id="8" name="Text 6"/>
          <p:cNvSpPr txBox="1"/>
          <p:nvPr/>
        </p:nvSpPr>
        <p:spPr>
          <a:xfrm>
            <a:off x="3721862"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9" name="Shape 7"/>
          <p:cNvSpPr/>
          <p:nvPr/>
        </p:nvSpPr>
        <p:spPr>
          <a:xfrm>
            <a:off x="4246778" y="1737360"/>
            <a:ext cx="3026918" cy="1051560"/>
          </a:xfrm>
          <a:prstGeom prst="roundRect">
            <a:avLst>
              <a:gd name="adj" fmla="val 10435"/>
            </a:avLst>
          </a:prstGeom>
          <a:solidFill>
            <a:srgbClr val="1F4E4A"/>
          </a:solidFill>
          <a:ln w="12700">
            <a:solidFill>
              <a:srgbClr val="1F4E4A"/>
            </a:solidFill>
            <a:prstDash val="solid"/>
          </a:ln>
        </p:spPr>
      </p:sp>
      <p:sp>
        <p:nvSpPr>
          <p:cNvPr id="10" name="Text 8"/>
          <p:cNvSpPr txBox="1"/>
          <p:nvPr/>
        </p:nvSpPr>
        <p:spPr>
          <a:xfrm>
            <a:off x="4338218" y="1828800"/>
            <a:ext cx="2844038" cy="868680"/>
          </a:xfrm>
          <a:prstGeom prst="rect">
            <a:avLst/>
          </a:prstGeom>
          <a:noFill/>
          <a:ln/>
        </p:spPr>
        <p:txBody>
          <a:bodyPr wrap="square" lIns="0" tIns="0" rIns="0" bIns="0" rtlCol="0" anchor="ctr"/>
          <a:lstStyle/>
          <a:p>
            <a:pPr algn="ctr" indent="0" marL="0">
              <a:buNone/>
            </a:pPr>
            <a:r>
              <a:rPr lang="en-US" sz="2000" b="1" dirty="0">
                <a:solidFill>
                  <a:srgbClr val="FFFFFF"/>
                </a:solidFill>
              </a:rPr>
              <a:t>2교시</a:t>
            </a:r>
            <a:endParaRPr lang="en-US" sz="2000" dirty="0"/>
          </a:p>
          <a:p>
            <a:pPr algn="ctr" indent="0" marL="0">
              <a:buNone/>
            </a:pPr>
            <a:r>
              <a:rPr lang="en-US" sz="1500" dirty="0">
                <a:solidFill>
                  <a:srgbClr val="CFE3DC"/>
                </a:solidFill>
              </a:rPr>
              <a:t>50분</a:t>
            </a:r>
            <a:endParaRPr lang="en-US" sz="2000" dirty="0"/>
          </a:p>
        </p:txBody>
      </p:sp>
      <p:sp>
        <p:nvSpPr>
          <p:cNvPr id="11" name="Text 9"/>
          <p:cNvSpPr txBox="1"/>
          <p:nvPr/>
        </p:nvSpPr>
        <p:spPr>
          <a:xfrm>
            <a:off x="4292498" y="3063240"/>
            <a:ext cx="2935478"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생명윤리와 중재의 원칙
</a:t>
            </a:r>
            <a:pPr indent="0" marL="0">
              <a:buNone/>
            </a:pPr>
            <a:r>
              <a:rPr lang="en-US" sz="2000" dirty="0">
                <a:solidFill>
                  <a:srgbClr val="222222"/>
                </a:solidFill>
              </a:rPr>
              <a:t>생명윤리 네 원칙·개념 구분</a:t>
            </a:r>
            <a:endParaRPr lang="en-US" sz="2200" dirty="0"/>
          </a:p>
          <a:p>
            <a:pPr indent="0" marL="0">
              <a:buNone/>
            </a:pPr>
            <a:r>
              <a:rPr lang="en-US" sz="2000" dirty="0">
                <a:solidFill>
                  <a:srgbClr val="222222"/>
                </a:solidFill>
              </a:rPr>
              <a:t>제17조·제18조·중재 5원칙</a:t>
            </a:r>
            <a:endParaRPr lang="en-US" sz="2200" dirty="0"/>
          </a:p>
          <a:p>
            <a:pPr indent="0" marL="0">
              <a:buNone/>
            </a:pPr>
            <a:r>
              <a:rPr lang="en-US" sz="2000" dirty="0">
                <a:solidFill>
                  <a:srgbClr val="222222"/>
                </a:solidFill>
              </a:rPr>
              <a:t>사실·가치·감정·“죽고 싶다”</a:t>
            </a:r>
            <a:endParaRPr lang="en-US" sz="2200" dirty="0"/>
          </a:p>
        </p:txBody>
      </p:sp>
      <p:sp>
        <p:nvSpPr>
          <p:cNvPr id="12" name="Shape 10"/>
          <p:cNvSpPr/>
          <p:nvPr/>
        </p:nvSpPr>
        <p:spPr>
          <a:xfrm>
            <a:off x="7328560" y="1737360"/>
            <a:ext cx="561492" cy="1051560"/>
          </a:xfrm>
          <a:prstGeom prst="roundRect">
            <a:avLst>
              <a:gd name="adj" fmla="val 19542"/>
            </a:avLst>
          </a:prstGeom>
          <a:solidFill>
            <a:srgbClr val="D9DEDC"/>
          </a:solidFill>
          <a:ln w="12700">
            <a:solidFill>
              <a:srgbClr val="D9DEDC"/>
            </a:solidFill>
            <a:prstDash val="solid"/>
          </a:ln>
        </p:spPr>
      </p:sp>
      <p:sp>
        <p:nvSpPr>
          <p:cNvPr id="13" name="Text 11"/>
          <p:cNvSpPr txBox="1"/>
          <p:nvPr/>
        </p:nvSpPr>
        <p:spPr>
          <a:xfrm>
            <a:off x="7420000" y="1828800"/>
            <a:ext cx="378612" cy="868680"/>
          </a:xfrm>
          <a:prstGeom prst="rect">
            <a:avLst/>
          </a:prstGeom>
          <a:noFill/>
          <a:ln/>
        </p:spPr>
        <p:txBody>
          <a:bodyPr wrap="square" lIns="0" tIns="0" rIns="0" bIns="0" rtlCol="0" anchor="ctr"/>
          <a:lstStyle/>
          <a:p>
            <a:pPr algn="ctr" indent="0" marL="0">
              <a:buNone/>
            </a:pPr>
            <a:r>
              <a:rPr lang="en-US" sz="1300" b="1" dirty="0">
                <a:solidFill>
                  <a:srgbClr val="6B6B6B"/>
                </a:solidFill>
              </a:rPr>
              <a:t>휴식</a:t>
            </a:r>
            <a:endParaRPr lang="en-US" sz="1300" dirty="0"/>
          </a:p>
          <a:p>
            <a:pPr algn="ctr" indent="0" marL="0">
              <a:buNone/>
            </a:pPr>
            <a:r>
              <a:rPr lang="en-US" sz="1200" dirty="0">
                <a:solidFill>
                  <a:srgbClr val="6B6B6B"/>
                </a:solidFill>
              </a:rPr>
              <a:t>10분</a:t>
            </a:r>
            <a:endParaRPr lang="en-US" sz="1300" dirty="0"/>
          </a:p>
        </p:txBody>
      </p:sp>
      <p:sp>
        <p:nvSpPr>
          <p:cNvPr id="14" name="Shape 12"/>
          <p:cNvSpPr/>
          <p:nvPr/>
        </p:nvSpPr>
        <p:spPr>
          <a:xfrm>
            <a:off x="7944917" y="1737360"/>
            <a:ext cx="3643274" cy="1051560"/>
          </a:xfrm>
          <a:prstGeom prst="roundRect">
            <a:avLst>
              <a:gd name="adj" fmla="val 10435"/>
            </a:avLst>
          </a:prstGeom>
          <a:solidFill>
            <a:srgbClr val="1F4E4A"/>
          </a:solidFill>
          <a:ln w="12700">
            <a:solidFill>
              <a:srgbClr val="1F4E4A"/>
            </a:solidFill>
            <a:prstDash val="solid"/>
          </a:ln>
        </p:spPr>
      </p:sp>
      <p:sp>
        <p:nvSpPr>
          <p:cNvPr id="15" name="Text 13"/>
          <p:cNvSpPr txBox="1"/>
          <p:nvPr/>
        </p:nvSpPr>
        <p:spPr>
          <a:xfrm>
            <a:off x="8036357" y="1828800"/>
            <a:ext cx="3460394" cy="868680"/>
          </a:xfrm>
          <a:prstGeom prst="rect">
            <a:avLst/>
          </a:prstGeom>
          <a:noFill/>
          <a:ln/>
        </p:spPr>
        <p:txBody>
          <a:bodyPr wrap="square" lIns="0" tIns="0" rIns="0" bIns="0" rtlCol="0" anchor="ctr"/>
          <a:lstStyle/>
          <a:p>
            <a:pPr algn="ctr" indent="0" marL="0">
              <a:buNone/>
            </a:pPr>
            <a:r>
              <a:rPr lang="en-US" sz="2000" b="1" dirty="0">
                <a:solidFill>
                  <a:srgbClr val="FFFFFF"/>
                </a:solidFill>
              </a:rPr>
              <a:t>3교시</a:t>
            </a:r>
            <a:endParaRPr lang="en-US" sz="2000" dirty="0"/>
          </a:p>
          <a:p>
            <a:pPr algn="ctr" indent="0" marL="0">
              <a:buNone/>
            </a:pPr>
            <a:r>
              <a:rPr lang="en-US" sz="1500" dirty="0">
                <a:solidFill>
                  <a:srgbClr val="CFE3DC"/>
                </a:solidFill>
              </a:rPr>
              <a:t>60분</a:t>
            </a:r>
            <a:endParaRPr lang="en-US" sz="2000" dirty="0"/>
          </a:p>
        </p:txBody>
      </p:sp>
      <p:sp>
        <p:nvSpPr>
          <p:cNvPr id="16" name="Text 14"/>
          <p:cNvSpPr txBox="1"/>
          <p:nvPr/>
        </p:nvSpPr>
        <p:spPr>
          <a:xfrm>
            <a:off x="7990637" y="3063240"/>
            <a:ext cx="3551834" cy="2743200"/>
          </a:xfrm>
          <a:prstGeom prst="rect">
            <a:avLst/>
          </a:prstGeom>
          <a:noFill/>
          <a:ln/>
        </p:spPr>
        <p:txBody>
          <a:bodyPr wrap="square" lIns="0" tIns="0" rIns="0" bIns="0" rtlCol="0" anchor="t"/>
          <a:lstStyle/>
          <a:p>
            <a:pPr indent="0" marL="0">
              <a:spcAft>
                <a:spcPts val="800"/>
              </a:spcAft>
              <a:buNone/>
            </a:pPr>
            <a:r>
              <a:rPr lang="en-US" sz="2200" b="1" dirty="0">
                <a:solidFill>
                  <a:srgbClr val="2E7D6B"/>
                </a:solidFill>
              </a:rPr>
              <a:t>가족회의를 촉진하다
</a:t>
            </a:r>
            <a:pPr indent="0" marL="0">
              <a:buNone/>
            </a:pPr>
            <a:r>
              <a:rPr lang="en-US" sz="2000" dirty="0">
                <a:solidFill>
                  <a:srgbClr val="222222"/>
                </a:solidFill>
              </a:rPr>
              <a:t>코칭 사례 세 가지</a:t>
            </a:r>
            <a:endParaRPr lang="en-US" sz="2200" dirty="0"/>
          </a:p>
          <a:p>
            <a:pPr indent="0" marL="0">
              <a:buNone/>
            </a:pPr>
            <a:r>
              <a:rPr lang="en-US" sz="2000" dirty="0">
                <a:solidFill>
                  <a:srgbClr val="222222"/>
                </a:solidFill>
              </a:rPr>
              <a:t>바꿔 말하기·분리 연습</a:t>
            </a:r>
            <a:endParaRPr lang="en-US" sz="2200" dirty="0"/>
          </a:p>
          <a:p>
            <a:pPr indent="0" marL="0">
              <a:buNone/>
            </a:pPr>
            <a:r>
              <a:rPr lang="en-US" sz="2000" dirty="0">
                <a:solidFill>
                  <a:srgbClr val="222222"/>
                </a:solidFill>
              </a:rPr>
              <a:t>20분 가족회의 시뮬레이션</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과제 나눔</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내 뜻을 설명해 줄 사람에게 말해 보셨나요?</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000" b="1" dirty="0">
                <a:solidFill>
                  <a:srgbClr val="1F4E4A"/>
                </a:solidFill>
              </a:rPr>
              <a:t>9강 과제 — 30일 프로젝트 3주차(디지털 한 분야), 의료·돌봄 연결망, 가족대화 스크립트로 이야기하기</a:t>
            </a:r>
            <a:endParaRPr lang="en-US" sz="20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짝과 2분씩 가족대화 경험을 나눕니다.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상대의 반응 중 예상과 달랐던 것을 말합니다.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대화가 막혔던 순간이 있었다면 그 장면을 기억해 둡니다.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5분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대화가 막혔던 장면 1개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지난 시간 돌아보기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제9강에서 가져올 세 문장</a:t>
            </a:r>
            <a:endParaRPr lang="en-US" sz="2800" dirty="0"/>
          </a:p>
        </p:txBody>
      </p:sp>
      <p:sp>
        <p:nvSpPr>
          <p:cNvPr id="4" name="Shape 2"/>
          <p:cNvSpPr/>
          <p:nvPr/>
        </p:nvSpPr>
        <p:spPr>
          <a:xfrm>
            <a:off x="548640" y="1554480"/>
            <a:ext cx="3515258" cy="352044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sp>
        <p:nvSpPr>
          <p:cNvPr id="6" name="Text 4"/>
          <p:cNvSpPr txBox="1"/>
          <p:nvPr/>
        </p:nvSpPr>
        <p:spPr>
          <a:xfrm>
            <a:off x="777240"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7" name="Text 5"/>
          <p:cNvSpPr txBox="1"/>
          <p:nvPr/>
        </p:nvSpPr>
        <p:spPr>
          <a:xfrm>
            <a:off x="777240"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치료 목표의 전환</a:t>
            </a:r>
            <a:endParaRPr lang="en-US" sz="2200" dirty="0"/>
          </a:p>
          <a:p>
            <a:pPr indent="0" marL="0">
              <a:buNone/>
            </a:pPr>
            <a:r>
              <a:rPr lang="en-US" sz="2200" dirty="0">
                <a:solidFill>
                  <a:srgbClr val="222222"/>
                </a:solidFill>
              </a:rPr>
              <a:t>연명의료중단은 치료 포기가 아닙니다.</a:t>
            </a:r>
            <a:endParaRPr lang="en-US" sz="2200" dirty="0"/>
          </a:p>
        </p:txBody>
      </p:sp>
      <p:sp>
        <p:nvSpPr>
          <p:cNvPr id="8" name="Shape 6"/>
          <p:cNvSpPr/>
          <p:nvPr/>
        </p:nvSpPr>
        <p:spPr>
          <a:xfrm>
            <a:off x="4338218" y="1554480"/>
            <a:ext cx="3515258" cy="3520440"/>
          </a:xfrm>
          <a:prstGeom prst="roundRect">
            <a:avLst>
              <a:gd name="adj" fmla="val 3121"/>
            </a:avLst>
          </a:prstGeom>
          <a:solidFill>
            <a:srgbClr val="EAF3F0"/>
          </a:solidFill>
          <a:ln w="12700">
            <a:solidFill>
              <a:srgbClr val="EAF3F0"/>
            </a:solidFill>
            <a:prstDash val="solid"/>
          </a:ln>
        </p:spPr>
      </p:sp>
      <p:sp>
        <p:nvSpPr>
          <p:cNvPr id="9" name="Shape 7"/>
          <p:cNvSpPr/>
          <p:nvPr/>
        </p:nvSpPr>
        <p:spPr>
          <a:xfrm>
            <a:off x="4566818" y="1783080"/>
            <a:ext cx="548640" cy="548640"/>
          </a:xfrm>
          <a:prstGeom prst="ellipse">
            <a:avLst/>
          </a:prstGeom>
          <a:solidFill>
            <a:srgbClr val="2E7D6B"/>
          </a:solidFill>
          <a:ln w="12700">
            <a:solidFill>
              <a:srgbClr val="2E7D6B"/>
            </a:solidFill>
            <a:prstDash val="solid"/>
          </a:ln>
        </p:spPr>
      </p:sp>
      <p:sp>
        <p:nvSpPr>
          <p:cNvPr id="10" name="Text 8"/>
          <p:cNvSpPr txBox="1"/>
          <p:nvPr/>
        </p:nvSpPr>
        <p:spPr>
          <a:xfrm>
            <a:off x="4566818"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1" name="Text 9"/>
          <p:cNvSpPr txBox="1"/>
          <p:nvPr/>
        </p:nvSpPr>
        <p:spPr>
          <a:xfrm>
            <a:off x="4566818"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환자의 뜻이 중심</a:t>
            </a:r>
            <a:endParaRPr lang="en-US" sz="2200" dirty="0"/>
          </a:p>
          <a:p>
            <a:pPr indent="0" marL="0">
              <a:buNone/>
            </a:pPr>
            <a:r>
              <a:rPr lang="en-US" sz="2200" dirty="0">
                <a:solidFill>
                  <a:srgbClr val="222222"/>
                </a:solidFill>
              </a:rPr>
              <a:t>제17조는 뜻의 확인, 제18조는 예외적 결정.</a:t>
            </a:r>
            <a:endParaRPr lang="en-US" sz="2200" dirty="0"/>
          </a:p>
        </p:txBody>
      </p:sp>
      <p:sp>
        <p:nvSpPr>
          <p:cNvPr id="12" name="Shape 10"/>
          <p:cNvSpPr/>
          <p:nvPr/>
        </p:nvSpPr>
        <p:spPr>
          <a:xfrm>
            <a:off x="8127797" y="1554480"/>
            <a:ext cx="3515258" cy="3520440"/>
          </a:xfrm>
          <a:prstGeom prst="roundRect">
            <a:avLst>
              <a:gd name="adj" fmla="val 3121"/>
            </a:avLst>
          </a:prstGeom>
          <a:solidFill>
            <a:srgbClr val="EAF3F0"/>
          </a:solidFill>
          <a:ln w="12700">
            <a:solidFill>
              <a:srgbClr val="EAF3F0"/>
            </a:solidFill>
            <a:prstDash val="solid"/>
          </a:ln>
        </p:spPr>
      </p:sp>
      <p:sp>
        <p:nvSpPr>
          <p:cNvPr id="13" name="Shape 11"/>
          <p:cNvSpPr/>
          <p:nvPr/>
        </p:nvSpPr>
        <p:spPr>
          <a:xfrm>
            <a:off x="8356397" y="1783080"/>
            <a:ext cx="548640" cy="548640"/>
          </a:xfrm>
          <a:prstGeom prst="ellipse">
            <a:avLst/>
          </a:prstGeom>
          <a:solidFill>
            <a:srgbClr val="2E7D6B"/>
          </a:solidFill>
          <a:ln w="12700">
            <a:solidFill>
              <a:srgbClr val="2E7D6B"/>
            </a:solidFill>
            <a:prstDash val="solid"/>
          </a:ln>
        </p:spPr>
      </p:sp>
      <p:sp>
        <p:nvSpPr>
          <p:cNvPr id="14" name="Text 12"/>
          <p:cNvSpPr txBox="1"/>
          <p:nvPr/>
        </p:nvSpPr>
        <p:spPr>
          <a:xfrm>
            <a:off x="8356397" y="17830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5" name="Text 13"/>
          <p:cNvSpPr txBox="1"/>
          <p:nvPr/>
        </p:nvSpPr>
        <p:spPr>
          <a:xfrm>
            <a:off x="8356397" y="2468880"/>
            <a:ext cx="3058058" cy="246888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서류보다 대화</a:t>
            </a:r>
            <a:endParaRPr lang="en-US" sz="2200" dirty="0"/>
          </a:p>
          <a:p>
            <a:pPr indent="0" marL="0">
              <a:buNone/>
            </a:pPr>
            <a:r>
              <a:rPr lang="en-US" sz="2200" dirty="0">
                <a:solidFill>
                  <a:srgbClr val="222222"/>
                </a:solidFill>
              </a:rPr>
              <a:t>ACP는 반복되는 대화입니다.</a:t>
            </a:r>
            <a:endParaRPr lang="en-US" sz="2200" dirty="0"/>
          </a:p>
        </p:txBody>
      </p:sp>
      <p:sp>
        <p:nvSpPr>
          <p:cNvPr id="16" name="Shape 14"/>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17" name="Shape 15"/>
          <p:cNvSpPr/>
          <p:nvPr/>
        </p:nvSpPr>
        <p:spPr>
          <a:xfrm>
            <a:off x="777240" y="5509260"/>
            <a:ext cx="457200" cy="457200"/>
          </a:xfrm>
          <a:prstGeom prst="ellipse">
            <a:avLst/>
          </a:prstGeom>
          <a:solidFill>
            <a:srgbClr val="3A6EA5"/>
          </a:solidFill>
          <a:ln w="12700">
            <a:solidFill>
              <a:srgbClr val="3A6EA5"/>
            </a:solidFill>
            <a:prstDash val="solid"/>
          </a:ln>
        </p:spPr>
      </p:sp>
      <p:pic>
        <p:nvPicPr>
          <p:cNvPr id="18"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19"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오늘의 확장   </a:t>
            </a:r>
            <a:pPr indent="0" marL="0">
              <a:buNone/>
            </a:pPr>
            <a:r>
              <a:rPr lang="en-US" sz="1800" dirty="0">
                <a:solidFill>
                  <a:srgbClr val="222222"/>
                </a:solidFill>
              </a:rPr>
              <a:t>법이 정한 절차가 있어도, 가족의 사랑과 두려움이 충돌하면 결정은 멈춥니다. 오늘은 그 충돌을 대화로 바꾸는 법입니다.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234440"/>
            <a:ext cx="7315200" cy="548640"/>
          </a:xfrm>
          <a:prstGeom prst="rect">
            <a:avLst/>
          </a:prstGeom>
          <a:noFill/>
          <a:ln/>
        </p:spPr>
        <p:txBody>
          <a:bodyPr wrap="square" lIns="0" tIns="0" rIns="0" bIns="0" rtlCol="0" anchor="ctr"/>
          <a:lstStyle/>
          <a:p>
            <a:pPr indent="0" marL="0">
              <a:buNone/>
            </a:pPr>
            <a:r>
              <a:rPr lang="en-US" sz="1800" b="1" dirty="0">
                <a:solidFill>
                  <a:srgbClr val="A8C5BC"/>
                </a:solidFill>
              </a:rPr>
              <a:t>오프닝 질문</a:t>
            </a:r>
            <a:endParaRPr lang="en-US" sz="1800" dirty="0"/>
          </a:p>
        </p:txBody>
      </p:sp>
      <p:sp>
        <p:nvSpPr>
          <p:cNvPr id="5" name="Text 2"/>
          <p:cNvSpPr txBox="1"/>
          <p:nvPr/>
        </p:nvSpPr>
        <p:spPr>
          <a:xfrm>
            <a:off x="548640" y="2240280"/>
            <a:ext cx="11094415" cy="1828800"/>
          </a:xfrm>
          <a:prstGeom prst="rect">
            <a:avLst/>
          </a:prstGeom>
          <a:noFill/>
          <a:ln/>
        </p:spPr>
        <p:txBody>
          <a:bodyPr wrap="square" lIns="0" tIns="0" rIns="0" bIns="0" rtlCol="0" anchor="ctr"/>
          <a:lstStyle/>
          <a:p>
            <a:pPr indent="0" marL="0">
              <a:buNone/>
            </a:pPr>
            <a:r>
              <a:rPr lang="en-US" sz="3800" b="1" dirty="0">
                <a:solidFill>
                  <a:srgbClr val="FFFFFF"/>
                </a:solidFill>
              </a:rPr>
              <a:t>“가족과 크게 부딪혔던 순간,</a:t>
            </a:r>
            <a:endParaRPr lang="en-US" sz="3800" dirty="0"/>
          </a:p>
          <a:p>
            <a:pPr indent="0" marL="0">
              <a:buNone/>
            </a:pPr>
            <a:r>
              <a:rPr lang="en-US" sz="3800" b="1" dirty="0">
                <a:solidFill>
                  <a:srgbClr val="FFFFFF"/>
                </a:solidFill>
              </a:rPr>
              <a:t>나는 정말 무엇을</a:t>
            </a:r>
            <a:endParaRPr lang="en-US" sz="3800" dirty="0"/>
          </a:p>
          <a:p>
            <a:pPr indent="0" marL="0">
              <a:buNone/>
            </a:pPr>
            <a:r>
              <a:rPr lang="en-US" sz="3800" b="1" dirty="0">
                <a:solidFill>
                  <a:srgbClr val="FFFFFF"/>
                </a:solidFill>
              </a:rPr>
              <a:t>지키고 싶었나요?”</a:t>
            </a:r>
            <a:endParaRPr lang="en-US" sz="3800" dirty="0"/>
          </a:p>
        </p:txBody>
      </p:sp>
      <p:sp>
        <p:nvSpPr>
          <p:cNvPr id="6" name="Text 3"/>
          <p:cNvSpPr txBox="1"/>
          <p:nvPr/>
        </p:nvSpPr>
        <p:spPr>
          <a:xfrm>
            <a:off x="548640" y="4206240"/>
            <a:ext cx="11094415" cy="548640"/>
          </a:xfrm>
          <a:prstGeom prst="rect">
            <a:avLst/>
          </a:prstGeom>
          <a:noFill/>
          <a:ln/>
        </p:spPr>
        <p:txBody>
          <a:bodyPr wrap="square" lIns="0" tIns="0" rIns="0" bIns="0" rtlCol="0" anchor="t"/>
          <a:lstStyle/>
          <a:p>
            <a:pPr indent="0" marL="0">
              <a:buNone/>
            </a:pPr>
            <a:r>
              <a:rPr lang="en-US" sz="1800" dirty="0">
                <a:solidFill>
                  <a:srgbClr val="CFE3DC"/>
                </a:solidFill>
              </a:rPr>
              <a:t>그때 내가 한 말과, 그 아래에 있던 마음은 같았나요?</a:t>
            </a:r>
            <a:endParaRPr lang="en-US" sz="1800" dirty="0"/>
          </a:p>
        </p:txBody>
      </p:sp>
      <p:sp>
        <p:nvSpPr>
          <p:cNvPr id="7" name="Shape 4"/>
          <p:cNvSpPr/>
          <p:nvPr/>
        </p:nvSpPr>
        <p:spPr>
          <a:xfrm>
            <a:off x="548640" y="4983480"/>
            <a:ext cx="11094415" cy="1051560"/>
          </a:xfrm>
          <a:prstGeom prst="roundRect">
            <a:avLst>
              <a:gd name="adj" fmla="val 10435"/>
            </a:avLst>
          </a:prstGeom>
          <a:solidFill>
            <a:srgbClr val="2A5F5A"/>
          </a:solidFill>
          <a:ln w="12700">
            <a:solidFill>
              <a:srgbClr val="2A5F5A"/>
            </a:solidFill>
            <a:prstDash val="solid"/>
          </a:ln>
        </p:spPr>
      </p:sp>
      <p:sp>
        <p:nvSpPr>
          <p:cNvPr id="8" name="Shape 5"/>
          <p:cNvSpPr/>
          <p:nvPr/>
        </p:nvSpPr>
        <p:spPr>
          <a:xfrm>
            <a:off x="777240" y="5230368"/>
            <a:ext cx="548640" cy="548640"/>
          </a:xfrm>
          <a:prstGeom prst="ellipse">
            <a:avLst/>
          </a:prstGeom>
          <a:solidFill>
            <a:srgbClr val="D98E04"/>
          </a:solidFill>
          <a:ln w="12700">
            <a:solidFill>
              <a:srgbClr val="D98E04"/>
            </a:solidFill>
            <a:prstDash val="solid"/>
          </a:ln>
        </p:spPr>
      </p:sp>
      <p:pic>
        <p:nvPicPr>
          <p:cNvPr id="9" name="Image 1" descr="preencoded.png">    </p:cNvPr>
          <p:cNvPicPr>
            <a:picLocks noChangeAspect="1"/>
          </p:cNvPicPr>
          <p:nvPr/>
        </p:nvPicPr>
        <p:blipFill>
          <a:blip r:embed="rId2"/>
          <a:stretch>
            <a:fillRect/>
          </a:stretch>
        </p:blipFill>
        <p:spPr>
          <a:xfrm>
            <a:off x="919886" y="5373014"/>
            <a:ext cx="263347" cy="263347"/>
          </a:xfrm>
          <a:prstGeom prst="rect">
            <a:avLst/>
          </a:prstGeom>
        </p:spPr>
      </p:pic>
      <p:sp>
        <p:nvSpPr>
          <p:cNvPr id="10" name="Text 6"/>
          <p:cNvSpPr txBox="1"/>
          <p:nvPr/>
        </p:nvSpPr>
        <p:spPr>
          <a:xfrm>
            <a:off x="1554480" y="5074920"/>
            <a:ext cx="9905695" cy="868680"/>
          </a:xfrm>
          <a:prstGeom prst="rect">
            <a:avLst/>
          </a:prstGeom>
          <a:noFill/>
          <a:ln/>
        </p:spPr>
        <p:txBody>
          <a:bodyPr wrap="square" lIns="0" tIns="0" rIns="0" bIns="0" rtlCol="0" anchor="ctr"/>
          <a:lstStyle/>
          <a:p>
            <a:pPr indent="0" marL="0">
              <a:buNone/>
            </a:pPr>
            <a:r>
              <a:rPr lang="en-US" sz="1900" dirty="0">
                <a:solidFill>
                  <a:srgbClr val="FFFFFF"/>
                </a:solidFill>
              </a:rPr>
              <a:t>1분 동안 떠올려 “내가 한 말”과 “그 아래 마음”을 한 줄씩 적습니다. 발표는 하지 않습니다.</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822960"/>
            <a:ext cx="1371600" cy="1280160"/>
          </a:xfrm>
          <a:prstGeom prst="rect">
            <a:avLst/>
          </a:prstGeom>
          <a:noFill/>
          <a:ln/>
        </p:spPr>
        <p:txBody>
          <a:bodyPr wrap="square" lIns="0" tIns="0" rIns="0" bIns="0" rtlCol="0" anchor="t"/>
          <a:lstStyle/>
          <a:p>
            <a:pPr indent="0" marL="0">
              <a:buNone/>
            </a:pPr>
            <a:r>
              <a:rPr lang="en-US" sz="11000" b="1" dirty="0">
                <a:solidFill>
                  <a:srgbClr val="8FB9A8"/>
                </a:solidFill>
              </a:rPr>
              <a:t>“</a:t>
            </a:r>
            <a:endParaRPr lang="en-US" sz="11000" dirty="0"/>
          </a:p>
        </p:txBody>
      </p:sp>
      <p:sp>
        <p:nvSpPr>
          <p:cNvPr id="3" name="Text 1"/>
          <p:cNvSpPr txBox="1"/>
          <p:nvPr/>
        </p:nvSpPr>
        <p:spPr>
          <a:xfrm>
            <a:off x="914400" y="1828800"/>
            <a:ext cx="10362895" cy="1371600"/>
          </a:xfrm>
          <a:prstGeom prst="rect">
            <a:avLst/>
          </a:prstGeom>
          <a:noFill/>
          <a:ln/>
        </p:spPr>
        <p:txBody>
          <a:bodyPr wrap="square" lIns="0" tIns="0" rIns="0" bIns="0" rtlCol="0" anchor="ctr"/>
          <a:lstStyle/>
          <a:p>
            <a:pPr indent="0" marL="0">
              <a:buNone/>
            </a:pPr>
            <a:r>
              <a:rPr lang="en-US" sz="3200" b="1" dirty="0">
                <a:solidFill>
                  <a:srgbClr val="FFFFFF"/>
                </a:solidFill>
              </a:rPr>
              <a:t>갈등을 없애는 것이 중재의 목표가 아니다.</a:t>
            </a:r>
            <a:endParaRPr lang="en-US" sz="3200" dirty="0"/>
          </a:p>
          <a:p>
            <a:pPr indent="0" marL="0">
              <a:buNone/>
            </a:pPr>
            <a:r>
              <a:rPr lang="en-US" sz="3200" b="1" dirty="0">
                <a:solidFill>
                  <a:srgbClr val="FFFFFF"/>
                </a:solidFill>
              </a:rPr>
              <a:t>서로의 두려움을 들을 수 있는 대화로</a:t>
            </a:r>
            <a:endParaRPr lang="en-US" sz="3200" dirty="0"/>
          </a:p>
          <a:p>
            <a:pPr indent="0" marL="0">
              <a:buNone/>
            </a:pPr>
            <a:r>
              <a:rPr lang="en-US" sz="3200" b="1" dirty="0">
                <a:solidFill>
                  <a:srgbClr val="FFFFFF"/>
                </a:solidFill>
              </a:rPr>
              <a:t>바꾸는 것이 목표다.</a:t>
            </a:r>
            <a:endParaRPr lang="en-US" sz="3200" dirty="0"/>
          </a:p>
        </p:txBody>
      </p:sp>
      <p:sp>
        <p:nvSpPr>
          <p:cNvPr id="4" name="Text 2"/>
          <p:cNvSpPr txBox="1"/>
          <p:nvPr/>
        </p:nvSpPr>
        <p:spPr>
          <a:xfrm>
            <a:off x="914400" y="3246120"/>
            <a:ext cx="10362895" cy="411480"/>
          </a:xfrm>
          <a:prstGeom prst="rect">
            <a:avLst/>
          </a:prstGeom>
          <a:noFill/>
          <a:ln/>
        </p:spPr>
        <p:txBody>
          <a:bodyPr wrap="square" lIns="0" tIns="0" rIns="0" bIns="0" rtlCol="0" anchor="t"/>
          <a:lstStyle/>
          <a:p>
            <a:pPr indent="0" marL="0">
              <a:buNone/>
            </a:pPr>
            <a:r>
              <a:rPr lang="en-US" sz="1500" dirty="0">
                <a:solidFill>
                  <a:srgbClr val="A8C5BC"/>
                </a:solidFill>
              </a:rPr>
              <a:t>— WLC 교육 메시지</a:t>
            </a:r>
            <a:endParaRPr lang="en-US" sz="1500" dirty="0"/>
          </a:p>
        </p:txBody>
      </p:sp>
      <p:sp>
        <p:nvSpPr>
          <p:cNvPr id="5" name="Shape 3"/>
          <p:cNvSpPr/>
          <p:nvPr/>
        </p:nvSpPr>
        <p:spPr>
          <a:xfrm>
            <a:off x="548640" y="4206240"/>
            <a:ext cx="11094415" cy="1600200"/>
          </a:xfrm>
          <a:prstGeom prst="roundRect">
            <a:avLst>
              <a:gd name="adj" fmla="val 6857"/>
            </a:avLst>
          </a:prstGeom>
          <a:solidFill>
            <a:srgbClr val="2A5F5A"/>
          </a:solidFill>
          <a:ln w="12700">
            <a:solidFill>
              <a:srgbClr val="2A5F5A"/>
            </a:solidFill>
            <a:prstDash val="solid"/>
          </a:ln>
        </p:spPr>
      </p:sp>
      <p:sp>
        <p:nvSpPr>
          <p:cNvPr id="6" name="Text 4"/>
          <p:cNvSpPr txBox="1"/>
          <p:nvPr/>
        </p:nvSpPr>
        <p:spPr>
          <a:xfrm>
            <a:off x="868680" y="4343400"/>
            <a:ext cx="10454335" cy="1371600"/>
          </a:xfrm>
          <a:prstGeom prst="rect">
            <a:avLst/>
          </a:prstGeom>
          <a:noFill/>
          <a:ln/>
        </p:spPr>
        <p:txBody>
          <a:bodyPr wrap="square" lIns="0" tIns="0" rIns="0" bIns="0" rtlCol="0" anchor="ctr"/>
          <a:lstStyle/>
          <a:p>
            <a:pPr indent="0" marL="0">
              <a:spcAft>
                <a:spcPts val="600"/>
              </a:spcAft>
              <a:buNone/>
            </a:pPr>
            <a:r>
              <a:rPr lang="en-US" sz="1500" b="1" dirty="0">
                <a:solidFill>
                  <a:srgbClr val="8FB9A8"/>
                </a:solidFill>
              </a:rPr>
              <a:t>이 강의의 핵심 메시지
</a:t>
            </a:r>
            <a:pPr indent="0" marL="0">
              <a:buNone/>
            </a:pPr>
            <a:r>
              <a:rPr lang="en-US" sz="1800" dirty="0">
                <a:solidFill>
                  <a:srgbClr val="FFFFFF"/>
                </a:solidFill>
              </a:rPr>
              <a:t>웰다잉 과정의 갈등은 대부분 사랑이 부족해서 생기지 않는다. 가족마다 고인을 지키는 방식, 치료에 대한 기대, 죄책감, 종교와 효도의 의미가 달라서 충돌한다.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학습목표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수업을 마치면 할 수 있는 것</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경청·I-Message </a:t>
            </a:r>
            <a:pPr indent="0" marL="0">
              <a:buNone/>
            </a:pPr>
            <a:r>
              <a:rPr lang="en-US" sz="2200" dirty="0">
                <a:solidFill>
                  <a:srgbClr val="222222"/>
                </a:solidFill>
              </a:rPr>
              <a:t>방어를 낮추는 대화 구조를 활용한다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표면과 아래 </a:t>
            </a:r>
            <a:pPr indent="0" marL="0">
              <a:buNone/>
            </a:pPr>
            <a:r>
              <a:rPr lang="en-US" sz="2200" dirty="0">
                <a:solidFill>
                  <a:srgbClr val="222222"/>
                </a:solidFill>
              </a:rPr>
              <a:t>쟁점 아래의 감정·가치·욕구를 구분한다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생명윤리 </a:t>
            </a:r>
            <a:pPr indent="0" marL="0">
              <a:buNone/>
            </a:pPr>
            <a:r>
              <a:rPr lang="en-US" sz="2200" dirty="0">
                <a:solidFill>
                  <a:srgbClr val="222222"/>
                </a:solidFill>
              </a:rPr>
              <a:t>자율성·선행·악행금지·정의를 사례에 적용한다</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개념 구분 </a:t>
            </a:r>
            <a:pPr indent="0" marL="0">
              <a:buNone/>
            </a:pPr>
            <a:r>
              <a:rPr lang="en-US" sz="2200" dirty="0">
                <a:solidFill>
                  <a:srgbClr val="222222"/>
                </a:solidFill>
              </a:rPr>
              <a:t>연명의료중단·안락사·조력자살을 구분한다</a:t>
            </a:r>
            <a:endParaRPr lang="en-US" sz="2200" dirty="0"/>
          </a:p>
        </p:txBody>
      </p:sp>
      <p:sp>
        <p:nvSpPr>
          <p:cNvPr id="16" name="Shape 14"/>
          <p:cNvSpPr/>
          <p:nvPr/>
        </p:nvSpPr>
        <p:spPr>
          <a:xfrm>
            <a:off x="6233008" y="160020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157276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제17·18조 </a:t>
            </a:r>
            <a:pPr indent="0" marL="0">
              <a:buNone/>
            </a:pPr>
            <a:r>
              <a:rPr lang="en-US" sz="2200" dirty="0">
                <a:solidFill>
                  <a:srgbClr val="222222"/>
                </a:solidFill>
              </a:rPr>
              <a:t>가족갈등 상황에서 정확히 설명한다</a:t>
            </a:r>
            <a:endParaRPr lang="en-US" sz="2200" dirty="0"/>
          </a:p>
        </p:txBody>
      </p:sp>
      <p:sp>
        <p:nvSpPr>
          <p:cNvPr id="19" name="Shape 17"/>
          <p:cNvSpPr/>
          <p:nvPr/>
        </p:nvSpPr>
        <p:spPr>
          <a:xfrm>
            <a:off x="6233008" y="275463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272719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갈등중재 </a:t>
            </a:r>
            <a:pPr indent="0" marL="0">
              <a:buNone/>
            </a:pPr>
            <a:r>
              <a:rPr lang="en-US" sz="2200" dirty="0">
                <a:solidFill>
                  <a:srgbClr val="222222"/>
                </a:solidFill>
              </a:rPr>
              <a:t>환자 자기결정권 중심의 가족회의를 촉진한다</a:t>
            </a:r>
            <a:endParaRPr lang="en-US" sz="2200" dirty="0"/>
          </a:p>
        </p:txBody>
      </p:sp>
      <p:sp>
        <p:nvSpPr>
          <p:cNvPr id="22" name="Shape 20"/>
          <p:cNvSpPr/>
          <p:nvPr/>
        </p:nvSpPr>
        <p:spPr>
          <a:xfrm>
            <a:off x="6233008" y="3909060"/>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388162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“죽고 싶다” </a:t>
            </a:r>
            <a:pPr indent="0" marL="0">
              <a:buNone/>
            </a:pPr>
            <a:r>
              <a:rPr lang="en-US" sz="2200" dirty="0">
                <a:solidFill>
                  <a:srgbClr val="222222"/>
                </a:solidFill>
              </a:rPr>
              <a:t>성급히 해석하지 않고 안전·전문 지원으로 연결</a:t>
            </a:r>
            <a:endParaRPr lang="en-US" sz="2200" dirty="0"/>
          </a:p>
        </p:txBody>
      </p:sp>
      <p:sp>
        <p:nvSpPr>
          <p:cNvPr id="25" name="Shape 23"/>
          <p:cNvSpPr/>
          <p:nvPr/>
        </p:nvSpPr>
        <p:spPr>
          <a:xfrm>
            <a:off x="6233008" y="5063490"/>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5036058"/>
            <a:ext cx="4724248" cy="1081278"/>
          </a:xfrm>
          <a:prstGeom prst="rect">
            <a:avLst/>
          </a:prstGeom>
          <a:noFill/>
          <a:ln/>
        </p:spPr>
        <p:txBody>
          <a:bodyPr wrap="square" lIns="0" tIns="0" rIns="0" bIns="0" rtlCol="0" anchor="t"/>
          <a:lstStyle/>
          <a:p>
            <a:pPr indent="0" marL="0">
              <a:buNone/>
            </a:pPr>
            <a:r>
              <a:rPr lang="en-US" sz="2200" b="1" dirty="0">
                <a:solidFill>
                  <a:srgbClr val="1F4E4A"/>
                </a:solidFill>
              </a:rPr>
              <a:t>역할 경계 </a:t>
            </a:r>
            <a:pPr indent="0" marL="0">
              <a:buNone/>
            </a:pPr>
            <a:r>
              <a:rPr lang="en-US" sz="2200" dirty="0">
                <a:solidFill>
                  <a:srgbClr val="222222"/>
                </a:solidFill>
              </a:rPr>
              <a:t>중립적 촉진자·정보번역자로서의 WLC</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핵심 키워드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오늘 만날 단어들</a:t>
            </a:r>
            <a:endParaRPr lang="en-US" sz="2800" dirty="0"/>
          </a:p>
        </p:txBody>
      </p:sp>
      <p:sp>
        <p:nvSpPr>
          <p:cNvPr id="4" name="Shape 2"/>
          <p:cNvSpPr/>
          <p:nvPr/>
        </p:nvSpPr>
        <p:spPr>
          <a:xfrm>
            <a:off x="548640" y="1691640"/>
            <a:ext cx="1527048" cy="566928"/>
          </a:xfrm>
          <a:prstGeom prst="roundRect">
            <a:avLst>
              <a:gd name="adj" fmla="val 19355"/>
            </a:avLst>
          </a:prstGeom>
          <a:solidFill>
            <a:srgbClr val="2E7D6B"/>
          </a:solidFill>
          <a:ln w="12700">
            <a:solidFill>
              <a:srgbClr val="2E7D6B"/>
            </a:solidFill>
            <a:prstDash val="solid"/>
          </a:ln>
        </p:spPr>
      </p:sp>
      <p:sp>
        <p:nvSpPr>
          <p:cNvPr id="5" name="Text 3"/>
          <p:cNvSpPr txBox="1"/>
          <p:nvPr/>
        </p:nvSpPr>
        <p:spPr>
          <a:xfrm>
            <a:off x="548640" y="1691640"/>
            <a:ext cx="1527048" cy="566928"/>
          </a:xfrm>
          <a:prstGeom prst="rect">
            <a:avLst/>
          </a:prstGeom>
          <a:noFill/>
          <a:ln/>
        </p:spPr>
        <p:txBody>
          <a:bodyPr wrap="square" lIns="0" tIns="0" rIns="0" bIns="0" rtlCol="0" anchor="ctr"/>
          <a:lstStyle/>
          <a:p>
            <a:pPr algn="ctr" indent="0" marL="0">
              <a:buNone/>
            </a:pPr>
            <a:r>
              <a:rPr lang="en-US" sz="1800" b="1" dirty="0">
                <a:solidFill>
                  <a:srgbClr val="FFFFFF"/>
                </a:solidFill>
              </a:rPr>
              <a:t>I-Message</a:t>
            </a:r>
            <a:endParaRPr lang="en-US" sz="1800" dirty="0"/>
          </a:p>
        </p:txBody>
      </p:sp>
      <p:sp>
        <p:nvSpPr>
          <p:cNvPr id="6" name="Shape 4"/>
          <p:cNvSpPr/>
          <p:nvPr/>
        </p:nvSpPr>
        <p:spPr>
          <a:xfrm>
            <a:off x="2276856" y="1691640"/>
            <a:ext cx="1650492" cy="566928"/>
          </a:xfrm>
          <a:prstGeom prst="roundRect">
            <a:avLst>
              <a:gd name="adj" fmla="val 19355"/>
            </a:avLst>
          </a:prstGeom>
          <a:solidFill>
            <a:srgbClr val="2E7D6B"/>
          </a:solidFill>
          <a:ln w="12700">
            <a:solidFill>
              <a:srgbClr val="2E7D6B"/>
            </a:solidFill>
            <a:prstDash val="solid"/>
          </a:ln>
        </p:spPr>
      </p:sp>
      <p:sp>
        <p:nvSpPr>
          <p:cNvPr id="7" name="Text 5"/>
          <p:cNvSpPr txBox="1"/>
          <p:nvPr/>
        </p:nvSpPr>
        <p:spPr>
          <a:xfrm>
            <a:off x="2276856" y="1691640"/>
            <a:ext cx="1650492" cy="566928"/>
          </a:xfrm>
          <a:prstGeom prst="rect">
            <a:avLst/>
          </a:prstGeom>
          <a:noFill/>
          <a:ln/>
        </p:spPr>
        <p:txBody>
          <a:bodyPr wrap="square" lIns="0" tIns="0" rIns="0" bIns="0" rtlCol="0" anchor="ctr"/>
          <a:lstStyle/>
          <a:p>
            <a:pPr algn="ctr" indent="0" marL="0">
              <a:buNone/>
            </a:pPr>
            <a:r>
              <a:rPr lang="en-US" sz="1800" b="1" dirty="0">
                <a:solidFill>
                  <a:srgbClr val="FFFFFF"/>
                </a:solidFill>
              </a:rPr>
              <a:t>적극적 경청</a:t>
            </a:r>
            <a:endParaRPr lang="en-US" sz="1800" dirty="0"/>
          </a:p>
        </p:txBody>
      </p:sp>
      <p:sp>
        <p:nvSpPr>
          <p:cNvPr id="8" name="Shape 6"/>
          <p:cNvSpPr/>
          <p:nvPr/>
        </p:nvSpPr>
        <p:spPr>
          <a:xfrm>
            <a:off x="4128516" y="1691640"/>
            <a:ext cx="886968" cy="566928"/>
          </a:xfrm>
          <a:prstGeom prst="roundRect">
            <a:avLst>
              <a:gd name="adj" fmla="val 19355"/>
            </a:avLst>
          </a:prstGeom>
          <a:solidFill>
            <a:srgbClr val="EAF3F0"/>
          </a:solidFill>
          <a:ln w="12700">
            <a:solidFill>
              <a:srgbClr val="EAF3F0"/>
            </a:solidFill>
            <a:prstDash val="solid"/>
          </a:ln>
        </p:spPr>
      </p:sp>
      <p:sp>
        <p:nvSpPr>
          <p:cNvPr id="9" name="Text 7"/>
          <p:cNvSpPr txBox="1"/>
          <p:nvPr/>
        </p:nvSpPr>
        <p:spPr>
          <a:xfrm>
            <a:off x="4128516"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반영</a:t>
            </a:r>
            <a:endParaRPr lang="en-US" sz="1800" dirty="0"/>
          </a:p>
        </p:txBody>
      </p:sp>
      <p:sp>
        <p:nvSpPr>
          <p:cNvPr id="10" name="Shape 8"/>
          <p:cNvSpPr/>
          <p:nvPr/>
        </p:nvSpPr>
        <p:spPr>
          <a:xfrm>
            <a:off x="5216652" y="1691640"/>
            <a:ext cx="1101852" cy="566928"/>
          </a:xfrm>
          <a:prstGeom prst="roundRect">
            <a:avLst>
              <a:gd name="adj" fmla="val 19355"/>
            </a:avLst>
          </a:prstGeom>
          <a:solidFill>
            <a:srgbClr val="EAF3F0"/>
          </a:solidFill>
          <a:ln w="12700">
            <a:solidFill>
              <a:srgbClr val="EAF3F0"/>
            </a:solidFill>
            <a:prstDash val="solid"/>
          </a:ln>
        </p:spPr>
      </p:sp>
      <p:sp>
        <p:nvSpPr>
          <p:cNvPr id="11" name="Text 9"/>
          <p:cNvSpPr txBox="1"/>
          <p:nvPr/>
        </p:nvSpPr>
        <p:spPr>
          <a:xfrm>
            <a:off x="5216652" y="1691640"/>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재진술</a:t>
            </a:r>
            <a:endParaRPr lang="en-US" sz="1800" dirty="0"/>
          </a:p>
        </p:txBody>
      </p:sp>
      <p:sp>
        <p:nvSpPr>
          <p:cNvPr id="12" name="Shape 10"/>
          <p:cNvSpPr/>
          <p:nvPr/>
        </p:nvSpPr>
        <p:spPr>
          <a:xfrm>
            <a:off x="6519672" y="1691640"/>
            <a:ext cx="886968" cy="566928"/>
          </a:xfrm>
          <a:prstGeom prst="roundRect">
            <a:avLst>
              <a:gd name="adj" fmla="val 19355"/>
            </a:avLst>
          </a:prstGeom>
          <a:solidFill>
            <a:srgbClr val="EAF3F0"/>
          </a:solidFill>
          <a:ln w="12700">
            <a:solidFill>
              <a:srgbClr val="EAF3F0"/>
            </a:solidFill>
            <a:prstDash val="solid"/>
          </a:ln>
        </p:spPr>
      </p:sp>
      <p:sp>
        <p:nvSpPr>
          <p:cNvPr id="13" name="Text 11"/>
          <p:cNvSpPr txBox="1"/>
          <p:nvPr/>
        </p:nvSpPr>
        <p:spPr>
          <a:xfrm>
            <a:off x="6519672"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입장</a:t>
            </a:r>
            <a:endParaRPr lang="en-US" sz="1800" dirty="0"/>
          </a:p>
        </p:txBody>
      </p:sp>
      <p:sp>
        <p:nvSpPr>
          <p:cNvPr id="14" name="Shape 12"/>
          <p:cNvSpPr/>
          <p:nvPr/>
        </p:nvSpPr>
        <p:spPr>
          <a:xfrm>
            <a:off x="7607808" y="1691640"/>
            <a:ext cx="886968" cy="566928"/>
          </a:xfrm>
          <a:prstGeom prst="roundRect">
            <a:avLst>
              <a:gd name="adj" fmla="val 19355"/>
            </a:avLst>
          </a:prstGeom>
          <a:solidFill>
            <a:srgbClr val="EAF3F0"/>
          </a:solidFill>
          <a:ln w="12700">
            <a:solidFill>
              <a:srgbClr val="EAF3F0"/>
            </a:solidFill>
            <a:prstDash val="solid"/>
          </a:ln>
        </p:spPr>
      </p:sp>
      <p:sp>
        <p:nvSpPr>
          <p:cNvPr id="15" name="Text 13"/>
          <p:cNvSpPr txBox="1"/>
          <p:nvPr/>
        </p:nvSpPr>
        <p:spPr>
          <a:xfrm>
            <a:off x="7607808" y="1691640"/>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욕구</a:t>
            </a:r>
            <a:endParaRPr lang="en-US" sz="1800" dirty="0"/>
          </a:p>
        </p:txBody>
      </p:sp>
      <p:sp>
        <p:nvSpPr>
          <p:cNvPr id="16" name="Shape 14"/>
          <p:cNvSpPr/>
          <p:nvPr/>
        </p:nvSpPr>
        <p:spPr>
          <a:xfrm>
            <a:off x="8695944" y="1691640"/>
            <a:ext cx="1531620" cy="566928"/>
          </a:xfrm>
          <a:prstGeom prst="roundRect">
            <a:avLst>
              <a:gd name="adj" fmla="val 19355"/>
            </a:avLst>
          </a:prstGeom>
          <a:solidFill>
            <a:srgbClr val="EAF3F0"/>
          </a:solidFill>
          <a:ln w="12700">
            <a:solidFill>
              <a:srgbClr val="EAF3F0"/>
            </a:solidFill>
            <a:prstDash val="solid"/>
          </a:ln>
        </p:spPr>
      </p:sp>
      <p:sp>
        <p:nvSpPr>
          <p:cNvPr id="17" name="Text 15"/>
          <p:cNvSpPr txBox="1"/>
          <p:nvPr/>
        </p:nvSpPr>
        <p:spPr>
          <a:xfrm>
            <a:off x="8695944" y="1691640"/>
            <a:ext cx="1531620" cy="566928"/>
          </a:xfrm>
          <a:prstGeom prst="rect">
            <a:avLst/>
          </a:prstGeom>
          <a:noFill/>
          <a:ln/>
        </p:spPr>
        <p:txBody>
          <a:bodyPr wrap="square" lIns="0" tIns="0" rIns="0" bIns="0" rtlCol="0" anchor="ctr"/>
          <a:lstStyle/>
          <a:p>
            <a:pPr algn="ctr" indent="0" marL="0">
              <a:buNone/>
            </a:pPr>
            <a:r>
              <a:rPr lang="en-US" sz="1800" dirty="0">
                <a:solidFill>
                  <a:srgbClr val="1F4E4A"/>
                </a:solidFill>
              </a:rPr>
              <a:t>자기결정권</a:t>
            </a:r>
            <a:endParaRPr lang="en-US" sz="1800" dirty="0"/>
          </a:p>
        </p:txBody>
      </p:sp>
      <p:sp>
        <p:nvSpPr>
          <p:cNvPr id="18" name="Shape 16"/>
          <p:cNvSpPr/>
          <p:nvPr/>
        </p:nvSpPr>
        <p:spPr>
          <a:xfrm>
            <a:off x="548640" y="2487168"/>
            <a:ext cx="1316736" cy="566928"/>
          </a:xfrm>
          <a:prstGeom prst="roundRect">
            <a:avLst>
              <a:gd name="adj" fmla="val 19355"/>
            </a:avLst>
          </a:prstGeom>
          <a:solidFill>
            <a:srgbClr val="EAF3F0"/>
          </a:solidFill>
          <a:ln w="12700">
            <a:solidFill>
              <a:srgbClr val="EAF3F0"/>
            </a:solidFill>
            <a:prstDash val="solid"/>
          </a:ln>
        </p:spPr>
      </p:sp>
      <p:sp>
        <p:nvSpPr>
          <p:cNvPr id="19" name="Text 17"/>
          <p:cNvSpPr txBox="1"/>
          <p:nvPr/>
        </p:nvSpPr>
        <p:spPr>
          <a:xfrm>
            <a:off x="548640" y="2487168"/>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생명윤리</a:t>
            </a:r>
            <a:endParaRPr lang="en-US" sz="1800" dirty="0"/>
          </a:p>
        </p:txBody>
      </p:sp>
      <p:sp>
        <p:nvSpPr>
          <p:cNvPr id="20" name="Shape 18"/>
          <p:cNvSpPr/>
          <p:nvPr/>
        </p:nvSpPr>
        <p:spPr>
          <a:xfrm>
            <a:off x="2066544" y="2487168"/>
            <a:ext cx="1101852" cy="566928"/>
          </a:xfrm>
          <a:prstGeom prst="roundRect">
            <a:avLst>
              <a:gd name="adj" fmla="val 19355"/>
            </a:avLst>
          </a:prstGeom>
          <a:solidFill>
            <a:srgbClr val="2E7D6B"/>
          </a:solidFill>
          <a:ln w="12700">
            <a:solidFill>
              <a:srgbClr val="2E7D6B"/>
            </a:solidFill>
            <a:prstDash val="solid"/>
          </a:ln>
        </p:spPr>
      </p:sp>
      <p:sp>
        <p:nvSpPr>
          <p:cNvPr id="21" name="Text 19"/>
          <p:cNvSpPr txBox="1"/>
          <p:nvPr/>
        </p:nvSpPr>
        <p:spPr>
          <a:xfrm>
            <a:off x="2066544" y="2487168"/>
            <a:ext cx="1101852" cy="566928"/>
          </a:xfrm>
          <a:prstGeom prst="rect">
            <a:avLst/>
          </a:prstGeom>
          <a:noFill/>
          <a:ln/>
        </p:spPr>
        <p:txBody>
          <a:bodyPr wrap="square" lIns="0" tIns="0" rIns="0" bIns="0" rtlCol="0" anchor="ctr"/>
          <a:lstStyle/>
          <a:p>
            <a:pPr algn="ctr" indent="0" marL="0">
              <a:buNone/>
            </a:pPr>
            <a:r>
              <a:rPr lang="en-US" sz="1800" b="1" dirty="0">
                <a:solidFill>
                  <a:srgbClr val="FFFFFF"/>
                </a:solidFill>
              </a:rPr>
              <a:t>자율성</a:t>
            </a:r>
            <a:endParaRPr lang="en-US" sz="1800" dirty="0"/>
          </a:p>
        </p:txBody>
      </p:sp>
      <p:sp>
        <p:nvSpPr>
          <p:cNvPr id="22" name="Shape 20"/>
          <p:cNvSpPr/>
          <p:nvPr/>
        </p:nvSpPr>
        <p:spPr>
          <a:xfrm>
            <a:off x="3369564" y="2487168"/>
            <a:ext cx="886968" cy="566928"/>
          </a:xfrm>
          <a:prstGeom prst="roundRect">
            <a:avLst>
              <a:gd name="adj" fmla="val 19355"/>
            </a:avLst>
          </a:prstGeom>
          <a:solidFill>
            <a:srgbClr val="EAF3F0"/>
          </a:solidFill>
          <a:ln w="12700">
            <a:solidFill>
              <a:srgbClr val="EAF3F0"/>
            </a:solidFill>
            <a:prstDash val="solid"/>
          </a:ln>
        </p:spPr>
      </p:sp>
      <p:sp>
        <p:nvSpPr>
          <p:cNvPr id="23" name="Text 21"/>
          <p:cNvSpPr txBox="1"/>
          <p:nvPr/>
        </p:nvSpPr>
        <p:spPr>
          <a:xfrm>
            <a:off x="3369564" y="2487168"/>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선행</a:t>
            </a:r>
            <a:endParaRPr lang="en-US" sz="1800" dirty="0"/>
          </a:p>
        </p:txBody>
      </p:sp>
      <p:sp>
        <p:nvSpPr>
          <p:cNvPr id="24" name="Shape 22"/>
          <p:cNvSpPr/>
          <p:nvPr/>
        </p:nvSpPr>
        <p:spPr>
          <a:xfrm>
            <a:off x="4457700" y="2487168"/>
            <a:ext cx="1316736" cy="566928"/>
          </a:xfrm>
          <a:prstGeom prst="roundRect">
            <a:avLst>
              <a:gd name="adj" fmla="val 19355"/>
            </a:avLst>
          </a:prstGeom>
          <a:solidFill>
            <a:srgbClr val="EAF3F0"/>
          </a:solidFill>
          <a:ln w="12700">
            <a:solidFill>
              <a:srgbClr val="EAF3F0"/>
            </a:solidFill>
            <a:prstDash val="solid"/>
          </a:ln>
        </p:spPr>
      </p:sp>
      <p:sp>
        <p:nvSpPr>
          <p:cNvPr id="25" name="Text 23"/>
          <p:cNvSpPr txBox="1"/>
          <p:nvPr/>
        </p:nvSpPr>
        <p:spPr>
          <a:xfrm>
            <a:off x="4457700" y="2487168"/>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악행금지</a:t>
            </a:r>
            <a:endParaRPr lang="en-US" sz="1800" dirty="0"/>
          </a:p>
        </p:txBody>
      </p:sp>
      <p:sp>
        <p:nvSpPr>
          <p:cNvPr id="26" name="Shape 24"/>
          <p:cNvSpPr/>
          <p:nvPr/>
        </p:nvSpPr>
        <p:spPr>
          <a:xfrm>
            <a:off x="5975604" y="2487168"/>
            <a:ext cx="886968" cy="566928"/>
          </a:xfrm>
          <a:prstGeom prst="roundRect">
            <a:avLst>
              <a:gd name="adj" fmla="val 19355"/>
            </a:avLst>
          </a:prstGeom>
          <a:solidFill>
            <a:srgbClr val="EAF3F0"/>
          </a:solidFill>
          <a:ln w="12700">
            <a:solidFill>
              <a:srgbClr val="EAF3F0"/>
            </a:solidFill>
            <a:prstDash val="solid"/>
          </a:ln>
        </p:spPr>
      </p:sp>
      <p:sp>
        <p:nvSpPr>
          <p:cNvPr id="27" name="Text 25"/>
          <p:cNvSpPr txBox="1"/>
          <p:nvPr/>
        </p:nvSpPr>
        <p:spPr>
          <a:xfrm>
            <a:off x="5975604" y="2487168"/>
            <a:ext cx="886968" cy="566928"/>
          </a:xfrm>
          <a:prstGeom prst="rect">
            <a:avLst/>
          </a:prstGeom>
          <a:noFill/>
          <a:ln/>
        </p:spPr>
        <p:txBody>
          <a:bodyPr wrap="square" lIns="0" tIns="0" rIns="0" bIns="0" rtlCol="0" anchor="ctr"/>
          <a:lstStyle/>
          <a:p>
            <a:pPr algn="ctr" indent="0" marL="0">
              <a:buNone/>
            </a:pPr>
            <a:r>
              <a:rPr lang="en-US" sz="1800" dirty="0">
                <a:solidFill>
                  <a:srgbClr val="1F4E4A"/>
                </a:solidFill>
              </a:rPr>
              <a:t>정의</a:t>
            </a:r>
            <a:endParaRPr lang="en-US" sz="1800" dirty="0"/>
          </a:p>
        </p:txBody>
      </p:sp>
      <p:sp>
        <p:nvSpPr>
          <p:cNvPr id="28" name="Shape 26"/>
          <p:cNvSpPr/>
          <p:nvPr/>
        </p:nvSpPr>
        <p:spPr>
          <a:xfrm>
            <a:off x="7063740" y="2487168"/>
            <a:ext cx="2391156" cy="566928"/>
          </a:xfrm>
          <a:prstGeom prst="roundRect">
            <a:avLst>
              <a:gd name="adj" fmla="val 19355"/>
            </a:avLst>
          </a:prstGeom>
          <a:solidFill>
            <a:srgbClr val="EAF3F0"/>
          </a:solidFill>
          <a:ln w="12700">
            <a:solidFill>
              <a:srgbClr val="EAF3F0"/>
            </a:solidFill>
            <a:prstDash val="solid"/>
          </a:ln>
        </p:spPr>
      </p:sp>
      <p:sp>
        <p:nvSpPr>
          <p:cNvPr id="29" name="Text 27"/>
          <p:cNvSpPr txBox="1"/>
          <p:nvPr/>
        </p:nvSpPr>
        <p:spPr>
          <a:xfrm>
            <a:off x="7063740" y="2487168"/>
            <a:ext cx="2391156" cy="566928"/>
          </a:xfrm>
          <a:prstGeom prst="rect">
            <a:avLst/>
          </a:prstGeom>
          <a:noFill/>
          <a:ln/>
        </p:spPr>
        <p:txBody>
          <a:bodyPr wrap="square" lIns="0" tIns="0" rIns="0" bIns="0" rtlCol="0" anchor="ctr"/>
          <a:lstStyle/>
          <a:p>
            <a:pPr algn="ctr" indent="0" marL="0">
              <a:buNone/>
            </a:pPr>
            <a:r>
              <a:rPr lang="en-US" sz="1800" dirty="0">
                <a:solidFill>
                  <a:srgbClr val="1F4E4A"/>
                </a:solidFill>
              </a:rPr>
              <a:t>연명의료중단등결정</a:t>
            </a:r>
            <a:endParaRPr lang="en-US" sz="1800" dirty="0"/>
          </a:p>
        </p:txBody>
      </p:sp>
      <p:sp>
        <p:nvSpPr>
          <p:cNvPr id="30" name="Shape 28"/>
          <p:cNvSpPr/>
          <p:nvPr/>
        </p:nvSpPr>
        <p:spPr>
          <a:xfrm>
            <a:off x="9656064" y="2487168"/>
            <a:ext cx="1101852" cy="566928"/>
          </a:xfrm>
          <a:prstGeom prst="roundRect">
            <a:avLst>
              <a:gd name="adj" fmla="val 19355"/>
            </a:avLst>
          </a:prstGeom>
          <a:solidFill>
            <a:srgbClr val="EAF3F0"/>
          </a:solidFill>
          <a:ln w="12700">
            <a:solidFill>
              <a:srgbClr val="EAF3F0"/>
            </a:solidFill>
            <a:prstDash val="solid"/>
          </a:ln>
        </p:spPr>
      </p:sp>
      <p:sp>
        <p:nvSpPr>
          <p:cNvPr id="31" name="Text 29"/>
          <p:cNvSpPr txBox="1"/>
          <p:nvPr/>
        </p:nvSpPr>
        <p:spPr>
          <a:xfrm>
            <a:off x="9656064" y="2487168"/>
            <a:ext cx="1101852" cy="566928"/>
          </a:xfrm>
          <a:prstGeom prst="rect">
            <a:avLst/>
          </a:prstGeom>
          <a:noFill/>
          <a:ln/>
        </p:spPr>
        <p:txBody>
          <a:bodyPr wrap="square" lIns="0" tIns="0" rIns="0" bIns="0" rtlCol="0" anchor="ctr"/>
          <a:lstStyle/>
          <a:p>
            <a:pPr algn="ctr" indent="0" marL="0">
              <a:buNone/>
            </a:pPr>
            <a:r>
              <a:rPr lang="en-US" sz="1800" dirty="0">
                <a:solidFill>
                  <a:srgbClr val="1F4E4A"/>
                </a:solidFill>
              </a:rPr>
              <a:t>안락사</a:t>
            </a:r>
            <a:endParaRPr lang="en-US" sz="1800" dirty="0"/>
          </a:p>
        </p:txBody>
      </p:sp>
      <p:sp>
        <p:nvSpPr>
          <p:cNvPr id="32" name="Shape 30"/>
          <p:cNvSpPr/>
          <p:nvPr/>
        </p:nvSpPr>
        <p:spPr>
          <a:xfrm>
            <a:off x="548640" y="3282696"/>
            <a:ext cx="1746504" cy="566928"/>
          </a:xfrm>
          <a:prstGeom prst="roundRect">
            <a:avLst>
              <a:gd name="adj" fmla="val 19355"/>
            </a:avLst>
          </a:prstGeom>
          <a:solidFill>
            <a:srgbClr val="EAF3F0"/>
          </a:solidFill>
          <a:ln w="12700">
            <a:solidFill>
              <a:srgbClr val="EAF3F0"/>
            </a:solidFill>
            <a:prstDash val="solid"/>
          </a:ln>
        </p:spPr>
      </p:sp>
      <p:sp>
        <p:nvSpPr>
          <p:cNvPr id="33" name="Text 31"/>
          <p:cNvSpPr txBox="1"/>
          <p:nvPr/>
        </p:nvSpPr>
        <p:spPr>
          <a:xfrm>
            <a:off x="548640" y="3282696"/>
            <a:ext cx="1746504" cy="566928"/>
          </a:xfrm>
          <a:prstGeom prst="rect">
            <a:avLst/>
          </a:prstGeom>
          <a:noFill/>
          <a:ln/>
        </p:spPr>
        <p:txBody>
          <a:bodyPr wrap="square" lIns="0" tIns="0" rIns="0" bIns="0" rtlCol="0" anchor="ctr"/>
          <a:lstStyle/>
          <a:p>
            <a:pPr algn="ctr" indent="0" marL="0">
              <a:buNone/>
            </a:pPr>
            <a:r>
              <a:rPr lang="en-US" sz="1800" dirty="0">
                <a:solidFill>
                  <a:srgbClr val="1F4E4A"/>
                </a:solidFill>
              </a:rPr>
              <a:t>의사조력자살</a:t>
            </a:r>
            <a:endParaRPr lang="en-US" sz="1800" dirty="0"/>
          </a:p>
        </p:txBody>
      </p:sp>
      <p:sp>
        <p:nvSpPr>
          <p:cNvPr id="34" name="Shape 32"/>
          <p:cNvSpPr/>
          <p:nvPr/>
        </p:nvSpPr>
        <p:spPr>
          <a:xfrm>
            <a:off x="2496312" y="3282696"/>
            <a:ext cx="1316736" cy="566928"/>
          </a:xfrm>
          <a:prstGeom prst="roundRect">
            <a:avLst>
              <a:gd name="adj" fmla="val 19355"/>
            </a:avLst>
          </a:prstGeom>
          <a:solidFill>
            <a:srgbClr val="EAF3F0"/>
          </a:solidFill>
          <a:ln w="12700">
            <a:solidFill>
              <a:srgbClr val="EAF3F0"/>
            </a:solidFill>
            <a:prstDash val="solid"/>
          </a:ln>
        </p:spPr>
      </p:sp>
      <p:sp>
        <p:nvSpPr>
          <p:cNvPr id="35" name="Text 33"/>
          <p:cNvSpPr txBox="1"/>
          <p:nvPr/>
        </p:nvSpPr>
        <p:spPr>
          <a:xfrm>
            <a:off x="2496312" y="3282696"/>
            <a:ext cx="1316736" cy="566928"/>
          </a:xfrm>
          <a:prstGeom prst="rect">
            <a:avLst/>
          </a:prstGeom>
          <a:noFill/>
          <a:ln/>
        </p:spPr>
        <p:txBody>
          <a:bodyPr wrap="square" lIns="0" tIns="0" rIns="0" bIns="0" rtlCol="0" anchor="ctr"/>
          <a:lstStyle/>
          <a:p>
            <a:pPr algn="ctr" indent="0" marL="0">
              <a:buNone/>
            </a:pPr>
            <a:r>
              <a:rPr lang="en-US" sz="1800" dirty="0">
                <a:solidFill>
                  <a:srgbClr val="1F4E4A"/>
                </a:solidFill>
              </a:rPr>
              <a:t>가족진술</a:t>
            </a:r>
            <a:endParaRPr lang="en-US" sz="1800" dirty="0"/>
          </a:p>
        </p:txBody>
      </p:sp>
      <p:sp>
        <p:nvSpPr>
          <p:cNvPr id="36" name="Shape 34"/>
          <p:cNvSpPr/>
          <p:nvPr/>
        </p:nvSpPr>
        <p:spPr>
          <a:xfrm>
            <a:off x="4014216" y="3282696"/>
            <a:ext cx="1865376" cy="566928"/>
          </a:xfrm>
          <a:prstGeom prst="roundRect">
            <a:avLst>
              <a:gd name="adj" fmla="val 19355"/>
            </a:avLst>
          </a:prstGeom>
          <a:solidFill>
            <a:srgbClr val="EAF3F0"/>
          </a:solidFill>
          <a:ln w="12700">
            <a:solidFill>
              <a:srgbClr val="EAF3F0"/>
            </a:solidFill>
            <a:prstDash val="solid"/>
          </a:ln>
        </p:spPr>
      </p:sp>
      <p:sp>
        <p:nvSpPr>
          <p:cNvPr id="37" name="Text 35"/>
          <p:cNvSpPr txBox="1"/>
          <p:nvPr/>
        </p:nvSpPr>
        <p:spPr>
          <a:xfrm>
            <a:off x="4014216" y="3282696"/>
            <a:ext cx="1865376" cy="566928"/>
          </a:xfrm>
          <a:prstGeom prst="rect">
            <a:avLst/>
          </a:prstGeom>
          <a:noFill/>
          <a:ln/>
        </p:spPr>
        <p:txBody>
          <a:bodyPr wrap="square" lIns="0" tIns="0" rIns="0" bIns="0" rtlCol="0" anchor="ctr"/>
          <a:lstStyle/>
          <a:p>
            <a:pPr algn="ctr" indent="0" marL="0">
              <a:buNone/>
            </a:pPr>
            <a:r>
              <a:rPr lang="en-US" sz="1800" dirty="0">
                <a:solidFill>
                  <a:srgbClr val="1F4E4A"/>
                </a:solidFill>
              </a:rPr>
              <a:t>가족 전원합의</a:t>
            </a:r>
            <a:endParaRPr lang="en-US" sz="1800" dirty="0"/>
          </a:p>
        </p:txBody>
      </p:sp>
      <p:sp>
        <p:nvSpPr>
          <p:cNvPr id="38" name="Shape 36"/>
          <p:cNvSpPr/>
          <p:nvPr/>
        </p:nvSpPr>
        <p:spPr>
          <a:xfrm>
            <a:off x="6080760" y="3282696"/>
            <a:ext cx="1316736" cy="566928"/>
          </a:xfrm>
          <a:prstGeom prst="roundRect">
            <a:avLst>
              <a:gd name="adj" fmla="val 19355"/>
            </a:avLst>
          </a:prstGeom>
          <a:solidFill>
            <a:srgbClr val="2E7D6B"/>
          </a:solidFill>
          <a:ln w="12700">
            <a:solidFill>
              <a:srgbClr val="2E7D6B"/>
            </a:solidFill>
            <a:prstDash val="solid"/>
          </a:ln>
        </p:spPr>
      </p:sp>
      <p:sp>
        <p:nvSpPr>
          <p:cNvPr id="39" name="Text 37"/>
          <p:cNvSpPr txBox="1"/>
          <p:nvPr/>
        </p:nvSpPr>
        <p:spPr>
          <a:xfrm>
            <a:off x="6080760" y="3282696"/>
            <a:ext cx="1316736" cy="566928"/>
          </a:xfrm>
          <a:prstGeom prst="rect">
            <a:avLst/>
          </a:prstGeom>
          <a:noFill/>
          <a:ln/>
        </p:spPr>
        <p:txBody>
          <a:bodyPr wrap="square" lIns="0" tIns="0" rIns="0" bIns="0" rtlCol="0" anchor="ctr"/>
          <a:lstStyle/>
          <a:p>
            <a:pPr algn="ctr" indent="0" marL="0">
              <a:buNone/>
            </a:pPr>
            <a:r>
              <a:rPr lang="en-US" sz="1800" b="1" dirty="0">
                <a:solidFill>
                  <a:srgbClr val="FFFFFF"/>
                </a:solidFill>
              </a:rPr>
              <a:t>갈등중재</a:t>
            </a:r>
            <a:endParaRPr lang="en-US" sz="1800" dirty="0"/>
          </a:p>
        </p:txBody>
      </p:sp>
      <p:sp>
        <p:nvSpPr>
          <p:cNvPr id="40" name="Shape 38"/>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41" name="Shape 39"/>
          <p:cNvSpPr/>
          <p:nvPr/>
        </p:nvSpPr>
        <p:spPr>
          <a:xfrm>
            <a:off x="777240" y="5509260"/>
            <a:ext cx="457200" cy="457200"/>
          </a:xfrm>
          <a:prstGeom prst="ellipse">
            <a:avLst/>
          </a:prstGeom>
          <a:solidFill>
            <a:srgbClr val="3A6EA5"/>
          </a:solidFill>
          <a:ln w="12700">
            <a:solidFill>
              <a:srgbClr val="3A6EA5"/>
            </a:solidFill>
            <a:prstDash val="solid"/>
          </a:ln>
        </p:spPr>
      </p:sp>
      <p:pic>
        <p:nvPicPr>
          <p:cNvPr id="42"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43" name="Text 40"/>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시험 포인트   </a:t>
            </a:r>
            <a:pPr indent="0" marL="0">
              <a:buNone/>
            </a:pPr>
            <a:r>
              <a:rPr lang="en-US" sz="1800" dirty="0">
                <a:solidFill>
                  <a:srgbClr val="222222"/>
                </a:solidFill>
              </a:rPr>
              <a:t>I-Message 3단계, 생명윤리 4원칙, 연명의료중단 vs 안락사·조력자살, 중재 5원칙이 자주 나옵니다.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1교시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듣고 말하는 기술</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해결보다 먼저 이해, 비난 대신 경험과 필요</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가족갈등은 누가 더 사랑하는가의 경쟁이 아니다</a:t>
            </a:r>
            <a:endParaRPr lang="en-US" sz="1900" dirty="0"/>
          </a:p>
          <a:p>
            <a:pPr marL="342900" indent="-342900">
              <a:spcAft>
                <a:spcPts val="600"/>
              </a:spcAft>
              <a:buSzPct val="100000"/>
              <a:buChar char="•"/>
            </a:pPr>
            <a:r>
              <a:rPr lang="en-US" sz="1900" dirty="0">
                <a:solidFill>
                  <a:srgbClr val="FFFFFF"/>
                </a:solidFill>
              </a:rPr>
              <a:t>적극적 경청의 다섯 가지 기술</a:t>
            </a:r>
            <a:endParaRPr lang="en-US" sz="1900" dirty="0"/>
          </a:p>
          <a:p>
            <a:pPr marL="342900" indent="-342900">
              <a:spcAft>
                <a:spcPts val="600"/>
              </a:spcAft>
              <a:buSzPct val="100000"/>
              <a:buChar char="•"/>
            </a:pPr>
            <a:r>
              <a:rPr lang="en-US" sz="1900" dirty="0">
                <a:solidFill>
                  <a:srgbClr val="FFFFFF"/>
                </a:solidFill>
              </a:rPr>
              <a:t>I-Message · 입장 아래의 욕구</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1절 갈등을 보는 프레임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표면 아래에, 그리고 중심에</a:t>
            </a:r>
            <a:endParaRPr lang="en-US" sz="2800" dirty="0"/>
          </a:p>
        </p:txBody>
      </p:sp>
      <p:sp>
        <p:nvSpPr>
          <p:cNvPr id="4" name="Shape 2"/>
          <p:cNvSpPr/>
          <p:nvPr/>
        </p:nvSpPr>
        <p:spPr>
          <a:xfrm>
            <a:off x="548640" y="1828800"/>
            <a:ext cx="3484778" cy="2194560"/>
          </a:xfrm>
          <a:prstGeom prst="roundRect">
            <a:avLst>
              <a:gd name="adj" fmla="val 5000"/>
            </a:avLst>
          </a:prstGeom>
          <a:solidFill>
            <a:srgbClr val="EAF3F0"/>
          </a:solidFill>
          <a:ln w="12700">
            <a:solidFill>
              <a:srgbClr val="EAF3F0"/>
            </a:solidFill>
            <a:prstDash val="solid"/>
          </a:ln>
        </p:spPr>
      </p:sp>
      <p:sp>
        <p:nvSpPr>
          <p:cNvPr id="5" name="Shape 3"/>
          <p:cNvSpPr/>
          <p:nvPr/>
        </p:nvSpPr>
        <p:spPr>
          <a:xfrm>
            <a:off x="2062429" y="2011680"/>
            <a:ext cx="457200" cy="457200"/>
          </a:xfrm>
          <a:prstGeom prst="ellipse">
            <a:avLst/>
          </a:prstGeom>
          <a:solidFill>
            <a:srgbClr val="2E7D6B"/>
          </a:solidFill>
          <a:ln w="12700">
            <a:solidFill>
              <a:srgbClr val="2E7D6B"/>
            </a:solidFill>
            <a:prstDash val="solid"/>
          </a:ln>
        </p:spPr>
      </p:sp>
      <p:sp>
        <p:nvSpPr>
          <p:cNvPr id="6" name="Text 4"/>
          <p:cNvSpPr txBox="1"/>
          <p:nvPr/>
        </p:nvSpPr>
        <p:spPr>
          <a:xfrm>
            <a:off x="2062429"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685800" y="2606040"/>
            <a:ext cx="3210458" cy="132588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표면</a:t>
            </a:r>
            <a:endParaRPr lang="en-US" sz="2000" dirty="0"/>
          </a:p>
          <a:p>
            <a:pPr algn="ctr" indent="0" marL="0">
              <a:buNone/>
            </a:pPr>
            <a:r>
              <a:rPr lang="en-US" sz="1800" dirty="0">
                <a:solidFill>
                  <a:srgbClr val="222222"/>
                </a:solidFill>
              </a:rPr>
              <a:t>치료·장례·재산의 의견차이</a:t>
            </a:r>
            <a:endParaRPr lang="en-US" sz="2000" dirty="0"/>
          </a:p>
        </p:txBody>
      </p:sp>
      <p:sp>
        <p:nvSpPr>
          <p:cNvPr id="8" name="Shape 6"/>
          <p:cNvSpPr/>
          <p:nvPr/>
        </p:nvSpPr>
        <p:spPr>
          <a:xfrm rot="5400000">
            <a:off x="4106570" y="2807208"/>
            <a:ext cx="182880" cy="237744"/>
          </a:xfrm>
          <a:prstGeom prst="triangle">
            <a:avLst/>
          </a:prstGeom>
          <a:solidFill>
            <a:srgbClr val="8FB9A8"/>
          </a:solidFill>
          <a:ln w="12700">
            <a:solidFill>
              <a:srgbClr val="8FB9A8"/>
            </a:solidFill>
            <a:prstDash val="solid"/>
          </a:ln>
        </p:spPr>
      </p:sp>
      <p:sp>
        <p:nvSpPr>
          <p:cNvPr id="9" name="Shape 7"/>
          <p:cNvSpPr/>
          <p:nvPr/>
        </p:nvSpPr>
        <p:spPr>
          <a:xfrm>
            <a:off x="4353458" y="1828800"/>
            <a:ext cx="3484778" cy="2194560"/>
          </a:xfrm>
          <a:prstGeom prst="roundRect">
            <a:avLst>
              <a:gd name="adj" fmla="val 5000"/>
            </a:avLst>
          </a:prstGeom>
          <a:solidFill>
            <a:srgbClr val="EAF3F0"/>
          </a:solidFill>
          <a:ln w="12700">
            <a:solidFill>
              <a:srgbClr val="EAF3F0"/>
            </a:solidFill>
            <a:prstDash val="solid"/>
          </a:ln>
        </p:spPr>
      </p:sp>
      <p:sp>
        <p:nvSpPr>
          <p:cNvPr id="10" name="Shape 8"/>
          <p:cNvSpPr/>
          <p:nvPr/>
        </p:nvSpPr>
        <p:spPr>
          <a:xfrm>
            <a:off x="5867248" y="2011680"/>
            <a:ext cx="457200" cy="457200"/>
          </a:xfrm>
          <a:prstGeom prst="ellipse">
            <a:avLst/>
          </a:prstGeom>
          <a:solidFill>
            <a:srgbClr val="2E7D6B"/>
          </a:solidFill>
          <a:ln w="12700">
            <a:solidFill>
              <a:srgbClr val="2E7D6B"/>
            </a:solidFill>
            <a:prstDash val="solid"/>
          </a:ln>
        </p:spPr>
      </p:sp>
      <p:sp>
        <p:nvSpPr>
          <p:cNvPr id="11" name="Text 9"/>
          <p:cNvSpPr txBox="1"/>
          <p:nvPr/>
        </p:nvSpPr>
        <p:spPr>
          <a:xfrm>
            <a:off x="5867248"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4490618" y="2606040"/>
            <a:ext cx="3210458" cy="1325880"/>
          </a:xfrm>
          <a:prstGeom prst="rect">
            <a:avLst/>
          </a:prstGeom>
          <a:noFill/>
          <a:ln/>
        </p:spPr>
        <p:txBody>
          <a:bodyPr wrap="square" lIns="0" tIns="0" rIns="0" bIns="0" rtlCol="0" anchor="t"/>
          <a:lstStyle/>
          <a:p>
            <a:pPr algn="ctr" indent="0" marL="0">
              <a:spcAft>
                <a:spcPts val="400"/>
              </a:spcAft>
              <a:buNone/>
            </a:pPr>
            <a:r>
              <a:rPr lang="en-US" sz="2000" b="1" dirty="0">
                <a:solidFill>
                  <a:srgbClr val="1F4E4A"/>
                </a:solidFill>
              </a:rPr>
              <a:t>그 아래</a:t>
            </a:r>
            <a:endParaRPr lang="en-US" sz="2000" dirty="0"/>
          </a:p>
          <a:p>
            <a:pPr algn="ctr" indent="0" marL="0">
              <a:buNone/>
            </a:pPr>
            <a:r>
              <a:rPr lang="en-US" sz="1800" dirty="0">
                <a:solidFill>
                  <a:srgbClr val="222222"/>
                </a:solidFill>
              </a:rPr>
              <a:t>죄책감·두려움·공정성·효도·책임</a:t>
            </a:r>
            <a:endParaRPr lang="en-US" sz="2000" dirty="0"/>
          </a:p>
        </p:txBody>
      </p:sp>
      <p:sp>
        <p:nvSpPr>
          <p:cNvPr id="13" name="Shape 11"/>
          <p:cNvSpPr/>
          <p:nvPr/>
        </p:nvSpPr>
        <p:spPr>
          <a:xfrm rot="5400000">
            <a:off x="7911389" y="2807208"/>
            <a:ext cx="182880" cy="237744"/>
          </a:xfrm>
          <a:prstGeom prst="triangle">
            <a:avLst/>
          </a:prstGeom>
          <a:solidFill>
            <a:srgbClr val="8FB9A8"/>
          </a:solidFill>
          <a:ln w="12700">
            <a:solidFill>
              <a:srgbClr val="8FB9A8"/>
            </a:solidFill>
            <a:prstDash val="solid"/>
          </a:ln>
        </p:spPr>
      </p:sp>
      <p:sp>
        <p:nvSpPr>
          <p:cNvPr id="14" name="Shape 12"/>
          <p:cNvSpPr/>
          <p:nvPr/>
        </p:nvSpPr>
        <p:spPr>
          <a:xfrm>
            <a:off x="8158277" y="1828800"/>
            <a:ext cx="3484778" cy="2194560"/>
          </a:xfrm>
          <a:prstGeom prst="roundRect">
            <a:avLst>
              <a:gd name="adj" fmla="val 5000"/>
            </a:avLst>
          </a:prstGeom>
          <a:solidFill>
            <a:srgbClr val="2E7D6B"/>
          </a:solidFill>
          <a:ln w="12700">
            <a:solidFill>
              <a:srgbClr val="2E7D6B"/>
            </a:solidFill>
            <a:prstDash val="solid"/>
          </a:ln>
        </p:spPr>
      </p:sp>
      <p:sp>
        <p:nvSpPr>
          <p:cNvPr id="15" name="Shape 13"/>
          <p:cNvSpPr/>
          <p:nvPr/>
        </p:nvSpPr>
        <p:spPr>
          <a:xfrm>
            <a:off x="9672066" y="2011680"/>
            <a:ext cx="457200" cy="457200"/>
          </a:xfrm>
          <a:prstGeom prst="ellipse">
            <a:avLst/>
          </a:prstGeom>
          <a:solidFill>
            <a:srgbClr val="1F4E4A"/>
          </a:solidFill>
          <a:ln w="12700">
            <a:solidFill>
              <a:srgbClr val="1F4E4A"/>
            </a:solidFill>
            <a:prstDash val="solid"/>
          </a:ln>
        </p:spPr>
      </p:sp>
      <p:sp>
        <p:nvSpPr>
          <p:cNvPr id="16" name="Text 14"/>
          <p:cNvSpPr txBox="1"/>
          <p:nvPr/>
        </p:nvSpPr>
        <p:spPr>
          <a:xfrm>
            <a:off x="9672066" y="20116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7" name="Text 15"/>
          <p:cNvSpPr txBox="1"/>
          <p:nvPr/>
        </p:nvSpPr>
        <p:spPr>
          <a:xfrm>
            <a:off x="8295437" y="2606040"/>
            <a:ext cx="3210458" cy="1325880"/>
          </a:xfrm>
          <a:prstGeom prst="rect">
            <a:avLst/>
          </a:prstGeom>
          <a:noFill/>
          <a:ln/>
        </p:spPr>
        <p:txBody>
          <a:bodyPr wrap="square" lIns="0" tIns="0" rIns="0" bIns="0" rtlCol="0" anchor="t"/>
          <a:lstStyle/>
          <a:p>
            <a:pPr algn="ctr" indent="0" marL="0">
              <a:spcAft>
                <a:spcPts val="400"/>
              </a:spcAft>
              <a:buNone/>
            </a:pPr>
            <a:r>
              <a:rPr lang="en-US" sz="2000" b="1" dirty="0">
                <a:solidFill>
                  <a:srgbClr val="FFFFFF"/>
                </a:solidFill>
              </a:rPr>
              <a:t>중심</a:t>
            </a:r>
            <a:endParaRPr lang="en-US" sz="2000" dirty="0"/>
          </a:p>
          <a:p>
            <a:pPr algn="ctr" indent="0" marL="0">
              <a:buNone/>
            </a:pPr>
            <a:r>
              <a:rPr lang="en-US" sz="1800" dirty="0">
                <a:solidFill>
                  <a:srgbClr val="FFFFFF"/>
                </a:solidFill>
              </a:rPr>
              <a:t>환자의 가치와 확인 가능한 의사</a:t>
            </a:r>
            <a:endParaRPr lang="en-US" sz="2000" dirty="0"/>
          </a:p>
        </p:txBody>
      </p:sp>
      <p:sp>
        <p:nvSpPr>
          <p:cNvPr id="18" name="Shape 16"/>
          <p:cNvSpPr/>
          <p:nvPr/>
        </p:nvSpPr>
        <p:spPr>
          <a:xfrm>
            <a:off x="548640" y="4389120"/>
            <a:ext cx="11094415" cy="1783080"/>
          </a:xfrm>
          <a:prstGeom prst="roundRect">
            <a:avLst>
              <a:gd name="adj" fmla="val 6154"/>
            </a:avLst>
          </a:prstGeom>
          <a:solidFill>
            <a:srgbClr val="F3F4F3"/>
          </a:solidFill>
          <a:ln w="12700">
            <a:solidFill>
              <a:srgbClr val="F3F4F3"/>
            </a:solidFill>
            <a:prstDash val="solid"/>
          </a:ln>
        </p:spPr>
      </p:sp>
      <p:sp>
        <p:nvSpPr>
          <p:cNvPr id="19" name="Text 17"/>
          <p:cNvSpPr txBox="1"/>
          <p:nvPr/>
        </p:nvSpPr>
        <p:spPr>
          <a:xfrm>
            <a:off x="822960" y="4553712"/>
            <a:ext cx="10545775" cy="1508760"/>
          </a:xfrm>
          <a:prstGeom prst="rect">
            <a:avLst/>
          </a:prstGeom>
          <a:noFill/>
          <a:ln/>
        </p:spPr>
        <p:txBody>
          <a:bodyPr wrap="square" lIns="0" tIns="0" rIns="0" bIns="0" rtlCol="0" anchor="t"/>
          <a:lstStyle/>
          <a:p>
            <a:pPr marL="342900" indent="-342900">
              <a:spcAft>
                <a:spcPts val="600"/>
              </a:spcAft>
              <a:buSzPct val="100000"/>
              <a:buChar char="•"/>
            </a:pPr>
            <a:r>
              <a:rPr lang="en-US" sz="2000" dirty="0">
                <a:solidFill>
                  <a:srgbClr val="222222"/>
                </a:solidFill>
              </a:rPr>
              <a:t>“끝까지 치료해야 효도다” vs “고통 없이 보내드려야 효도다” — 양쪽 모두 사랑에서 출발할 수 있습니다.</a:t>
            </a:r>
            <a:endParaRPr lang="en-US" sz="2000" dirty="0"/>
          </a:p>
          <a:p>
            <a:pPr marL="342900" indent="-342900">
              <a:spcAft>
                <a:spcPts val="600"/>
              </a:spcAft>
              <a:buSzPct val="100000"/>
              <a:buChar char="•"/>
            </a:pPr>
            <a:r>
              <a:rPr lang="en-US" sz="2000" dirty="0">
                <a:solidFill>
                  <a:srgbClr val="222222"/>
                </a:solidFill>
              </a:rPr>
              <a:t>WLC는 한쪽을 옳다고 판단하지 않고, 대화의 중심을 “누가 이길까”에서 “환자는 무엇을 원했을까”로 옮깁니다.</a:t>
            </a:r>
            <a:endParaRPr lang="en-US" sz="2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2절 적극적 경청</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해결보다 먼저 이해한다 — 다섯 가지 기술</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828800"/>
                <a:gridCol w="6035040"/>
                <a:gridCol w="3200400"/>
              </a:tblGrid>
              <a:tr h="603504">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기술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예시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주의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재진술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“끝까지 치료해야 한다고 생각하시는군요.”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판단을 섞지 않는다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감정 반영</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“치료를 멈추면 아버지를 포기하는 것 같아 두려우신 것 같아요.”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단정하지 않고 확인한다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명료화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“‘최선을 다한다’는 말에서 어떤 치료를 떠올리시나요?”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추궁처럼 묻지 않는다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요약</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“한쪽은 고통을 줄이는 것을, 다른 쪽은 치료기회를 중요하게 보시네요.”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양쪽을 공정하게 담는다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03504">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침묵</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감정이 올라올 때 잠시 기다림</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불편함을 빨리 채우지 않는다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6" name="Shape 3"/>
          <p:cNvSpPr/>
          <p:nvPr/>
        </p:nvSpPr>
        <p:spPr>
          <a:xfrm>
            <a:off x="777240" y="5509260"/>
            <a:ext cx="457200" cy="457200"/>
          </a:xfrm>
          <a:prstGeom prst="ellipse">
            <a:avLst/>
          </a:prstGeom>
          <a:solidFill>
            <a:srgbClr val="2E7D6B"/>
          </a:solidFill>
          <a:ln w="12700">
            <a:solidFill>
              <a:srgbClr val="2E7D6B"/>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핵심   </a:t>
            </a:r>
            <a:pPr indent="0" marL="0">
              <a:buNone/>
            </a:pPr>
            <a:r>
              <a:rPr lang="en-US" sz="1800" dirty="0">
                <a:solidFill>
                  <a:srgbClr val="222222"/>
                </a:solidFill>
              </a:rPr>
              <a:t>적극적 경청은 상대의 주장에 “동의”한다는 뜻이 아니라, 무엇을 느끼고 중요하게 여기는지 “이해”했다고 확인하는 것입니다.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짝 연습</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재진술과 감정 반영</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“형은 아무것도 안 하면서 이제 와서 치료를 끝까지 하자고 해요!”</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731520"/>
          </a:xfrm>
          <a:prstGeom prst="rect">
            <a:avLst/>
          </a:prstGeom>
          <a:noFill/>
          <a:ln/>
        </p:spPr>
        <p:txBody>
          <a:bodyPr wrap="square" lIns="0" tIns="0" rIns="0" bIns="0" rtlCol="0" anchor="t"/>
          <a:lstStyle/>
          <a:p>
            <a:pPr indent="0" marL="0">
              <a:buNone/>
            </a:pPr>
            <a:r>
              <a:rPr lang="en-US" sz="2100" dirty="0">
                <a:solidFill>
                  <a:srgbClr val="222222"/>
                </a:solidFill>
              </a:rPr>
              <a:t>A가 위 문장을 감정을 담아 말합니다.</a:t>
            </a:r>
            <a:endParaRPr lang="en-US" sz="2100" dirty="0"/>
          </a:p>
        </p:txBody>
      </p:sp>
      <p:sp>
        <p:nvSpPr>
          <p:cNvPr id="9" name="Shape 7"/>
          <p:cNvSpPr/>
          <p:nvPr/>
        </p:nvSpPr>
        <p:spPr>
          <a:xfrm>
            <a:off x="822960" y="363016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611880"/>
            <a:ext cx="6309360" cy="731520"/>
          </a:xfrm>
          <a:prstGeom prst="rect">
            <a:avLst/>
          </a:prstGeom>
          <a:noFill/>
          <a:ln/>
        </p:spPr>
        <p:txBody>
          <a:bodyPr wrap="square" lIns="0" tIns="0" rIns="0" bIns="0" rtlCol="0" anchor="t"/>
          <a:lstStyle/>
          <a:p>
            <a:pPr indent="0" marL="0">
              <a:buNone/>
            </a:pPr>
            <a:r>
              <a:rPr lang="en-US" sz="2100" dirty="0">
                <a:solidFill>
                  <a:srgbClr val="222222"/>
                </a:solidFill>
              </a:rPr>
              <a:t>B는 재진술 한 문장 + 감정 반영 한 문장으로 답합니다(해결책·조언 금지).</a:t>
            </a:r>
            <a:endParaRPr lang="en-US" sz="2100" dirty="0"/>
          </a:p>
        </p:txBody>
      </p:sp>
      <p:sp>
        <p:nvSpPr>
          <p:cNvPr id="12" name="Shape 10"/>
          <p:cNvSpPr/>
          <p:nvPr/>
        </p:nvSpPr>
        <p:spPr>
          <a:xfrm>
            <a:off x="822960" y="440740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389120"/>
            <a:ext cx="6309360" cy="731520"/>
          </a:xfrm>
          <a:prstGeom prst="rect">
            <a:avLst/>
          </a:prstGeom>
          <a:noFill/>
          <a:ln/>
        </p:spPr>
        <p:txBody>
          <a:bodyPr wrap="square" lIns="0" tIns="0" rIns="0" bIns="0" rtlCol="0" anchor="t"/>
          <a:lstStyle/>
          <a:p>
            <a:pPr indent="0" marL="0">
              <a:buNone/>
            </a:pPr>
            <a:r>
              <a:rPr lang="en-US" sz="2100" dirty="0">
                <a:solidFill>
                  <a:srgbClr val="222222"/>
                </a:solidFill>
              </a:rPr>
              <a:t>A는 “들렸다”고 느꼈는지 1~5점으로 알려 줍니다.</a:t>
            </a:r>
            <a:endParaRPr lang="en-US" sz="2100" dirty="0"/>
          </a:p>
        </p:txBody>
      </p:sp>
      <p:sp>
        <p:nvSpPr>
          <p:cNvPr id="15" name="Shape 13"/>
          <p:cNvSpPr/>
          <p:nvPr/>
        </p:nvSpPr>
        <p:spPr>
          <a:xfrm>
            <a:off x="822960" y="5184648"/>
            <a:ext cx="384048" cy="384048"/>
          </a:xfrm>
          <a:prstGeom prst="ellipse">
            <a:avLst/>
          </a:prstGeom>
          <a:solidFill>
            <a:srgbClr val="2E7D6B"/>
          </a:solidFill>
          <a:ln w="12700">
            <a:solidFill>
              <a:srgbClr val="2E7D6B"/>
            </a:solidFill>
            <a:prstDash val="solid"/>
          </a:ln>
        </p:spPr>
      </p:sp>
      <p:sp>
        <p:nvSpPr>
          <p:cNvPr id="16" name="Text 14"/>
          <p:cNvSpPr txBox="1"/>
          <p:nvPr/>
        </p:nvSpPr>
        <p:spPr>
          <a:xfrm>
            <a:off x="822960" y="5184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371600" y="5166360"/>
            <a:ext cx="6309360" cy="731520"/>
          </a:xfrm>
          <a:prstGeom prst="rect">
            <a:avLst/>
          </a:prstGeom>
          <a:noFill/>
          <a:ln/>
        </p:spPr>
        <p:txBody>
          <a:bodyPr wrap="square" lIns="0" tIns="0" rIns="0" bIns="0" rtlCol="0" anchor="t"/>
          <a:lstStyle/>
          <a:p>
            <a:pPr indent="0" marL="0">
              <a:buNone/>
            </a:pPr>
            <a:r>
              <a:rPr lang="en-US" sz="2100" dirty="0">
                <a:solidFill>
                  <a:srgbClr val="222222"/>
                </a:solidFill>
              </a:rPr>
              <a:t>역할을 바꿔 한 번 더 합니다.</a:t>
            </a:r>
            <a:endParaRPr lang="en-US" sz="2100" dirty="0"/>
          </a:p>
        </p:txBody>
      </p:sp>
      <p:sp>
        <p:nvSpPr>
          <p:cNvPr id="18" name="Shape 16"/>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9" name="Shape 17"/>
          <p:cNvSpPr/>
          <p:nvPr/>
        </p:nvSpPr>
        <p:spPr>
          <a:xfrm>
            <a:off x="8430768" y="1755648"/>
            <a:ext cx="457200" cy="457200"/>
          </a:xfrm>
          <a:prstGeom prst="ellipse">
            <a:avLst/>
          </a:prstGeom>
          <a:solidFill>
            <a:srgbClr val="D98E04"/>
          </a:solidFill>
          <a:ln w="12700">
            <a:solidFill>
              <a:srgbClr val="D98E04"/>
            </a:solidFill>
            <a:prstDash val="solid"/>
          </a:ln>
        </p:spPr>
      </p:sp>
      <p:pic>
        <p:nvPicPr>
          <p:cNvPr id="20"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21" name="Text 18"/>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22" name="Text 19"/>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5분</a:t>
            </a:r>
            <a:endParaRPr lang="en-US" sz="2800" dirty="0"/>
          </a:p>
        </p:txBody>
      </p:sp>
      <p:sp>
        <p:nvSpPr>
          <p:cNvPr id="23" name="Shape 20"/>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430768" y="3328416"/>
            <a:ext cx="457200" cy="457200"/>
          </a:xfrm>
          <a:prstGeom prst="ellipse">
            <a:avLst/>
          </a:prstGeom>
          <a:solidFill>
            <a:srgbClr val="2E7D6B"/>
          </a:solidFill>
          <a:ln w="12700">
            <a:solidFill>
              <a:srgbClr val="2E7D6B"/>
            </a:solidFill>
            <a:prstDash val="solid"/>
          </a:ln>
        </p:spPr>
      </p:sp>
      <p:pic>
        <p:nvPicPr>
          <p:cNvPr id="25"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6" name="Text 22"/>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7" name="Text 23"/>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8" name="Shape 24"/>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5"/>
          <p:cNvSpPr/>
          <p:nvPr/>
        </p:nvSpPr>
        <p:spPr>
          <a:xfrm>
            <a:off x="8430768" y="4901184"/>
            <a:ext cx="457200" cy="457200"/>
          </a:xfrm>
          <a:prstGeom prst="ellipse">
            <a:avLst/>
          </a:prstGeom>
          <a:solidFill>
            <a:srgbClr val="2E7D6B"/>
          </a:solidFill>
          <a:ln w="12700">
            <a:solidFill>
              <a:srgbClr val="2E7D6B"/>
            </a:solidFill>
            <a:prstDash val="solid"/>
          </a:ln>
        </p:spPr>
      </p:sp>
      <p:pic>
        <p:nvPicPr>
          <p:cNvPr id="30"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31" name="Text 26"/>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32" name="Text 27"/>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재진술·감정 반영 문장 각 1개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3절 I-Message</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비난 대신 경험과 필요를 말한다 — 세 단계</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103120"/>
                <a:gridCol w="3657600"/>
                <a:gridCol w="5303520"/>
              </a:tblGrid>
              <a:tr h="713232">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구조</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설명</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예시</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13232">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1. 상황·행동</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평가 없이 구체적 상황을 말한다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“치료 이야기를 할 때 서로 말을 끊게 되면…”</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13232">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2. 나의 감정</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그 상황에서 느끼는 감정을 말한다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“…저는 겁이 나고 답답해져요.”</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13232">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3. 영향·필요</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이유와 원하는 방향을 말한다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500" dirty="0">
                          <a:solidFill>
                            <a:srgbClr val="222222"/>
                          </a:solidFill>
                          <a:latin typeface="Noto Serif KR Black" pitchFamily="34" charset="0"/>
                          <a:ea typeface="Noto Serif KR Black" pitchFamily="34" charset="-122"/>
                          <a:cs typeface="Noto Serif KR Black" pitchFamily="34" charset="-120"/>
                        </a:rPr>
                        <a:t>“아버지 뜻을 놓칠까 걱정돼요. 한 사람씩 듣고 싶어요.”</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6" name="Shape 3"/>
          <p:cNvSpPr/>
          <p:nvPr/>
        </p:nvSpPr>
        <p:spPr>
          <a:xfrm>
            <a:off x="777240" y="5509260"/>
            <a:ext cx="457200" cy="457200"/>
          </a:xfrm>
          <a:prstGeom prst="ellipse">
            <a:avLst/>
          </a:prstGeom>
          <a:solidFill>
            <a:srgbClr val="3A6EA5"/>
          </a:solidFill>
          <a:ln w="12700">
            <a:solidFill>
              <a:srgbClr val="3A6EA5"/>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You-Message 바꾸기   </a:t>
            </a:r>
            <a:pPr indent="0" marL="0">
              <a:buNone/>
            </a:pPr>
            <a:r>
              <a:rPr lang="en-US" sz="1800" dirty="0">
                <a:solidFill>
                  <a:srgbClr val="222222"/>
                </a:solidFill>
              </a:rPr>
              <a:t>“형은 아버지를 고통스럽게 하고 있어.” → “아버지가 원하지 않던 치료를 받을까 봐 저는 걱정돼요. 아버지 말씀을 먼저 같이 확인했으면 해요.”</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4절 입장 아래의 욕구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입장(Position)을 설득하지 말고 욕구(Need)를 찾는다</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gridCol w="4023360"/>
                <a:gridCol w="4480560"/>
              </a:tblGrid>
              <a:tr h="658368">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표면 입장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숨은 욕구의 예</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WLC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5836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“끝까지 치료해야 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포기했다는 죄책감 회피, 마지막 가능성</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“치료를 멈추면 가장 두려운 것은요?”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“장례는 크게 해야 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부모에 대한 예의, 사회적 관계, 체면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“규모보다 꼭 지키고 싶은 의미는요?”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5836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“재산은 똑같이 나눠야 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공정성, 인정, 편애받지 않았다는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“같아야 공정하다고 느끼는 이유는요?”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“나 혼자 간병 못 해.”</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소진, 경제부담, 형제의 참여 필요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“지금 가장 감당하기 어려운 부담은요?”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개인 성찰</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내 갈등의 입장과 욕구</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오프닝에서 떠올린 갈등을 “입장 → 욕구”로 다시 써 봅니다.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그때 나의 “입장”(내가 주장한 말)을 적습니다.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그 아래 나의 “욕구”(지키고 싶었던 것)를 적습니다.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상대의 입장과 욕구도 추측해 적어 봅니다.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4분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개인 작성</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나와 상대의 입장·욕구</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갈등은 사랑의 방식이 충돌하는 것</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경청은 동의가 아니라 이해의 확인</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I-Message: 상황 → 감정 → 영향·필요</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2교시 — 생명윤리와 중재의 원칙</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2교시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생명윤리와 중재의 원칙</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정답표가 아니라, 가치를 비추는 질문</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생명윤리의 네 원칙</a:t>
            </a:r>
            <a:endParaRPr lang="en-US" sz="1900" dirty="0"/>
          </a:p>
          <a:p>
            <a:pPr marL="342900" indent="-342900">
              <a:spcAft>
                <a:spcPts val="600"/>
              </a:spcAft>
              <a:buSzPct val="100000"/>
              <a:buChar char="•"/>
            </a:pPr>
            <a:r>
              <a:rPr lang="en-US" sz="1900" dirty="0">
                <a:solidFill>
                  <a:srgbClr val="FFFFFF"/>
                </a:solidFill>
              </a:rPr>
              <a:t>연명의료중단·안락사·의사조력자살의 구분 · 제17·18조</a:t>
            </a:r>
            <a:endParaRPr lang="en-US" sz="1900" dirty="0"/>
          </a:p>
          <a:p>
            <a:pPr marL="342900" indent="-342900">
              <a:spcAft>
                <a:spcPts val="600"/>
              </a:spcAft>
              <a:buSzPct val="100000"/>
              <a:buChar char="•"/>
            </a:pPr>
            <a:r>
              <a:rPr lang="en-US" sz="1900" dirty="0">
                <a:solidFill>
                  <a:srgbClr val="FFFFFF"/>
                </a:solidFill>
              </a:rPr>
              <a:t>중재 5원칙 · 사실·가치·감정 · “죽고 싶다”는 말</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5절 생명윤리의 네 원칙</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가치들을 구조적으로 살피는 네 개의 렌즈</a:t>
            </a:r>
            <a:endParaRPr lang="en-US" sz="2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743200"/>
                <a:gridCol w="3474720"/>
                <a:gridCol w="4846320"/>
              </a:tblGrid>
              <a:tr h="676656">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원칙</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뜻</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가족회의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자율성 (Autonomy)</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환자의 가치와 자기결정권 존중</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“환자는 평소 어떤 선택과 가치를 표현했나요?”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선행 (Beneficence)</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환자에게 이익이 되는 방향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“이 치료가 환자에게 어떤 도움을 줄 수 있나요?”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악행금지 (Non-maleficence)</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불필요한 해악과 고통을 줄임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“치료로 생길 부담과 고통은 무엇인가요?”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76656">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정의 (Justice)</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공정성과 자원의 적절한 사용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“돌봄 부담이 특정 가족에게만 몰리지 않나요?”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윤리 원칙의 한계   </a:t>
            </a:r>
            <a:pPr indent="0" marL="0">
              <a:buNone/>
            </a:pPr>
            <a:r>
              <a:rPr lang="en-US" sz="1800" dirty="0">
                <a:solidFill>
                  <a:srgbClr val="222222"/>
                </a:solidFill>
              </a:rPr>
              <a:t>네 원칙은 “자동 정답표”가 아닙니다. 의료적 이익·위험과 법적 요건은 의료진과 윤리위원회가 판단합니다.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조별 토론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네 개의 렌즈로 사례 보기</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“82세 아버지, 임종과정. 차남은 끝까지 치료를, 장남은 편안한 마무리를 원합니다.”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3~4명이 한 조가 되어 네 원칙을 하나씩 나눠 맡습니다.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맡은 원칙의 “가족회의 질문”을 이 사례에 맞게 바꿔 적습니다.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네 질문을 모아 보고, 어느 질문이 대화를 가장 잘 열 것 같은지 고릅니다.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6분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3~4인 조별</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사례 맞춤 윤리 질문 4개</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6절 개념 구분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연명의료중단·안락사·의사조력자살은 다르다</a:t>
            </a:r>
            <a:endParaRPr lang="en-US" sz="2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440"/>
                <a:gridCol w="4206240"/>
                <a:gridCol w="4480560"/>
              </a:tblGrid>
              <a:tr h="749808">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개념</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핵심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대한민국에서의 법적 이해</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4980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연명의료중단등결정</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임종과정에서 법정 연명의료를 시행하지 않거나 중단</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연명의료결정법의 요건과 절차 아래 허용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적극적 안락사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타인이 약물 투여 등 적극적 행위로 사망을 직접 유발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허용 제도 없음, 형법상 촉탁·승낙 살인 문제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4980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의사조력자살(PAS)</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의사가 치명적 약물 등을 제공하고 본인이 사용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허용 제도 없음, 형법 제252조 제2항 자살교사·방조 문제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49808">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“존엄사”</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정의가 하나로 고정되지 않은 사회적 표현</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법률 설명 시 “연명의료중단등결정” 등 구체적 용어 사용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6" name="Shape 3"/>
          <p:cNvSpPr/>
          <p:nvPr/>
        </p:nvSpPr>
        <p:spPr>
          <a:xfrm>
            <a:off x="777240" y="5509260"/>
            <a:ext cx="457200" cy="457200"/>
          </a:xfrm>
          <a:prstGeom prst="ellipse">
            <a:avLst/>
          </a:prstGeom>
          <a:solidFill>
            <a:srgbClr val="D98E04"/>
          </a:solidFill>
          <a:ln w="12700">
            <a:solidFill>
              <a:srgbClr val="D98E04"/>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2026년 형법 확인   </a:t>
            </a:r>
            <a:pPr indent="0" marL="0">
              <a:buNone/>
            </a:pPr>
            <a:r>
              <a:rPr lang="en-US" sz="1800" dirty="0">
                <a:solidFill>
                  <a:srgbClr val="222222"/>
                </a:solidFill>
              </a:rPr>
              <a:t>형법 제252조는 촉탁·승낙에 의한 살해와 자살교사·방조를 처벌합니다. WLC는 연명의료중단과 안락사·조력자살을 혼동하지 않습니다.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7절 가장 중요한 법적 구분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갈등 현장에서 다시 보는 제17조와 제18조</a:t>
            </a:r>
            <a:endParaRPr lang="en-US" sz="28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743200"/>
                <a:gridCol w="4572000"/>
                <a:gridCol w="3749040"/>
              </a:tblGrid>
              <a:tr h="749808">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상황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법적 구조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가족의 역할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74980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사전의사가 기록됨</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연명의료계획서 또는 적법한 의향서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환자의 뜻을 존중하고 절차에 협력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74980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서류는 없지만 평소 의사 확인 가능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가족 2명 이상의 일치된 진술 + 담당의사·전문의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자신의 선호가 아니라 환자의 평소 뜻을 진술</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749808">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환자의 의사를 확인할 수 없음</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제18조 법정 범위 가족 전원합의 + 담당의사·전문의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예외적 상황에서 법정 절차로 결정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6" name="Shape 3"/>
          <p:cNvSpPr/>
          <p:nvPr/>
        </p:nvSpPr>
        <p:spPr>
          <a:xfrm>
            <a:off x="777240" y="5509260"/>
            <a:ext cx="457200" cy="457200"/>
          </a:xfrm>
          <a:prstGeom prst="ellipse">
            <a:avLst/>
          </a:prstGeom>
          <a:solidFill>
            <a:srgbClr val="2E7D6B"/>
          </a:solidFill>
          <a:ln w="12700">
            <a:solidFill>
              <a:srgbClr val="2E7D6B"/>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핵심 문장   </a:t>
            </a:r>
            <a:pPr indent="0" marL="0">
              <a:buNone/>
            </a:pPr>
            <a:r>
              <a:rPr lang="en-US" sz="1800" dirty="0">
                <a:solidFill>
                  <a:srgbClr val="222222"/>
                </a:solidFill>
              </a:rPr>
              <a:t>제17조는 “환자의 뜻을 확인하는 절차”, 제18조는 “환자의 뜻을 확인할 수 없을 때의 예외적 결정 절차”입니다.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8절 갈등중재의 5대 원칙</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 갈등중재의 다섯 가지 원칙</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환자 자기결정권을 중심에 둔다. </a:t>
            </a:r>
            <a:pPr indent="0" marL="0">
              <a:buNone/>
            </a:pPr>
            <a:r>
              <a:rPr lang="en-US" sz="2200" dirty="0">
                <a:solidFill>
                  <a:srgbClr val="222222"/>
                </a:solidFill>
              </a:rPr>
              <a:t> 격해질수록 “그분은 평소 무엇을 원하셨나요?”로 돌아간다</a:t>
            </a: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감정은 인정하되 모든 주장에 동의하지 않는다. </a:t>
            </a:r>
            <a:pPr indent="0" marL="0">
              <a:buNone/>
            </a:pPr>
            <a:r>
              <a:rPr lang="en-US" sz="2200" dirty="0">
                <a:solidFill>
                  <a:srgbClr val="222222"/>
                </a:solidFill>
              </a:rPr>
              <a:t> 감정과 법·의료적 사실을 구분한다</a:t>
            </a: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사실·가치·감정을 분리한다. </a:t>
            </a:r>
            <a:pPr indent="0" marL="0">
              <a:buNone/>
            </a:pPr>
            <a:r>
              <a:rPr lang="en-US" sz="2200" dirty="0">
                <a:solidFill>
                  <a:srgbClr val="222222"/>
                </a:solidFill>
              </a:rPr>
              <a:t> 한 문장에 섞지 않는다</a:t>
            </a: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해결을 서두르지 않는다. </a:t>
            </a:r>
            <a:pPr indent="0" marL="0">
              <a:buNone/>
            </a:pPr>
            <a:r>
              <a:rPr lang="en-US" sz="2200" dirty="0">
                <a:solidFill>
                  <a:srgbClr val="222222"/>
                </a:solidFill>
              </a:rPr>
              <a:t> 긴급하지 않은 결정은 충분히 들은 뒤 논의한다</a:t>
            </a: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10408615" cy="850392"/>
          </a:xfrm>
          <a:prstGeom prst="rect">
            <a:avLst/>
          </a:prstGeom>
          <a:noFill/>
          <a:ln/>
        </p:spPr>
        <p:txBody>
          <a:bodyPr wrap="square" lIns="0" tIns="0" rIns="0" bIns="0" rtlCol="0" anchor="t"/>
          <a:lstStyle/>
          <a:p>
            <a:pPr indent="0" marL="0">
              <a:buNone/>
            </a:pPr>
            <a:r>
              <a:rPr lang="en-US" sz="2200" b="1" dirty="0">
                <a:solidFill>
                  <a:srgbClr val="1F4E4A"/>
                </a:solidFill>
              </a:rPr>
              <a:t>역할 경계를 지킨다. </a:t>
            </a:r>
            <a:pPr indent="0" marL="0">
              <a:buNone/>
            </a:pPr>
            <a:r>
              <a:rPr lang="en-US" sz="2200" dirty="0">
                <a:solidFill>
                  <a:srgbClr val="222222"/>
                </a:solidFill>
              </a:rPr>
              <a:t> 의학·법률 판단은 의료진·윤리위원회·법률전문가에게</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9절 사실·가치·감정 분리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네 가지를 섞지 않는 회의법</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5669280"/>
                <a:gridCol w="3383280"/>
              </a:tblGrid>
              <a:tr h="64008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영역</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예시</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누가 확인하는가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64008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사실 (Fact)</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회복 가능성, 치료효과, 임종과정 여부, 법정 서류 존재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의료진·공식 기록</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가치 (Value)</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고통보다 의식 있는 시간, 종교적 신념, 가족과 함께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 본인·가족의 기억</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64008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감정 (Emotion)</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두려움, 죄책감, 분노, 미안함, 슬픔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각자 표현하고 WLC가 반영</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결정 (Decision)</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법적 절차에 따른 연명의료·돌봄 방향</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환자 의사·법정 절차·의료진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5" name="Shape 2"/>
          <p:cNvSpPr/>
          <p:nvPr/>
        </p:nvSpPr>
        <p:spPr>
          <a:xfrm>
            <a:off x="548640" y="5303520"/>
            <a:ext cx="11094415" cy="868680"/>
          </a:xfrm>
          <a:prstGeom prst="roundRect">
            <a:avLst>
              <a:gd name="adj" fmla="val 12632"/>
            </a:avLst>
          </a:prstGeom>
          <a:solidFill>
            <a:srgbClr val="E8EFF8"/>
          </a:solidFill>
          <a:ln w="12700">
            <a:solidFill>
              <a:srgbClr val="E8EFF8"/>
            </a:solidFill>
            <a:prstDash val="solid"/>
          </a:ln>
        </p:spPr>
      </p:sp>
      <p:sp>
        <p:nvSpPr>
          <p:cNvPr id="6" name="Shape 3"/>
          <p:cNvSpPr/>
          <p:nvPr/>
        </p:nvSpPr>
        <p:spPr>
          <a:xfrm>
            <a:off x="777240" y="5509260"/>
            <a:ext cx="457200" cy="457200"/>
          </a:xfrm>
          <a:prstGeom prst="ellipse">
            <a:avLst/>
          </a:prstGeom>
          <a:solidFill>
            <a:srgbClr val="3A6EA5"/>
          </a:solidFill>
          <a:ln w="12700">
            <a:solidFill>
              <a:srgbClr val="3A6EA5"/>
            </a:solidFill>
            <a:prstDash val="solid"/>
          </a:ln>
        </p:spPr>
      </p:sp>
      <p:pic>
        <p:nvPicPr>
          <p:cNvPr id="7"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8" name="Text 4"/>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3A6EA5"/>
                </a:solidFill>
              </a:rPr>
              <a:t>회의 진행 팁   </a:t>
            </a:r>
            <a:pPr indent="0" marL="0">
              <a:buNone/>
            </a:pPr>
            <a:r>
              <a:rPr lang="en-US" sz="1800" dirty="0">
                <a:solidFill>
                  <a:srgbClr val="222222"/>
                </a:solidFill>
              </a:rPr>
              <a:t>“의사가 살릴 수 있는데 안 한다” 같은 말이 나오면 먼저 사실을 의료진에게 확인하고, 그다음 그렇게 느끼게 하는 두려움을 듣습니다.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10절 WLC 가족회의 7단계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가족회의는 이렇게 흘러간다</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560320"/>
                <a:gridCol w="8503920"/>
              </a:tblGrid>
              <a:tr h="45720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단계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진행 내용</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1. 목적 합의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“오늘은 누가 옳은지가 아니라 환자의 뜻과 상황을 함께 이해하는 시간입니다.”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2. 사실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의료진 설명(진단·예후·치료선택)을 가족의 말로 다시 정리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3. 환자 가치 확인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생전 발언, 의향서·계획서, 종교·삶의 가치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4. 가족 감정 듣기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각자 두려운 것·미안한 것·바라는 것</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5. 공통점 찾기</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예: “고통을 줄이고 존엄을 지키고 싶다”는 공통 의도</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6. 남은 질문 정리</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의사·간호사·법률전문가에게 확인할 질문 목록</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45720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7. 다음 행동 합의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400" dirty="0">
                          <a:solidFill>
                            <a:srgbClr val="222222"/>
                          </a:solidFill>
                          <a:latin typeface="Noto Serif KR Black" pitchFamily="34" charset="0"/>
                          <a:ea typeface="Noto Serif KR Black" pitchFamily="34" charset="-122"/>
                          <a:cs typeface="Noto Serif KR Black" pitchFamily="34" charset="-120"/>
                        </a:rPr>
                        <a:t>누가 언제 누구와 확인하고 다시 모일지</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11절 “죽고 싶다”는 말을 들었을 때</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곧바로 “안락사를 원한다”고 해석하지 않는다</a:t>
            </a:r>
            <a:endParaRPr lang="en-US" sz="2800" dirty="0"/>
          </a:p>
        </p:txBody>
      </p:sp>
      <p:sp>
        <p:nvSpPr>
          <p:cNvPr id="4" name="Shape 2"/>
          <p:cNvSpPr/>
          <p:nvPr/>
        </p:nvSpPr>
        <p:spPr>
          <a:xfrm>
            <a:off x="548640" y="1600200"/>
            <a:ext cx="11094415" cy="2011680"/>
          </a:xfrm>
          <a:prstGeom prst="roundRect">
            <a:avLst>
              <a:gd name="adj" fmla="val 5455"/>
            </a:avLst>
          </a:prstGeom>
          <a:solidFill>
            <a:srgbClr val="FDF1DC"/>
          </a:solidFill>
          <a:ln w="12700">
            <a:solidFill>
              <a:srgbClr val="FDF1DC"/>
            </a:solidFill>
            <a:prstDash val="solid"/>
          </a:ln>
        </p:spPr>
      </p:sp>
      <p:sp>
        <p:nvSpPr>
          <p:cNvPr id="5" name="Shape 3"/>
          <p:cNvSpPr/>
          <p:nvPr/>
        </p:nvSpPr>
        <p:spPr>
          <a:xfrm>
            <a:off x="868680" y="1965960"/>
            <a:ext cx="822960" cy="82296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1082650" y="2179930"/>
            <a:ext cx="395021" cy="395021"/>
          </a:xfrm>
          <a:prstGeom prst="rect">
            <a:avLst/>
          </a:prstGeom>
        </p:spPr>
      </p:pic>
      <p:sp>
        <p:nvSpPr>
          <p:cNvPr id="7" name="Text 4"/>
          <p:cNvSpPr txBox="1"/>
          <p:nvPr/>
        </p:nvSpPr>
        <p:spPr>
          <a:xfrm>
            <a:off x="1965960" y="1783080"/>
            <a:ext cx="9357055" cy="1645920"/>
          </a:xfrm>
          <a:prstGeom prst="rect">
            <a:avLst/>
          </a:prstGeom>
          <a:noFill/>
          <a:ln/>
        </p:spPr>
        <p:txBody>
          <a:bodyPr wrap="square" lIns="0" tIns="0" rIns="0" bIns="0" rtlCol="0" anchor="ctr"/>
          <a:lstStyle/>
          <a:p>
            <a:pPr indent="0" marL="0">
              <a:buNone/>
            </a:pPr>
            <a:r>
              <a:rPr lang="en-US" sz="2500" b="1" dirty="0">
                <a:solidFill>
                  <a:srgbClr val="1F4E4A"/>
                </a:solidFill>
              </a:rPr>
              <a:t>통증·숨참·불면·우울·상실감·돌봄부담 때문에 “죽고 싶다”고 말할 수 있습니다.</a:t>
            </a:r>
            <a:endParaRPr lang="en-US" sz="2500" dirty="0"/>
          </a:p>
          <a:p>
            <a:pPr indent="0" marL="0">
              <a:buNone/>
            </a:pPr>
            <a:r>
              <a:rPr lang="en-US" sz="2500" b="1" dirty="0">
                <a:solidFill>
                  <a:srgbClr val="1F4E4A"/>
                </a:solidFill>
              </a:rPr>
              <a:t>먼저 판단 없이 듣고, 의미를 확인하고, 안전을 우선해 연결합니다.</a:t>
            </a:r>
            <a:endParaRPr lang="en-US" sz="2500" dirty="0"/>
          </a:p>
        </p:txBody>
      </p:sp>
      <p:sp>
        <p:nvSpPr>
          <p:cNvPr id="8" name="Shape 5"/>
          <p:cNvSpPr/>
          <p:nvPr/>
        </p:nvSpPr>
        <p:spPr>
          <a:xfrm>
            <a:off x="548640" y="3886200"/>
            <a:ext cx="3515258" cy="2240280"/>
          </a:xfrm>
          <a:prstGeom prst="roundRect">
            <a:avLst>
              <a:gd name="adj" fmla="val 4898"/>
            </a:avLst>
          </a:prstGeom>
          <a:solidFill>
            <a:srgbClr val="F3F4F3"/>
          </a:solidFill>
          <a:ln w="12700">
            <a:solidFill>
              <a:srgbClr val="F3F4F3"/>
            </a:solidFill>
            <a:prstDash val="solid"/>
          </a:ln>
        </p:spPr>
      </p:sp>
      <p:sp>
        <p:nvSpPr>
          <p:cNvPr id="9" name="Text 6"/>
          <p:cNvSpPr txBox="1"/>
          <p:nvPr/>
        </p:nvSpPr>
        <p:spPr>
          <a:xfrm>
            <a:off x="777240"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듣기와 의미 확인</a:t>
            </a:r>
            <a:endParaRPr lang="en-US" sz="2100" dirty="0"/>
          </a:p>
          <a:p>
            <a:pPr indent="0" marL="0">
              <a:buNone/>
            </a:pPr>
            <a:r>
              <a:rPr lang="en-US" sz="2000" dirty="0">
                <a:solidFill>
                  <a:srgbClr val="222222"/>
                </a:solidFill>
              </a:rPr>
              <a:t>“그만큼 힘드시군요.” “가장 견디기 어려운 것은 무엇인가요?”</a:t>
            </a:r>
            <a:endParaRPr lang="en-US" sz="2100" dirty="0"/>
          </a:p>
        </p:txBody>
      </p:sp>
      <p:sp>
        <p:nvSpPr>
          <p:cNvPr id="10" name="Shape 7"/>
          <p:cNvSpPr/>
          <p:nvPr/>
        </p:nvSpPr>
        <p:spPr>
          <a:xfrm>
            <a:off x="4338218" y="3886200"/>
            <a:ext cx="3515258" cy="2240280"/>
          </a:xfrm>
          <a:prstGeom prst="roundRect">
            <a:avLst>
              <a:gd name="adj" fmla="val 4898"/>
            </a:avLst>
          </a:prstGeom>
          <a:solidFill>
            <a:srgbClr val="F3F4F3"/>
          </a:solidFill>
          <a:ln w="12700">
            <a:solidFill>
              <a:srgbClr val="F3F4F3"/>
            </a:solidFill>
            <a:prstDash val="solid"/>
          </a:ln>
        </p:spPr>
      </p:sp>
      <p:sp>
        <p:nvSpPr>
          <p:cNvPr id="11" name="Text 8"/>
          <p:cNvSpPr txBox="1"/>
          <p:nvPr/>
        </p:nvSpPr>
        <p:spPr>
          <a:xfrm>
            <a:off x="4566818"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신체적 고통</a:t>
            </a:r>
            <a:endParaRPr lang="en-US" sz="2100" dirty="0"/>
          </a:p>
          <a:p>
            <a:pPr indent="0" marL="0">
              <a:buNone/>
            </a:pPr>
            <a:r>
              <a:rPr lang="en-US" sz="2000" dirty="0">
                <a:solidFill>
                  <a:srgbClr val="222222"/>
                </a:solidFill>
              </a:rPr>
              <a:t>의료진·호스피스·완화의료와 연결</a:t>
            </a:r>
            <a:endParaRPr lang="en-US" sz="2100" dirty="0"/>
          </a:p>
        </p:txBody>
      </p:sp>
      <p:sp>
        <p:nvSpPr>
          <p:cNvPr id="12" name="Shape 9"/>
          <p:cNvSpPr/>
          <p:nvPr/>
        </p:nvSpPr>
        <p:spPr>
          <a:xfrm>
            <a:off x="8127797" y="3886200"/>
            <a:ext cx="3515258" cy="2240280"/>
          </a:xfrm>
          <a:prstGeom prst="roundRect">
            <a:avLst>
              <a:gd name="adj" fmla="val 4898"/>
            </a:avLst>
          </a:prstGeom>
          <a:solidFill>
            <a:srgbClr val="F3F4F3"/>
          </a:solidFill>
          <a:ln w="12700">
            <a:solidFill>
              <a:srgbClr val="F3F4F3"/>
            </a:solidFill>
            <a:prstDash val="solid"/>
          </a:ln>
        </p:spPr>
      </p:sp>
      <p:sp>
        <p:nvSpPr>
          <p:cNvPr id="13" name="Text 10"/>
          <p:cNvSpPr txBox="1"/>
          <p:nvPr/>
        </p:nvSpPr>
        <p:spPr>
          <a:xfrm>
            <a:off x="8356397" y="4069080"/>
            <a:ext cx="3058058" cy="1920240"/>
          </a:xfrm>
          <a:prstGeom prst="rect">
            <a:avLst/>
          </a:prstGeom>
          <a:noFill/>
          <a:ln/>
        </p:spPr>
        <p:txBody>
          <a:bodyPr wrap="square" lIns="0" tIns="0" rIns="0" bIns="0" rtlCol="0" anchor="t"/>
          <a:lstStyle/>
          <a:p>
            <a:pPr indent="0" marL="0">
              <a:spcAft>
                <a:spcPts val="800"/>
              </a:spcAft>
              <a:buNone/>
            </a:pPr>
            <a:r>
              <a:rPr lang="en-US" sz="2100" b="1" dirty="0">
                <a:solidFill>
                  <a:srgbClr val="D98E04"/>
                </a:solidFill>
              </a:rPr>
              <a:t>우울·자해·자살 위험</a:t>
            </a:r>
            <a:endParaRPr lang="en-US" sz="2100" dirty="0"/>
          </a:p>
          <a:p>
            <a:pPr indent="0" marL="0">
              <a:buNone/>
            </a:pPr>
            <a:r>
              <a:rPr lang="en-US" sz="2000" dirty="0">
                <a:solidFill>
                  <a:srgbClr val="222222"/>
                </a:solidFill>
              </a:rPr>
              <a:t>즉시 정신건강·응급 전문체계로, 혼자 감당하지 않기</a:t>
            </a:r>
            <a:endParaRPr lang="en-US" sz="21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짝 연습</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“차라리 빨리 끝났으면 좋겠어요”</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400" b="1" dirty="0">
                <a:solidFill>
                  <a:srgbClr val="1F4E4A"/>
                </a:solidFill>
              </a:rPr>
              <a:t>내담자의 말에 판단 없이 듣고 의미를 확인하는 두 문장으로 답해 봅니다.</a:t>
            </a:r>
            <a:endParaRPr lang="en-US" sz="24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990600"/>
          </a:xfrm>
          <a:prstGeom prst="rect">
            <a:avLst/>
          </a:prstGeom>
          <a:noFill/>
          <a:ln/>
        </p:spPr>
        <p:txBody>
          <a:bodyPr wrap="square" lIns="0" tIns="0" rIns="0" bIns="0" rtlCol="0" anchor="t"/>
          <a:lstStyle/>
          <a:p>
            <a:pPr indent="0" marL="0">
              <a:buNone/>
            </a:pPr>
            <a:r>
              <a:rPr lang="en-US" sz="2100" dirty="0">
                <a:solidFill>
                  <a:srgbClr val="222222"/>
                </a:solidFill>
              </a:rPr>
              <a:t>A가 내담자로 “요즘은 차라리 빨리 끝났으면 좋겠어요”라고 말합니다.</a:t>
            </a:r>
            <a:endParaRPr lang="en-US" sz="2100" dirty="0"/>
          </a:p>
        </p:txBody>
      </p:sp>
      <p:sp>
        <p:nvSpPr>
          <p:cNvPr id="9" name="Shape 7"/>
          <p:cNvSpPr/>
          <p:nvPr/>
        </p:nvSpPr>
        <p:spPr>
          <a:xfrm>
            <a:off x="822960" y="388924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8892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870960"/>
            <a:ext cx="6309360" cy="990600"/>
          </a:xfrm>
          <a:prstGeom prst="rect">
            <a:avLst/>
          </a:prstGeom>
          <a:noFill/>
          <a:ln/>
        </p:spPr>
        <p:txBody>
          <a:bodyPr wrap="square" lIns="0" tIns="0" rIns="0" bIns="0" rtlCol="0" anchor="t"/>
          <a:lstStyle/>
          <a:p>
            <a:pPr indent="0" marL="0">
              <a:buNone/>
            </a:pPr>
            <a:r>
              <a:rPr lang="en-US" sz="2100" dirty="0">
                <a:solidFill>
                  <a:srgbClr val="222222"/>
                </a:solidFill>
              </a:rPr>
              <a:t>B는 “듣기” 한 문장 + “의미 확인” 질문 한 문장으로 답합니다.</a:t>
            </a:r>
            <a:endParaRPr lang="en-US" sz="2100" dirty="0"/>
          </a:p>
        </p:txBody>
      </p:sp>
      <p:sp>
        <p:nvSpPr>
          <p:cNvPr id="12" name="Shape 10"/>
          <p:cNvSpPr/>
          <p:nvPr/>
        </p:nvSpPr>
        <p:spPr>
          <a:xfrm>
            <a:off x="822960" y="492556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9255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907280"/>
            <a:ext cx="6309360" cy="990600"/>
          </a:xfrm>
          <a:prstGeom prst="rect">
            <a:avLst/>
          </a:prstGeom>
          <a:noFill/>
          <a:ln/>
        </p:spPr>
        <p:txBody>
          <a:bodyPr wrap="square" lIns="0" tIns="0" rIns="0" bIns="0" rtlCol="0" anchor="t"/>
          <a:lstStyle/>
          <a:p>
            <a:pPr indent="0" marL="0">
              <a:buNone/>
            </a:pPr>
            <a:r>
              <a:rPr lang="en-US" sz="2100" dirty="0">
                <a:solidFill>
                  <a:srgbClr val="222222"/>
                </a:solidFill>
              </a:rPr>
              <a:t>역할을 바꿉니다. 마지막에 “이럴 때 누구에게 연결할까?”를 함께 정합니다.</a:t>
            </a:r>
            <a:endParaRPr lang="en-US" sz="2100" dirty="0"/>
          </a:p>
        </p:txBody>
      </p:sp>
      <p:sp>
        <p:nvSpPr>
          <p:cNvPr id="15" name="Shape 13"/>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6" name="Shape 14"/>
          <p:cNvSpPr/>
          <p:nvPr/>
        </p:nvSpPr>
        <p:spPr>
          <a:xfrm>
            <a:off x="8430768" y="1755648"/>
            <a:ext cx="457200" cy="457200"/>
          </a:xfrm>
          <a:prstGeom prst="ellipse">
            <a:avLst/>
          </a:prstGeom>
          <a:solidFill>
            <a:srgbClr val="D98E04"/>
          </a:solidFill>
          <a:ln w="12700">
            <a:solidFill>
              <a:srgbClr val="D98E04"/>
            </a:solidFill>
            <a:prstDash val="solid"/>
          </a:ln>
        </p:spPr>
      </p:sp>
      <p:pic>
        <p:nvPicPr>
          <p:cNvPr id="17"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18" name="Text 15"/>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19" name="Text 16"/>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4분</a:t>
            </a:r>
            <a:endParaRPr lang="en-US" sz="2800" dirty="0"/>
          </a:p>
        </p:txBody>
      </p:sp>
      <p:sp>
        <p:nvSpPr>
          <p:cNvPr id="20" name="Shape 17"/>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1" name="Shape 18"/>
          <p:cNvSpPr/>
          <p:nvPr/>
        </p:nvSpPr>
        <p:spPr>
          <a:xfrm>
            <a:off x="8430768" y="3328416"/>
            <a:ext cx="457200" cy="457200"/>
          </a:xfrm>
          <a:prstGeom prst="ellipse">
            <a:avLst/>
          </a:prstGeom>
          <a:solidFill>
            <a:srgbClr val="2E7D6B"/>
          </a:solidFill>
          <a:ln w="12700">
            <a:solidFill>
              <a:srgbClr val="2E7D6B"/>
            </a:solidFill>
            <a:prstDash val="solid"/>
          </a:ln>
        </p:spPr>
      </p:sp>
      <p:pic>
        <p:nvPicPr>
          <p:cNvPr id="22"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3" name="Text 19"/>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4" name="Text 20"/>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2인 1조</a:t>
            </a:r>
            <a:endParaRPr lang="en-US" sz="1800" dirty="0"/>
          </a:p>
        </p:txBody>
      </p:sp>
      <p:sp>
        <p:nvSpPr>
          <p:cNvPr id="25" name="Shape 21"/>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6" name="Shape 22"/>
          <p:cNvSpPr/>
          <p:nvPr/>
        </p:nvSpPr>
        <p:spPr>
          <a:xfrm>
            <a:off x="8430768" y="4901184"/>
            <a:ext cx="457200" cy="457200"/>
          </a:xfrm>
          <a:prstGeom prst="ellipse">
            <a:avLst/>
          </a:prstGeom>
          <a:solidFill>
            <a:srgbClr val="2E7D6B"/>
          </a:solidFill>
          <a:ln w="12700">
            <a:solidFill>
              <a:srgbClr val="2E7D6B"/>
            </a:solidFill>
            <a:prstDash val="solid"/>
          </a:ln>
        </p:spPr>
      </p:sp>
      <p:pic>
        <p:nvPicPr>
          <p:cNvPr id="27"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28" name="Text 23"/>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29" name="Text 24"/>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듣기·의미 확인 문장과 연결처 1곳</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16절 갈등상황의 WLC 문장</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피해야 할 말과 대안 문장</a:t>
            </a:r>
            <a:endParaRPr lang="en-US" sz="28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3017520"/>
                <a:gridCol w="6035040"/>
              </a:tblGrid>
              <a:tr h="512064">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상황</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피해야 할 말</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300" b="1" dirty="0">
                          <a:solidFill>
                            <a:srgbClr val="FFFFFF"/>
                          </a:solidFill>
                          <a:latin typeface="Noto Serif KR Black" pitchFamily="34" charset="0"/>
                          <a:ea typeface="Noto Serif KR Black" pitchFamily="34" charset="-122"/>
                          <a:cs typeface="Noto Serif KR Black" pitchFamily="34" charset="-120"/>
                        </a:rPr>
                        <a:t>대안 문장</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가족 의견 충돌</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“누가 맞는지 정해야 합니다.”</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“서로 다른 이유가 있는 것 같아요. 각자 무엇을 지키고 싶은지 먼저 들을게요.”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감정 폭발</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“진정하세요.”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“이 결정이 너무 크고 두려워 감정이 올라오는 것 같아요.”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의료판단 질문</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“그 치료는 의미 없습니다.”</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“치료효과와 부담은 담당 의료진에게 구체적으로 확인해 볼게요.”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법률판단 질문</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“법적으로 가족이 결정하면 됩니다.”</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“환자의사 확인 여부에 따라 절차가 달라요. 공식 요건을 확인할게요.”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종교갈등</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“요즘은 그렇게 안 합니다.”</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“그 의례가 가족에게 어떤 의미인지 먼저 알고 싶어요.”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F4E4A"/>
                          </a:solidFill>
                          <a:latin typeface="Noto Serif KR Black" pitchFamily="34" charset="0"/>
                          <a:ea typeface="Noto Serif KR Black" pitchFamily="34" charset="-122"/>
                          <a:cs typeface="Noto Serif KR Black" pitchFamily="34" charset="-120"/>
                        </a:rPr>
                        <a:t>죽고 싶다는 말</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“그런 생각은 하지 마세요.”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r>
                        <a:rPr lang="en-US" sz="1300" dirty="0">
                          <a:solidFill>
                            <a:srgbClr val="222222"/>
                          </a:solidFill>
                          <a:latin typeface="Noto Serif KR Black" pitchFamily="34" charset="0"/>
                          <a:ea typeface="Noto Serif KR Black" pitchFamily="34" charset="-122"/>
                          <a:cs typeface="Noto Serif KR Black" pitchFamily="34" charset="-120"/>
                        </a:rPr>
                        <a:t>“그 말을 하실 만큼 무엇이 가장 힘든지 함께 듣고 싶어요.”</a:t>
                      </a:r>
                      <a:endParaRPr lang="en-US" sz="13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547208" y="1005840"/>
            <a:ext cx="1097280" cy="1097280"/>
          </a:xfrm>
          <a:prstGeom prst="ellipse">
            <a:avLst/>
          </a:prstGeom>
          <a:solidFill>
            <a:srgbClr val="2E7D6B"/>
          </a:solidFill>
          <a:ln w="12700">
            <a:solidFill>
              <a:srgbClr val="2E7D6B"/>
            </a:solidFill>
            <a:prstDash val="solid"/>
          </a:ln>
        </p:spPr>
      </p:sp>
      <p:pic>
        <p:nvPicPr>
          <p:cNvPr id="3" name="Image 0" descr="preencoded.png">    </p:cNvPr>
          <p:cNvPicPr>
            <a:picLocks noChangeAspect="1"/>
          </p:cNvPicPr>
          <p:nvPr/>
        </p:nvPicPr>
        <p:blipFill>
          <a:blip r:embed="rId1"/>
          <a:stretch>
            <a:fillRect/>
          </a:stretch>
        </p:blipFill>
        <p:spPr>
          <a:xfrm>
            <a:off x="5832500" y="1291133"/>
            <a:ext cx="526694" cy="526694"/>
          </a:xfrm>
          <a:prstGeom prst="rect">
            <a:avLst/>
          </a:prstGeom>
        </p:spPr>
      </p:pic>
      <p:sp>
        <p:nvSpPr>
          <p:cNvPr id="4" name="Text 1"/>
          <p:cNvSpPr txBox="1"/>
          <p:nvPr/>
        </p:nvSpPr>
        <p:spPr>
          <a:xfrm>
            <a:off x="548640" y="2286000"/>
            <a:ext cx="11094415" cy="822960"/>
          </a:xfrm>
          <a:prstGeom prst="rect">
            <a:avLst/>
          </a:prstGeom>
          <a:noFill/>
          <a:ln/>
        </p:spPr>
        <p:txBody>
          <a:bodyPr wrap="square" lIns="0" tIns="0" rIns="0" bIns="0" rtlCol="0" anchor="t"/>
          <a:lstStyle/>
          <a:p>
            <a:pPr algn="ctr" indent="0" marL="0">
              <a:buNone/>
            </a:pPr>
            <a:r>
              <a:rPr lang="en-US" sz="4000" b="1" dirty="0">
                <a:solidFill>
                  <a:srgbClr val="FFFFFF"/>
                </a:solidFill>
              </a:rPr>
              <a:t>휴식 10분</a:t>
            </a:r>
            <a:endParaRPr lang="en-US" sz="4000" dirty="0"/>
          </a:p>
        </p:txBody>
      </p:sp>
      <p:sp>
        <p:nvSpPr>
          <p:cNvPr id="5" name="Text 2"/>
          <p:cNvSpPr txBox="1"/>
          <p:nvPr/>
        </p:nvSpPr>
        <p:spPr>
          <a:xfrm>
            <a:off x="548640" y="3291840"/>
            <a:ext cx="11094415" cy="411480"/>
          </a:xfrm>
          <a:prstGeom prst="rect">
            <a:avLst/>
          </a:prstGeom>
          <a:noFill/>
          <a:ln/>
        </p:spPr>
        <p:txBody>
          <a:bodyPr wrap="square" lIns="0" tIns="0" rIns="0" bIns="0" rtlCol="0" anchor="t"/>
          <a:lstStyle/>
          <a:p>
            <a:pPr algn="ctr" indent="0" marL="0">
              <a:buNone/>
            </a:pPr>
            <a:r>
              <a:rPr lang="en-US" sz="1600" b="1" dirty="0">
                <a:solidFill>
                  <a:srgbClr val="8FB9A8"/>
                </a:solidFill>
              </a:rPr>
              <a:t>지금까지 기억할 세 가지</a:t>
            </a:r>
            <a:endParaRPr lang="en-US" sz="1600" dirty="0"/>
          </a:p>
        </p:txBody>
      </p:sp>
      <p:sp>
        <p:nvSpPr>
          <p:cNvPr id="6" name="Shape 3"/>
          <p:cNvSpPr/>
          <p:nvPr/>
        </p:nvSpPr>
        <p:spPr>
          <a:xfrm>
            <a:off x="548640" y="3840480"/>
            <a:ext cx="3515258" cy="1371600"/>
          </a:xfrm>
          <a:prstGeom prst="roundRect">
            <a:avLst>
              <a:gd name="adj" fmla="val 8000"/>
            </a:avLst>
          </a:prstGeom>
          <a:solidFill>
            <a:srgbClr val="2A5F5A"/>
          </a:solidFill>
          <a:ln w="12700">
            <a:solidFill>
              <a:srgbClr val="2A5F5A"/>
            </a:solidFill>
            <a:prstDash val="solid"/>
          </a:ln>
        </p:spPr>
      </p:sp>
      <p:sp>
        <p:nvSpPr>
          <p:cNvPr id="7" name="Text 4"/>
          <p:cNvSpPr txBox="1"/>
          <p:nvPr/>
        </p:nvSpPr>
        <p:spPr>
          <a:xfrm>
            <a:off x="777240"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생명윤리 네 원칙은 정답표가 아니라 질문의 렌즈</a:t>
            </a:r>
            <a:endParaRPr lang="en-US" sz="2000" dirty="0"/>
          </a:p>
        </p:txBody>
      </p:sp>
      <p:sp>
        <p:nvSpPr>
          <p:cNvPr id="8" name="Shape 5"/>
          <p:cNvSpPr/>
          <p:nvPr/>
        </p:nvSpPr>
        <p:spPr>
          <a:xfrm>
            <a:off x="4338218" y="3840480"/>
            <a:ext cx="3515258" cy="1371600"/>
          </a:xfrm>
          <a:prstGeom prst="roundRect">
            <a:avLst>
              <a:gd name="adj" fmla="val 8000"/>
            </a:avLst>
          </a:prstGeom>
          <a:solidFill>
            <a:srgbClr val="2A5F5A"/>
          </a:solidFill>
          <a:ln w="12700">
            <a:solidFill>
              <a:srgbClr val="2A5F5A"/>
            </a:solidFill>
            <a:prstDash val="solid"/>
          </a:ln>
        </p:spPr>
      </p:sp>
      <p:sp>
        <p:nvSpPr>
          <p:cNvPr id="9" name="Text 6"/>
          <p:cNvSpPr txBox="1"/>
          <p:nvPr/>
        </p:nvSpPr>
        <p:spPr>
          <a:xfrm>
            <a:off x="4566818"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연명의료중단 ≠ 안락사·조력자살</a:t>
            </a:r>
            <a:endParaRPr lang="en-US" sz="2000" dirty="0"/>
          </a:p>
        </p:txBody>
      </p:sp>
      <p:sp>
        <p:nvSpPr>
          <p:cNvPr id="10" name="Shape 7"/>
          <p:cNvSpPr/>
          <p:nvPr/>
        </p:nvSpPr>
        <p:spPr>
          <a:xfrm>
            <a:off x="8127797" y="3840480"/>
            <a:ext cx="3515258" cy="1371600"/>
          </a:xfrm>
          <a:prstGeom prst="roundRect">
            <a:avLst>
              <a:gd name="adj" fmla="val 8000"/>
            </a:avLst>
          </a:prstGeom>
          <a:solidFill>
            <a:srgbClr val="2A5F5A"/>
          </a:solidFill>
          <a:ln w="12700">
            <a:solidFill>
              <a:srgbClr val="2A5F5A"/>
            </a:solidFill>
            <a:prstDash val="solid"/>
          </a:ln>
        </p:spPr>
      </p:sp>
      <p:sp>
        <p:nvSpPr>
          <p:cNvPr id="11" name="Text 8"/>
          <p:cNvSpPr txBox="1"/>
          <p:nvPr/>
        </p:nvSpPr>
        <p:spPr>
          <a:xfrm>
            <a:off x="8356397" y="3931920"/>
            <a:ext cx="3058058" cy="1188720"/>
          </a:xfrm>
          <a:prstGeom prst="rect">
            <a:avLst/>
          </a:prstGeom>
          <a:noFill/>
          <a:ln/>
        </p:spPr>
        <p:txBody>
          <a:bodyPr wrap="square" lIns="0" tIns="0" rIns="0" bIns="0" rtlCol="0" anchor="ctr"/>
          <a:lstStyle/>
          <a:p>
            <a:pPr algn="ctr" indent="0" marL="0">
              <a:buNone/>
            </a:pPr>
            <a:r>
              <a:rPr lang="en-US" sz="2000" dirty="0">
                <a:solidFill>
                  <a:srgbClr val="FFFFFF"/>
                </a:solidFill>
              </a:rPr>
              <a:t>“죽고 싶다”는 말 — 의미를 묻고 안전을 우선</a:t>
            </a:r>
            <a:endParaRPr lang="en-US" sz="2000" dirty="0"/>
          </a:p>
        </p:txBody>
      </p:sp>
      <p:sp>
        <p:nvSpPr>
          <p:cNvPr id="12" name="Text 9"/>
          <p:cNvSpPr txBox="1"/>
          <p:nvPr/>
        </p:nvSpPr>
        <p:spPr>
          <a:xfrm>
            <a:off x="548640" y="5623560"/>
            <a:ext cx="11094415" cy="411480"/>
          </a:xfrm>
          <a:prstGeom prst="rect">
            <a:avLst/>
          </a:prstGeom>
          <a:noFill/>
          <a:ln/>
        </p:spPr>
        <p:txBody>
          <a:bodyPr wrap="square" lIns="0" tIns="0" rIns="0" bIns="0" rtlCol="0" anchor="t"/>
          <a:lstStyle/>
          <a:p>
            <a:pPr algn="ctr" indent="0" marL="0">
              <a:buNone/>
            </a:pPr>
            <a:r>
              <a:rPr lang="en-US" sz="1500" dirty="0">
                <a:solidFill>
                  <a:srgbClr val="CFE3DC"/>
                </a:solidFill>
              </a:rPr>
              <a:t>다음  ▸  3교시 — 가족회의를 촉진하다</a:t>
            </a:r>
            <a:endParaRPr lang="en-US" sz="15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1737360"/>
            <a:ext cx="5486400" cy="548640"/>
          </a:xfrm>
          <a:prstGeom prst="rect">
            <a:avLst/>
          </a:prstGeom>
          <a:noFill/>
          <a:ln/>
        </p:spPr>
        <p:txBody>
          <a:bodyPr wrap="square" lIns="0" tIns="0" rIns="0" bIns="0" rtlCol="0" anchor="t"/>
          <a:lstStyle/>
          <a:p>
            <a:pPr indent="0" marL="0">
              <a:buNone/>
            </a:pPr>
            <a:r>
              <a:rPr lang="en-US" sz="2200" b="1" dirty="0">
                <a:solidFill>
                  <a:srgbClr val="8FB9A8"/>
                </a:solidFill>
              </a:rPr>
              <a:t>3교시</a:t>
            </a:r>
            <a:endParaRPr lang="en-US" sz="2200" dirty="0"/>
          </a:p>
        </p:txBody>
      </p:sp>
      <p:sp>
        <p:nvSpPr>
          <p:cNvPr id="3" name="Text 0"/>
          <p:cNvSpPr/>
          <p:nvPr>
            <p:ph idx="100" type="title" hasCustomPrompt="1"/>
          </p:nvPr>
        </p:nvSpPr>
        <p:spPr>
          <a:xfrm>
            <a:off x="548640" y="2651760"/>
            <a:ext cx="11094415" cy="1005840"/>
          </a:xfrm>
          <a:prstGeom prst="rect">
            <a:avLst/>
          </a:prstGeom>
          <a:noFill/>
          <a:ln/>
        </p:spPr>
        <p:txBody>
          <a:bodyPr wrap="square" lIns="0" tIns="0" rIns="0" bIns="0" rtlCol="0" anchor="t"/>
          <a:lstStyle/>
          <a:p>
            <a:pPr algn="l" indent="0" marL="0">
              <a:buNone/>
            </a:pPr>
            <a:r>
              <a:rPr lang="en-US" sz="4000" b="1" dirty="0">
                <a:solidFill>
                  <a:srgbClr val="FFFFFF"/>
                </a:solidFill>
              </a:rPr>
              <a:t>가족회의를 촉진하다</a:t>
            </a:r>
            <a:endParaRPr lang="en-US" sz="4000" dirty="0"/>
          </a:p>
        </p:txBody>
      </p:sp>
      <p:sp>
        <p:nvSpPr>
          <p:cNvPr id="4" name="Text 2"/>
          <p:cNvSpPr txBox="1"/>
          <p:nvPr/>
        </p:nvSpPr>
        <p:spPr>
          <a:xfrm>
            <a:off x="548640" y="3749040"/>
            <a:ext cx="11094415" cy="548640"/>
          </a:xfrm>
          <a:prstGeom prst="rect">
            <a:avLst/>
          </a:prstGeom>
          <a:noFill/>
          <a:ln/>
        </p:spPr>
        <p:txBody>
          <a:bodyPr wrap="square" lIns="0" tIns="0" rIns="0" bIns="0" rtlCol="0" anchor="t"/>
          <a:lstStyle/>
          <a:p>
            <a:pPr indent="0" marL="0">
              <a:buNone/>
            </a:pPr>
            <a:r>
              <a:rPr lang="en-US" sz="2000" dirty="0">
                <a:solidFill>
                  <a:srgbClr val="CFE3DC"/>
                </a:solidFill>
              </a:rPr>
              <a:t>누가 이기는가에서, 그분이 무엇을 원했는가로</a:t>
            </a:r>
            <a:endParaRPr lang="en-US" sz="2000" dirty="0"/>
          </a:p>
        </p:txBody>
      </p:sp>
      <p:sp>
        <p:nvSpPr>
          <p:cNvPr id="5" name="Text 3"/>
          <p:cNvSpPr txBox="1"/>
          <p:nvPr/>
        </p:nvSpPr>
        <p:spPr>
          <a:xfrm>
            <a:off x="548640" y="4480560"/>
            <a:ext cx="11094415" cy="164592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FFFFFF"/>
                </a:solidFill>
              </a:rPr>
              <a:t>코칭 사례 세 가지 — 효도·엇갈린 진술·장례 형식</a:t>
            </a:r>
            <a:endParaRPr lang="en-US" sz="1900" dirty="0"/>
          </a:p>
          <a:p>
            <a:pPr marL="342900" indent="-342900">
              <a:spcAft>
                <a:spcPts val="600"/>
              </a:spcAft>
              <a:buSzPct val="100000"/>
              <a:buChar char="•"/>
            </a:pPr>
            <a:r>
              <a:rPr lang="en-US" sz="1900" dirty="0">
                <a:solidFill>
                  <a:srgbClr val="FFFFFF"/>
                </a:solidFill>
              </a:rPr>
              <a:t>실습 1 I-Message 바꾸기 · 실습 2 사실·가치·감정 분리</a:t>
            </a:r>
            <a:endParaRPr lang="en-US" sz="1900" dirty="0"/>
          </a:p>
          <a:p>
            <a:pPr marL="342900" indent="-342900">
              <a:spcAft>
                <a:spcPts val="600"/>
              </a:spcAft>
              <a:buSzPct val="100000"/>
              <a:buChar char="•"/>
            </a:pPr>
            <a:r>
              <a:rPr lang="en-US" sz="1900" dirty="0">
                <a:solidFill>
                  <a:srgbClr val="FFFFFF"/>
                </a:solidFill>
              </a:rPr>
              <a:t>실습 3 20분 가족회의 시뮬레이션 · 체크리스트</a:t>
            </a:r>
            <a:endParaRPr lang="en-US" sz="19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13절 코칭 사례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“끝까지 치료해야 효도다”</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감정 인정 </a:t>
            </a:r>
            <a:pPr indent="0" marL="0">
              <a:buNone/>
            </a:pPr>
            <a:r>
              <a:rPr lang="en-US" sz="2200" dirty="0">
                <a:solidFill>
                  <a:srgbClr val="222222"/>
                </a:solidFill>
              </a:rPr>
              <a:t>  “치료를 멈추면 아버지를 포기하는 것처럼 느껴져 견디기 어려우신 것 같아요.”</a:t>
            </a:r>
            <a:endParaRPr lang="en-US" sz="2200" dirty="0"/>
          </a:p>
        </p:txBody>
      </p:sp>
      <p:sp>
        <p:nvSpPr>
          <p:cNvPr id="7" name="Shape 5"/>
          <p:cNvSpPr/>
          <p:nvPr/>
        </p:nvSpPr>
        <p:spPr>
          <a:xfrm>
            <a:off x="548640" y="248031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48031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5287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환자 중심 </a:t>
            </a:r>
            <a:pPr indent="0" marL="0">
              <a:buNone/>
            </a:pPr>
            <a:r>
              <a:rPr lang="en-US" sz="2200" dirty="0">
                <a:solidFill>
                  <a:srgbClr val="222222"/>
                </a:solidFill>
              </a:rPr>
              <a:t>  “동시에 가장 먼저 확인할 것은 아버님이 건강할 때 어떤 뜻을 남기셨는지예요.”</a:t>
            </a:r>
            <a:endParaRPr lang="en-US" sz="2200" dirty="0"/>
          </a:p>
        </p:txBody>
      </p:sp>
      <p:sp>
        <p:nvSpPr>
          <p:cNvPr id="10" name="Shape 8"/>
          <p:cNvSpPr/>
          <p:nvPr/>
        </p:nvSpPr>
        <p:spPr>
          <a:xfrm>
            <a:off x="548640" y="336042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3604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33298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의미 재구성 </a:t>
            </a:r>
            <a:pPr indent="0" marL="0">
              <a:buNone/>
            </a:pPr>
            <a:r>
              <a:rPr lang="en-US" sz="2200" dirty="0">
                <a:solidFill>
                  <a:srgbClr val="222222"/>
                </a:solidFill>
              </a:rPr>
              <a:t>  “끝까지 사랑한다는 것이 꼭 모든 시술을 계속한다는 뜻만은 아닐 수 있어요.”</a:t>
            </a:r>
            <a:endParaRPr lang="en-US" sz="2200" dirty="0"/>
          </a:p>
        </p:txBody>
      </p:sp>
      <p:sp>
        <p:nvSpPr>
          <p:cNvPr id="13" name="Shape 11"/>
          <p:cNvSpPr/>
          <p:nvPr/>
        </p:nvSpPr>
        <p:spPr>
          <a:xfrm>
            <a:off x="548640" y="424053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2405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213098"/>
            <a:ext cx="10408615" cy="806958"/>
          </a:xfrm>
          <a:prstGeom prst="rect">
            <a:avLst/>
          </a:prstGeom>
          <a:noFill/>
          <a:ln/>
        </p:spPr>
        <p:txBody>
          <a:bodyPr wrap="square" lIns="0" tIns="0" rIns="0" bIns="0" rtlCol="0" anchor="t"/>
          <a:lstStyle/>
          <a:p>
            <a:pPr indent="0" marL="0">
              <a:buNone/>
            </a:pPr>
            <a:r>
              <a:rPr lang="en-US" sz="2200" b="1" dirty="0">
                <a:solidFill>
                  <a:srgbClr val="1F4E4A"/>
                </a:solidFill>
              </a:rPr>
              <a:t>전문 연결 </a:t>
            </a:r>
            <a:pPr indent="0" marL="0">
              <a:buNone/>
            </a:pPr>
            <a:r>
              <a:rPr lang="en-US" sz="2200" dirty="0">
                <a:solidFill>
                  <a:srgbClr val="222222"/>
                </a:solidFill>
              </a:rPr>
              <a:t>  “실제 법정 요건과 치료효과는 담당 의료진이 설명하도록 질문을 정리해 볼게요.”</a:t>
            </a:r>
            <a:endParaRPr lang="en-US" sz="2200" dirty="0"/>
          </a:p>
        </p:txBody>
      </p:sp>
      <p:sp>
        <p:nvSpPr>
          <p:cNvPr id="16" name="Shape 14"/>
          <p:cNvSpPr/>
          <p:nvPr/>
        </p:nvSpPr>
        <p:spPr>
          <a:xfrm>
            <a:off x="548640" y="5303520"/>
            <a:ext cx="11094415" cy="868680"/>
          </a:xfrm>
          <a:prstGeom prst="roundRect">
            <a:avLst>
              <a:gd name="adj" fmla="val 12632"/>
            </a:avLst>
          </a:prstGeom>
          <a:solidFill>
            <a:srgbClr val="EAF3F0"/>
          </a:solidFill>
          <a:ln w="12700">
            <a:solidFill>
              <a:srgbClr val="EAF3F0"/>
            </a:solidFill>
            <a:prstDash val="solid"/>
          </a:ln>
        </p:spPr>
      </p:sp>
      <p:sp>
        <p:nvSpPr>
          <p:cNvPr id="17" name="Shape 15"/>
          <p:cNvSpPr/>
          <p:nvPr/>
        </p:nvSpPr>
        <p:spPr>
          <a:xfrm>
            <a:off x="777240" y="5509260"/>
            <a:ext cx="457200" cy="457200"/>
          </a:xfrm>
          <a:prstGeom prst="ellipse">
            <a:avLst/>
          </a:prstGeom>
          <a:solidFill>
            <a:srgbClr val="2E7D6B"/>
          </a:solidFill>
          <a:ln w="12700">
            <a:solidFill>
              <a:srgbClr val="2E7D6B"/>
            </a:solidFill>
            <a:prstDash val="solid"/>
          </a:ln>
        </p:spPr>
      </p:sp>
      <p:pic>
        <p:nvPicPr>
          <p:cNvPr id="18" name="Image 0" descr="preencoded.png">    </p:cNvPr>
          <p:cNvPicPr>
            <a:picLocks noChangeAspect="1"/>
          </p:cNvPicPr>
          <p:nvPr/>
        </p:nvPicPr>
        <p:blipFill>
          <a:blip r:embed="rId1"/>
          <a:stretch>
            <a:fillRect/>
          </a:stretch>
        </p:blipFill>
        <p:spPr>
          <a:xfrm>
            <a:off x="896112" y="5628132"/>
            <a:ext cx="219456" cy="219456"/>
          </a:xfrm>
          <a:prstGeom prst="rect">
            <a:avLst/>
          </a:prstGeom>
        </p:spPr>
      </p:pic>
      <p:sp>
        <p:nvSpPr>
          <p:cNvPr id="19" name="Text 16"/>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2E7D6B"/>
                </a:solidFill>
              </a:rPr>
              <a:t>상황   </a:t>
            </a:r>
            <a:pPr indent="0" marL="0">
              <a:buNone/>
            </a:pPr>
            <a:r>
              <a:rPr lang="en-US" sz="1800" dirty="0">
                <a:solidFill>
                  <a:srgbClr val="222222"/>
                </a:solidFill>
              </a:rPr>
              <a:t>82세 아버지, 임종과정, 적법한 의향서 확인. 장남은 중단에 동의, 차남은 “끝까지 치료하지 않으면 불효”라며 반대합니다.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14·15절 코칭 사례 2·3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엇갈린 진술, 그리고 장례 형식의 갈등</a:t>
            </a:r>
            <a:endParaRPr lang="en-US" sz="2800" dirty="0"/>
          </a:p>
        </p:txBody>
      </p:sp>
      <p:sp>
        <p:nvSpPr>
          <p:cNvPr id="4" name="Shape 2"/>
          <p:cNvSpPr/>
          <p:nvPr/>
        </p:nvSpPr>
        <p:spPr>
          <a:xfrm>
            <a:off x="548640" y="1554480"/>
            <a:ext cx="5410048" cy="4617720"/>
          </a:xfrm>
          <a:prstGeom prst="roundRect">
            <a:avLst>
              <a:gd name="adj" fmla="val 2376"/>
            </a:avLst>
          </a:prstGeom>
          <a:solidFill>
            <a:srgbClr val="FDF1DC"/>
          </a:solidFill>
          <a:ln w="12700">
            <a:solidFill>
              <a:srgbClr val="FDF1DC"/>
            </a:solidFill>
            <a:prstDash val="solid"/>
          </a:ln>
        </p:spPr>
      </p:sp>
      <p:sp>
        <p:nvSpPr>
          <p:cNvPr id="5" name="Shape 3"/>
          <p:cNvSpPr/>
          <p:nvPr/>
        </p:nvSpPr>
        <p:spPr>
          <a:xfrm>
            <a:off x="777240" y="1783080"/>
            <a:ext cx="548640" cy="548640"/>
          </a:xfrm>
          <a:prstGeom prst="ellipse">
            <a:avLst/>
          </a:prstGeom>
          <a:solidFill>
            <a:srgbClr val="D98E04"/>
          </a:solidFill>
          <a:ln w="12700">
            <a:solidFill>
              <a:srgbClr val="D98E04"/>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4952848" cy="3566160"/>
          </a:xfrm>
          <a:prstGeom prst="rect">
            <a:avLst/>
          </a:prstGeom>
          <a:noFill/>
          <a:ln/>
        </p:spPr>
        <p:txBody>
          <a:bodyPr wrap="square" lIns="0" tIns="0" rIns="0" bIns="0" rtlCol="0" anchor="t"/>
          <a:lstStyle/>
          <a:p>
            <a:pPr indent="0" marL="0">
              <a:spcAft>
                <a:spcPts val="600"/>
              </a:spcAft>
              <a:buNone/>
            </a:pPr>
            <a:r>
              <a:rPr lang="en-US" sz="2200" b="1" dirty="0">
                <a:solidFill>
                  <a:srgbClr val="D98E04"/>
                </a:solidFill>
              </a:rPr>
              <a:t>사례 2 — 가족 진술이 엇갈린다</a:t>
            </a:r>
            <a:endParaRPr lang="en-US" sz="2200" dirty="0"/>
          </a:p>
          <a:p>
            <a:pPr indent="0" marL="0">
              <a:buNone/>
            </a:pPr>
            <a:r>
              <a:rPr lang="en-US" sz="2100" dirty="0">
                <a:solidFill>
                  <a:srgbClr val="222222"/>
                </a:solidFill>
              </a:rPr>
              <a:t>의향서 없음, 환자 의사표현 불가. 한 자녀는 “기계치료 원치 않으셨다”, 다른 자녀는 “끝까지 해 달라 하셨다”.</a:t>
            </a:r>
            <a:endParaRPr lang="en-US" sz="2200" dirty="0"/>
          </a:p>
          <a:p>
            <a:pPr indent="0" marL="0">
              <a:buNone/>
            </a:pPr>
            <a:r>
              <a:rPr lang="en-US" sz="2100" dirty="0">
                <a:solidFill>
                  <a:srgbClr val="222222"/>
                </a:solidFill>
              </a:rPr>
              <a:t>→ 제17조 가족진술은 일치된 진술이 전제. ① 각자 기억하는 구체적 발언 기록 ② 의료진에게 절차 확인 ③ 공통으로 기억하는 환자의 가치 찾기</a:t>
            </a:r>
            <a:endParaRPr lang="en-US" sz="2200" dirty="0"/>
          </a:p>
        </p:txBody>
      </p:sp>
      <p:sp>
        <p:nvSpPr>
          <p:cNvPr id="8" name="Shape 5"/>
          <p:cNvSpPr/>
          <p:nvPr/>
        </p:nvSpPr>
        <p:spPr>
          <a:xfrm>
            <a:off x="6233008" y="1554480"/>
            <a:ext cx="5410048" cy="4617720"/>
          </a:xfrm>
          <a:prstGeom prst="roundRect">
            <a:avLst>
              <a:gd name="adj" fmla="val 2376"/>
            </a:avLst>
          </a:prstGeom>
          <a:solidFill>
            <a:srgbClr val="EAF3F0"/>
          </a:solidFill>
          <a:ln w="12700">
            <a:solidFill>
              <a:srgbClr val="EAF3F0"/>
            </a:solidFill>
            <a:prstDash val="solid"/>
          </a:ln>
        </p:spPr>
      </p:sp>
      <p:sp>
        <p:nvSpPr>
          <p:cNvPr id="9" name="Shape 6"/>
          <p:cNvSpPr/>
          <p:nvPr/>
        </p:nvSpPr>
        <p:spPr>
          <a:xfrm>
            <a:off x="646160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6604254" y="1925726"/>
            <a:ext cx="263347" cy="263347"/>
          </a:xfrm>
          <a:prstGeom prst="rect">
            <a:avLst/>
          </a:prstGeom>
        </p:spPr>
      </p:pic>
      <p:sp>
        <p:nvSpPr>
          <p:cNvPr id="11" name="Text 7"/>
          <p:cNvSpPr txBox="1"/>
          <p:nvPr/>
        </p:nvSpPr>
        <p:spPr>
          <a:xfrm>
            <a:off x="6461608" y="2468880"/>
            <a:ext cx="495284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사례 3 — 장례 형식</a:t>
            </a:r>
            <a:endParaRPr lang="en-US" sz="2200" dirty="0"/>
          </a:p>
          <a:p>
            <a:pPr indent="0" marL="0">
              <a:buNone/>
            </a:pPr>
            <a:r>
              <a:rPr lang="en-US" sz="2200" dirty="0">
                <a:solidFill>
                  <a:srgbClr val="222222"/>
                </a:solidFill>
              </a:rPr>
              <a:t>부모는 “가족끼리 조용히”, 큰자녀는 “지위에 맞게 크게”.</a:t>
            </a:r>
            <a:endParaRPr lang="en-US" sz="2200" dirty="0"/>
          </a:p>
          <a:p>
            <a:pPr indent="0" marL="0">
              <a:buNone/>
            </a:pPr>
            <a:r>
              <a:rPr lang="en-US" sz="2200" dirty="0">
                <a:solidFill>
                  <a:srgbClr val="222222"/>
                </a:solidFill>
              </a:rPr>
              <a:t>→ “각자 지키고 싶은 것을 한 문장으로 말해 볼까요?” “큰 빈소가 아니어도 인사를 받을 다른 방식이 있을까요?”</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17.1 실습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You-Message를 I-Message로 바꾸기</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4206240"/>
                <a:gridCol w="6858000"/>
              </a:tblGrid>
              <a:tr h="868680">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You-Message</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I-Message로 바꾸기 (상황 → 감정 → 영향·필요)</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86868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“형은 아버지를 고통스럽게 하고 있어.”</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86868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“너는 돈 때문에 엄마를 시설에 보내려는 거야.”</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86868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“누나는 부모 재산만 관심 있어.”</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86868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“엄마는 왜 미리 아무 말도 안 했어?”</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17.2 실습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사실·가치·감정 분리</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291840"/>
                <a:gridCol w="1828800"/>
                <a:gridCol w="1828800"/>
                <a:gridCol w="1828800"/>
                <a:gridCol w="2286000"/>
              </a:tblGrid>
              <a:tr h="960120">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가족 발언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사실</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가치</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감정</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400" b="1" dirty="0">
                          <a:solidFill>
                            <a:srgbClr val="FFFFFF"/>
                          </a:solidFill>
                          <a:latin typeface="Noto Serif KR Black" pitchFamily="34" charset="0"/>
                          <a:ea typeface="Noto Serif KR Black" pitchFamily="34" charset="-122"/>
                          <a:cs typeface="Noto Serif KR Black" pitchFamily="34" charset="-120"/>
                        </a:rPr>
                        <a:t>추가 확인 질문</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9601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“의사가 포기하려는 것 같아요.”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9601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“아버지는 절대 기계에 매달리지 않겠다고 했어요.”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960120">
                <a:tc>
                  <a:txBody>
                    <a:bodyPr/>
                    <a:lstStyle/>
                    <a:p>
                      <a:pPr indent="0" marL="0">
                        <a:buNone/>
                      </a:pPr>
                      <a:r>
                        <a:rPr lang="en-US" sz="1400" b="1" dirty="0">
                          <a:solidFill>
                            <a:srgbClr val="1F4E4A"/>
                          </a:solidFill>
                          <a:latin typeface="Noto Serif KR Black" pitchFamily="34" charset="0"/>
                          <a:ea typeface="Noto Serif KR Black" pitchFamily="34" charset="-122"/>
                          <a:cs typeface="Noto Serif KR Black" pitchFamily="34" charset="-120"/>
                        </a:rPr>
                        <a:t>“장례는 무조건 크게 해야 해요.”</a:t>
                      </a: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c>
                  <a:txBody>
                    <a:bodyPr/>
                    <a:lstStyle/>
                    <a:p>
                      <a:pPr indent="0" marL="0">
                        <a:buNone/>
                      </a:pPr>
                      <a:endParaRPr lang="en-US" sz="14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17.3 실습 3 안내</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20분 가족회의 시뮬레이션 — 진행표</a:t>
            </a:r>
            <a:endParaRPr lang="en-US" sz="28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011680"/>
                <a:gridCol w="9052560"/>
              </a:tblGrid>
              <a:tr h="548640">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시간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c>
                  <a:txBody>
                    <a:bodyPr/>
                    <a:lstStyle/>
                    <a:p>
                      <a:pPr algn="ctr" indent="0" marL="0">
                        <a:buNone/>
                      </a:pPr>
                      <a:r>
                        <a:rPr lang="en-US" sz="1600" b="1" dirty="0">
                          <a:solidFill>
                            <a:srgbClr val="FFFFFF"/>
                          </a:solidFill>
                          <a:latin typeface="Noto Serif KR Black" pitchFamily="34" charset="0"/>
                          <a:ea typeface="Noto Serif KR Black" pitchFamily="34" charset="-122"/>
                          <a:cs typeface="Noto Serif KR Black" pitchFamily="34" charset="-120"/>
                        </a:rPr>
                        <a:t>진행</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0~3분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목적·중립성·발언 순서 안내</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3~7분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의료·법적 사실 확인</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7~11분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환자의 가치·평소 의사 확인</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11~16분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가족별 감정·욕구 듣기</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16~19분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공통점·남은 질문 정리</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FFFFF"/>
                    </a:solidFill>
                  </a:tcPr>
                </a:tc>
              </a:tr>
              <a:tr h="548640">
                <a:tc>
                  <a:txBody>
                    <a:bodyPr/>
                    <a:lstStyle/>
                    <a:p>
                      <a:pPr indent="0" marL="0">
                        <a:buNone/>
                      </a:pPr>
                      <a:r>
                        <a:rPr lang="en-US" sz="1600" b="1" dirty="0">
                          <a:solidFill>
                            <a:srgbClr val="1F4E4A"/>
                          </a:solidFill>
                          <a:latin typeface="Noto Serif KR Black" pitchFamily="34" charset="0"/>
                          <a:ea typeface="Noto Serif KR Black" pitchFamily="34" charset="-122"/>
                          <a:cs typeface="Noto Serif KR Black" pitchFamily="34" charset="-120"/>
                        </a:rPr>
                        <a:t>19~20분</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c>
                  <a:txBody>
                    <a:bodyPr/>
                    <a:lstStyle/>
                    <a:p>
                      <a:pPr indent="0" marL="0">
                        <a:buNone/>
                      </a:pPr>
                      <a:r>
                        <a:rPr lang="en-US" sz="1600" dirty="0">
                          <a:solidFill>
                            <a:srgbClr val="222222"/>
                          </a:solidFill>
                          <a:latin typeface="Noto Serif KR Black" pitchFamily="34" charset="0"/>
                          <a:ea typeface="Noto Serif KR Black" pitchFamily="34" charset="-122"/>
                          <a:cs typeface="Noto Serif KR Black" pitchFamily="34" charset="-120"/>
                        </a:rPr>
                        <a:t>다음 행동과 담당자 정하기</a:t>
                      </a:r>
                      <a:endParaRPr lang="en-US" sz="16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F7F9F8"/>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17.3 실습 3 · 조별</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20분 가족회의 시뮬레이션</a:t>
            </a:r>
            <a:endParaRPr lang="en-US" sz="2800" dirty="0"/>
          </a:p>
        </p:txBody>
      </p:sp>
      <p:sp>
        <p:nvSpPr>
          <p:cNvPr id="4" name="Shape 2"/>
          <p:cNvSpPr/>
          <p:nvPr/>
        </p:nvSpPr>
        <p:spPr>
          <a:xfrm>
            <a:off x="548640" y="1554480"/>
            <a:ext cx="7406640" cy="4572000"/>
          </a:xfrm>
          <a:prstGeom prst="roundRect">
            <a:avLst>
              <a:gd name="adj" fmla="val 2400"/>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822960" y="1737360"/>
            <a:ext cx="6858000" cy="960120"/>
          </a:xfrm>
          <a:prstGeom prst="rect">
            <a:avLst/>
          </a:prstGeom>
          <a:noFill/>
          <a:ln/>
        </p:spPr>
        <p:txBody>
          <a:bodyPr wrap="square" lIns="0" tIns="0" rIns="0" bIns="0" rtlCol="0" anchor="ctr"/>
          <a:lstStyle/>
          <a:p>
            <a:pPr indent="0" marL="0">
              <a:buNone/>
            </a:pPr>
            <a:r>
              <a:rPr lang="en-US" sz="2300" b="1" dirty="0">
                <a:solidFill>
                  <a:srgbClr val="1F4E4A"/>
                </a:solidFill>
              </a:rPr>
              <a:t>사례 1(“끝까지 치료해야 효도다”) 가족이 모였습니다. WLC가 7단계로 회의를 진행합니다.</a:t>
            </a:r>
            <a:endParaRPr lang="en-US" sz="2300" dirty="0"/>
          </a:p>
        </p:txBody>
      </p:sp>
      <p:sp>
        <p:nvSpPr>
          <p:cNvPr id="6" name="Shape 4"/>
          <p:cNvSpPr/>
          <p:nvPr/>
        </p:nvSpPr>
        <p:spPr>
          <a:xfrm>
            <a:off x="822960" y="2852928"/>
            <a:ext cx="384048" cy="384048"/>
          </a:xfrm>
          <a:prstGeom prst="ellipse">
            <a:avLst/>
          </a:prstGeom>
          <a:solidFill>
            <a:srgbClr val="2E7D6B"/>
          </a:solidFill>
          <a:ln w="12700">
            <a:solidFill>
              <a:srgbClr val="2E7D6B"/>
            </a:solidFill>
            <a:prstDash val="solid"/>
          </a:ln>
        </p:spPr>
      </p:sp>
      <p:sp>
        <p:nvSpPr>
          <p:cNvPr id="7" name="Text 5"/>
          <p:cNvSpPr txBox="1"/>
          <p:nvPr/>
        </p:nvSpPr>
        <p:spPr>
          <a:xfrm>
            <a:off x="822960" y="28529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8" name="Text 6"/>
          <p:cNvSpPr txBox="1"/>
          <p:nvPr/>
        </p:nvSpPr>
        <p:spPr>
          <a:xfrm>
            <a:off x="1371600" y="2834640"/>
            <a:ext cx="6309360" cy="731520"/>
          </a:xfrm>
          <a:prstGeom prst="rect">
            <a:avLst/>
          </a:prstGeom>
          <a:noFill/>
          <a:ln/>
        </p:spPr>
        <p:txBody>
          <a:bodyPr wrap="square" lIns="0" tIns="0" rIns="0" bIns="0" rtlCol="0" anchor="t"/>
          <a:lstStyle/>
          <a:p>
            <a:pPr indent="0" marL="0">
              <a:buNone/>
            </a:pPr>
            <a:r>
              <a:rPr lang="en-US" sz="2100" dirty="0">
                <a:solidFill>
                  <a:srgbClr val="222222"/>
                </a:solidFill>
              </a:rPr>
              <a:t>조별로 WLC·관찰자·가족 역할을 정하고 역할 카드를 읽습니다(2분).</a:t>
            </a:r>
            <a:endParaRPr lang="en-US" sz="2100" dirty="0"/>
          </a:p>
        </p:txBody>
      </p:sp>
      <p:sp>
        <p:nvSpPr>
          <p:cNvPr id="9" name="Shape 7"/>
          <p:cNvSpPr/>
          <p:nvPr/>
        </p:nvSpPr>
        <p:spPr>
          <a:xfrm>
            <a:off x="822960" y="3630168"/>
            <a:ext cx="384048" cy="384048"/>
          </a:xfrm>
          <a:prstGeom prst="ellipse">
            <a:avLst/>
          </a:prstGeom>
          <a:solidFill>
            <a:srgbClr val="2E7D6B"/>
          </a:solidFill>
          <a:ln w="12700">
            <a:solidFill>
              <a:srgbClr val="2E7D6B"/>
            </a:solidFill>
            <a:prstDash val="solid"/>
          </a:ln>
        </p:spPr>
      </p:sp>
      <p:sp>
        <p:nvSpPr>
          <p:cNvPr id="10" name="Text 8"/>
          <p:cNvSpPr txBox="1"/>
          <p:nvPr/>
        </p:nvSpPr>
        <p:spPr>
          <a:xfrm>
            <a:off x="82296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371600" y="3611880"/>
            <a:ext cx="6309360" cy="731520"/>
          </a:xfrm>
          <a:prstGeom prst="rect">
            <a:avLst/>
          </a:prstGeom>
          <a:noFill/>
          <a:ln/>
        </p:spPr>
        <p:txBody>
          <a:bodyPr wrap="square" lIns="0" tIns="0" rIns="0" bIns="0" rtlCol="0" anchor="t"/>
          <a:lstStyle/>
          <a:p>
            <a:pPr indent="0" marL="0">
              <a:buNone/>
            </a:pPr>
            <a:r>
              <a:rPr lang="en-US" sz="2100" dirty="0">
                <a:solidFill>
                  <a:srgbClr val="222222"/>
                </a:solidFill>
              </a:rPr>
              <a:t>WLC는 진행표에 따라 20분 회의를 진행합니다(실제 진행 15분으로 압축 가능).</a:t>
            </a:r>
            <a:endParaRPr lang="en-US" sz="2100" dirty="0"/>
          </a:p>
        </p:txBody>
      </p:sp>
      <p:sp>
        <p:nvSpPr>
          <p:cNvPr id="12" name="Shape 10"/>
          <p:cNvSpPr/>
          <p:nvPr/>
        </p:nvSpPr>
        <p:spPr>
          <a:xfrm>
            <a:off x="822960" y="4407408"/>
            <a:ext cx="384048" cy="384048"/>
          </a:xfrm>
          <a:prstGeom prst="ellipse">
            <a:avLst/>
          </a:prstGeom>
          <a:solidFill>
            <a:srgbClr val="2E7D6B"/>
          </a:solidFill>
          <a:ln w="12700">
            <a:solidFill>
              <a:srgbClr val="2E7D6B"/>
            </a:solidFill>
            <a:prstDash val="solid"/>
          </a:ln>
        </p:spPr>
      </p:sp>
      <p:sp>
        <p:nvSpPr>
          <p:cNvPr id="13" name="Text 11"/>
          <p:cNvSpPr txBox="1"/>
          <p:nvPr/>
        </p:nvSpPr>
        <p:spPr>
          <a:xfrm>
            <a:off x="82296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1371600" y="4389120"/>
            <a:ext cx="6309360" cy="731520"/>
          </a:xfrm>
          <a:prstGeom prst="rect">
            <a:avLst/>
          </a:prstGeom>
          <a:noFill/>
          <a:ln/>
        </p:spPr>
        <p:txBody>
          <a:bodyPr wrap="square" lIns="0" tIns="0" rIns="0" bIns="0" rtlCol="0" anchor="t"/>
          <a:lstStyle/>
          <a:p>
            <a:pPr indent="0" marL="0">
              <a:buNone/>
            </a:pPr>
            <a:r>
              <a:rPr lang="en-US" sz="2100" dirty="0">
                <a:solidFill>
                  <a:srgbClr val="222222"/>
                </a:solidFill>
              </a:rPr>
              <a:t>관찰자는 다음 장의 체크리스트로 WLC를 관찰합니다.</a:t>
            </a:r>
            <a:endParaRPr lang="en-US" sz="2100" dirty="0"/>
          </a:p>
        </p:txBody>
      </p:sp>
      <p:sp>
        <p:nvSpPr>
          <p:cNvPr id="15" name="Shape 13"/>
          <p:cNvSpPr/>
          <p:nvPr/>
        </p:nvSpPr>
        <p:spPr>
          <a:xfrm>
            <a:off x="822960" y="5184648"/>
            <a:ext cx="384048" cy="384048"/>
          </a:xfrm>
          <a:prstGeom prst="ellipse">
            <a:avLst/>
          </a:prstGeom>
          <a:solidFill>
            <a:srgbClr val="2E7D6B"/>
          </a:solidFill>
          <a:ln w="12700">
            <a:solidFill>
              <a:srgbClr val="2E7D6B"/>
            </a:solidFill>
            <a:prstDash val="solid"/>
          </a:ln>
        </p:spPr>
      </p:sp>
      <p:sp>
        <p:nvSpPr>
          <p:cNvPr id="16" name="Text 14"/>
          <p:cNvSpPr txBox="1"/>
          <p:nvPr/>
        </p:nvSpPr>
        <p:spPr>
          <a:xfrm>
            <a:off x="822960" y="51846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371600" y="5166360"/>
            <a:ext cx="6309360" cy="731520"/>
          </a:xfrm>
          <a:prstGeom prst="rect">
            <a:avLst/>
          </a:prstGeom>
          <a:noFill/>
          <a:ln/>
        </p:spPr>
        <p:txBody>
          <a:bodyPr wrap="square" lIns="0" tIns="0" rIns="0" bIns="0" rtlCol="0" anchor="t"/>
          <a:lstStyle/>
          <a:p>
            <a:pPr indent="0" marL="0">
              <a:buNone/>
            </a:pPr>
            <a:r>
              <a:rPr lang="en-US" sz="2100" dirty="0">
                <a:solidFill>
                  <a:srgbClr val="222222"/>
                </a:solidFill>
              </a:rPr>
              <a:t>끝나면 역할에서 나와 “가족 역할을 하며 느낀 것”을 1분씩 나눕니다.</a:t>
            </a:r>
            <a:endParaRPr lang="en-US" sz="2100" dirty="0"/>
          </a:p>
        </p:txBody>
      </p:sp>
      <p:sp>
        <p:nvSpPr>
          <p:cNvPr id="18" name="Shape 16"/>
          <p:cNvSpPr/>
          <p:nvPr/>
        </p:nvSpPr>
        <p:spPr>
          <a:xfrm>
            <a:off x="8229600" y="1554480"/>
            <a:ext cx="3413455" cy="1417320"/>
          </a:xfrm>
          <a:prstGeom prst="roundRect">
            <a:avLst>
              <a:gd name="adj" fmla="val 7742"/>
            </a:avLst>
          </a:prstGeom>
          <a:solidFill>
            <a:srgbClr val="1F4E4A"/>
          </a:solidFill>
          <a:ln w="12700">
            <a:solidFill>
              <a:srgbClr val="1F4E4A"/>
            </a:solidFill>
            <a:prstDash val="solid"/>
          </a:ln>
        </p:spPr>
      </p:sp>
      <p:sp>
        <p:nvSpPr>
          <p:cNvPr id="19" name="Shape 17"/>
          <p:cNvSpPr/>
          <p:nvPr/>
        </p:nvSpPr>
        <p:spPr>
          <a:xfrm>
            <a:off x="8430768" y="1755648"/>
            <a:ext cx="457200" cy="457200"/>
          </a:xfrm>
          <a:prstGeom prst="ellipse">
            <a:avLst/>
          </a:prstGeom>
          <a:solidFill>
            <a:srgbClr val="D98E04"/>
          </a:solidFill>
          <a:ln w="12700">
            <a:solidFill>
              <a:srgbClr val="D98E04"/>
            </a:solidFill>
            <a:prstDash val="solid"/>
          </a:ln>
        </p:spPr>
      </p:sp>
      <p:pic>
        <p:nvPicPr>
          <p:cNvPr id="20" name="Image 0" descr="preencoded.png">    </p:cNvPr>
          <p:cNvPicPr>
            <a:picLocks noChangeAspect="1"/>
          </p:cNvPicPr>
          <p:nvPr/>
        </p:nvPicPr>
        <p:blipFill>
          <a:blip r:embed="rId1"/>
          <a:stretch>
            <a:fillRect/>
          </a:stretch>
        </p:blipFill>
        <p:spPr>
          <a:xfrm>
            <a:off x="8549640" y="1874520"/>
            <a:ext cx="219456" cy="219456"/>
          </a:xfrm>
          <a:prstGeom prst="rect">
            <a:avLst/>
          </a:prstGeom>
        </p:spPr>
      </p:pic>
      <p:sp>
        <p:nvSpPr>
          <p:cNvPr id="21" name="Text 18"/>
          <p:cNvSpPr txBox="1"/>
          <p:nvPr/>
        </p:nvSpPr>
        <p:spPr>
          <a:xfrm>
            <a:off x="9006840" y="1755648"/>
            <a:ext cx="2499055" cy="457200"/>
          </a:xfrm>
          <a:prstGeom prst="rect">
            <a:avLst/>
          </a:prstGeom>
          <a:noFill/>
          <a:ln/>
        </p:spPr>
        <p:txBody>
          <a:bodyPr wrap="square" lIns="0" tIns="0" rIns="0" bIns="0" rtlCol="0" anchor="ctr"/>
          <a:lstStyle/>
          <a:p>
            <a:pPr indent="0" marL="0">
              <a:buNone/>
            </a:pPr>
            <a:r>
              <a:rPr lang="en-US" sz="1400" b="1" dirty="0">
                <a:solidFill>
                  <a:srgbClr val="A8C5BC"/>
                </a:solidFill>
              </a:rPr>
              <a:t>시간</a:t>
            </a:r>
            <a:endParaRPr lang="en-US" sz="1400" dirty="0"/>
          </a:p>
        </p:txBody>
      </p:sp>
      <p:sp>
        <p:nvSpPr>
          <p:cNvPr id="22" name="Text 19"/>
          <p:cNvSpPr txBox="1"/>
          <p:nvPr/>
        </p:nvSpPr>
        <p:spPr>
          <a:xfrm>
            <a:off x="8430768" y="2267712"/>
            <a:ext cx="3001975" cy="640080"/>
          </a:xfrm>
          <a:prstGeom prst="rect">
            <a:avLst/>
          </a:prstGeom>
          <a:noFill/>
          <a:ln/>
        </p:spPr>
        <p:txBody>
          <a:bodyPr wrap="square" lIns="0" tIns="0" rIns="0" bIns="0" rtlCol="0" anchor="t"/>
          <a:lstStyle/>
          <a:p>
            <a:pPr indent="0" marL="0">
              <a:buNone/>
            </a:pPr>
            <a:r>
              <a:rPr lang="en-US" sz="2800" b="1" dirty="0">
                <a:solidFill>
                  <a:srgbClr val="FFFFFF"/>
                </a:solidFill>
              </a:rPr>
              <a:t>17분</a:t>
            </a:r>
            <a:endParaRPr lang="en-US" sz="2800" dirty="0"/>
          </a:p>
        </p:txBody>
      </p:sp>
      <p:sp>
        <p:nvSpPr>
          <p:cNvPr id="23" name="Shape 20"/>
          <p:cNvSpPr/>
          <p:nvPr/>
        </p:nvSpPr>
        <p:spPr>
          <a:xfrm>
            <a:off x="8229600" y="3127248"/>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4" name="Shape 21"/>
          <p:cNvSpPr/>
          <p:nvPr/>
        </p:nvSpPr>
        <p:spPr>
          <a:xfrm>
            <a:off x="8430768" y="3328416"/>
            <a:ext cx="457200" cy="457200"/>
          </a:xfrm>
          <a:prstGeom prst="ellipse">
            <a:avLst/>
          </a:prstGeom>
          <a:solidFill>
            <a:srgbClr val="2E7D6B"/>
          </a:solidFill>
          <a:ln w="12700">
            <a:solidFill>
              <a:srgbClr val="2E7D6B"/>
            </a:solidFill>
            <a:prstDash val="solid"/>
          </a:ln>
        </p:spPr>
      </p:sp>
      <p:pic>
        <p:nvPicPr>
          <p:cNvPr id="25" name="Image 1" descr="preencoded.png">    </p:cNvPr>
          <p:cNvPicPr>
            <a:picLocks noChangeAspect="1"/>
          </p:cNvPicPr>
          <p:nvPr/>
        </p:nvPicPr>
        <p:blipFill>
          <a:blip r:embed="rId2"/>
          <a:stretch>
            <a:fillRect/>
          </a:stretch>
        </p:blipFill>
        <p:spPr>
          <a:xfrm>
            <a:off x="8549640" y="3447288"/>
            <a:ext cx="219456" cy="219456"/>
          </a:xfrm>
          <a:prstGeom prst="rect">
            <a:avLst/>
          </a:prstGeom>
        </p:spPr>
      </p:pic>
      <p:sp>
        <p:nvSpPr>
          <p:cNvPr id="26" name="Text 22"/>
          <p:cNvSpPr txBox="1"/>
          <p:nvPr/>
        </p:nvSpPr>
        <p:spPr>
          <a:xfrm>
            <a:off x="9006840" y="3328416"/>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방식</a:t>
            </a:r>
            <a:endParaRPr lang="en-US" sz="1400" dirty="0"/>
          </a:p>
        </p:txBody>
      </p:sp>
      <p:sp>
        <p:nvSpPr>
          <p:cNvPr id="27" name="Text 23"/>
          <p:cNvSpPr txBox="1"/>
          <p:nvPr/>
        </p:nvSpPr>
        <p:spPr>
          <a:xfrm>
            <a:off x="8430768" y="3840480"/>
            <a:ext cx="3001975" cy="640080"/>
          </a:xfrm>
          <a:prstGeom prst="rect">
            <a:avLst/>
          </a:prstGeom>
          <a:noFill/>
          <a:ln/>
        </p:spPr>
        <p:txBody>
          <a:bodyPr wrap="square" lIns="0" tIns="0" rIns="0" bIns="0" rtlCol="0" anchor="t"/>
          <a:lstStyle/>
          <a:p>
            <a:pPr indent="0" marL="0">
              <a:buNone/>
            </a:pPr>
            <a:r>
              <a:rPr lang="en-US" sz="1800" dirty="0">
                <a:solidFill>
                  <a:srgbClr val="222222"/>
                </a:solidFill>
              </a:rPr>
              <a:t>5~6인 조별</a:t>
            </a:r>
            <a:endParaRPr lang="en-US" sz="1800" dirty="0"/>
          </a:p>
        </p:txBody>
      </p:sp>
      <p:sp>
        <p:nvSpPr>
          <p:cNvPr id="28" name="Shape 24"/>
          <p:cNvSpPr/>
          <p:nvPr/>
        </p:nvSpPr>
        <p:spPr>
          <a:xfrm>
            <a:off x="8229600" y="4700016"/>
            <a:ext cx="3413455" cy="1417320"/>
          </a:xfrm>
          <a:prstGeom prst="roundRect">
            <a:avLst>
              <a:gd name="adj" fmla="val 774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29" name="Shape 25"/>
          <p:cNvSpPr/>
          <p:nvPr/>
        </p:nvSpPr>
        <p:spPr>
          <a:xfrm>
            <a:off x="8430768" y="4901184"/>
            <a:ext cx="457200" cy="457200"/>
          </a:xfrm>
          <a:prstGeom prst="ellipse">
            <a:avLst/>
          </a:prstGeom>
          <a:solidFill>
            <a:srgbClr val="2E7D6B"/>
          </a:solidFill>
          <a:ln w="12700">
            <a:solidFill>
              <a:srgbClr val="2E7D6B"/>
            </a:solidFill>
            <a:prstDash val="solid"/>
          </a:ln>
        </p:spPr>
      </p:sp>
      <p:pic>
        <p:nvPicPr>
          <p:cNvPr id="30" name="Image 2" descr="preencoded.png">    </p:cNvPr>
          <p:cNvPicPr>
            <a:picLocks noChangeAspect="1"/>
          </p:cNvPicPr>
          <p:nvPr/>
        </p:nvPicPr>
        <p:blipFill>
          <a:blip r:embed="rId3"/>
          <a:stretch>
            <a:fillRect/>
          </a:stretch>
        </p:blipFill>
        <p:spPr>
          <a:xfrm>
            <a:off x="8549640" y="5020056"/>
            <a:ext cx="219456" cy="219456"/>
          </a:xfrm>
          <a:prstGeom prst="rect">
            <a:avLst/>
          </a:prstGeom>
        </p:spPr>
      </p:pic>
      <p:sp>
        <p:nvSpPr>
          <p:cNvPr id="31" name="Text 26"/>
          <p:cNvSpPr txBox="1"/>
          <p:nvPr/>
        </p:nvSpPr>
        <p:spPr>
          <a:xfrm>
            <a:off x="9006840" y="4901184"/>
            <a:ext cx="2499055" cy="457200"/>
          </a:xfrm>
          <a:prstGeom prst="rect">
            <a:avLst/>
          </a:prstGeom>
          <a:noFill/>
          <a:ln/>
        </p:spPr>
        <p:txBody>
          <a:bodyPr wrap="square" lIns="0" tIns="0" rIns="0" bIns="0" rtlCol="0" anchor="ctr"/>
          <a:lstStyle/>
          <a:p>
            <a:pPr indent="0" marL="0">
              <a:buNone/>
            </a:pPr>
            <a:r>
              <a:rPr lang="en-US" sz="1400" b="1" dirty="0">
                <a:solidFill>
                  <a:srgbClr val="2E7D6B"/>
                </a:solidFill>
              </a:rPr>
              <a:t>결과물</a:t>
            </a:r>
            <a:endParaRPr lang="en-US" sz="1400" dirty="0"/>
          </a:p>
        </p:txBody>
      </p:sp>
      <p:sp>
        <p:nvSpPr>
          <p:cNvPr id="32" name="Text 27"/>
          <p:cNvSpPr txBox="1"/>
          <p:nvPr/>
        </p:nvSpPr>
        <p:spPr>
          <a:xfrm>
            <a:off x="8430768" y="5413248"/>
            <a:ext cx="3001975" cy="640080"/>
          </a:xfrm>
          <a:prstGeom prst="rect">
            <a:avLst/>
          </a:prstGeom>
          <a:noFill/>
          <a:ln/>
        </p:spPr>
        <p:txBody>
          <a:bodyPr wrap="square" lIns="0" tIns="0" rIns="0" bIns="0" rtlCol="0" anchor="t"/>
          <a:lstStyle/>
          <a:p>
            <a:pPr indent="0" marL="0">
              <a:buNone/>
            </a:pPr>
            <a:r>
              <a:rPr lang="en-US" sz="1800" dirty="0">
                <a:solidFill>
                  <a:srgbClr val="222222"/>
                </a:solidFill>
              </a:rPr>
              <a:t>합의된 “다음 행동”과 남은 질문 목록</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17.4 실습 4</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나의 갈등중재 체크리스트 — 관찰자 피드백</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1064240"/>
              </a:tblGrid>
              <a:tr h="457200">
                <a:tc>
                  <a:txBody>
                    <a:bodyPr/>
                    <a:lstStyle/>
                    <a:p>
                      <a:pPr algn="ctr" indent="0" marL="0">
                        <a:buNone/>
                      </a:pPr>
                      <a:r>
                        <a:rPr lang="en-US" sz="1500" b="1" dirty="0">
                          <a:solidFill>
                            <a:srgbClr val="FFFFFF"/>
                          </a:solidFill>
                          <a:latin typeface="Noto Serif KR Black" pitchFamily="34" charset="0"/>
                          <a:ea typeface="Noto Serif KR Black" pitchFamily="34" charset="-122"/>
                          <a:cs typeface="Noto Serif KR Black" pitchFamily="34" charset="-120"/>
                        </a:rPr>
                        <a:t>점검 항목 (해당하면 ☑)</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1F4E4A"/>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누구의 편인지 먼저 정하지 않았다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환자의 평소 의사와 가치를 확인했다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의료적 사실을 의료진에게 확인하도록 했다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감정과 사실을 구분했다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모든 가족에게 같은 발언기회를 주었다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해결되지 않은 법률·의료 질문을 전문가에게 넘겼다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위기·자살위험 신호를 놓치지 않았다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r h="457200">
                <a:tc>
                  <a:txBody>
                    <a:bodyPr/>
                    <a:lstStyle/>
                    <a:p>
                      <a:pPr indent="0" marL="0">
                        <a:buNone/>
                      </a:pPr>
                      <a:r>
                        <a:rPr lang="en-US" sz="1500" b="1" dirty="0">
                          <a:solidFill>
                            <a:srgbClr val="1F4E4A"/>
                          </a:solidFill>
                          <a:latin typeface="Noto Serif KR Black" pitchFamily="34" charset="0"/>
                          <a:ea typeface="Noto Serif KR Black" pitchFamily="34" charset="-122"/>
                          <a:cs typeface="Noto Serif KR Black" pitchFamily="34" charset="-120"/>
                        </a:rPr>
                        <a:t>☐  다음 행동과 재논의 시점을 정했다</a:t>
                      </a:r>
                      <a:endParaRPr lang="en-US" sz="1500" dirty="0">
                        <a:latin typeface="Noto Serif KR Black" charset="0"/>
                        <a:ea typeface="Noto Serif KR Black" charset="0"/>
                        <a:cs typeface="Noto Serif KR Black" charset="0"/>
                      </a:endParaRPr>
                    </a:p>
                  </a:txBody>
                  <a:tcPr marL="109728" marR="109728" marT="54864" marB="54864" anchor="ctr">
                    <a:lnL w="9525" cap="flat" cmpd="sng" algn="ctr">
                      <a:solidFill>
                        <a:srgbClr val="C8D3CF"/>
                      </a:solidFill>
                      <a:prstDash val="solid"/>
                      <a:round/>
                      <a:headEnd type="none" w="med" len="med"/>
                      <a:tailEnd type="none" w="med" len="med"/>
                    </a:lnL>
                    <a:lnR w="9525" cap="flat" cmpd="sng" algn="ctr">
                      <a:solidFill>
                        <a:srgbClr val="C8D3CF"/>
                      </a:solidFill>
                      <a:prstDash val="solid"/>
                      <a:round/>
                      <a:headEnd type="none" w="med" len="med"/>
                      <a:tailEnd type="none" w="med" len="med"/>
                    </a:lnR>
                    <a:lnT w="9525" cap="flat" cmpd="sng" algn="ctr">
                      <a:solidFill>
                        <a:srgbClr val="C8D3CF"/>
                      </a:solidFill>
                      <a:prstDash val="solid"/>
                      <a:round/>
                      <a:headEnd type="none" w="med" len="med"/>
                      <a:tailEnd type="none" w="med" len="med"/>
                    </a:lnT>
                    <a:lnB w="9525" cap="flat" cmpd="sng" algn="ctr">
                      <a:solidFill>
                        <a:srgbClr val="C8D3CF"/>
                      </a:solidFill>
                      <a:prstDash val="solid"/>
                      <a:round/>
                      <a:headEnd type="none" w="med" len="med"/>
                      <a:tailEnd type="none" w="med" len="med"/>
                    </a:lnB>
                    <a:solidFill>
                      <a:srgbClr val="EAF3F0"/>
                    </a:solidFill>
                  </a:tcPr>
                </a:tc>
              </a:tr>
            </a:tbl>
          </a:graphicData>
        </a:graphic>
      </p:graphicFrame>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18절 WLC의 역할과 금지선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촉진자이지 판정자가 아니다</a:t>
            </a:r>
            <a:endParaRPr lang="en-US" sz="2800" dirty="0"/>
          </a:p>
        </p:txBody>
      </p:sp>
      <p:sp>
        <p:nvSpPr>
          <p:cNvPr id="4" name="Shape 2"/>
          <p:cNvSpPr/>
          <p:nvPr/>
        </p:nvSpPr>
        <p:spPr>
          <a:xfrm>
            <a:off x="548640" y="1554480"/>
            <a:ext cx="5364328" cy="3520440"/>
          </a:xfrm>
          <a:prstGeom prst="roundRect">
            <a:avLst>
              <a:gd name="adj" fmla="val 3117"/>
            </a:avLst>
          </a:prstGeom>
          <a:solidFill>
            <a:srgbClr val="F8E6E1"/>
          </a:solidFill>
          <a:ln w="12700">
            <a:solidFill>
              <a:srgbClr val="F8E6E1"/>
            </a:solidFill>
            <a:prstDash val="solid"/>
          </a:ln>
        </p:spPr>
      </p:sp>
      <p:sp>
        <p:nvSpPr>
          <p:cNvPr id="5" name="Shape 3"/>
          <p:cNvSpPr/>
          <p:nvPr/>
        </p:nvSpPr>
        <p:spPr>
          <a:xfrm>
            <a:off x="822960" y="1810512"/>
            <a:ext cx="548640" cy="548640"/>
          </a:xfrm>
          <a:prstGeom prst="ellipse">
            <a:avLst/>
          </a:prstGeom>
          <a:solidFill>
            <a:srgbClr val="B5452F"/>
          </a:solidFill>
          <a:ln w="12700">
            <a:solidFill>
              <a:srgbClr val="B5452F"/>
            </a:solidFill>
            <a:prstDash val="solid"/>
          </a:ln>
        </p:spPr>
      </p:sp>
      <p:pic>
        <p:nvPicPr>
          <p:cNvPr id="6" name="Image 0" descr="preencoded.png">    </p:cNvPr>
          <p:cNvPicPr>
            <a:picLocks noChangeAspect="1"/>
          </p:cNvPicPr>
          <p:nvPr/>
        </p:nvPicPr>
        <p:blipFill>
          <a:blip r:embed="rId1"/>
          <a:stretch>
            <a:fillRect/>
          </a:stretch>
        </p:blipFill>
        <p:spPr>
          <a:xfrm>
            <a:off x="965606" y="1953158"/>
            <a:ext cx="263347" cy="263347"/>
          </a:xfrm>
          <a:prstGeom prst="rect">
            <a:avLst/>
          </a:prstGeom>
        </p:spPr>
      </p:pic>
      <p:sp>
        <p:nvSpPr>
          <p:cNvPr id="7" name="Text 4"/>
          <p:cNvSpPr txBox="1"/>
          <p:nvPr/>
        </p:nvSpPr>
        <p:spPr>
          <a:xfrm>
            <a:off x="1554480" y="1810512"/>
            <a:ext cx="4084168" cy="548640"/>
          </a:xfrm>
          <a:prstGeom prst="rect">
            <a:avLst/>
          </a:prstGeom>
          <a:noFill/>
          <a:ln/>
        </p:spPr>
        <p:txBody>
          <a:bodyPr wrap="square" lIns="0" tIns="0" rIns="0" bIns="0" rtlCol="0" anchor="ctr"/>
          <a:lstStyle/>
          <a:p>
            <a:pPr indent="0" marL="0">
              <a:buNone/>
            </a:pPr>
            <a:r>
              <a:rPr lang="en-US" sz="2200" b="1" dirty="0">
                <a:solidFill>
                  <a:srgbClr val="B5452F"/>
                </a:solidFill>
              </a:rPr>
              <a:t>해서는 안 되는 일</a:t>
            </a:r>
            <a:endParaRPr lang="en-US" sz="2200" dirty="0"/>
          </a:p>
        </p:txBody>
      </p:sp>
      <p:sp>
        <p:nvSpPr>
          <p:cNvPr id="8" name="Text 5"/>
          <p:cNvSpPr txBox="1"/>
          <p:nvPr/>
        </p:nvSpPr>
        <p:spPr>
          <a:xfrm>
            <a:off x="822960"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1900" dirty="0">
                <a:solidFill>
                  <a:srgbClr val="222222"/>
                </a:solidFill>
              </a:rPr>
              <a:t>예후·의사능력 판단</a:t>
            </a:r>
            <a:endParaRPr lang="en-US" sz="1900" dirty="0"/>
          </a:p>
          <a:p>
            <a:pPr marL="342900" indent="-342900">
              <a:spcAft>
                <a:spcPts val="1000"/>
              </a:spcAft>
              <a:buSzPct val="100000"/>
              <a:buChar char="•"/>
            </a:pPr>
            <a:r>
              <a:rPr lang="en-US" sz="1900" dirty="0">
                <a:solidFill>
                  <a:srgbClr val="222222"/>
                </a:solidFill>
              </a:rPr>
              <a:t>어느 가족이 법적으로 옳은지 판정</a:t>
            </a:r>
            <a:endParaRPr lang="en-US" sz="1900" dirty="0"/>
          </a:p>
          <a:p>
            <a:pPr marL="342900" indent="-342900">
              <a:spcAft>
                <a:spcPts val="1000"/>
              </a:spcAft>
              <a:buSzPct val="100000"/>
              <a:buChar char="•"/>
            </a:pPr>
            <a:r>
              <a:rPr lang="en-US" sz="1900" dirty="0">
                <a:solidFill>
                  <a:srgbClr val="222222"/>
                </a:solidFill>
              </a:rPr>
              <a:t>연명의료중단을 설득하거나 반대</a:t>
            </a:r>
            <a:endParaRPr lang="en-US" sz="1900" dirty="0"/>
          </a:p>
          <a:p>
            <a:pPr marL="342900" indent="-342900">
              <a:spcAft>
                <a:spcPts val="1000"/>
              </a:spcAft>
              <a:buSzPct val="100000"/>
              <a:buChar char="•"/>
            </a:pPr>
            <a:r>
              <a:rPr lang="en-US" sz="1900" dirty="0">
                <a:solidFill>
                  <a:srgbClr val="222222"/>
                </a:solidFill>
              </a:rPr>
              <a:t>안락사·조력자살을 대안처럼 제시</a:t>
            </a:r>
            <a:endParaRPr lang="en-US" sz="1900" dirty="0"/>
          </a:p>
          <a:p>
            <a:pPr marL="342900" indent="-342900">
              <a:spcAft>
                <a:spcPts val="1000"/>
              </a:spcAft>
              <a:buSzPct val="100000"/>
              <a:buChar char="•"/>
            </a:pPr>
            <a:r>
              <a:rPr lang="en-US" sz="1900" dirty="0">
                <a:solidFill>
                  <a:srgbClr val="222222"/>
                </a:solidFill>
              </a:rPr>
              <a:t>자살위험·복합갈등을 혼자 장기 감당</a:t>
            </a:r>
            <a:endParaRPr lang="en-US" sz="1900" dirty="0"/>
          </a:p>
        </p:txBody>
      </p:sp>
      <p:sp>
        <p:nvSpPr>
          <p:cNvPr id="9" name="Shape 6"/>
          <p:cNvSpPr/>
          <p:nvPr/>
        </p:nvSpPr>
        <p:spPr>
          <a:xfrm>
            <a:off x="6278728" y="1554480"/>
            <a:ext cx="5364328" cy="3520440"/>
          </a:xfrm>
          <a:prstGeom prst="roundRect">
            <a:avLst>
              <a:gd name="adj" fmla="val 3117"/>
            </a:avLst>
          </a:prstGeom>
          <a:solidFill>
            <a:srgbClr val="EAF3F0"/>
          </a:solidFill>
          <a:ln w="12700">
            <a:solidFill>
              <a:srgbClr val="EAF3F0"/>
            </a:solidFill>
            <a:prstDash val="solid"/>
          </a:ln>
        </p:spPr>
      </p:sp>
      <p:sp>
        <p:nvSpPr>
          <p:cNvPr id="10" name="Shape 7"/>
          <p:cNvSpPr/>
          <p:nvPr/>
        </p:nvSpPr>
        <p:spPr>
          <a:xfrm>
            <a:off x="6553048" y="1810512"/>
            <a:ext cx="548640" cy="548640"/>
          </a:xfrm>
          <a:prstGeom prst="ellipse">
            <a:avLst/>
          </a:prstGeom>
          <a:solidFill>
            <a:srgbClr val="2E7D6B"/>
          </a:solidFill>
          <a:ln w="12700">
            <a:solidFill>
              <a:srgbClr val="2E7D6B"/>
            </a:solidFill>
            <a:prstDash val="solid"/>
          </a:ln>
        </p:spPr>
      </p:sp>
      <p:pic>
        <p:nvPicPr>
          <p:cNvPr id="11" name="Image 1" descr="preencoded.png">    </p:cNvPr>
          <p:cNvPicPr>
            <a:picLocks noChangeAspect="1"/>
          </p:cNvPicPr>
          <p:nvPr/>
        </p:nvPicPr>
        <p:blipFill>
          <a:blip r:embed="rId2"/>
          <a:stretch>
            <a:fillRect/>
          </a:stretch>
        </p:blipFill>
        <p:spPr>
          <a:xfrm>
            <a:off x="6695694" y="1953158"/>
            <a:ext cx="263347" cy="263347"/>
          </a:xfrm>
          <a:prstGeom prst="rect">
            <a:avLst/>
          </a:prstGeom>
        </p:spPr>
      </p:pic>
      <p:sp>
        <p:nvSpPr>
          <p:cNvPr id="12" name="Text 8"/>
          <p:cNvSpPr txBox="1"/>
          <p:nvPr/>
        </p:nvSpPr>
        <p:spPr>
          <a:xfrm>
            <a:off x="7284568" y="1810512"/>
            <a:ext cx="4084168" cy="548640"/>
          </a:xfrm>
          <a:prstGeom prst="rect">
            <a:avLst/>
          </a:prstGeom>
          <a:noFill/>
          <a:ln/>
        </p:spPr>
        <p:txBody>
          <a:bodyPr wrap="square" lIns="0" tIns="0" rIns="0" bIns="0" rtlCol="0" anchor="ctr"/>
          <a:lstStyle/>
          <a:p>
            <a:pPr indent="0" marL="0">
              <a:buNone/>
            </a:pPr>
            <a:r>
              <a:rPr lang="en-US" sz="2200" b="1" dirty="0">
                <a:solidFill>
                  <a:srgbClr val="2E7D6B"/>
                </a:solidFill>
              </a:rPr>
              <a:t>할 수 있는 일</a:t>
            </a:r>
            <a:endParaRPr lang="en-US" sz="2200" dirty="0"/>
          </a:p>
        </p:txBody>
      </p:sp>
      <p:sp>
        <p:nvSpPr>
          <p:cNvPr id="13" name="Text 9"/>
          <p:cNvSpPr txBox="1"/>
          <p:nvPr/>
        </p:nvSpPr>
        <p:spPr>
          <a:xfrm>
            <a:off x="6553048" y="2560320"/>
            <a:ext cx="4815688" cy="237744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22222"/>
                </a:solidFill>
              </a:rPr>
              <a:t>감정·가치·욕구를 구조화해 듣기</a:t>
            </a:r>
            <a:endParaRPr lang="en-US" sz="2000" dirty="0"/>
          </a:p>
          <a:p>
            <a:pPr marL="342900" indent="-342900">
              <a:spcAft>
                <a:spcPts val="1000"/>
              </a:spcAft>
              <a:buSzPct val="100000"/>
              <a:buChar char="•"/>
            </a:pPr>
            <a:r>
              <a:rPr lang="en-US" sz="2000" dirty="0">
                <a:solidFill>
                  <a:srgbClr val="222222"/>
                </a:solidFill>
              </a:rPr>
              <a:t>I-Message·경청 훈련</a:t>
            </a:r>
            <a:endParaRPr lang="en-US" sz="2000" dirty="0"/>
          </a:p>
          <a:p>
            <a:pPr marL="342900" indent="-342900">
              <a:spcAft>
                <a:spcPts val="1000"/>
              </a:spcAft>
              <a:buSzPct val="100000"/>
              <a:buChar char="•"/>
            </a:pPr>
            <a:r>
              <a:rPr lang="en-US" sz="2000" dirty="0">
                <a:solidFill>
                  <a:srgbClr val="222222"/>
                </a:solidFill>
              </a:rPr>
              <a:t>환자의 평소 뜻 중심으로 회의 촉진</a:t>
            </a:r>
            <a:endParaRPr lang="en-US" sz="2000" dirty="0"/>
          </a:p>
          <a:p>
            <a:pPr marL="342900" indent="-342900">
              <a:spcAft>
                <a:spcPts val="1000"/>
              </a:spcAft>
              <a:buSzPct val="100000"/>
              <a:buChar char="•"/>
            </a:pPr>
            <a:r>
              <a:rPr lang="en-US" sz="2000" dirty="0">
                <a:solidFill>
                  <a:srgbClr val="222222"/>
                </a:solidFill>
              </a:rPr>
              <a:t>제17·18조의 일반 구조 설명</a:t>
            </a:r>
            <a:endParaRPr lang="en-US" sz="2000" dirty="0"/>
          </a:p>
          <a:p>
            <a:pPr marL="342900" indent="-342900">
              <a:spcAft>
                <a:spcPts val="1000"/>
              </a:spcAft>
              <a:buSzPct val="100000"/>
              <a:buChar char="•"/>
            </a:pPr>
            <a:r>
              <a:rPr lang="en-US" sz="2000" dirty="0">
                <a:solidFill>
                  <a:srgbClr val="222222"/>
                </a:solidFill>
              </a:rPr>
              <a:t>정신건강·호스피스·법률기관 연결</a:t>
            </a:r>
            <a:endParaRPr lang="en-US" sz="2000" dirty="0"/>
          </a:p>
        </p:txBody>
      </p:sp>
      <p:sp>
        <p:nvSpPr>
          <p:cNvPr id="14" name="Shape 10"/>
          <p:cNvSpPr/>
          <p:nvPr/>
        </p:nvSpPr>
        <p:spPr>
          <a:xfrm>
            <a:off x="548640" y="5303520"/>
            <a:ext cx="11094415" cy="868680"/>
          </a:xfrm>
          <a:prstGeom prst="roundRect">
            <a:avLst>
              <a:gd name="adj" fmla="val 12632"/>
            </a:avLst>
          </a:prstGeom>
          <a:solidFill>
            <a:srgbClr val="FDF1DC"/>
          </a:solidFill>
          <a:ln w="12700">
            <a:solidFill>
              <a:srgbClr val="FDF1DC"/>
            </a:solidFill>
            <a:prstDash val="solid"/>
          </a:ln>
        </p:spPr>
      </p:sp>
      <p:sp>
        <p:nvSpPr>
          <p:cNvPr id="15" name="Shape 11"/>
          <p:cNvSpPr/>
          <p:nvPr/>
        </p:nvSpPr>
        <p:spPr>
          <a:xfrm>
            <a:off x="777240" y="5509260"/>
            <a:ext cx="457200" cy="457200"/>
          </a:xfrm>
          <a:prstGeom prst="ellipse">
            <a:avLst/>
          </a:prstGeom>
          <a:solidFill>
            <a:srgbClr val="D98E04"/>
          </a:solidFill>
          <a:ln w="12700">
            <a:solidFill>
              <a:srgbClr val="D98E04"/>
            </a:solidFill>
            <a:prstDash val="solid"/>
          </a:ln>
        </p:spPr>
      </p:sp>
      <p:pic>
        <p:nvPicPr>
          <p:cNvPr id="16" name="Image 2" descr="preencoded.png">    </p:cNvPr>
          <p:cNvPicPr>
            <a:picLocks noChangeAspect="1"/>
          </p:cNvPicPr>
          <p:nvPr/>
        </p:nvPicPr>
        <p:blipFill>
          <a:blip r:embed="rId3"/>
          <a:stretch>
            <a:fillRect/>
          </a:stretch>
        </p:blipFill>
        <p:spPr>
          <a:xfrm>
            <a:off x="896112" y="5628132"/>
            <a:ext cx="219456" cy="219456"/>
          </a:xfrm>
          <a:prstGeom prst="rect">
            <a:avLst/>
          </a:prstGeom>
        </p:spPr>
      </p:pic>
      <p:sp>
        <p:nvSpPr>
          <p:cNvPr id="17" name="Text 12"/>
          <p:cNvSpPr txBox="1"/>
          <p:nvPr/>
        </p:nvSpPr>
        <p:spPr>
          <a:xfrm>
            <a:off x="1463040" y="5394960"/>
            <a:ext cx="9905695" cy="685800"/>
          </a:xfrm>
          <a:prstGeom prst="rect">
            <a:avLst/>
          </a:prstGeom>
          <a:noFill/>
          <a:ln/>
        </p:spPr>
        <p:txBody>
          <a:bodyPr wrap="square" lIns="0" tIns="0" rIns="0" bIns="0" rtlCol="0" anchor="ctr"/>
          <a:lstStyle/>
          <a:p>
            <a:pPr indent="0" marL="0">
              <a:buNone/>
            </a:pPr>
            <a:r>
              <a:rPr lang="en-US" sz="1800" b="1" dirty="0">
                <a:solidFill>
                  <a:srgbClr val="D98E04"/>
                </a:solidFill>
              </a:rPr>
              <a:t>전문직 경계   </a:t>
            </a:r>
            <a:pPr indent="0" marL="0">
              <a:buNone/>
            </a:pPr>
            <a:r>
              <a:rPr lang="en-US" sz="1800" dirty="0">
                <a:solidFill>
                  <a:srgbClr val="222222"/>
                </a:solidFill>
              </a:rPr>
              <a:t>WLC의 “중재”는 법원 조정이나 임상치료가 아니라, 대화를 촉진하고 쟁점을 명료화해 공식 의사결정 구조로 연결하는 교육·코칭입니다.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OX 퀵퀴즈</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맞으면 O, 틀리면 X</a:t>
            </a:r>
            <a:endParaRPr lang="en-US" sz="2800" dirty="0"/>
          </a:p>
        </p:txBody>
      </p:sp>
      <p:sp>
        <p:nvSpPr>
          <p:cNvPr id="4" name="Shape 2"/>
          <p:cNvSpPr/>
          <p:nvPr/>
        </p:nvSpPr>
        <p:spPr>
          <a:xfrm>
            <a:off x="548640" y="1554480"/>
            <a:ext cx="11094415" cy="971550"/>
          </a:xfrm>
          <a:prstGeom prst="roundRect">
            <a:avLst>
              <a:gd name="adj" fmla="val 11294"/>
            </a:avLst>
          </a:prstGeom>
          <a:solidFill>
            <a:srgbClr val="EAF3F0"/>
          </a:solidFill>
          <a:ln w="12700">
            <a:solidFill>
              <a:srgbClr val="EAF3F0"/>
            </a:solidFill>
            <a:prstDash val="solid"/>
          </a:ln>
        </p:spPr>
      </p:sp>
      <p:sp>
        <p:nvSpPr>
          <p:cNvPr id="5" name="Shape 3"/>
          <p:cNvSpPr/>
          <p:nvPr/>
        </p:nvSpPr>
        <p:spPr>
          <a:xfrm>
            <a:off x="777240" y="1811655"/>
            <a:ext cx="457200" cy="457200"/>
          </a:xfrm>
          <a:prstGeom prst="ellipse">
            <a:avLst/>
          </a:prstGeom>
          <a:solidFill>
            <a:srgbClr val="2E7D6B"/>
          </a:solidFill>
          <a:ln w="12700">
            <a:solidFill>
              <a:srgbClr val="2E7D6B"/>
            </a:solidFill>
            <a:prstDash val="solid"/>
          </a:ln>
        </p:spPr>
      </p:sp>
      <p:sp>
        <p:nvSpPr>
          <p:cNvPr id="6" name="Text 4"/>
          <p:cNvSpPr txBox="1"/>
          <p:nvPr/>
        </p:nvSpPr>
        <p:spPr>
          <a:xfrm>
            <a:off x="777240" y="181165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7" name="Text 5"/>
          <p:cNvSpPr txBox="1"/>
          <p:nvPr/>
        </p:nvSpPr>
        <p:spPr>
          <a:xfrm>
            <a:off x="1463040" y="155448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적극적 경청은 상대의 주장에 동의한다는 뜻이다.</a:t>
            </a:r>
            <a:endParaRPr lang="en-US" sz="2200" dirty="0"/>
          </a:p>
        </p:txBody>
      </p:sp>
      <p:sp>
        <p:nvSpPr>
          <p:cNvPr id="8" name="Shape 6"/>
          <p:cNvSpPr/>
          <p:nvPr/>
        </p:nvSpPr>
        <p:spPr>
          <a:xfrm>
            <a:off x="9722815" y="1720215"/>
            <a:ext cx="640080" cy="640080"/>
          </a:xfrm>
          <a:prstGeom prst="ellipse">
            <a:avLst/>
          </a:prstGeom>
          <a:solidFill>
            <a:srgbClr val="FFFFFF"/>
          </a:solidFill>
          <a:ln w="25400">
            <a:solidFill>
              <a:srgbClr val="3A6EA5"/>
            </a:solidFill>
            <a:prstDash val="solid"/>
          </a:ln>
        </p:spPr>
      </p:sp>
      <p:sp>
        <p:nvSpPr>
          <p:cNvPr id="9" name="Text 7"/>
          <p:cNvSpPr txBox="1"/>
          <p:nvPr/>
        </p:nvSpPr>
        <p:spPr>
          <a:xfrm>
            <a:off x="9722815" y="172021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0" name="Shape 8"/>
          <p:cNvSpPr/>
          <p:nvPr/>
        </p:nvSpPr>
        <p:spPr>
          <a:xfrm>
            <a:off x="10637215" y="1720215"/>
            <a:ext cx="640080" cy="640080"/>
          </a:xfrm>
          <a:prstGeom prst="ellipse">
            <a:avLst/>
          </a:prstGeom>
          <a:solidFill>
            <a:srgbClr val="FFFFFF"/>
          </a:solidFill>
          <a:ln w="25400">
            <a:solidFill>
              <a:srgbClr val="B5452F"/>
            </a:solidFill>
            <a:prstDash val="solid"/>
          </a:ln>
        </p:spPr>
      </p:sp>
      <p:sp>
        <p:nvSpPr>
          <p:cNvPr id="11" name="Text 9"/>
          <p:cNvSpPr txBox="1"/>
          <p:nvPr/>
        </p:nvSpPr>
        <p:spPr>
          <a:xfrm>
            <a:off x="10637215" y="172021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12" name="Shape 10"/>
          <p:cNvSpPr/>
          <p:nvPr/>
        </p:nvSpPr>
        <p:spPr>
          <a:xfrm>
            <a:off x="548640" y="2708910"/>
            <a:ext cx="11094415" cy="971550"/>
          </a:xfrm>
          <a:prstGeom prst="roundRect">
            <a:avLst>
              <a:gd name="adj" fmla="val 11294"/>
            </a:avLst>
          </a:prstGeom>
          <a:solidFill>
            <a:srgbClr val="FFFFFF"/>
          </a:solidFill>
          <a:ln w="12700">
            <a:solidFill>
              <a:srgbClr val="FFFFFF"/>
            </a:solidFill>
            <a:prstDash val="solid"/>
          </a:ln>
        </p:spPr>
      </p:sp>
      <p:sp>
        <p:nvSpPr>
          <p:cNvPr id="13" name="Shape 11"/>
          <p:cNvSpPr/>
          <p:nvPr/>
        </p:nvSpPr>
        <p:spPr>
          <a:xfrm>
            <a:off x="777240" y="2966085"/>
            <a:ext cx="457200" cy="457200"/>
          </a:xfrm>
          <a:prstGeom prst="ellipse">
            <a:avLst/>
          </a:prstGeom>
          <a:solidFill>
            <a:srgbClr val="2E7D6B"/>
          </a:solidFill>
          <a:ln w="12700">
            <a:solidFill>
              <a:srgbClr val="2E7D6B"/>
            </a:solidFill>
            <a:prstDash val="solid"/>
          </a:ln>
        </p:spPr>
      </p:sp>
      <p:sp>
        <p:nvSpPr>
          <p:cNvPr id="14" name="Text 12"/>
          <p:cNvSpPr txBox="1"/>
          <p:nvPr/>
        </p:nvSpPr>
        <p:spPr>
          <a:xfrm>
            <a:off x="777240" y="296608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5" name="Text 13"/>
          <p:cNvSpPr txBox="1"/>
          <p:nvPr/>
        </p:nvSpPr>
        <p:spPr>
          <a:xfrm>
            <a:off x="1463040" y="2708910"/>
            <a:ext cx="7985455" cy="971550"/>
          </a:xfrm>
          <a:prstGeom prst="rect">
            <a:avLst/>
          </a:prstGeom>
          <a:noFill/>
          <a:ln/>
        </p:spPr>
        <p:txBody>
          <a:bodyPr wrap="square" lIns="0" tIns="0" rIns="0" bIns="0" rtlCol="0" anchor="ctr"/>
          <a:lstStyle/>
          <a:p>
            <a:pPr indent="0" marL="0">
              <a:buNone/>
            </a:pPr>
            <a:r>
              <a:rPr lang="en-US" sz="2200" dirty="0">
                <a:solidFill>
                  <a:srgbClr val="222222"/>
                </a:solidFill>
              </a:rPr>
              <a:t>“끝까지 치료해야 해”는 입장이고, 그 아래에 죄책감 같은 욕구가 있을 수 있다.</a:t>
            </a:r>
            <a:endParaRPr lang="en-US" sz="2200" dirty="0"/>
          </a:p>
        </p:txBody>
      </p:sp>
      <p:sp>
        <p:nvSpPr>
          <p:cNvPr id="16" name="Shape 14"/>
          <p:cNvSpPr/>
          <p:nvPr/>
        </p:nvSpPr>
        <p:spPr>
          <a:xfrm>
            <a:off x="9722815" y="2874645"/>
            <a:ext cx="640080" cy="640080"/>
          </a:xfrm>
          <a:prstGeom prst="ellipse">
            <a:avLst/>
          </a:prstGeom>
          <a:solidFill>
            <a:srgbClr val="FFFFFF"/>
          </a:solidFill>
          <a:ln w="25400">
            <a:solidFill>
              <a:srgbClr val="3A6EA5"/>
            </a:solidFill>
            <a:prstDash val="solid"/>
          </a:ln>
        </p:spPr>
      </p:sp>
      <p:sp>
        <p:nvSpPr>
          <p:cNvPr id="17" name="Text 15"/>
          <p:cNvSpPr txBox="1"/>
          <p:nvPr/>
        </p:nvSpPr>
        <p:spPr>
          <a:xfrm>
            <a:off x="9722815" y="287464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18" name="Shape 16"/>
          <p:cNvSpPr/>
          <p:nvPr/>
        </p:nvSpPr>
        <p:spPr>
          <a:xfrm>
            <a:off x="10637215" y="2874645"/>
            <a:ext cx="640080" cy="640080"/>
          </a:xfrm>
          <a:prstGeom prst="ellipse">
            <a:avLst/>
          </a:prstGeom>
          <a:solidFill>
            <a:srgbClr val="FFFFFF"/>
          </a:solidFill>
          <a:ln w="25400">
            <a:solidFill>
              <a:srgbClr val="B5452F"/>
            </a:solidFill>
            <a:prstDash val="solid"/>
          </a:ln>
        </p:spPr>
      </p:sp>
      <p:sp>
        <p:nvSpPr>
          <p:cNvPr id="19" name="Text 17"/>
          <p:cNvSpPr txBox="1"/>
          <p:nvPr/>
        </p:nvSpPr>
        <p:spPr>
          <a:xfrm>
            <a:off x="10637215" y="287464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0" name="Shape 18"/>
          <p:cNvSpPr/>
          <p:nvPr/>
        </p:nvSpPr>
        <p:spPr>
          <a:xfrm>
            <a:off x="548640" y="3863340"/>
            <a:ext cx="11094415" cy="971550"/>
          </a:xfrm>
          <a:prstGeom prst="roundRect">
            <a:avLst>
              <a:gd name="adj" fmla="val 11294"/>
            </a:avLst>
          </a:prstGeom>
          <a:solidFill>
            <a:srgbClr val="EAF3F0"/>
          </a:solidFill>
          <a:ln w="12700">
            <a:solidFill>
              <a:srgbClr val="EAF3F0"/>
            </a:solidFill>
            <a:prstDash val="solid"/>
          </a:ln>
        </p:spPr>
      </p:sp>
      <p:sp>
        <p:nvSpPr>
          <p:cNvPr id="21" name="Shape 19"/>
          <p:cNvSpPr/>
          <p:nvPr/>
        </p:nvSpPr>
        <p:spPr>
          <a:xfrm>
            <a:off x="777240" y="4120515"/>
            <a:ext cx="457200" cy="457200"/>
          </a:xfrm>
          <a:prstGeom prst="ellipse">
            <a:avLst/>
          </a:prstGeom>
          <a:solidFill>
            <a:srgbClr val="2E7D6B"/>
          </a:solidFill>
          <a:ln w="12700">
            <a:solidFill>
              <a:srgbClr val="2E7D6B"/>
            </a:solidFill>
            <a:prstDash val="solid"/>
          </a:ln>
        </p:spPr>
      </p:sp>
      <p:sp>
        <p:nvSpPr>
          <p:cNvPr id="22" name="Text 20"/>
          <p:cNvSpPr txBox="1"/>
          <p:nvPr/>
        </p:nvSpPr>
        <p:spPr>
          <a:xfrm>
            <a:off x="777240" y="412051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23" name="Text 21"/>
          <p:cNvSpPr txBox="1"/>
          <p:nvPr/>
        </p:nvSpPr>
        <p:spPr>
          <a:xfrm>
            <a:off x="1463040" y="3863340"/>
            <a:ext cx="7985455" cy="971550"/>
          </a:xfrm>
          <a:prstGeom prst="rect">
            <a:avLst/>
          </a:prstGeom>
          <a:noFill/>
          <a:ln/>
        </p:spPr>
        <p:txBody>
          <a:bodyPr wrap="square" lIns="0" tIns="0" rIns="0" bIns="0" rtlCol="0" anchor="ctr"/>
          <a:lstStyle/>
          <a:p>
            <a:pPr indent="0" marL="0">
              <a:buNone/>
            </a:pPr>
            <a:r>
              <a:rPr lang="en-US" sz="2200" dirty="0">
                <a:solidFill>
                  <a:srgbClr val="222222"/>
                </a:solidFill>
              </a:rPr>
              <a:t>연명의료중단등결정과 의사조력자살은 법적으로 같은 개념이다.</a:t>
            </a:r>
            <a:endParaRPr lang="en-US" sz="2200" dirty="0"/>
          </a:p>
        </p:txBody>
      </p:sp>
      <p:sp>
        <p:nvSpPr>
          <p:cNvPr id="24" name="Shape 22"/>
          <p:cNvSpPr/>
          <p:nvPr/>
        </p:nvSpPr>
        <p:spPr>
          <a:xfrm>
            <a:off x="9722815" y="4029075"/>
            <a:ext cx="640080" cy="640080"/>
          </a:xfrm>
          <a:prstGeom prst="ellipse">
            <a:avLst/>
          </a:prstGeom>
          <a:solidFill>
            <a:srgbClr val="FFFFFF"/>
          </a:solidFill>
          <a:ln w="25400">
            <a:solidFill>
              <a:srgbClr val="3A6EA5"/>
            </a:solidFill>
            <a:prstDash val="solid"/>
          </a:ln>
        </p:spPr>
      </p:sp>
      <p:sp>
        <p:nvSpPr>
          <p:cNvPr id="25" name="Text 23"/>
          <p:cNvSpPr txBox="1"/>
          <p:nvPr/>
        </p:nvSpPr>
        <p:spPr>
          <a:xfrm>
            <a:off x="9722815" y="402907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26" name="Shape 24"/>
          <p:cNvSpPr/>
          <p:nvPr/>
        </p:nvSpPr>
        <p:spPr>
          <a:xfrm>
            <a:off x="10637215" y="4029075"/>
            <a:ext cx="640080" cy="640080"/>
          </a:xfrm>
          <a:prstGeom prst="ellipse">
            <a:avLst/>
          </a:prstGeom>
          <a:solidFill>
            <a:srgbClr val="FFFFFF"/>
          </a:solidFill>
          <a:ln w="25400">
            <a:solidFill>
              <a:srgbClr val="B5452F"/>
            </a:solidFill>
            <a:prstDash val="solid"/>
          </a:ln>
        </p:spPr>
      </p:sp>
      <p:sp>
        <p:nvSpPr>
          <p:cNvPr id="27" name="Text 25"/>
          <p:cNvSpPr txBox="1"/>
          <p:nvPr/>
        </p:nvSpPr>
        <p:spPr>
          <a:xfrm>
            <a:off x="10637215" y="402907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8" name="Shape 26"/>
          <p:cNvSpPr/>
          <p:nvPr/>
        </p:nvSpPr>
        <p:spPr>
          <a:xfrm>
            <a:off x="548640" y="5017770"/>
            <a:ext cx="11094415" cy="971550"/>
          </a:xfrm>
          <a:prstGeom prst="roundRect">
            <a:avLst>
              <a:gd name="adj" fmla="val 11294"/>
            </a:avLst>
          </a:prstGeom>
          <a:solidFill>
            <a:srgbClr val="FFFFFF"/>
          </a:solidFill>
          <a:ln w="12700">
            <a:solidFill>
              <a:srgbClr val="FFFFFF"/>
            </a:solidFill>
            <a:prstDash val="solid"/>
          </a:ln>
        </p:spPr>
      </p:sp>
      <p:sp>
        <p:nvSpPr>
          <p:cNvPr id="29" name="Shape 27"/>
          <p:cNvSpPr/>
          <p:nvPr/>
        </p:nvSpPr>
        <p:spPr>
          <a:xfrm>
            <a:off x="777240" y="5274945"/>
            <a:ext cx="457200" cy="457200"/>
          </a:xfrm>
          <a:prstGeom prst="ellipse">
            <a:avLst/>
          </a:prstGeom>
          <a:solidFill>
            <a:srgbClr val="2E7D6B"/>
          </a:solidFill>
          <a:ln w="12700">
            <a:solidFill>
              <a:srgbClr val="2E7D6B"/>
            </a:solidFill>
            <a:prstDash val="solid"/>
          </a:ln>
        </p:spPr>
      </p:sp>
      <p:sp>
        <p:nvSpPr>
          <p:cNvPr id="30" name="Text 28"/>
          <p:cNvSpPr txBox="1"/>
          <p:nvPr/>
        </p:nvSpPr>
        <p:spPr>
          <a:xfrm>
            <a:off x="777240" y="5274945"/>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1" name="Text 29"/>
          <p:cNvSpPr txBox="1"/>
          <p:nvPr/>
        </p:nvSpPr>
        <p:spPr>
          <a:xfrm>
            <a:off x="1463040" y="5017770"/>
            <a:ext cx="7985455" cy="971550"/>
          </a:xfrm>
          <a:prstGeom prst="rect">
            <a:avLst/>
          </a:prstGeom>
          <a:noFill/>
          <a:ln/>
        </p:spPr>
        <p:txBody>
          <a:bodyPr wrap="square" lIns="0" tIns="0" rIns="0" bIns="0" rtlCol="0" anchor="ctr"/>
          <a:lstStyle/>
          <a:p>
            <a:pPr indent="0" marL="0">
              <a:buNone/>
            </a:pPr>
            <a:r>
              <a:rPr lang="en-US" sz="2200" dirty="0">
                <a:solidFill>
                  <a:srgbClr val="222222"/>
                </a:solidFill>
              </a:rPr>
              <a:t>WLC의 중재는 법원의 조정이나 전문 임상치료를 대신한다.</a:t>
            </a:r>
            <a:endParaRPr lang="en-US" sz="2200" dirty="0"/>
          </a:p>
        </p:txBody>
      </p:sp>
      <p:sp>
        <p:nvSpPr>
          <p:cNvPr id="32" name="Shape 30"/>
          <p:cNvSpPr/>
          <p:nvPr/>
        </p:nvSpPr>
        <p:spPr>
          <a:xfrm>
            <a:off x="9722815" y="5183505"/>
            <a:ext cx="640080" cy="640080"/>
          </a:xfrm>
          <a:prstGeom prst="ellipse">
            <a:avLst/>
          </a:prstGeom>
          <a:solidFill>
            <a:srgbClr val="FFFFFF"/>
          </a:solidFill>
          <a:ln w="25400">
            <a:solidFill>
              <a:srgbClr val="3A6EA5"/>
            </a:solidFill>
            <a:prstDash val="solid"/>
          </a:ln>
        </p:spPr>
      </p:sp>
      <p:sp>
        <p:nvSpPr>
          <p:cNvPr id="33" name="Text 31"/>
          <p:cNvSpPr txBox="1"/>
          <p:nvPr/>
        </p:nvSpPr>
        <p:spPr>
          <a:xfrm>
            <a:off x="9722815" y="5183505"/>
            <a:ext cx="640080" cy="640080"/>
          </a:xfrm>
          <a:prstGeom prst="rect">
            <a:avLst/>
          </a:prstGeom>
          <a:noFill/>
          <a:ln/>
        </p:spPr>
        <p:txBody>
          <a:bodyPr wrap="square" lIns="0" tIns="0" rIns="0" bIns="0" rtlCol="0" anchor="ctr"/>
          <a:lstStyle/>
          <a:p>
            <a:pPr algn="ctr" indent="0" marL="0">
              <a:buNone/>
            </a:pPr>
            <a:r>
              <a:rPr lang="en-US" sz="2200" b="1" dirty="0">
                <a:solidFill>
                  <a:srgbClr val="3A6EA5"/>
                </a:solidFill>
              </a:rPr>
              <a:t>O</a:t>
            </a:r>
            <a:endParaRPr lang="en-US" sz="2200" dirty="0"/>
          </a:p>
        </p:txBody>
      </p:sp>
      <p:sp>
        <p:nvSpPr>
          <p:cNvPr id="34" name="Shape 32"/>
          <p:cNvSpPr/>
          <p:nvPr/>
        </p:nvSpPr>
        <p:spPr>
          <a:xfrm>
            <a:off x="10637215" y="5183505"/>
            <a:ext cx="640080" cy="640080"/>
          </a:xfrm>
          <a:prstGeom prst="ellipse">
            <a:avLst/>
          </a:prstGeom>
          <a:solidFill>
            <a:srgbClr val="FFFFFF"/>
          </a:solidFill>
          <a:ln w="25400">
            <a:solidFill>
              <a:srgbClr val="B5452F"/>
            </a:solidFill>
            <a:prstDash val="solid"/>
          </a:ln>
        </p:spPr>
      </p:sp>
      <p:sp>
        <p:nvSpPr>
          <p:cNvPr id="35" name="Text 33"/>
          <p:cNvSpPr txBox="1"/>
          <p:nvPr/>
        </p:nvSpPr>
        <p:spPr>
          <a:xfrm>
            <a:off x="10637215" y="5183505"/>
            <a:ext cx="640080" cy="640080"/>
          </a:xfrm>
          <a:prstGeom prst="rect">
            <a:avLst/>
          </a:prstGeom>
          <a:noFill/>
          <a:ln/>
        </p:spPr>
        <p:txBody>
          <a:bodyPr wrap="square" lIns="0" tIns="0" rIns="0" bIns="0" rtlCol="0" anchor="ctr"/>
          <a:lstStyle/>
          <a:p>
            <a:pPr algn="ctr" indent="0" marL="0">
              <a:buNone/>
            </a:pPr>
            <a:r>
              <a:rPr lang="en-US" sz="2200" b="1" dirty="0">
                <a:solidFill>
                  <a:srgbClr val="B5452F"/>
                </a:solidFill>
              </a:rPr>
              <a:t>X</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1</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I-Message</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I-Message의 기본 구조로 가장 적절한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상대의 잘못 → 요구 → 경고</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상황·행동 → 나의 감정 → 영향·필요</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결론 → 근거 → 반박</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칭찬 → 비판 → 칭찬</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2</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생명윤리 원칙</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“환자의 가치와 자기결정권을 존중한다”는 생명윤리 원칙은?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자율성</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선행</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악행금지</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정의</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3</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개념 구분</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대한민국에서 법정 요건과 절차 아래 허용되는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적극적 안락사</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의사조력자살</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연명의료중단등결정</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촉탁·승낙에 의한 살해</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4</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갈등중재 원칙</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800" b="1" dirty="0">
                <a:solidFill>
                  <a:srgbClr val="1F4E4A"/>
                </a:solidFill>
              </a:rPr>
              <a:t>가족 갈등중재의 원칙으로 옳지 않은 것은?</a:t>
            </a:r>
            <a:endParaRPr lang="en-US" sz="28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환자 자기결정권을 중심에 둔다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사실·가치·감정을 분리한다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빠른 합의를 위해 다수 의견을 따른다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의학·법률 판단은 전문가에게 연결한다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필기 대비 객관식 5</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“죽고 싶다”는 말</a:t>
            </a:r>
            <a:endParaRPr lang="en-US" sz="2800" dirty="0"/>
          </a:p>
        </p:txBody>
      </p:sp>
      <p:sp>
        <p:nvSpPr>
          <p:cNvPr id="4" name="Text 2"/>
          <p:cNvSpPr txBox="1"/>
          <p:nvPr/>
        </p:nvSpPr>
        <p:spPr>
          <a:xfrm>
            <a:off x="548640" y="1463040"/>
            <a:ext cx="11094415" cy="822960"/>
          </a:xfrm>
          <a:prstGeom prst="rect">
            <a:avLst/>
          </a:prstGeom>
          <a:noFill/>
          <a:ln/>
        </p:spPr>
        <p:txBody>
          <a:bodyPr wrap="square" lIns="0" tIns="0" rIns="0" bIns="0" rtlCol="0" anchor="ctr"/>
          <a:lstStyle/>
          <a:p>
            <a:pPr indent="0" marL="0">
              <a:buNone/>
            </a:pPr>
            <a:r>
              <a:rPr lang="en-US" sz="2500" b="1" dirty="0">
                <a:solidFill>
                  <a:srgbClr val="1F4E4A"/>
                </a:solidFill>
              </a:rPr>
              <a:t>내담자가 “죽고 싶다”고 말할 때 WLC의 대응으로 가장 적절한 것은?</a:t>
            </a:r>
            <a:endParaRPr lang="en-US" sz="2500" dirty="0"/>
          </a:p>
        </p:txBody>
      </p:sp>
      <p:sp>
        <p:nvSpPr>
          <p:cNvPr id="5" name="Shape 3"/>
          <p:cNvSpPr/>
          <p:nvPr/>
        </p:nvSpPr>
        <p:spPr>
          <a:xfrm>
            <a:off x="548640" y="2560320"/>
            <a:ext cx="5410048" cy="1463040"/>
          </a:xfrm>
          <a:prstGeom prst="roundRect">
            <a:avLst>
              <a:gd name="adj" fmla="val 7500"/>
            </a:avLst>
          </a:prstGeom>
          <a:solidFill>
            <a:srgbClr val="EAF3F0"/>
          </a:solidFill>
          <a:ln w="12700">
            <a:solidFill>
              <a:srgbClr val="EAF3F0"/>
            </a:solidFill>
            <a:prstDash val="solid"/>
          </a:ln>
        </p:spPr>
      </p:sp>
      <p:sp>
        <p:nvSpPr>
          <p:cNvPr id="6" name="Shape 4"/>
          <p:cNvSpPr/>
          <p:nvPr/>
        </p:nvSpPr>
        <p:spPr>
          <a:xfrm>
            <a:off x="822960" y="2999232"/>
            <a:ext cx="585216" cy="585216"/>
          </a:xfrm>
          <a:prstGeom prst="ellipse">
            <a:avLst/>
          </a:prstGeom>
          <a:solidFill>
            <a:srgbClr val="2E7D6B"/>
          </a:solidFill>
          <a:ln w="12700">
            <a:solidFill>
              <a:srgbClr val="2E7D6B"/>
            </a:solidFill>
            <a:prstDash val="solid"/>
          </a:ln>
        </p:spPr>
      </p:sp>
      <p:sp>
        <p:nvSpPr>
          <p:cNvPr id="7" name="Text 5"/>
          <p:cNvSpPr txBox="1"/>
          <p:nvPr/>
        </p:nvSpPr>
        <p:spPr>
          <a:xfrm>
            <a:off x="822960"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①</a:t>
            </a:r>
            <a:endParaRPr lang="en-US" sz="2000" dirty="0"/>
          </a:p>
        </p:txBody>
      </p:sp>
      <p:sp>
        <p:nvSpPr>
          <p:cNvPr id="8" name="Text 6"/>
          <p:cNvSpPr txBox="1"/>
          <p:nvPr/>
        </p:nvSpPr>
        <p:spPr>
          <a:xfrm>
            <a:off x="1645920"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안락사를 원하는 것으로 이해하고 해외 제도를 안내한다</a:t>
            </a:r>
            <a:endParaRPr lang="en-US" sz="2200" dirty="0"/>
          </a:p>
        </p:txBody>
      </p:sp>
      <p:sp>
        <p:nvSpPr>
          <p:cNvPr id="9" name="Shape 7"/>
          <p:cNvSpPr/>
          <p:nvPr/>
        </p:nvSpPr>
        <p:spPr>
          <a:xfrm>
            <a:off x="6233008" y="2560320"/>
            <a:ext cx="5410048" cy="1463040"/>
          </a:xfrm>
          <a:prstGeom prst="roundRect">
            <a:avLst>
              <a:gd name="adj" fmla="val 7500"/>
            </a:avLst>
          </a:prstGeom>
          <a:solidFill>
            <a:srgbClr val="EAF3F0"/>
          </a:solidFill>
          <a:ln w="12700">
            <a:solidFill>
              <a:srgbClr val="EAF3F0"/>
            </a:solidFill>
            <a:prstDash val="solid"/>
          </a:ln>
        </p:spPr>
      </p:sp>
      <p:sp>
        <p:nvSpPr>
          <p:cNvPr id="10" name="Shape 8"/>
          <p:cNvSpPr/>
          <p:nvPr/>
        </p:nvSpPr>
        <p:spPr>
          <a:xfrm>
            <a:off x="6507328" y="2999232"/>
            <a:ext cx="585216" cy="585216"/>
          </a:xfrm>
          <a:prstGeom prst="ellipse">
            <a:avLst/>
          </a:prstGeom>
          <a:solidFill>
            <a:srgbClr val="2E7D6B"/>
          </a:solidFill>
          <a:ln w="12700">
            <a:solidFill>
              <a:srgbClr val="2E7D6B"/>
            </a:solidFill>
            <a:prstDash val="solid"/>
          </a:ln>
        </p:spPr>
      </p:sp>
      <p:sp>
        <p:nvSpPr>
          <p:cNvPr id="11" name="Text 9"/>
          <p:cNvSpPr txBox="1"/>
          <p:nvPr/>
        </p:nvSpPr>
        <p:spPr>
          <a:xfrm>
            <a:off x="6507328" y="299923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②</a:t>
            </a:r>
            <a:endParaRPr lang="en-US" sz="2000" dirty="0"/>
          </a:p>
        </p:txBody>
      </p:sp>
      <p:sp>
        <p:nvSpPr>
          <p:cNvPr id="12" name="Text 10"/>
          <p:cNvSpPr txBox="1"/>
          <p:nvPr/>
        </p:nvSpPr>
        <p:spPr>
          <a:xfrm>
            <a:off x="7330288" y="265176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“그런 생각 하지 마세요”라고 말한다</a:t>
            </a:r>
            <a:endParaRPr lang="en-US" sz="2200" dirty="0"/>
          </a:p>
        </p:txBody>
      </p:sp>
      <p:sp>
        <p:nvSpPr>
          <p:cNvPr id="13" name="Shape 11"/>
          <p:cNvSpPr/>
          <p:nvPr/>
        </p:nvSpPr>
        <p:spPr>
          <a:xfrm>
            <a:off x="548640" y="4297680"/>
            <a:ext cx="5410048" cy="1463040"/>
          </a:xfrm>
          <a:prstGeom prst="roundRect">
            <a:avLst>
              <a:gd name="adj" fmla="val 7500"/>
            </a:avLst>
          </a:prstGeom>
          <a:solidFill>
            <a:srgbClr val="EAF3F0"/>
          </a:solidFill>
          <a:ln w="12700">
            <a:solidFill>
              <a:srgbClr val="EAF3F0"/>
            </a:solidFill>
            <a:prstDash val="solid"/>
          </a:ln>
        </p:spPr>
      </p:sp>
      <p:sp>
        <p:nvSpPr>
          <p:cNvPr id="14" name="Shape 12"/>
          <p:cNvSpPr/>
          <p:nvPr/>
        </p:nvSpPr>
        <p:spPr>
          <a:xfrm>
            <a:off x="822960" y="4736592"/>
            <a:ext cx="585216" cy="585216"/>
          </a:xfrm>
          <a:prstGeom prst="ellipse">
            <a:avLst/>
          </a:prstGeom>
          <a:solidFill>
            <a:srgbClr val="2E7D6B"/>
          </a:solidFill>
          <a:ln w="12700">
            <a:solidFill>
              <a:srgbClr val="2E7D6B"/>
            </a:solidFill>
            <a:prstDash val="solid"/>
          </a:ln>
        </p:spPr>
      </p:sp>
      <p:sp>
        <p:nvSpPr>
          <p:cNvPr id="15" name="Text 13"/>
          <p:cNvSpPr txBox="1"/>
          <p:nvPr/>
        </p:nvSpPr>
        <p:spPr>
          <a:xfrm>
            <a:off x="822960"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③</a:t>
            </a:r>
            <a:endParaRPr lang="en-US" sz="2000" dirty="0"/>
          </a:p>
        </p:txBody>
      </p:sp>
      <p:sp>
        <p:nvSpPr>
          <p:cNvPr id="16" name="Text 14"/>
          <p:cNvSpPr txBox="1"/>
          <p:nvPr/>
        </p:nvSpPr>
        <p:spPr>
          <a:xfrm>
            <a:off x="1645920"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판단 없이 듣고 의미를 확인하며, 위험이 의심되면 전문체계로 연결한다</a:t>
            </a:r>
            <a:endParaRPr lang="en-US" sz="2200" dirty="0"/>
          </a:p>
        </p:txBody>
      </p:sp>
      <p:sp>
        <p:nvSpPr>
          <p:cNvPr id="17" name="Shape 15"/>
          <p:cNvSpPr/>
          <p:nvPr/>
        </p:nvSpPr>
        <p:spPr>
          <a:xfrm>
            <a:off x="6233008" y="4297680"/>
            <a:ext cx="5410048" cy="1463040"/>
          </a:xfrm>
          <a:prstGeom prst="roundRect">
            <a:avLst>
              <a:gd name="adj" fmla="val 7500"/>
            </a:avLst>
          </a:prstGeom>
          <a:solidFill>
            <a:srgbClr val="EAF3F0"/>
          </a:solidFill>
          <a:ln w="12700">
            <a:solidFill>
              <a:srgbClr val="EAF3F0"/>
            </a:solidFill>
            <a:prstDash val="solid"/>
          </a:ln>
        </p:spPr>
      </p:sp>
      <p:sp>
        <p:nvSpPr>
          <p:cNvPr id="18" name="Shape 16"/>
          <p:cNvSpPr/>
          <p:nvPr/>
        </p:nvSpPr>
        <p:spPr>
          <a:xfrm>
            <a:off x="6507328" y="4736592"/>
            <a:ext cx="585216" cy="585216"/>
          </a:xfrm>
          <a:prstGeom prst="ellipse">
            <a:avLst/>
          </a:prstGeom>
          <a:solidFill>
            <a:srgbClr val="2E7D6B"/>
          </a:solidFill>
          <a:ln w="12700">
            <a:solidFill>
              <a:srgbClr val="2E7D6B"/>
            </a:solidFill>
            <a:prstDash val="solid"/>
          </a:ln>
        </p:spPr>
      </p:sp>
      <p:sp>
        <p:nvSpPr>
          <p:cNvPr id="19" name="Text 17"/>
          <p:cNvSpPr txBox="1"/>
          <p:nvPr/>
        </p:nvSpPr>
        <p:spPr>
          <a:xfrm>
            <a:off x="6507328" y="4736592"/>
            <a:ext cx="585216" cy="585216"/>
          </a:xfrm>
          <a:prstGeom prst="rect">
            <a:avLst/>
          </a:prstGeom>
          <a:noFill/>
          <a:ln/>
        </p:spPr>
        <p:txBody>
          <a:bodyPr wrap="square" lIns="0" tIns="0" rIns="0" bIns="0" rtlCol="0" anchor="ctr"/>
          <a:lstStyle/>
          <a:p>
            <a:pPr algn="ctr" indent="0" marL="0">
              <a:buNone/>
            </a:pPr>
            <a:r>
              <a:rPr lang="en-US" sz="2000" b="1" dirty="0">
                <a:solidFill>
                  <a:srgbClr val="FFFFFF"/>
                </a:solidFill>
              </a:rPr>
              <a:t>④</a:t>
            </a:r>
            <a:endParaRPr lang="en-US" sz="2000" dirty="0"/>
          </a:p>
        </p:txBody>
      </p:sp>
      <p:sp>
        <p:nvSpPr>
          <p:cNvPr id="20" name="Text 18"/>
          <p:cNvSpPr txBox="1"/>
          <p:nvPr/>
        </p:nvSpPr>
        <p:spPr>
          <a:xfrm>
            <a:off x="7330288" y="4389120"/>
            <a:ext cx="4084168" cy="1280160"/>
          </a:xfrm>
          <a:prstGeom prst="rect">
            <a:avLst/>
          </a:prstGeom>
          <a:noFill/>
          <a:ln/>
        </p:spPr>
        <p:txBody>
          <a:bodyPr wrap="square" lIns="0" tIns="0" rIns="0" bIns="0" rtlCol="0" anchor="ctr"/>
          <a:lstStyle/>
          <a:p>
            <a:pPr indent="0" marL="0">
              <a:buNone/>
            </a:pPr>
            <a:r>
              <a:rPr lang="en-US" sz="2200" dirty="0">
                <a:solidFill>
                  <a:srgbClr val="222222"/>
                </a:solidFill>
              </a:rPr>
              <a:t>가족에게 알리지 않고 혼자 상담을 이어 간다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정답과 해설</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퀴즈 정답 확인</a:t>
            </a:r>
            <a:endParaRPr lang="en-US" sz="2800" dirty="0"/>
          </a:p>
        </p:txBody>
      </p:sp>
      <p:sp>
        <p:nvSpPr>
          <p:cNvPr id="4" name="Shape 2"/>
          <p:cNvSpPr/>
          <p:nvPr/>
        </p:nvSpPr>
        <p:spPr>
          <a:xfrm>
            <a:off x="548640" y="1508760"/>
            <a:ext cx="5410048" cy="1040130"/>
          </a:xfrm>
          <a:prstGeom prst="roundRect">
            <a:avLst>
              <a:gd name="adj" fmla="val 10549"/>
            </a:avLst>
          </a:prstGeom>
          <a:solidFill>
            <a:srgbClr val="EAF3F0"/>
          </a:solidFill>
          <a:ln w="12700">
            <a:solidFill>
              <a:srgbClr val="EAF3F0"/>
            </a:solidFill>
            <a:prstDash val="solid"/>
          </a:ln>
        </p:spPr>
      </p:sp>
      <p:sp>
        <p:nvSpPr>
          <p:cNvPr id="5" name="Text 3"/>
          <p:cNvSpPr txBox="1"/>
          <p:nvPr/>
        </p:nvSpPr>
        <p:spPr>
          <a:xfrm>
            <a:off x="731520"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1</a:t>
            </a:r>
            <a:endParaRPr lang="en-US" sz="1400" dirty="0"/>
          </a:p>
        </p:txBody>
      </p:sp>
      <p:sp>
        <p:nvSpPr>
          <p:cNvPr id="6" name="Text 4"/>
          <p:cNvSpPr txBox="1"/>
          <p:nvPr/>
        </p:nvSpPr>
        <p:spPr>
          <a:xfrm>
            <a:off x="1508760"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7" name="Text 5"/>
          <p:cNvSpPr txBox="1"/>
          <p:nvPr/>
        </p:nvSpPr>
        <p:spPr>
          <a:xfrm>
            <a:off x="2331720"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동의가 아니라 이해의 확인</a:t>
            </a:r>
            <a:endParaRPr lang="en-US" sz="1800" dirty="0"/>
          </a:p>
        </p:txBody>
      </p:sp>
      <p:sp>
        <p:nvSpPr>
          <p:cNvPr id="8" name="Shape 6"/>
          <p:cNvSpPr/>
          <p:nvPr/>
        </p:nvSpPr>
        <p:spPr>
          <a:xfrm>
            <a:off x="548640" y="2686050"/>
            <a:ext cx="5410048" cy="1040130"/>
          </a:xfrm>
          <a:prstGeom prst="roundRect">
            <a:avLst>
              <a:gd name="adj" fmla="val 10549"/>
            </a:avLst>
          </a:prstGeom>
          <a:solidFill>
            <a:srgbClr val="EAF3F0"/>
          </a:solidFill>
          <a:ln w="12700">
            <a:solidFill>
              <a:srgbClr val="EAF3F0"/>
            </a:solidFill>
            <a:prstDash val="solid"/>
          </a:ln>
        </p:spPr>
      </p:sp>
      <p:sp>
        <p:nvSpPr>
          <p:cNvPr id="9" name="Text 7"/>
          <p:cNvSpPr txBox="1"/>
          <p:nvPr/>
        </p:nvSpPr>
        <p:spPr>
          <a:xfrm>
            <a:off x="731520"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2</a:t>
            </a:r>
            <a:endParaRPr lang="en-US" sz="1400" dirty="0"/>
          </a:p>
        </p:txBody>
      </p:sp>
      <p:sp>
        <p:nvSpPr>
          <p:cNvPr id="10" name="Text 8"/>
          <p:cNvSpPr txBox="1"/>
          <p:nvPr/>
        </p:nvSpPr>
        <p:spPr>
          <a:xfrm>
            <a:off x="1508760"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O</a:t>
            </a:r>
            <a:endParaRPr lang="en-US" sz="2200" dirty="0"/>
          </a:p>
        </p:txBody>
      </p:sp>
      <p:sp>
        <p:nvSpPr>
          <p:cNvPr id="11" name="Text 9"/>
          <p:cNvSpPr txBox="1"/>
          <p:nvPr/>
        </p:nvSpPr>
        <p:spPr>
          <a:xfrm>
            <a:off x="2331720"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입장 아래의 욕구를 찾는다</a:t>
            </a:r>
            <a:endParaRPr lang="en-US" sz="1800" dirty="0"/>
          </a:p>
        </p:txBody>
      </p:sp>
      <p:sp>
        <p:nvSpPr>
          <p:cNvPr id="12" name="Shape 10"/>
          <p:cNvSpPr/>
          <p:nvPr/>
        </p:nvSpPr>
        <p:spPr>
          <a:xfrm>
            <a:off x="548640" y="3863340"/>
            <a:ext cx="5410048" cy="1040130"/>
          </a:xfrm>
          <a:prstGeom prst="roundRect">
            <a:avLst>
              <a:gd name="adj" fmla="val 10549"/>
            </a:avLst>
          </a:prstGeom>
          <a:solidFill>
            <a:srgbClr val="EAF3F0"/>
          </a:solidFill>
          <a:ln w="12700">
            <a:solidFill>
              <a:srgbClr val="EAF3F0"/>
            </a:solidFill>
            <a:prstDash val="solid"/>
          </a:ln>
        </p:spPr>
      </p:sp>
      <p:sp>
        <p:nvSpPr>
          <p:cNvPr id="13" name="Text 11"/>
          <p:cNvSpPr txBox="1"/>
          <p:nvPr/>
        </p:nvSpPr>
        <p:spPr>
          <a:xfrm>
            <a:off x="731520"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3</a:t>
            </a:r>
            <a:endParaRPr lang="en-US" sz="1400" dirty="0"/>
          </a:p>
        </p:txBody>
      </p:sp>
      <p:sp>
        <p:nvSpPr>
          <p:cNvPr id="14" name="Text 12"/>
          <p:cNvSpPr txBox="1"/>
          <p:nvPr/>
        </p:nvSpPr>
        <p:spPr>
          <a:xfrm>
            <a:off x="1508760"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15" name="Text 13"/>
          <p:cNvSpPr txBox="1"/>
          <p:nvPr/>
        </p:nvSpPr>
        <p:spPr>
          <a:xfrm>
            <a:off x="2331720"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조력자살은 허용 제도 없음</a:t>
            </a:r>
            <a:endParaRPr lang="en-US" sz="1800" dirty="0"/>
          </a:p>
        </p:txBody>
      </p:sp>
      <p:sp>
        <p:nvSpPr>
          <p:cNvPr id="16" name="Shape 14"/>
          <p:cNvSpPr/>
          <p:nvPr/>
        </p:nvSpPr>
        <p:spPr>
          <a:xfrm>
            <a:off x="548640" y="5040630"/>
            <a:ext cx="5410048" cy="1040130"/>
          </a:xfrm>
          <a:prstGeom prst="roundRect">
            <a:avLst>
              <a:gd name="adj" fmla="val 10549"/>
            </a:avLst>
          </a:prstGeom>
          <a:solidFill>
            <a:srgbClr val="EAF3F0"/>
          </a:solidFill>
          <a:ln w="12700">
            <a:solidFill>
              <a:srgbClr val="EAF3F0"/>
            </a:solidFill>
            <a:prstDash val="solid"/>
          </a:ln>
        </p:spPr>
      </p:sp>
      <p:sp>
        <p:nvSpPr>
          <p:cNvPr id="17" name="Text 15"/>
          <p:cNvSpPr txBox="1"/>
          <p:nvPr/>
        </p:nvSpPr>
        <p:spPr>
          <a:xfrm>
            <a:off x="731520"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OX 4</a:t>
            </a:r>
            <a:endParaRPr lang="en-US" sz="1400" dirty="0"/>
          </a:p>
        </p:txBody>
      </p:sp>
      <p:sp>
        <p:nvSpPr>
          <p:cNvPr id="18" name="Text 16"/>
          <p:cNvSpPr txBox="1"/>
          <p:nvPr/>
        </p:nvSpPr>
        <p:spPr>
          <a:xfrm>
            <a:off x="1508760"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X</a:t>
            </a:r>
            <a:endParaRPr lang="en-US" sz="2200" dirty="0"/>
          </a:p>
        </p:txBody>
      </p:sp>
      <p:sp>
        <p:nvSpPr>
          <p:cNvPr id="19" name="Text 17"/>
          <p:cNvSpPr txBox="1"/>
          <p:nvPr/>
        </p:nvSpPr>
        <p:spPr>
          <a:xfrm>
            <a:off x="2331720"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교육·코칭 범위의 대화 촉진</a:t>
            </a:r>
            <a:endParaRPr lang="en-US" sz="1800" dirty="0"/>
          </a:p>
        </p:txBody>
      </p:sp>
      <p:sp>
        <p:nvSpPr>
          <p:cNvPr id="20" name="Shape 18"/>
          <p:cNvSpPr/>
          <p:nvPr/>
        </p:nvSpPr>
        <p:spPr>
          <a:xfrm>
            <a:off x="6233008" y="1508760"/>
            <a:ext cx="5410048" cy="1040130"/>
          </a:xfrm>
          <a:prstGeom prst="roundRect">
            <a:avLst>
              <a:gd name="adj" fmla="val 10549"/>
            </a:avLst>
          </a:prstGeom>
          <a:solidFill>
            <a:srgbClr val="EAF3F0"/>
          </a:solidFill>
          <a:ln w="12700">
            <a:solidFill>
              <a:srgbClr val="EAF3F0"/>
            </a:solidFill>
            <a:prstDash val="solid"/>
          </a:ln>
        </p:spPr>
      </p:sp>
      <p:sp>
        <p:nvSpPr>
          <p:cNvPr id="21" name="Text 19"/>
          <p:cNvSpPr txBox="1"/>
          <p:nvPr/>
        </p:nvSpPr>
        <p:spPr>
          <a:xfrm>
            <a:off x="6415888" y="150876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1</a:t>
            </a:r>
            <a:endParaRPr lang="en-US" sz="1400" dirty="0"/>
          </a:p>
        </p:txBody>
      </p:sp>
      <p:sp>
        <p:nvSpPr>
          <p:cNvPr id="22" name="Text 20"/>
          <p:cNvSpPr txBox="1"/>
          <p:nvPr/>
        </p:nvSpPr>
        <p:spPr>
          <a:xfrm>
            <a:off x="7193128" y="150876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②</a:t>
            </a:r>
            <a:endParaRPr lang="en-US" sz="2200" dirty="0"/>
          </a:p>
        </p:txBody>
      </p:sp>
      <p:sp>
        <p:nvSpPr>
          <p:cNvPr id="23" name="Text 21"/>
          <p:cNvSpPr txBox="1"/>
          <p:nvPr/>
        </p:nvSpPr>
        <p:spPr>
          <a:xfrm>
            <a:off x="8016088" y="155448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상황 → 감정 → 영향·필요</a:t>
            </a:r>
            <a:endParaRPr lang="en-US" sz="1800" dirty="0"/>
          </a:p>
        </p:txBody>
      </p:sp>
      <p:sp>
        <p:nvSpPr>
          <p:cNvPr id="24" name="Shape 22"/>
          <p:cNvSpPr/>
          <p:nvPr/>
        </p:nvSpPr>
        <p:spPr>
          <a:xfrm>
            <a:off x="6233008" y="2686050"/>
            <a:ext cx="5410048" cy="1040130"/>
          </a:xfrm>
          <a:prstGeom prst="roundRect">
            <a:avLst>
              <a:gd name="adj" fmla="val 10549"/>
            </a:avLst>
          </a:prstGeom>
          <a:solidFill>
            <a:srgbClr val="EAF3F0"/>
          </a:solidFill>
          <a:ln w="12700">
            <a:solidFill>
              <a:srgbClr val="EAF3F0"/>
            </a:solidFill>
            <a:prstDash val="solid"/>
          </a:ln>
        </p:spPr>
      </p:sp>
      <p:sp>
        <p:nvSpPr>
          <p:cNvPr id="25" name="Text 23"/>
          <p:cNvSpPr txBox="1"/>
          <p:nvPr/>
        </p:nvSpPr>
        <p:spPr>
          <a:xfrm>
            <a:off x="6415888" y="268605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2</a:t>
            </a:r>
            <a:endParaRPr lang="en-US" sz="1400" dirty="0"/>
          </a:p>
        </p:txBody>
      </p:sp>
      <p:sp>
        <p:nvSpPr>
          <p:cNvPr id="26" name="Text 24"/>
          <p:cNvSpPr txBox="1"/>
          <p:nvPr/>
        </p:nvSpPr>
        <p:spPr>
          <a:xfrm>
            <a:off x="7193128" y="268605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①</a:t>
            </a:r>
            <a:endParaRPr lang="en-US" sz="2200" dirty="0"/>
          </a:p>
        </p:txBody>
      </p:sp>
      <p:sp>
        <p:nvSpPr>
          <p:cNvPr id="27" name="Text 25"/>
          <p:cNvSpPr txBox="1"/>
          <p:nvPr/>
        </p:nvSpPr>
        <p:spPr>
          <a:xfrm>
            <a:off x="8016088" y="273177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자율성(Autonomy)</a:t>
            </a:r>
            <a:endParaRPr lang="en-US" sz="1800" dirty="0"/>
          </a:p>
        </p:txBody>
      </p:sp>
      <p:sp>
        <p:nvSpPr>
          <p:cNvPr id="28" name="Shape 26"/>
          <p:cNvSpPr/>
          <p:nvPr/>
        </p:nvSpPr>
        <p:spPr>
          <a:xfrm>
            <a:off x="6233008" y="3863340"/>
            <a:ext cx="5410048" cy="1040130"/>
          </a:xfrm>
          <a:prstGeom prst="roundRect">
            <a:avLst>
              <a:gd name="adj" fmla="val 10549"/>
            </a:avLst>
          </a:prstGeom>
          <a:solidFill>
            <a:srgbClr val="EAF3F0"/>
          </a:solidFill>
          <a:ln w="12700">
            <a:solidFill>
              <a:srgbClr val="EAF3F0"/>
            </a:solidFill>
            <a:prstDash val="solid"/>
          </a:ln>
        </p:spPr>
      </p:sp>
      <p:sp>
        <p:nvSpPr>
          <p:cNvPr id="29" name="Text 27"/>
          <p:cNvSpPr txBox="1"/>
          <p:nvPr/>
        </p:nvSpPr>
        <p:spPr>
          <a:xfrm>
            <a:off x="6415888" y="386334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3</a:t>
            </a:r>
            <a:endParaRPr lang="en-US" sz="1400" dirty="0"/>
          </a:p>
        </p:txBody>
      </p:sp>
      <p:sp>
        <p:nvSpPr>
          <p:cNvPr id="30" name="Text 28"/>
          <p:cNvSpPr txBox="1"/>
          <p:nvPr/>
        </p:nvSpPr>
        <p:spPr>
          <a:xfrm>
            <a:off x="7193128" y="386334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③</a:t>
            </a:r>
            <a:endParaRPr lang="en-US" sz="2200" dirty="0"/>
          </a:p>
        </p:txBody>
      </p:sp>
      <p:sp>
        <p:nvSpPr>
          <p:cNvPr id="31" name="Text 29"/>
          <p:cNvSpPr txBox="1"/>
          <p:nvPr/>
        </p:nvSpPr>
        <p:spPr>
          <a:xfrm>
            <a:off x="8016088" y="3909060"/>
            <a:ext cx="3444088" cy="948690"/>
          </a:xfrm>
          <a:prstGeom prst="rect">
            <a:avLst/>
          </a:prstGeom>
          <a:noFill/>
          <a:ln/>
        </p:spPr>
        <p:txBody>
          <a:bodyPr wrap="square" lIns="0" tIns="0" rIns="0" bIns="0" rtlCol="0" anchor="ctr"/>
          <a:lstStyle/>
          <a:p>
            <a:pPr indent="0" marL="0">
              <a:buNone/>
            </a:pPr>
            <a:r>
              <a:rPr lang="en-US" sz="1800" dirty="0">
                <a:solidFill>
                  <a:srgbClr val="222222"/>
                </a:solidFill>
              </a:rPr>
              <a:t>연명의료결정법의 절차</a:t>
            </a:r>
            <a:endParaRPr lang="en-US" sz="1800" dirty="0"/>
          </a:p>
        </p:txBody>
      </p:sp>
      <p:sp>
        <p:nvSpPr>
          <p:cNvPr id="32" name="Shape 30"/>
          <p:cNvSpPr/>
          <p:nvPr/>
        </p:nvSpPr>
        <p:spPr>
          <a:xfrm>
            <a:off x="6233008" y="5040630"/>
            <a:ext cx="5410048" cy="1040130"/>
          </a:xfrm>
          <a:prstGeom prst="roundRect">
            <a:avLst>
              <a:gd name="adj" fmla="val 10549"/>
            </a:avLst>
          </a:prstGeom>
          <a:solidFill>
            <a:srgbClr val="EAF3F0"/>
          </a:solidFill>
          <a:ln w="12700">
            <a:solidFill>
              <a:srgbClr val="EAF3F0"/>
            </a:solidFill>
            <a:prstDash val="solid"/>
          </a:ln>
        </p:spPr>
      </p:sp>
      <p:sp>
        <p:nvSpPr>
          <p:cNvPr id="33" name="Text 31"/>
          <p:cNvSpPr txBox="1"/>
          <p:nvPr/>
        </p:nvSpPr>
        <p:spPr>
          <a:xfrm>
            <a:off x="6415888" y="5040630"/>
            <a:ext cx="914400" cy="1040130"/>
          </a:xfrm>
          <a:prstGeom prst="rect">
            <a:avLst/>
          </a:prstGeom>
          <a:noFill/>
          <a:ln/>
        </p:spPr>
        <p:txBody>
          <a:bodyPr wrap="square" lIns="0" tIns="0" rIns="0" bIns="0" rtlCol="0" anchor="ctr"/>
          <a:lstStyle/>
          <a:p>
            <a:pPr indent="0" marL="0">
              <a:buNone/>
            </a:pPr>
            <a:r>
              <a:rPr lang="en-US" sz="1400" b="1" dirty="0">
                <a:solidFill>
                  <a:srgbClr val="6B6B6B"/>
                </a:solidFill>
              </a:rPr>
              <a:t>객관식 4</a:t>
            </a:r>
            <a:endParaRPr lang="en-US" sz="1400" dirty="0"/>
          </a:p>
        </p:txBody>
      </p:sp>
      <p:sp>
        <p:nvSpPr>
          <p:cNvPr id="34" name="Text 32"/>
          <p:cNvSpPr txBox="1"/>
          <p:nvPr/>
        </p:nvSpPr>
        <p:spPr>
          <a:xfrm>
            <a:off x="7193128" y="5040630"/>
            <a:ext cx="731520" cy="1040130"/>
          </a:xfrm>
          <a:prstGeom prst="rect">
            <a:avLst/>
          </a:prstGeom>
          <a:noFill/>
          <a:ln/>
        </p:spPr>
        <p:txBody>
          <a:bodyPr wrap="square" lIns="0" tIns="0" rIns="0" bIns="0" rtlCol="0" anchor="ctr"/>
          <a:lstStyle/>
          <a:p>
            <a:pPr algn="ctr" indent="0" marL="0">
              <a:buNone/>
            </a:pPr>
            <a:r>
              <a:rPr lang="en-US" sz="2200" b="1" dirty="0">
                <a:solidFill>
                  <a:srgbClr val="2E7D6B"/>
                </a:solidFill>
              </a:rPr>
              <a:t>③</a:t>
            </a:r>
            <a:endParaRPr lang="en-US" sz="2200" dirty="0"/>
          </a:p>
        </p:txBody>
      </p:sp>
      <p:sp>
        <p:nvSpPr>
          <p:cNvPr id="35" name="Text 33"/>
          <p:cNvSpPr txBox="1"/>
          <p:nvPr/>
        </p:nvSpPr>
        <p:spPr>
          <a:xfrm>
            <a:off x="8016088" y="5086350"/>
            <a:ext cx="3444088" cy="948690"/>
          </a:xfrm>
          <a:prstGeom prst="rect">
            <a:avLst/>
          </a:prstGeom>
          <a:noFill/>
          <a:ln/>
        </p:spPr>
        <p:txBody>
          <a:bodyPr wrap="square" lIns="0" tIns="0" rIns="0" bIns="0" rtlCol="0" anchor="ctr"/>
          <a:lstStyle/>
          <a:p>
            <a:pPr indent="0" marL="0">
              <a:buNone/>
            </a:pPr>
            <a:r>
              <a:rPr lang="en-US" sz="1800" dirty="0">
                <a:solidFill>
                  <a:srgbClr val="222222"/>
                </a:solidFill>
              </a:rPr>
              <a:t>해결을 서두르지 않는다</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19절 학습점검 · 복습 과제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서술형으로 정리해 보세요</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I-Message 3단계와 가족갈등 문장 작성</a:t>
            </a:r>
            <a:endParaRPr lang="en-US" sz="2200" dirty="0"/>
          </a:p>
        </p:txBody>
      </p:sp>
      <p:sp>
        <p:nvSpPr>
          <p:cNvPr id="7" name="Shape 5"/>
          <p:cNvSpPr/>
          <p:nvPr/>
        </p:nvSpPr>
        <p:spPr>
          <a:xfrm>
            <a:off x="548640" y="2523744"/>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적극적 경청과 동의의 차이</a:t>
            </a:r>
            <a:endParaRPr lang="en-US" sz="2200" dirty="0"/>
          </a:p>
        </p:txBody>
      </p:sp>
      <p:sp>
        <p:nvSpPr>
          <p:cNvPr id="10" name="Shape 8"/>
          <p:cNvSpPr/>
          <p:nvPr/>
        </p:nvSpPr>
        <p:spPr>
          <a:xfrm>
            <a:off x="548640" y="3447288"/>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입장과 욕구를 구분해야 하는 이유</a:t>
            </a:r>
            <a:endParaRPr lang="en-US" sz="2200" dirty="0"/>
          </a:p>
        </p:txBody>
      </p:sp>
      <p:sp>
        <p:nvSpPr>
          <p:cNvPr id="13" name="Shape 11"/>
          <p:cNvSpPr/>
          <p:nvPr/>
        </p:nvSpPr>
        <p:spPr>
          <a:xfrm>
            <a:off x="548640" y="4370832"/>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생명윤리 네 원칙과 의미</a:t>
            </a:r>
            <a:endParaRPr lang="en-US" sz="2200" dirty="0"/>
          </a:p>
        </p:txBody>
      </p:sp>
      <p:sp>
        <p:nvSpPr>
          <p:cNvPr id="16" name="Shape 14"/>
          <p:cNvSpPr/>
          <p:nvPr/>
        </p:nvSpPr>
        <p:spPr>
          <a:xfrm>
            <a:off x="548640" y="5294376"/>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연명의료중단·안락사·조력자살의 차이</a:t>
            </a:r>
            <a:endParaRPr lang="en-US" sz="2200" dirty="0"/>
          </a:p>
        </p:txBody>
      </p:sp>
      <p:sp>
        <p:nvSpPr>
          <p:cNvPr id="19" name="Shape 17"/>
          <p:cNvSpPr/>
          <p:nvPr/>
        </p:nvSpPr>
        <p:spPr>
          <a:xfrm>
            <a:off x="6233008" y="16002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1572768"/>
            <a:ext cx="4724248" cy="850392"/>
          </a:xfrm>
          <a:prstGeom prst="rect">
            <a:avLst/>
          </a:prstGeom>
          <a:noFill/>
          <a:ln/>
        </p:spPr>
        <p:txBody>
          <a:bodyPr wrap="square" lIns="0" tIns="0" rIns="0" bIns="0" rtlCol="0" anchor="t"/>
          <a:lstStyle/>
          <a:p>
            <a:pPr indent="0" marL="0">
              <a:buNone/>
            </a:pPr>
            <a:r>
              <a:rPr lang="en-US" sz="2200" dirty="0">
                <a:solidFill>
                  <a:srgbClr val="222222"/>
                </a:solidFill>
              </a:rPr>
              <a:t>제17조 가족진술과 제18조 가족 전원합의</a:t>
            </a:r>
            <a:endParaRPr lang="en-US" sz="2200" dirty="0"/>
          </a:p>
        </p:txBody>
      </p:sp>
      <p:sp>
        <p:nvSpPr>
          <p:cNvPr id="22" name="Shape 20"/>
          <p:cNvSpPr/>
          <p:nvPr/>
        </p:nvSpPr>
        <p:spPr>
          <a:xfrm>
            <a:off x="6233008" y="2523744"/>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252374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2496312"/>
            <a:ext cx="4724248" cy="850392"/>
          </a:xfrm>
          <a:prstGeom prst="rect">
            <a:avLst/>
          </a:prstGeom>
          <a:noFill/>
          <a:ln/>
        </p:spPr>
        <p:txBody>
          <a:bodyPr wrap="square" lIns="0" tIns="0" rIns="0" bIns="0" rtlCol="0" anchor="t"/>
          <a:lstStyle/>
          <a:p>
            <a:pPr indent="0" marL="0">
              <a:buNone/>
            </a:pPr>
            <a:r>
              <a:rPr lang="en-US" sz="2200" dirty="0">
                <a:solidFill>
                  <a:srgbClr val="222222"/>
                </a:solidFill>
              </a:rPr>
              <a:t>가족 갈등중재의 5대 원칙</a:t>
            </a:r>
            <a:endParaRPr lang="en-US" sz="2200" dirty="0"/>
          </a:p>
        </p:txBody>
      </p:sp>
      <p:sp>
        <p:nvSpPr>
          <p:cNvPr id="25" name="Shape 23"/>
          <p:cNvSpPr/>
          <p:nvPr/>
        </p:nvSpPr>
        <p:spPr>
          <a:xfrm>
            <a:off x="6233008" y="3447288"/>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344728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3419856"/>
            <a:ext cx="4724248" cy="850392"/>
          </a:xfrm>
          <a:prstGeom prst="rect">
            <a:avLst/>
          </a:prstGeom>
          <a:noFill/>
          <a:ln/>
        </p:spPr>
        <p:txBody>
          <a:bodyPr wrap="square" lIns="0" tIns="0" rIns="0" bIns="0" rtlCol="0" anchor="t"/>
          <a:lstStyle/>
          <a:p>
            <a:pPr indent="0" marL="0">
              <a:buNone/>
            </a:pPr>
            <a:r>
              <a:rPr lang="en-US" sz="2200" dirty="0">
                <a:solidFill>
                  <a:srgbClr val="222222"/>
                </a:solidFill>
              </a:rPr>
              <a:t>사실·가치·감정 분리가 주는 도움</a:t>
            </a:r>
            <a:endParaRPr lang="en-US" sz="2200" dirty="0"/>
          </a:p>
        </p:txBody>
      </p:sp>
      <p:sp>
        <p:nvSpPr>
          <p:cNvPr id="28" name="Shape 26"/>
          <p:cNvSpPr/>
          <p:nvPr/>
        </p:nvSpPr>
        <p:spPr>
          <a:xfrm>
            <a:off x="6233008" y="4370832"/>
            <a:ext cx="438912" cy="438912"/>
          </a:xfrm>
          <a:prstGeom prst="ellipse">
            <a:avLst/>
          </a:prstGeom>
          <a:solidFill>
            <a:srgbClr val="2E7D6B"/>
          </a:solidFill>
          <a:ln w="12700">
            <a:solidFill>
              <a:srgbClr val="2E7D6B"/>
            </a:solidFill>
            <a:prstDash val="solid"/>
          </a:ln>
        </p:spPr>
      </p:sp>
      <p:sp>
        <p:nvSpPr>
          <p:cNvPr id="29" name="Text 27"/>
          <p:cNvSpPr txBox="1"/>
          <p:nvPr/>
        </p:nvSpPr>
        <p:spPr>
          <a:xfrm>
            <a:off x="6233008" y="437083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9</a:t>
            </a:r>
            <a:endParaRPr lang="en-US" sz="1500" dirty="0"/>
          </a:p>
        </p:txBody>
      </p:sp>
      <p:sp>
        <p:nvSpPr>
          <p:cNvPr id="30" name="Text 28"/>
          <p:cNvSpPr txBox="1"/>
          <p:nvPr/>
        </p:nvSpPr>
        <p:spPr>
          <a:xfrm>
            <a:off x="6854800" y="4343400"/>
            <a:ext cx="4724248" cy="850392"/>
          </a:xfrm>
          <a:prstGeom prst="rect">
            <a:avLst/>
          </a:prstGeom>
          <a:noFill/>
          <a:ln/>
        </p:spPr>
        <p:txBody>
          <a:bodyPr wrap="square" lIns="0" tIns="0" rIns="0" bIns="0" rtlCol="0" anchor="t"/>
          <a:lstStyle/>
          <a:p>
            <a:pPr indent="0" marL="0">
              <a:buNone/>
            </a:pPr>
            <a:r>
              <a:rPr lang="en-US" sz="2200" dirty="0">
                <a:solidFill>
                  <a:srgbClr val="222222"/>
                </a:solidFill>
              </a:rPr>
              <a:t>“죽고 싶다”는 말에 대한 기본 대응</a:t>
            </a:r>
            <a:endParaRPr lang="en-US" sz="2200" dirty="0"/>
          </a:p>
        </p:txBody>
      </p:sp>
      <p:sp>
        <p:nvSpPr>
          <p:cNvPr id="31" name="Shape 29"/>
          <p:cNvSpPr/>
          <p:nvPr/>
        </p:nvSpPr>
        <p:spPr>
          <a:xfrm>
            <a:off x="6233008" y="5294376"/>
            <a:ext cx="438912" cy="438912"/>
          </a:xfrm>
          <a:prstGeom prst="ellipse">
            <a:avLst/>
          </a:prstGeom>
          <a:solidFill>
            <a:srgbClr val="2E7D6B"/>
          </a:solidFill>
          <a:ln w="12700">
            <a:solidFill>
              <a:srgbClr val="2E7D6B"/>
            </a:solidFill>
            <a:prstDash val="solid"/>
          </a:ln>
        </p:spPr>
      </p:sp>
      <p:sp>
        <p:nvSpPr>
          <p:cNvPr id="32" name="Text 30"/>
          <p:cNvSpPr txBox="1"/>
          <p:nvPr/>
        </p:nvSpPr>
        <p:spPr>
          <a:xfrm>
            <a:off x="6233008" y="529437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10</a:t>
            </a:r>
            <a:endParaRPr lang="en-US" sz="1500" dirty="0"/>
          </a:p>
        </p:txBody>
      </p:sp>
      <p:sp>
        <p:nvSpPr>
          <p:cNvPr id="33" name="Text 31"/>
          <p:cNvSpPr txBox="1"/>
          <p:nvPr/>
        </p:nvSpPr>
        <p:spPr>
          <a:xfrm>
            <a:off x="6854800" y="5266944"/>
            <a:ext cx="4724248" cy="850392"/>
          </a:xfrm>
          <a:prstGeom prst="rect">
            <a:avLst/>
          </a:prstGeom>
          <a:noFill/>
          <a:ln/>
        </p:spPr>
        <p:txBody>
          <a:bodyPr wrap="square" lIns="0" tIns="0" rIns="0" bIns="0" rtlCol="0" anchor="t"/>
          <a:lstStyle/>
          <a:p>
            <a:pPr indent="0" marL="0">
              <a:buNone/>
            </a:pPr>
            <a:r>
              <a:rPr lang="en-US" sz="2200" dirty="0">
                <a:solidFill>
                  <a:srgbClr val="222222"/>
                </a:solidFill>
              </a:rPr>
              <a:t>가족소통·생명윤리 영역의 WLC 역할 경계</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20절 핵심정리</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제10강에서 꼭 기억할 여섯 문장</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가족갈등은 사랑의 방식이 충돌하는 것이다. </a:t>
            </a:r>
            <a:pPr indent="0" marL="0">
              <a:buNone/>
            </a:pPr>
            <a:r>
              <a:rPr lang="en-US" sz="2000" dirty="0">
                <a:solidFill>
                  <a:srgbClr val="222222"/>
                </a:solidFill>
              </a:rPr>
              <a:t> 누가 더 사랑하는지 판정하지 않는다.</a:t>
            </a:r>
            <a:endParaRPr lang="en-US" sz="2000" dirty="0"/>
          </a:p>
        </p:txBody>
      </p:sp>
      <p:sp>
        <p:nvSpPr>
          <p:cNvPr id="7" name="Shape 5"/>
          <p:cNvSpPr/>
          <p:nvPr/>
        </p:nvSpPr>
        <p:spPr>
          <a:xfrm>
            <a:off x="548640" y="236982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3698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34238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대화는 해결보다 이해에서 시작한다. </a:t>
            </a:r>
            <a:pPr indent="0" marL="0">
              <a:buNone/>
            </a:pPr>
            <a:r>
              <a:rPr lang="en-US" sz="2000" dirty="0">
                <a:solidFill>
                  <a:srgbClr val="222222"/>
                </a:solidFill>
              </a:rPr>
              <a:t> 경청과 I-Message가 방어를 낮춘다.</a:t>
            </a:r>
            <a:endParaRPr lang="en-US" sz="2000" dirty="0"/>
          </a:p>
        </p:txBody>
      </p:sp>
      <p:sp>
        <p:nvSpPr>
          <p:cNvPr id="10" name="Shape 8"/>
          <p:cNvSpPr/>
          <p:nvPr/>
        </p:nvSpPr>
        <p:spPr>
          <a:xfrm>
            <a:off x="548640" y="313944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1394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11200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환자의 자기결정권이 중심이다. </a:t>
            </a:r>
            <a:pPr indent="0" marL="0">
              <a:buNone/>
            </a:pPr>
            <a:r>
              <a:rPr lang="en-US" sz="2000" dirty="0">
                <a:solidFill>
                  <a:srgbClr val="222222"/>
                </a:solidFill>
              </a:rPr>
              <a:t> 확인 가능한 환자의 의사를 먼저 본다.</a:t>
            </a:r>
            <a:endParaRPr lang="en-US" sz="2000" dirty="0"/>
          </a:p>
        </p:txBody>
      </p:sp>
      <p:sp>
        <p:nvSpPr>
          <p:cNvPr id="13" name="Shape 11"/>
          <p:cNvSpPr/>
          <p:nvPr/>
        </p:nvSpPr>
        <p:spPr>
          <a:xfrm>
            <a:off x="548640" y="390906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388162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연명의료중단과 안락사·조력자살은 다르다. </a:t>
            </a:r>
            <a:pPr indent="0" marL="0">
              <a:buNone/>
            </a:pPr>
            <a:r>
              <a:rPr lang="en-US" sz="2000" dirty="0">
                <a:solidFill>
                  <a:srgbClr val="222222"/>
                </a:solidFill>
              </a:rPr>
              <a:t> 법적 개념과 절차를 정확히 구분한다.</a:t>
            </a:r>
            <a:endParaRPr lang="en-US" sz="2000" dirty="0"/>
          </a:p>
        </p:txBody>
      </p:sp>
      <p:sp>
        <p:nvSpPr>
          <p:cNvPr id="16" name="Shape 14"/>
          <p:cNvSpPr/>
          <p:nvPr/>
        </p:nvSpPr>
        <p:spPr>
          <a:xfrm>
            <a:off x="548640" y="467868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548640" y="46786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1170432" y="465124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중재는 사실·가치·감정을 분리한다. </a:t>
            </a:r>
            <a:pPr indent="0" marL="0">
              <a:buNone/>
            </a:pPr>
            <a:r>
              <a:rPr lang="en-US" sz="2000" dirty="0">
                <a:solidFill>
                  <a:srgbClr val="222222"/>
                </a:solidFill>
              </a:rPr>
              <a:t> 사실은 의료진, 가치와 감정은 가족의 언어로.</a:t>
            </a:r>
            <a:endParaRPr lang="en-US" sz="2000" dirty="0"/>
          </a:p>
        </p:txBody>
      </p:sp>
      <p:sp>
        <p:nvSpPr>
          <p:cNvPr id="19" name="Shape 17"/>
          <p:cNvSpPr/>
          <p:nvPr/>
        </p:nvSpPr>
        <p:spPr>
          <a:xfrm>
            <a:off x="548640" y="544830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548640" y="54483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1170432" y="5420868"/>
            <a:ext cx="10408615" cy="696468"/>
          </a:xfrm>
          <a:prstGeom prst="rect">
            <a:avLst/>
          </a:prstGeom>
          <a:noFill/>
          <a:ln/>
        </p:spPr>
        <p:txBody>
          <a:bodyPr wrap="square" lIns="0" tIns="0" rIns="0" bIns="0" rtlCol="0" anchor="t"/>
          <a:lstStyle/>
          <a:p>
            <a:pPr indent="0" marL="0">
              <a:buNone/>
            </a:pPr>
            <a:r>
              <a:rPr lang="en-US" sz="2000" b="1" dirty="0">
                <a:solidFill>
                  <a:srgbClr val="1F4E4A"/>
                </a:solidFill>
              </a:rPr>
              <a:t>WLC는 판정자가 아니라 촉진자다. </a:t>
            </a:r>
            <a:pPr indent="0" marL="0">
              <a:buNone/>
            </a:pPr>
            <a:r>
              <a:rPr lang="en-US" sz="2000" dirty="0">
                <a:solidFill>
                  <a:srgbClr val="222222"/>
                </a:solidFill>
              </a:rPr>
              <a:t> 대화를 열고 질문을 정리해 전문가에게 연결한다.</a:t>
            </a:r>
            <a:endParaRPr lang="en-US" sz="20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21절 WLC 코치 노트</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현장에서 기억할 여덟 가지</a:t>
            </a:r>
            <a:endParaRPr lang="en-US" sz="2800" dirty="0"/>
          </a:p>
        </p:txBody>
      </p:sp>
      <p:sp>
        <p:nvSpPr>
          <p:cNvPr id="4" name="Shape 2"/>
          <p:cNvSpPr/>
          <p:nvPr/>
        </p:nvSpPr>
        <p:spPr>
          <a:xfrm>
            <a:off x="548640" y="1600200"/>
            <a:ext cx="438912" cy="438912"/>
          </a:xfrm>
          <a:prstGeom prst="ellipse">
            <a:avLst/>
          </a:prstGeom>
          <a:solidFill>
            <a:srgbClr val="2E7D6B"/>
          </a:solidFill>
          <a:ln w="12700">
            <a:solidFill>
              <a:srgbClr val="2E7D6B"/>
            </a:solidFill>
            <a:prstDash val="solid"/>
          </a:ln>
        </p:spPr>
      </p:sp>
      <p:sp>
        <p:nvSpPr>
          <p:cNvPr id="5" name="Text 3"/>
          <p:cNvSpPr txBox="1"/>
          <p:nvPr/>
        </p:nvSpPr>
        <p:spPr>
          <a:xfrm>
            <a:off x="548640"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6" name="Text 4"/>
          <p:cNvSpPr txBox="1"/>
          <p:nvPr/>
        </p:nvSpPr>
        <p:spPr>
          <a:xfrm>
            <a:off x="1170432" y="1572768"/>
            <a:ext cx="4724248" cy="1081278"/>
          </a:xfrm>
          <a:prstGeom prst="rect">
            <a:avLst/>
          </a:prstGeom>
          <a:noFill/>
          <a:ln/>
        </p:spPr>
        <p:txBody>
          <a:bodyPr wrap="square" lIns="0" tIns="0" rIns="0" bIns="0" rtlCol="0" anchor="t"/>
          <a:lstStyle/>
          <a:p>
            <a:pPr indent="0" marL="0">
              <a:buNone/>
            </a:pPr>
            <a:r>
              <a:rPr lang="en-US" sz="2200" dirty="0">
                <a:solidFill>
                  <a:srgbClr val="222222"/>
                </a:solidFill>
              </a:rPr>
              <a:t>가족의 감정을 먼저 인정한다</a:t>
            </a:r>
            <a:endParaRPr lang="en-US" sz="2200" dirty="0"/>
          </a:p>
        </p:txBody>
      </p:sp>
      <p:sp>
        <p:nvSpPr>
          <p:cNvPr id="7" name="Shape 5"/>
          <p:cNvSpPr/>
          <p:nvPr/>
        </p:nvSpPr>
        <p:spPr>
          <a:xfrm>
            <a:off x="548640" y="2754630"/>
            <a:ext cx="438912" cy="438912"/>
          </a:xfrm>
          <a:prstGeom prst="ellipse">
            <a:avLst/>
          </a:prstGeom>
          <a:solidFill>
            <a:srgbClr val="2E7D6B"/>
          </a:solidFill>
          <a:ln w="12700">
            <a:solidFill>
              <a:srgbClr val="2E7D6B"/>
            </a:solidFill>
            <a:prstDash val="solid"/>
          </a:ln>
        </p:spPr>
      </p:sp>
      <p:sp>
        <p:nvSpPr>
          <p:cNvPr id="8" name="Text 6"/>
          <p:cNvSpPr txBox="1"/>
          <p:nvPr/>
        </p:nvSpPr>
        <p:spPr>
          <a:xfrm>
            <a:off x="548640"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9" name="Text 7"/>
          <p:cNvSpPr txBox="1"/>
          <p:nvPr/>
        </p:nvSpPr>
        <p:spPr>
          <a:xfrm>
            <a:off x="1170432" y="2727198"/>
            <a:ext cx="4724248" cy="1081278"/>
          </a:xfrm>
          <a:prstGeom prst="rect">
            <a:avLst/>
          </a:prstGeom>
          <a:noFill/>
          <a:ln/>
        </p:spPr>
        <p:txBody>
          <a:bodyPr wrap="square" lIns="0" tIns="0" rIns="0" bIns="0" rtlCol="0" anchor="t"/>
          <a:lstStyle/>
          <a:p>
            <a:pPr indent="0" marL="0">
              <a:buNone/>
            </a:pPr>
            <a:r>
              <a:rPr lang="en-US" sz="2200" dirty="0">
                <a:solidFill>
                  <a:srgbClr val="222222"/>
                </a:solidFill>
              </a:rPr>
              <a:t>환자의 뜻으로 중심을 돌린다</a:t>
            </a:r>
            <a:endParaRPr lang="en-US" sz="2200" dirty="0"/>
          </a:p>
        </p:txBody>
      </p:sp>
      <p:sp>
        <p:nvSpPr>
          <p:cNvPr id="10" name="Shape 8"/>
          <p:cNvSpPr/>
          <p:nvPr/>
        </p:nvSpPr>
        <p:spPr>
          <a:xfrm>
            <a:off x="548640" y="3909060"/>
            <a:ext cx="438912" cy="438912"/>
          </a:xfrm>
          <a:prstGeom prst="ellipse">
            <a:avLst/>
          </a:prstGeom>
          <a:solidFill>
            <a:srgbClr val="2E7D6B"/>
          </a:solidFill>
          <a:ln w="12700">
            <a:solidFill>
              <a:srgbClr val="2E7D6B"/>
            </a:solidFill>
            <a:prstDash val="solid"/>
          </a:ln>
        </p:spPr>
      </p:sp>
      <p:sp>
        <p:nvSpPr>
          <p:cNvPr id="11" name="Text 9"/>
          <p:cNvSpPr txBox="1"/>
          <p:nvPr/>
        </p:nvSpPr>
        <p:spPr>
          <a:xfrm>
            <a:off x="548640"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2" name="Text 10"/>
          <p:cNvSpPr txBox="1"/>
          <p:nvPr/>
        </p:nvSpPr>
        <p:spPr>
          <a:xfrm>
            <a:off x="1170432" y="3881628"/>
            <a:ext cx="4724248" cy="1081278"/>
          </a:xfrm>
          <a:prstGeom prst="rect">
            <a:avLst/>
          </a:prstGeom>
          <a:noFill/>
          <a:ln/>
        </p:spPr>
        <p:txBody>
          <a:bodyPr wrap="square" lIns="0" tIns="0" rIns="0" bIns="0" rtlCol="0" anchor="t"/>
          <a:lstStyle/>
          <a:p>
            <a:pPr indent="0" marL="0">
              <a:buNone/>
            </a:pPr>
            <a:r>
              <a:rPr lang="en-US" sz="2200" dirty="0">
                <a:solidFill>
                  <a:srgbClr val="222222"/>
                </a:solidFill>
              </a:rPr>
              <a:t>법정 용어를 정확히 쓴다</a:t>
            </a:r>
            <a:endParaRPr lang="en-US" sz="2200" dirty="0"/>
          </a:p>
        </p:txBody>
      </p:sp>
      <p:sp>
        <p:nvSpPr>
          <p:cNvPr id="13" name="Shape 11"/>
          <p:cNvSpPr/>
          <p:nvPr/>
        </p:nvSpPr>
        <p:spPr>
          <a:xfrm>
            <a:off x="548640" y="5063490"/>
            <a:ext cx="438912" cy="438912"/>
          </a:xfrm>
          <a:prstGeom prst="ellipse">
            <a:avLst/>
          </a:prstGeom>
          <a:solidFill>
            <a:srgbClr val="2E7D6B"/>
          </a:solidFill>
          <a:ln w="12700">
            <a:solidFill>
              <a:srgbClr val="2E7D6B"/>
            </a:solidFill>
            <a:prstDash val="solid"/>
          </a:ln>
        </p:spPr>
      </p:sp>
      <p:sp>
        <p:nvSpPr>
          <p:cNvPr id="14" name="Text 12"/>
          <p:cNvSpPr txBox="1"/>
          <p:nvPr/>
        </p:nvSpPr>
        <p:spPr>
          <a:xfrm>
            <a:off x="548640"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5" name="Text 13"/>
          <p:cNvSpPr txBox="1"/>
          <p:nvPr/>
        </p:nvSpPr>
        <p:spPr>
          <a:xfrm>
            <a:off x="1170432" y="5036058"/>
            <a:ext cx="4724248" cy="1081278"/>
          </a:xfrm>
          <a:prstGeom prst="rect">
            <a:avLst/>
          </a:prstGeom>
          <a:noFill/>
          <a:ln/>
        </p:spPr>
        <p:txBody>
          <a:bodyPr wrap="square" lIns="0" tIns="0" rIns="0" bIns="0" rtlCol="0" anchor="t"/>
          <a:lstStyle/>
          <a:p>
            <a:pPr indent="0" marL="0">
              <a:buNone/>
            </a:pPr>
            <a:r>
              <a:rPr lang="en-US" sz="2200" dirty="0">
                <a:solidFill>
                  <a:srgbClr val="222222"/>
                </a:solidFill>
              </a:rPr>
              <a:t>안락사와 연명의료중단을 혼동하지 않는다</a:t>
            </a:r>
            <a:endParaRPr lang="en-US" sz="2200" dirty="0"/>
          </a:p>
        </p:txBody>
      </p:sp>
      <p:sp>
        <p:nvSpPr>
          <p:cNvPr id="16" name="Shape 14"/>
          <p:cNvSpPr/>
          <p:nvPr/>
        </p:nvSpPr>
        <p:spPr>
          <a:xfrm>
            <a:off x="6233008" y="1600200"/>
            <a:ext cx="438912" cy="438912"/>
          </a:xfrm>
          <a:prstGeom prst="ellipse">
            <a:avLst/>
          </a:prstGeom>
          <a:solidFill>
            <a:srgbClr val="2E7D6B"/>
          </a:solidFill>
          <a:ln w="12700">
            <a:solidFill>
              <a:srgbClr val="2E7D6B"/>
            </a:solidFill>
            <a:prstDash val="solid"/>
          </a:ln>
        </p:spPr>
      </p:sp>
      <p:sp>
        <p:nvSpPr>
          <p:cNvPr id="17" name="Text 15"/>
          <p:cNvSpPr txBox="1"/>
          <p:nvPr/>
        </p:nvSpPr>
        <p:spPr>
          <a:xfrm>
            <a:off x="6233008" y="16002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5</a:t>
            </a:r>
            <a:endParaRPr lang="en-US" sz="1500" dirty="0"/>
          </a:p>
        </p:txBody>
      </p:sp>
      <p:sp>
        <p:nvSpPr>
          <p:cNvPr id="18" name="Text 16"/>
          <p:cNvSpPr txBox="1"/>
          <p:nvPr/>
        </p:nvSpPr>
        <p:spPr>
          <a:xfrm>
            <a:off x="6854800" y="1572768"/>
            <a:ext cx="4724248" cy="1081278"/>
          </a:xfrm>
          <a:prstGeom prst="rect">
            <a:avLst/>
          </a:prstGeom>
          <a:noFill/>
          <a:ln/>
        </p:spPr>
        <p:txBody>
          <a:bodyPr wrap="square" lIns="0" tIns="0" rIns="0" bIns="0" rtlCol="0" anchor="t"/>
          <a:lstStyle/>
          <a:p>
            <a:pPr indent="0" marL="0">
              <a:buNone/>
            </a:pPr>
            <a:r>
              <a:rPr lang="en-US" sz="2200" dirty="0">
                <a:solidFill>
                  <a:srgbClr val="222222"/>
                </a:solidFill>
              </a:rPr>
              <a:t>의료진과 경쟁하지 않는다</a:t>
            </a:r>
            <a:endParaRPr lang="en-US" sz="2200" dirty="0"/>
          </a:p>
        </p:txBody>
      </p:sp>
      <p:sp>
        <p:nvSpPr>
          <p:cNvPr id="19" name="Shape 17"/>
          <p:cNvSpPr/>
          <p:nvPr/>
        </p:nvSpPr>
        <p:spPr>
          <a:xfrm>
            <a:off x="6233008" y="2754630"/>
            <a:ext cx="438912" cy="438912"/>
          </a:xfrm>
          <a:prstGeom prst="ellipse">
            <a:avLst/>
          </a:prstGeom>
          <a:solidFill>
            <a:srgbClr val="2E7D6B"/>
          </a:solidFill>
          <a:ln w="12700">
            <a:solidFill>
              <a:srgbClr val="2E7D6B"/>
            </a:solidFill>
            <a:prstDash val="solid"/>
          </a:ln>
        </p:spPr>
      </p:sp>
      <p:sp>
        <p:nvSpPr>
          <p:cNvPr id="20" name="Text 18"/>
          <p:cNvSpPr txBox="1"/>
          <p:nvPr/>
        </p:nvSpPr>
        <p:spPr>
          <a:xfrm>
            <a:off x="6233008" y="275463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6</a:t>
            </a:r>
            <a:endParaRPr lang="en-US" sz="1500" dirty="0"/>
          </a:p>
        </p:txBody>
      </p:sp>
      <p:sp>
        <p:nvSpPr>
          <p:cNvPr id="21" name="Text 19"/>
          <p:cNvSpPr txBox="1"/>
          <p:nvPr/>
        </p:nvSpPr>
        <p:spPr>
          <a:xfrm>
            <a:off x="6854800" y="2727198"/>
            <a:ext cx="4724248" cy="1081278"/>
          </a:xfrm>
          <a:prstGeom prst="rect">
            <a:avLst/>
          </a:prstGeom>
          <a:noFill/>
          <a:ln/>
        </p:spPr>
        <p:txBody>
          <a:bodyPr wrap="square" lIns="0" tIns="0" rIns="0" bIns="0" rtlCol="0" anchor="t"/>
          <a:lstStyle/>
          <a:p>
            <a:pPr indent="0" marL="0">
              <a:buNone/>
            </a:pPr>
            <a:r>
              <a:rPr lang="en-US" sz="2200" dirty="0">
                <a:solidFill>
                  <a:srgbClr val="222222"/>
                </a:solidFill>
              </a:rPr>
              <a:t>중재를 성급한 합의로 착각하지 않는다</a:t>
            </a:r>
            <a:endParaRPr lang="en-US" sz="2200" dirty="0"/>
          </a:p>
        </p:txBody>
      </p:sp>
      <p:sp>
        <p:nvSpPr>
          <p:cNvPr id="22" name="Shape 20"/>
          <p:cNvSpPr/>
          <p:nvPr/>
        </p:nvSpPr>
        <p:spPr>
          <a:xfrm>
            <a:off x="6233008" y="3909060"/>
            <a:ext cx="438912" cy="438912"/>
          </a:xfrm>
          <a:prstGeom prst="ellipse">
            <a:avLst/>
          </a:prstGeom>
          <a:solidFill>
            <a:srgbClr val="2E7D6B"/>
          </a:solidFill>
          <a:ln w="12700">
            <a:solidFill>
              <a:srgbClr val="2E7D6B"/>
            </a:solidFill>
            <a:prstDash val="solid"/>
          </a:ln>
        </p:spPr>
      </p:sp>
      <p:sp>
        <p:nvSpPr>
          <p:cNvPr id="23" name="Text 21"/>
          <p:cNvSpPr txBox="1"/>
          <p:nvPr/>
        </p:nvSpPr>
        <p:spPr>
          <a:xfrm>
            <a:off x="6233008" y="39090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7</a:t>
            </a:r>
            <a:endParaRPr lang="en-US" sz="1500" dirty="0"/>
          </a:p>
        </p:txBody>
      </p:sp>
      <p:sp>
        <p:nvSpPr>
          <p:cNvPr id="24" name="Text 22"/>
          <p:cNvSpPr txBox="1"/>
          <p:nvPr/>
        </p:nvSpPr>
        <p:spPr>
          <a:xfrm>
            <a:off x="6854800" y="3881628"/>
            <a:ext cx="4724248" cy="1081278"/>
          </a:xfrm>
          <a:prstGeom prst="rect">
            <a:avLst/>
          </a:prstGeom>
          <a:noFill/>
          <a:ln/>
        </p:spPr>
        <p:txBody>
          <a:bodyPr wrap="square" lIns="0" tIns="0" rIns="0" bIns="0" rtlCol="0" anchor="t"/>
          <a:lstStyle/>
          <a:p>
            <a:pPr indent="0" marL="0">
              <a:buNone/>
            </a:pPr>
            <a:r>
              <a:rPr lang="en-US" sz="2200" dirty="0">
                <a:solidFill>
                  <a:srgbClr val="222222"/>
                </a:solidFill>
              </a:rPr>
              <a:t>“죽고 싶다”는 말을 가볍게 넘기지 않는다</a:t>
            </a:r>
            <a:endParaRPr lang="en-US" sz="2200" dirty="0"/>
          </a:p>
        </p:txBody>
      </p:sp>
      <p:sp>
        <p:nvSpPr>
          <p:cNvPr id="25" name="Shape 23"/>
          <p:cNvSpPr/>
          <p:nvPr/>
        </p:nvSpPr>
        <p:spPr>
          <a:xfrm>
            <a:off x="6233008" y="5063490"/>
            <a:ext cx="438912" cy="438912"/>
          </a:xfrm>
          <a:prstGeom prst="ellipse">
            <a:avLst/>
          </a:prstGeom>
          <a:solidFill>
            <a:srgbClr val="2E7D6B"/>
          </a:solidFill>
          <a:ln w="12700">
            <a:solidFill>
              <a:srgbClr val="2E7D6B"/>
            </a:solidFill>
            <a:prstDash val="solid"/>
          </a:ln>
        </p:spPr>
      </p:sp>
      <p:sp>
        <p:nvSpPr>
          <p:cNvPr id="26" name="Text 24"/>
          <p:cNvSpPr txBox="1"/>
          <p:nvPr/>
        </p:nvSpPr>
        <p:spPr>
          <a:xfrm>
            <a:off x="6233008" y="506349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rPr>
              <a:t>8</a:t>
            </a:r>
            <a:endParaRPr lang="en-US" sz="1500" dirty="0"/>
          </a:p>
        </p:txBody>
      </p:sp>
      <p:sp>
        <p:nvSpPr>
          <p:cNvPr id="27" name="Text 25"/>
          <p:cNvSpPr txBox="1"/>
          <p:nvPr/>
        </p:nvSpPr>
        <p:spPr>
          <a:xfrm>
            <a:off x="6854800" y="5036058"/>
            <a:ext cx="4724248" cy="1081278"/>
          </a:xfrm>
          <a:prstGeom prst="rect">
            <a:avLst/>
          </a:prstGeom>
          <a:noFill/>
          <a:ln/>
        </p:spPr>
        <p:txBody>
          <a:bodyPr wrap="square" lIns="0" tIns="0" rIns="0" bIns="0" rtlCol="0" anchor="t"/>
          <a:lstStyle/>
          <a:p>
            <a:pPr indent="0" marL="0">
              <a:buNone/>
            </a:pPr>
            <a:r>
              <a:rPr lang="en-US" sz="2200" dirty="0">
                <a:solidFill>
                  <a:srgbClr val="222222"/>
                </a:solidFill>
              </a:rPr>
              <a:t>회의 후 행동을 남긴다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이번 주 과제와 실천</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다음 시간까지 해 올 세 가지</a:t>
            </a:r>
            <a:endParaRPr lang="en-US" sz="2800" dirty="0"/>
          </a:p>
        </p:txBody>
      </p:sp>
      <p:sp>
        <p:nvSpPr>
          <p:cNvPr id="4" name="Shape 2"/>
          <p:cNvSpPr/>
          <p:nvPr/>
        </p:nvSpPr>
        <p:spPr>
          <a:xfrm>
            <a:off x="548640" y="1554480"/>
            <a:ext cx="3515258" cy="4617720"/>
          </a:xfrm>
          <a:prstGeom prst="roundRect">
            <a:avLst>
              <a:gd name="adj" fmla="val 3121"/>
            </a:avLst>
          </a:prstGeom>
          <a:solidFill>
            <a:srgbClr val="EAF3F0"/>
          </a:solidFill>
          <a:ln w="12700">
            <a:solidFill>
              <a:srgbClr val="EAF3F0"/>
            </a:solidFill>
            <a:prstDash val="solid"/>
          </a:ln>
        </p:spPr>
      </p:sp>
      <p:sp>
        <p:nvSpPr>
          <p:cNvPr id="5" name="Shape 3"/>
          <p:cNvSpPr/>
          <p:nvPr/>
        </p:nvSpPr>
        <p:spPr>
          <a:xfrm>
            <a:off x="777240" y="1783080"/>
            <a:ext cx="548640" cy="548640"/>
          </a:xfrm>
          <a:prstGeom prst="ellipse">
            <a:avLst/>
          </a:prstGeom>
          <a:solidFill>
            <a:srgbClr val="2E7D6B"/>
          </a:solidFill>
          <a:ln w="12700">
            <a:solidFill>
              <a:srgbClr val="2E7D6B"/>
            </a:solidFill>
            <a:prstDash val="solid"/>
          </a:ln>
        </p:spPr>
      </p:sp>
      <p:pic>
        <p:nvPicPr>
          <p:cNvPr id="6" name="Image 0" descr="preencoded.png">    </p:cNvPr>
          <p:cNvPicPr>
            <a:picLocks noChangeAspect="1"/>
          </p:cNvPicPr>
          <p:nvPr/>
        </p:nvPicPr>
        <p:blipFill>
          <a:blip r:embed="rId1"/>
          <a:stretch>
            <a:fillRect/>
          </a:stretch>
        </p:blipFill>
        <p:spPr>
          <a:xfrm>
            <a:off x="919886" y="1925726"/>
            <a:ext cx="263347" cy="263347"/>
          </a:xfrm>
          <a:prstGeom prst="rect">
            <a:avLst/>
          </a:prstGeom>
        </p:spPr>
      </p:pic>
      <p:sp>
        <p:nvSpPr>
          <p:cNvPr id="7" name="Text 4"/>
          <p:cNvSpPr txBox="1"/>
          <p:nvPr/>
        </p:nvSpPr>
        <p:spPr>
          <a:xfrm>
            <a:off x="777240"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30일 프로젝트 4주차</a:t>
            </a:r>
            <a:endParaRPr lang="en-US" sz="2200" dirty="0"/>
          </a:p>
          <a:p>
            <a:pPr indent="0" marL="0">
              <a:buNone/>
            </a:pPr>
            <a:r>
              <a:rPr lang="en-US" sz="2200" dirty="0">
                <a:solidFill>
                  <a:srgbClr val="222222"/>
                </a:solidFill>
              </a:rPr>
              <a:t>가족대화 — 남길 물건·문서 위치·디지털 처리 희망을 한 사람과 공유합니다.</a:t>
            </a:r>
            <a:endParaRPr lang="en-US" sz="2200" dirty="0"/>
          </a:p>
        </p:txBody>
      </p:sp>
      <p:sp>
        <p:nvSpPr>
          <p:cNvPr id="8" name="Shape 5"/>
          <p:cNvSpPr/>
          <p:nvPr/>
        </p:nvSpPr>
        <p:spPr>
          <a:xfrm>
            <a:off x="4338218" y="1554480"/>
            <a:ext cx="3515258" cy="4617720"/>
          </a:xfrm>
          <a:prstGeom prst="roundRect">
            <a:avLst>
              <a:gd name="adj" fmla="val 3121"/>
            </a:avLst>
          </a:prstGeom>
          <a:solidFill>
            <a:srgbClr val="EAF3F0"/>
          </a:solidFill>
          <a:ln w="12700">
            <a:solidFill>
              <a:srgbClr val="EAF3F0"/>
            </a:solidFill>
            <a:prstDash val="solid"/>
          </a:ln>
        </p:spPr>
      </p:sp>
      <p:sp>
        <p:nvSpPr>
          <p:cNvPr id="9" name="Shape 6"/>
          <p:cNvSpPr/>
          <p:nvPr/>
        </p:nvSpPr>
        <p:spPr>
          <a:xfrm>
            <a:off x="4566818" y="1783080"/>
            <a:ext cx="548640" cy="548640"/>
          </a:xfrm>
          <a:prstGeom prst="ellipse">
            <a:avLst/>
          </a:prstGeom>
          <a:solidFill>
            <a:srgbClr val="2E7D6B"/>
          </a:solidFill>
          <a:ln w="12700">
            <a:solidFill>
              <a:srgbClr val="2E7D6B"/>
            </a:solidFill>
            <a:prstDash val="solid"/>
          </a:ln>
        </p:spPr>
      </p:sp>
      <p:pic>
        <p:nvPicPr>
          <p:cNvPr id="10" name="Image 1" descr="preencoded.png">    </p:cNvPr>
          <p:cNvPicPr>
            <a:picLocks noChangeAspect="1"/>
          </p:cNvPicPr>
          <p:nvPr/>
        </p:nvPicPr>
        <p:blipFill>
          <a:blip r:embed="rId2"/>
          <a:stretch>
            <a:fillRect/>
          </a:stretch>
        </p:blipFill>
        <p:spPr>
          <a:xfrm>
            <a:off x="4709465" y="1925726"/>
            <a:ext cx="263347" cy="263347"/>
          </a:xfrm>
          <a:prstGeom prst="rect">
            <a:avLst/>
          </a:prstGeom>
        </p:spPr>
      </p:pic>
      <p:sp>
        <p:nvSpPr>
          <p:cNvPr id="11" name="Text 7"/>
          <p:cNvSpPr txBox="1"/>
          <p:nvPr/>
        </p:nvSpPr>
        <p:spPr>
          <a:xfrm>
            <a:off x="4566818"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2E7D6B"/>
                </a:solidFill>
              </a:rPr>
              <a:t>I-Message 한 번</a:t>
            </a:r>
            <a:endParaRPr lang="en-US" sz="2200" dirty="0"/>
          </a:p>
          <a:p>
            <a:pPr indent="0" marL="0">
              <a:buNone/>
            </a:pPr>
            <a:r>
              <a:rPr lang="en-US" sz="2200" dirty="0">
                <a:solidFill>
                  <a:srgbClr val="222222"/>
                </a:solidFill>
              </a:rPr>
              <a:t>일상에서 You-Message가 나오려 할 때 I-Message로 바꿔 말해 봅니다.</a:t>
            </a:r>
            <a:endParaRPr lang="en-US" sz="2200" dirty="0"/>
          </a:p>
        </p:txBody>
      </p:sp>
      <p:sp>
        <p:nvSpPr>
          <p:cNvPr id="12" name="Shape 8"/>
          <p:cNvSpPr/>
          <p:nvPr/>
        </p:nvSpPr>
        <p:spPr>
          <a:xfrm>
            <a:off x="8127797" y="1554480"/>
            <a:ext cx="3515258" cy="4617720"/>
          </a:xfrm>
          <a:prstGeom prst="roundRect">
            <a:avLst>
              <a:gd name="adj" fmla="val 3121"/>
            </a:avLst>
          </a:prstGeom>
          <a:solidFill>
            <a:srgbClr val="E8EFF8"/>
          </a:solidFill>
          <a:ln w="12700">
            <a:solidFill>
              <a:srgbClr val="E8EFF8"/>
            </a:solidFill>
            <a:prstDash val="solid"/>
          </a:ln>
        </p:spPr>
      </p:sp>
      <p:sp>
        <p:nvSpPr>
          <p:cNvPr id="13" name="Shape 9"/>
          <p:cNvSpPr/>
          <p:nvPr/>
        </p:nvSpPr>
        <p:spPr>
          <a:xfrm>
            <a:off x="8356397" y="1783080"/>
            <a:ext cx="548640" cy="548640"/>
          </a:xfrm>
          <a:prstGeom prst="ellipse">
            <a:avLst/>
          </a:prstGeom>
          <a:solidFill>
            <a:srgbClr val="3A6EA5"/>
          </a:solidFill>
          <a:ln w="12700">
            <a:solidFill>
              <a:srgbClr val="3A6EA5"/>
            </a:solidFill>
            <a:prstDash val="solid"/>
          </a:ln>
        </p:spPr>
      </p:sp>
      <p:pic>
        <p:nvPicPr>
          <p:cNvPr id="14" name="Image 2" descr="preencoded.png">    </p:cNvPr>
          <p:cNvPicPr>
            <a:picLocks noChangeAspect="1"/>
          </p:cNvPicPr>
          <p:nvPr/>
        </p:nvPicPr>
        <p:blipFill>
          <a:blip r:embed="rId3"/>
          <a:stretch>
            <a:fillRect/>
          </a:stretch>
        </p:blipFill>
        <p:spPr>
          <a:xfrm>
            <a:off x="8499043" y="1925726"/>
            <a:ext cx="263347" cy="263347"/>
          </a:xfrm>
          <a:prstGeom prst="rect">
            <a:avLst/>
          </a:prstGeom>
        </p:spPr>
      </p:pic>
      <p:sp>
        <p:nvSpPr>
          <p:cNvPr id="15" name="Text 10"/>
          <p:cNvSpPr txBox="1"/>
          <p:nvPr/>
        </p:nvSpPr>
        <p:spPr>
          <a:xfrm>
            <a:off x="8356397" y="2468880"/>
            <a:ext cx="3058058" cy="3566160"/>
          </a:xfrm>
          <a:prstGeom prst="rect">
            <a:avLst/>
          </a:prstGeom>
          <a:noFill/>
          <a:ln/>
        </p:spPr>
        <p:txBody>
          <a:bodyPr wrap="square" lIns="0" tIns="0" rIns="0" bIns="0" rtlCol="0" anchor="t"/>
          <a:lstStyle/>
          <a:p>
            <a:pPr indent="0" marL="0">
              <a:spcAft>
                <a:spcPts val="600"/>
              </a:spcAft>
              <a:buNone/>
            </a:pPr>
            <a:r>
              <a:rPr lang="en-US" sz="2200" b="1" dirty="0">
                <a:solidFill>
                  <a:srgbClr val="3A6EA5"/>
                </a:solidFill>
              </a:rPr>
              <a:t>경청 하루</a:t>
            </a:r>
            <a:endParaRPr lang="en-US" sz="2200" dirty="0"/>
          </a:p>
          <a:p>
            <a:pPr indent="0" marL="0">
              <a:buNone/>
            </a:pPr>
            <a:r>
              <a:rPr lang="en-US" sz="2200" dirty="0">
                <a:solidFill>
                  <a:srgbClr val="222222"/>
                </a:solidFill>
              </a:rPr>
              <a:t>하루 동안 가족의 말에 조언 대신 재진술·감정 반영으로 답해 봅니다.</a:t>
            </a:r>
            <a:endParaRPr lang="en-US" sz="22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1463040"/>
            <a:ext cx="11094415" cy="457200"/>
          </a:xfrm>
          <a:prstGeom prst="rect">
            <a:avLst/>
          </a:prstGeom>
          <a:noFill/>
          <a:ln/>
        </p:spPr>
        <p:txBody>
          <a:bodyPr wrap="square" lIns="0" tIns="0" rIns="0" bIns="0" rtlCol="0" anchor="t"/>
          <a:lstStyle/>
          <a:p>
            <a:pPr algn="ctr" indent="0" marL="0">
              <a:buNone/>
            </a:pPr>
            <a:r>
              <a:rPr lang="en-US" sz="1800" b="1" dirty="0">
                <a:solidFill>
                  <a:srgbClr val="8FB9A8"/>
                </a:solidFill>
              </a:rPr>
              <a:t>제10강의 마지막 질문</a:t>
            </a:r>
            <a:endParaRPr lang="en-US" sz="1800" dirty="0"/>
          </a:p>
        </p:txBody>
      </p:sp>
      <p:sp>
        <p:nvSpPr>
          <p:cNvPr id="3" name="Text 1"/>
          <p:cNvSpPr txBox="1"/>
          <p:nvPr/>
        </p:nvSpPr>
        <p:spPr>
          <a:xfrm>
            <a:off x="1005840" y="2103120"/>
            <a:ext cx="10180015" cy="2011680"/>
          </a:xfrm>
          <a:prstGeom prst="rect">
            <a:avLst/>
          </a:prstGeom>
          <a:noFill/>
          <a:ln/>
        </p:spPr>
        <p:txBody>
          <a:bodyPr wrap="square" lIns="0" tIns="0" rIns="0" bIns="0" rtlCol="0" anchor="ctr"/>
          <a:lstStyle/>
          <a:p>
            <a:pPr algn="ctr" indent="0" marL="0">
              <a:buNone/>
            </a:pPr>
            <a:r>
              <a:rPr lang="en-US" sz="4000" b="1" dirty="0">
                <a:solidFill>
                  <a:srgbClr val="FFFFFF"/>
                </a:solidFill>
              </a:rPr>
              <a:t>“그분이 살아 있을 때</a:t>
            </a:r>
            <a:endParaRPr lang="en-US" sz="4000" dirty="0"/>
          </a:p>
          <a:p>
            <a:pPr algn="ctr" indent="0" marL="0">
              <a:buNone/>
            </a:pPr>
            <a:r>
              <a:rPr lang="en-US" sz="4000" b="1" dirty="0">
                <a:solidFill>
                  <a:srgbClr val="FFFFFF"/>
                </a:solidFill>
              </a:rPr>
              <a:t>무엇을 중요하게 여겼는가?”</a:t>
            </a:r>
            <a:endParaRPr lang="en-US" sz="4000" dirty="0"/>
          </a:p>
        </p:txBody>
      </p:sp>
      <p:sp>
        <p:nvSpPr>
          <p:cNvPr id="4" name="Text 2"/>
          <p:cNvSpPr txBox="1"/>
          <p:nvPr/>
        </p:nvSpPr>
        <p:spPr>
          <a:xfrm>
            <a:off x="548640" y="4480560"/>
            <a:ext cx="11094415" cy="548640"/>
          </a:xfrm>
          <a:prstGeom prst="rect">
            <a:avLst/>
          </a:prstGeom>
          <a:noFill/>
          <a:ln/>
        </p:spPr>
        <p:txBody>
          <a:bodyPr wrap="square" lIns="0" tIns="0" rIns="0" bIns="0" rtlCol="0" anchor="t"/>
          <a:lstStyle/>
          <a:p>
            <a:pPr algn="ctr" indent="0" marL="0">
              <a:buNone/>
            </a:pPr>
            <a:r>
              <a:rPr lang="en-US" sz="1800" dirty="0">
                <a:solidFill>
                  <a:srgbClr val="CFE3DC"/>
                </a:solidFill>
              </a:rPr>
              <a:t>제3부를 마치며 — “가족들이 무엇을 원하는가”를 넘어</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8C5BC"/>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body" hasCustomPrompt="1"/>
          </p:nvPr>
        </p:nvSpPr>
        <p:spPr>
          <a:xfrm>
            <a:off x="548640" y="292608"/>
            <a:ext cx="11094415" cy="292608"/>
          </a:xfrm>
          <a:prstGeom prst="rect">
            <a:avLst/>
          </a:prstGeom>
          <a:noFill/>
          <a:ln/>
        </p:spPr>
        <p:txBody>
          <a:bodyPr wrap="square" lIns="0" tIns="0" rIns="0" bIns="0" rtlCol="0" anchor="ctr"/>
          <a:lstStyle/>
          <a:p>
            <a:pPr indent="0" marL="0">
              <a:buNone/>
            </a:pPr>
            <a:r>
              <a:rPr lang="en-US" sz="1300" b="1" dirty="0">
                <a:solidFill>
                  <a:srgbClr val="2E7D6B"/>
                </a:solidFill>
              </a:rPr>
              <a:t>다음 회차 예고</a:t>
            </a:r>
            <a:endParaRPr lang="en-US" sz="1300" dirty="0"/>
          </a:p>
        </p:txBody>
      </p:sp>
      <p:sp>
        <p:nvSpPr>
          <p:cNvPr id="3" name="Text 1"/>
          <p:cNvSpPr/>
          <p:nvPr>
            <p:ph idx="102" type="title" hasCustomPrompt="1"/>
          </p:nvPr>
        </p:nvSpPr>
        <p:spPr>
          <a:xfrm>
            <a:off x="548640" y="603504"/>
            <a:ext cx="11094415" cy="658368"/>
          </a:xfrm>
          <a:prstGeom prst="rect">
            <a:avLst/>
          </a:prstGeom>
          <a:noFill/>
          <a:ln/>
        </p:spPr>
        <p:txBody>
          <a:bodyPr wrap="square" lIns="0" tIns="0" rIns="0" bIns="0" rtlCol="0" anchor="ctr"/>
          <a:lstStyle/>
          <a:p>
            <a:pPr algn="l" indent="0" marL="0">
              <a:buNone/>
            </a:pPr>
            <a:r>
              <a:rPr lang="en-US" sz="2800" b="1" dirty="0">
                <a:solidFill>
                  <a:srgbClr val="1F4E4A"/>
                </a:solidFill>
              </a:rPr>
              <a:t>다음 시간에 만날 이야기</a:t>
            </a:r>
            <a:endParaRPr lang="en-US" sz="2800" dirty="0"/>
          </a:p>
        </p:txBody>
      </p:sp>
      <p:sp>
        <p:nvSpPr>
          <p:cNvPr id="4" name="Shape 2"/>
          <p:cNvSpPr/>
          <p:nvPr/>
        </p:nvSpPr>
        <p:spPr>
          <a:xfrm>
            <a:off x="548640" y="1554480"/>
            <a:ext cx="4937760" cy="4572000"/>
          </a:xfrm>
          <a:prstGeom prst="roundRect">
            <a:avLst>
              <a:gd name="adj" fmla="val 2400"/>
            </a:avLst>
          </a:prstGeom>
          <a:solidFill>
            <a:srgbClr val="1F4E4A"/>
          </a:solidFill>
          <a:ln w="12700">
            <a:solidFill>
              <a:srgbClr val="1F4E4A"/>
            </a:solidFill>
            <a:prstDash val="solid"/>
          </a:ln>
        </p:spPr>
      </p:sp>
      <p:sp>
        <p:nvSpPr>
          <p:cNvPr id="5" name="Text 3"/>
          <p:cNvSpPr txBox="1"/>
          <p:nvPr/>
        </p:nvSpPr>
        <p:spPr>
          <a:xfrm>
            <a:off x="868680" y="1783080"/>
            <a:ext cx="4389120" cy="365760"/>
          </a:xfrm>
          <a:prstGeom prst="rect">
            <a:avLst/>
          </a:prstGeom>
          <a:noFill/>
          <a:ln/>
        </p:spPr>
        <p:txBody>
          <a:bodyPr wrap="square" lIns="0" tIns="0" rIns="0" bIns="0" rtlCol="0" anchor="t"/>
          <a:lstStyle/>
          <a:p>
            <a:pPr indent="0" marL="0">
              <a:buNone/>
            </a:pPr>
            <a:r>
              <a:rPr lang="en-US" sz="1500" b="1" dirty="0">
                <a:solidFill>
                  <a:srgbClr val="8FB9A8"/>
                </a:solidFill>
              </a:rPr>
              <a:t>다음 시간  ·  제11강</a:t>
            </a:r>
            <a:endParaRPr lang="en-US" sz="1500" dirty="0"/>
          </a:p>
        </p:txBody>
      </p:sp>
      <p:sp>
        <p:nvSpPr>
          <p:cNvPr id="6" name="Text 4"/>
          <p:cNvSpPr txBox="1"/>
          <p:nvPr/>
        </p:nvSpPr>
        <p:spPr>
          <a:xfrm>
            <a:off x="868680" y="2194560"/>
            <a:ext cx="4389120" cy="1188720"/>
          </a:xfrm>
          <a:prstGeom prst="rect">
            <a:avLst/>
          </a:prstGeom>
          <a:noFill/>
          <a:ln/>
        </p:spPr>
        <p:txBody>
          <a:bodyPr wrap="square" lIns="0" tIns="0" rIns="0" bIns="0" rtlCol="0" anchor="t"/>
          <a:lstStyle/>
          <a:p>
            <a:pPr indent="0" marL="0">
              <a:buNone/>
            </a:pPr>
            <a:r>
              <a:rPr lang="en-US" sz="2600" b="1" dirty="0">
                <a:solidFill>
                  <a:srgbClr val="FFFFFF"/>
                </a:solidFill>
              </a:rPr>
              <a:t>상실·애도와 관계회복 코칭</a:t>
            </a:r>
            <a:endParaRPr lang="en-US" sz="2600" dirty="0"/>
          </a:p>
        </p:txBody>
      </p:sp>
      <p:sp>
        <p:nvSpPr>
          <p:cNvPr id="7" name="Text 5"/>
          <p:cNvSpPr txBox="1"/>
          <p:nvPr/>
        </p:nvSpPr>
        <p:spPr>
          <a:xfrm>
            <a:off x="868680" y="3749040"/>
            <a:ext cx="4389120" cy="2194560"/>
          </a:xfrm>
          <a:prstGeom prst="rect">
            <a:avLst/>
          </a:prstGeom>
          <a:noFill/>
          <a:ln/>
        </p:spPr>
        <p:txBody>
          <a:bodyPr wrap="square" lIns="0" tIns="0" rIns="0" bIns="0" rtlCol="0" anchor="t"/>
          <a:lstStyle/>
          <a:p>
            <a:pPr indent="0" marL="0">
              <a:spcAft>
                <a:spcPts val="400"/>
              </a:spcAft>
              <a:buNone/>
            </a:pPr>
            <a:r>
              <a:rPr lang="en-US" sz="1400" b="1" dirty="0">
                <a:solidFill>
                  <a:srgbClr val="8FB9A8"/>
                </a:solidFill>
              </a:rPr>
              <a:t>다음 질문
</a:t>
            </a:r>
            <a:pPr indent="0" marL="0">
              <a:buNone/>
            </a:pPr>
            <a:r>
              <a:rPr lang="en-US" sz="2100" dirty="0">
                <a:solidFill>
                  <a:srgbClr val="FFFFFF"/>
                </a:solidFill>
              </a:rPr>
              <a:t>“사랑하는 사람을 잃은 뒤, 우리는 어떻게 기억하면서 다시 살아갈 수 있는가?”</a:t>
            </a:r>
            <a:endParaRPr lang="en-US" sz="1400" dirty="0"/>
          </a:p>
        </p:txBody>
      </p:sp>
      <p:sp>
        <p:nvSpPr>
          <p:cNvPr id="8" name="Text 6"/>
          <p:cNvSpPr txBox="1"/>
          <p:nvPr/>
        </p:nvSpPr>
        <p:spPr>
          <a:xfrm>
            <a:off x="5760720" y="1554480"/>
            <a:ext cx="5882335" cy="365760"/>
          </a:xfrm>
          <a:prstGeom prst="rect">
            <a:avLst/>
          </a:prstGeom>
          <a:noFill/>
          <a:ln/>
        </p:spPr>
        <p:txBody>
          <a:bodyPr wrap="square" lIns="0" tIns="0" rIns="0" bIns="0" rtlCol="0" anchor="t"/>
          <a:lstStyle/>
          <a:p>
            <a:pPr indent="0" marL="0">
              <a:buNone/>
            </a:pPr>
            <a:r>
              <a:rPr lang="en-US" sz="1600" b="1" dirty="0">
                <a:solidFill>
                  <a:srgbClr val="2E7D6B"/>
                </a:solidFill>
              </a:rPr>
              <a:t>이런 내용을 다룹니다</a:t>
            </a:r>
            <a:endParaRPr lang="en-US" sz="1600" dirty="0"/>
          </a:p>
        </p:txBody>
      </p:sp>
      <p:sp>
        <p:nvSpPr>
          <p:cNvPr id="9" name="Shape 7"/>
          <p:cNvSpPr/>
          <p:nvPr/>
        </p:nvSpPr>
        <p:spPr>
          <a:xfrm>
            <a:off x="5760720" y="2029968"/>
            <a:ext cx="347472" cy="347472"/>
          </a:xfrm>
          <a:prstGeom prst="ellipse">
            <a:avLst/>
          </a:prstGeom>
          <a:solidFill>
            <a:srgbClr val="2E7D6B"/>
          </a:solidFill>
          <a:ln w="12700">
            <a:solidFill>
              <a:srgbClr val="2E7D6B"/>
            </a:solidFill>
            <a:prstDash val="solid"/>
          </a:ln>
        </p:spPr>
      </p:sp>
      <p:sp>
        <p:nvSpPr>
          <p:cNvPr id="10" name="Text 8"/>
          <p:cNvSpPr txBox="1"/>
          <p:nvPr/>
        </p:nvSpPr>
        <p:spPr>
          <a:xfrm>
            <a:off x="5760720" y="202996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11" name="Text 9"/>
          <p:cNvSpPr txBox="1"/>
          <p:nvPr/>
        </p:nvSpPr>
        <p:spPr>
          <a:xfrm>
            <a:off x="6263640" y="2011680"/>
            <a:ext cx="5379415" cy="576072"/>
          </a:xfrm>
          <a:prstGeom prst="rect">
            <a:avLst/>
          </a:prstGeom>
          <a:noFill/>
          <a:ln/>
        </p:spPr>
        <p:txBody>
          <a:bodyPr wrap="square" lIns="0" tIns="0" rIns="0" bIns="0" rtlCol="0" anchor="t"/>
          <a:lstStyle/>
          <a:p>
            <a:pPr indent="0" marL="0">
              <a:buNone/>
            </a:pPr>
            <a:r>
              <a:rPr lang="en-US" sz="1900" dirty="0">
                <a:solidFill>
                  <a:srgbClr val="222222"/>
                </a:solidFill>
              </a:rPr>
              <a:t>상실과 애도의 이해</a:t>
            </a:r>
            <a:endParaRPr lang="en-US" sz="1900" dirty="0"/>
          </a:p>
        </p:txBody>
      </p:sp>
      <p:sp>
        <p:nvSpPr>
          <p:cNvPr id="12" name="Shape 10"/>
          <p:cNvSpPr/>
          <p:nvPr/>
        </p:nvSpPr>
        <p:spPr>
          <a:xfrm>
            <a:off x="5760720" y="2606040"/>
            <a:ext cx="347472" cy="347472"/>
          </a:xfrm>
          <a:prstGeom prst="ellipse">
            <a:avLst/>
          </a:prstGeom>
          <a:solidFill>
            <a:srgbClr val="2E7D6B"/>
          </a:solidFill>
          <a:ln w="12700">
            <a:solidFill>
              <a:srgbClr val="2E7D6B"/>
            </a:solidFill>
            <a:prstDash val="solid"/>
          </a:ln>
        </p:spPr>
      </p:sp>
      <p:sp>
        <p:nvSpPr>
          <p:cNvPr id="13" name="Text 11"/>
          <p:cNvSpPr txBox="1"/>
          <p:nvPr/>
        </p:nvSpPr>
        <p:spPr>
          <a:xfrm>
            <a:off x="5760720" y="26060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4" name="Text 12"/>
          <p:cNvSpPr txBox="1"/>
          <p:nvPr/>
        </p:nvSpPr>
        <p:spPr>
          <a:xfrm>
            <a:off x="6263640" y="2587752"/>
            <a:ext cx="5379415" cy="576072"/>
          </a:xfrm>
          <a:prstGeom prst="rect">
            <a:avLst/>
          </a:prstGeom>
          <a:noFill/>
          <a:ln/>
        </p:spPr>
        <p:txBody>
          <a:bodyPr wrap="square" lIns="0" tIns="0" rIns="0" bIns="0" rtlCol="0" anchor="t"/>
          <a:lstStyle/>
          <a:p>
            <a:pPr indent="0" marL="0">
              <a:buNone/>
            </a:pPr>
            <a:r>
              <a:rPr lang="en-US" sz="1900" dirty="0">
                <a:solidFill>
                  <a:srgbClr val="222222"/>
                </a:solidFill>
              </a:rPr>
              <a:t>Worden의 애도 과제와 이중과정모형</a:t>
            </a:r>
            <a:endParaRPr lang="en-US" sz="1900" dirty="0"/>
          </a:p>
        </p:txBody>
      </p:sp>
      <p:sp>
        <p:nvSpPr>
          <p:cNvPr id="15" name="Shape 13"/>
          <p:cNvSpPr/>
          <p:nvPr/>
        </p:nvSpPr>
        <p:spPr>
          <a:xfrm>
            <a:off x="5760720" y="3182112"/>
            <a:ext cx="347472" cy="347472"/>
          </a:xfrm>
          <a:prstGeom prst="ellipse">
            <a:avLst/>
          </a:prstGeom>
          <a:solidFill>
            <a:srgbClr val="2E7D6B"/>
          </a:solidFill>
          <a:ln w="12700">
            <a:solidFill>
              <a:srgbClr val="2E7D6B"/>
            </a:solidFill>
            <a:prstDash val="solid"/>
          </a:ln>
        </p:spPr>
      </p:sp>
      <p:sp>
        <p:nvSpPr>
          <p:cNvPr id="16" name="Text 14"/>
          <p:cNvSpPr txBox="1"/>
          <p:nvPr/>
        </p:nvSpPr>
        <p:spPr>
          <a:xfrm>
            <a:off x="5760720" y="3182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6263640" y="3163824"/>
            <a:ext cx="5379415" cy="576072"/>
          </a:xfrm>
          <a:prstGeom prst="rect">
            <a:avLst/>
          </a:prstGeom>
          <a:noFill/>
          <a:ln/>
        </p:spPr>
        <p:txBody>
          <a:bodyPr wrap="square" lIns="0" tIns="0" rIns="0" bIns="0" rtlCol="0" anchor="t"/>
          <a:lstStyle/>
          <a:p>
            <a:pPr indent="0" marL="0">
              <a:buNone/>
            </a:pPr>
            <a:r>
              <a:rPr lang="en-US" sz="1900" dirty="0">
                <a:solidFill>
                  <a:srgbClr val="222222"/>
                </a:solidFill>
              </a:rPr>
              <a:t>지속적 유대 — 잊지 않고 함께 살아가기</a:t>
            </a:r>
            <a:endParaRPr lang="en-US" sz="1900" dirty="0"/>
          </a:p>
        </p:txBody>
      </p:sp>
      <p:sp>
        <p:nvSpPr>
          <p:cNvPr id="18" name="Shape 16"/>
          <p:cNvSpPr/>
          <p:nvPr/>
        </p:nvSpPr>
        <p:spPr>
          <a:xfrm>
            <a:off x="5760720" y="3758184"/>
            <a:ext cx="347472" cy="347472"/>
          </a:xfrm>
          <a:prstGeom prst="ellipse">
            <a:avLst/>
          </a:prstGeom>
          <a:solidFill>
            <a:srgbClr val="2E7D6B"/>
          </a:solidFill>
          <a:ln w="12700">
            <a:solidFill>
              <a:srgbClr val="2E7D6B"/>
            </a:solidFill>
            <a:prstDash val="solid"/>
          </a:ln>
        </p:spPr>
      </p:sp>
      <p:sp>
        <p:nvSpPr>
          <p:cNvPr id="19" name="Text 17"/>
          <p:cNvSpPr txBox="1"/>
          <p:nvPr/>
        </p:nvSpPr>
        <p:spPr>
          <a:xfrm>
            <a:off x="5760720" y="375818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0" name="Text 18"/>
          <p:cNvSpPr txBox="1"/>
          <p:nvPr/>
        </p:nvSpPr>
        <p:spPr>
          <a:xfrm>
            <a:off x="6263640" y="3739896"/>
            <a:ext cx="5379415" cy="576072"/>
          </a:xfrm>
          <a:prstGeom prst="rect">
            <a:avLst/>
          </a:prstGeom>
          <a:noFill/>
          <a:ln/>
        </p:spPr>
        <p:txBody>
          <a:bodyPr wrap="square" lIns="0" tIns="0" rIns="0" bIns="0" rtlCol="0" anchor="t"/>
          <a:lstStyle/>
          <a:p>
            <a:pPr indent="0" marL="0">
              <a:buNone/>
            </a:pPr>
            <a:r>
              <a:rPr lang="en-US" sz="1900" dirty="0">
                <a:solidFill>
                  <a:srgbClr val="222222"/>
                </a:solidFill>
              </a:rPr>
              <a:t>박탈된 애도와 복합애도의 신호</a:t>
            </a:r>
            <a:endParaRPr lang="en-US" sz="1900" dirty="0"/>
          </a:p>
        </p:txBody>
      </p:sp>
      <p:sp>
        <p:nvSpPr>
          <p:cNvPr id="21" name="Shape 19"/>
          <p:cNvSpPr/>
          <p:nvPr/>
        </p:nvSpPr>
        <p:spPr>
          <a:xfrm>
            <a:off x="5760720" y="4334256"/>
            <a:ext cx="347472" cy="347472"/>
          </a:xfrm>
          <a:prstGeom prst="ellipse">
            <a:avLst/>
          </a:prstGeom>
          <a:solidFill>
            <a:srgbClr val="2E7D6B"/>
          </a:solidFill>
          <a:ln w="12700">
            <a:solidFill>
              <a:srgbClr val="2E7D6B"/>
            </a:solidFill>
            <a:prstDash val="solid"/>
          </a:ln>
        </p:spPr>
      </p:sp>
      <p:sp>
        <p:nvSpPr>
          <p:cNvPr id="22" name="Text 20"/>
          <p:cNvSpPr txBox="1"/>
          <p:nvPr/>
        </p:nvSpPr>
        <p:spPr>
          <a:xfrm>
            <a:off x="5760720" y="43342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txBox="1"/>
          <p:nvPr/>
        </p:nvSpPr>
        <p:spPr>
          <a:xfrm>
            <a:off x="6263640" y="4315968"/>
            <a:ext cx="5379415" cy="576072"/>
          </a:xfrm>
          <a:prstGeom prst="rect">
            <a:avLst/>
          </a:prstGeom>
          <a:noFill/>
          <a:ln/>
        </p:spPr>
        <p:txBody>
          <a:bodyPr wrap="square" lIns="0" tIns="0" rIns="0" bIns="0" rtlCol="0" anchor="t"/>
          <a:lstStyle/>
          <a:p>
            <a:pPr indent="0" marL="0">
              <a:buNone/>
            </a:pPr>
            <a:r>
              <a:rPr lang="en-US" sz="1900" dirty="0">
                <a:solidFill>
                  <a:srgbClr val="222222"/>
                </a:solidFill>
              </a:rPr>
              <a:t>관계회복 코칭과 전문가 연계</a:t>
            </a:r>
            <a:endParaRPr lang="en-US" sz="1900" dirty="0"/>
          </a:p>
        </p:txBody>
      </p:sp>
      <p:sp>
        <p:nvSpPr>
          <p:cNvPr id="24" name="Shape 22"/>
          <p:cNvSpPr/>
          <p:nvPr/>
        </p:nvSpPr>
        <p:spPr>
          <a:xfrm>
            <a:off x="5760720" y="5029200"/>
            <a:ext cx="5882335" cy="1097280"/>
          </a:xfrm>
          <a:prstGeom prst="roundRect">
            <a:avLst>
              <a:gd name="adj" fmla="val 10000"/>
            </a:avLst>
          </a:prstGeom>
          <a:solidFill>
            <a:srgbClr val="FDF1DC"/>
          </a:solidFill>
          <a:ln w="12700">
            <a:solidFill>
              <a:srgbClr val="FDF1DC"/>
            </a:solidFill>
            <a:prstDash val="solid"/>
          </a:ln>
        </p:spPr>
      </p:sp>
      <p:sp>
        <p:nvSpPr>
          <p:cNvPr id="25" name="Shape 23"/>
          <p:cNvSpPr/>
          <p:nvPr/>
        </p:nvSpPr>
        <p:spPr>
          <a:xfrm>
            <a:off x="5943600" y="5257800"/>
            <a:ext cx="548640" cy="548640"/>
          </a:xfrm>
          <a:prstGeom prst="ellipse">
            <a:avLst/>
          </a:prstGeom>
          <a:solidFill>
            <a:srgbClr val="D98E04"/>
          </a:solidFill>
          <a:ln w="12700">
            <a:solidFill>
              <a:srgbClr val="D98E04"/>
            </a:solidFill>
            <a:prstDash val="solid"/>
          </a:ln>
        </p:spPr>
      </p:sp>
      <p:pic>
        <p:nvPicPr>
          <p:cNvPr id="26" name="Image 0" descr="preencoded.png">    </p:cNvPr>
          <p:cNvPicPr>
            <a:picLocks noChangeAspect="1"/>
          </p:cNvPicPr>
          <p:nvPr/>
        </p:nvPicPr>
        <p:blipFill>
          <a:blip r:embed="rId1"/>
          <a:stretch>
            <a:fillRect/>
          </a:stretch>
        </p:blipFill>
        <p:spPr>
          <a:xfrm>
            <a:off x="6086246" y="5400446"/>
            <a:ext cx="263347" cy="263347"/>
          </a:xfrm>
          <a:prstGeom prst="rect">
            <a:avLst/>
          </a:prstGeom>
        </p:spPr>
      </p:pic>
      <p:sp>
        <p:nvSpPr>
          <p:cNvPr id="27" name="Text 24"/>
          <p:cNvSpPr txBox="1"/>
          <p:nvPr/>
        </p:nvSpPr>
        <p:spPr>
          <a:xfrm>
            <a:off x="6675120" y="5074920"/>
            <a:ext cx="4785055" cy="1005840"/>
          </a:xfrm>
          <a:prstGeom prst="rect">
            <a:avLst/>
          </a:prstGeom>
          <a:noFill/>
          <a:ln/>
        </p:spPr>
        <p:txBody>
          <a:bodyPr wrap="square" lIns="0" tIns="0" rIns="0" bIns="0" rtlCol="0" anchor="ctr"/>
          <a:lstStyle/>
          <a:p>
            <a:pPr indent="0" marL="0">
              <a:buNone/>
            </a:pPr>
            <a:r>
              <a:rPr lang="en-US" sz="1800" dirty="0">
                <a:solidFill>
                  <a:srgbClr val="222222"/>
                </a:solidFill>
              </a:rPr>
              <a:t>미리 읽기: 교재 제11장  ·  가져올 것: 오늘의 I-Message 문장, 30일 프로젝트 기록</a:t>
            </a:r>
            <a:endParaRPr lang="en-US" sz="1800" dirty="0"/>
          </a:p>
        </p:txBody>
      </p:sp>
      <p:sp>
        <p:nvSpPr>
          <p:cNvPr id="25" name="Slide Number Placeholder 0"/>
          <p:cNvSpPr>
            <a:spLocks noGrp="1"/>
          </p:cNvSpPr>
          <p:nvPr>
            <p:ph type="sldNum" sz="quarter" idx="4294967295"/>
          </p:nvPr>
        </p:nvSpPr>
        <p:spPr>
          <a:xfrm>
            <a:off x="10911535" y="6473952"/>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KR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erif KR Black"/>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WLC 2급 제10강 가족소통·생명윤리와 갈등중재</dc:title>
  <dc:subject>PptxGenJS Presentation</dc:subject>
  <dc:creator>삶잇다협동조합</dc:creator>
  <cp:lastModifiedBy>삶잇다협동조합</cp:lastModifiedBy>
  <cp:revision>1</cp:revision>
  <dcterms:created xsi:type="dcterms:W3CDTF">2026-10-29T23:51:32Z</dcterms:created>
  <dcterms:modified xsi:type="dcterms:W3CDTF">2026-10-29T23:51:32Z</dcterms:modified>
</cp:coreProperties>
</file>