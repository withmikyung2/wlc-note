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2d9f67fa-6659-0549-84ed-80e5ecb67d9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죽음교육이 필요한 사회" id="{e2e00d32-19d3-e88a-ec76-b3ec08ce33be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2교시 대상과 현장" id="{677dabf7-4faa-a66e-79bf-479b96361e42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3교시 죽음교육을 설계하다" id="{68ec10cb-64c1-48a6-e45c-ee895fecc976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정리와 예고" id="{f39d836b-5625-22af-3b6f-045470b130b1}">
          <p14:sldIdLst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4E4A"/>
                </a:solidFill>
                <a:latin typeface="+mn-lt"/>
              </a:rPr>
              <a:t>65세 이상 인구 비중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65세 이상 인구 비중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2036(전망)</c:v>
                  </c:pt>
                  <c:pt idx="2">
                    <c:v>2050(전망)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20.3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4E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F4E4A"/>
                </a:solidFill>
                <a:latin typeface="+mn-lt"/>
              </a:rPr>
              <a:t>1인가구 비중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1인가구 비중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1980</c:v>
                  </c:pt>
                  <c:pt idx="1">
                    <c:v>2024</c:v>
                  </c:pt>
                  <c:pt idx="2">
                    <c:v>2052(전망)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36.1</c:v>
                </c:pt>
                <c:pt idx="2">
                  <c:v>41.3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"지난 시간 우리는 죽음을 한 사람의 경험으로 보았습니다. 오늘은 같은 질문을 사회 전체로 넓혀 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제1부의 두 번째 시간. 1강(개인의 죽음 이해) → 2강(사회와 죽음교육) → 3강(삶의 설계)로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조별 "60분 죽음교육 미니 프로그램" 기획안 1장.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1강 과제 · 부록 1
평가하지 않는다. "못 했다"는 말도 환영한다 — 무엇이 가로막는지가 오늘 주제(사회적 조건)와 이어진다.
2~3명에게 "가장 비어 있던 영역"만 묻고 칠판에 적어 둔다(의료·관계·장례 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1장 핵심정리 · 19절
짧게 복습. 1강 퀴즈에서 많이 틀린 문항이 있었다면 여기서 한 번 더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15.1 실습 1과 연결
대부분 "혼자 겪으며" 또는 "장례식장에서"에 손을 든다. → "우리는 죽음을 배운 적 없이 죽음을 맞고 있습니다. 이것이 오늘 수업의 출발점입니다."
최근 사별을 겪은 수강생이 있을 수 있으므로 손 들기는 선택임을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2장 표제 · 핵심 메시지
핵심 메시지를 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2장 학습목표 1~8
굵은 키워드만 짚는다. 특히 4번(자살예방교육과의 구분)은 현장 안전과 직결된다고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2장 핵심 키워드
수치 문항은 출제 직전 최신 공식자료로 재확인한다는 해설서 원칙을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0:18–0:21 (3분)
📖 교재: 1절 · WLC 관점
죽음을 말하지 않는 것은 죽음을 없애는 것이 아니라, 준비되지 않은 죽음과 준비되지 않은 상실을 더 크게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0:21–0:25 (4분)
📖 교재: 2.1절 · 표
65세 이상 인구가 20%를 넘으면 흔히 초고령사회라 부른다(필기 빈출, 객관식 1번).
원칙: 통계는 현실 이해를 위한 자료이며, 개인의 삶을 평균값으로 단정하지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0:25–0:28 (3분)
📖 교재: 2.1절 · 3.1절
1인가구 804만 5천 가구(일반가구의 36.1%). 객관식 2번 오답 함정: 41.3%(2052년 전망).
그래프는 추세를 보여 주는 용도. 숫자로 겁주지 않는다(1강 코치노트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0:28–0:31 (3분)
📖 교재: 2.2절
여섯 과제는 이후 강의(8강 경제, 9강 의료, 10강 가족, 13강 돌봄)와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0:31–0:34 (3분)
📖 교재: 3.1~3.2절
서술형 Q2: ① 1인 생활은 생활형태일 뿐 고립과 다름 ② 핵심은 위기 시 연결·돌봄·안전망 ③ 예방은 관계망 중심.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0:34–0:36 (2분)
📖 교재: 3.2절 · WLC 코칭 질문
세 질문은 실기 시험 상담 시연에서도 그대로 쓸 수 있다. 소리 내어 따라 읽게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0:36–0:40 (4분)
📖 교재: 4절 · 표 / 역할 경계
고독사는 발견 방식의 문제가 아니라 그 이전의 고립·건강 악화·빈곤·관계 단절·돌봄 부재의 누적.
노인만이 아니라 중장년 1인가구, 실직·이혼·사별 이후 관계가 급감한 사람도 포함.
법적 근거: 「고독사 예방 및 관리에 관한 법률」, 제1차 고독사 예방 기본계획(2023~2027).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0:40–0:44 (4분)
📖 교재: 3.2절 · 4절
발표는 시키지 않는다. "3명이 쉽게 채워지지 않는 것도 자연스러운 일"이라고 안심시킨다.
이 활동은 내담자에게도 그대로 쓸 수 있는 도구임을 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0:44–0:48 (4분)
📖 교재: 5절 · 표
서술형 Q3(목적 3가지 이상): 생명·삶의 의미 / 감정 이해와 표현 / 관계 / 의사결정 / 상실대처 / 공동체 돌봄 중 3개 이상.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6절 · 표
서술형 Q4: 아동·청소년에게 성인의 죽음관을 그대로 적용하거나 공포를 유발하는 사례를 쓰지 않는다. 발달단계 언어, 감정표현, 도움요청 경로, 학교 체계 협의.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1:05–1:09 (4분)
📖 교재: 7.1~7.2절 · 중요한 구분
서술형 Q6. 출처: 교육부(2026.1.27.) 사회정서교육 확대, 교육부·행안부(2025.4.14.) 재난안전훈련 476개교.
학교 죽음교육은 독립 과목보다 사회정서·생명존중·마음건강·재난안전·상담체계와 협력하는 방식이 현실적.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1:09–1:13 (4분)
📖 교재: 8절 · 표
필기 빈출(객관식 3번, 서술형 Q5).
보건복지부는 자살예방교육 프로그램 승인제도를 운영(2025.4 기준 41개 기관 107종 프로그램 심사).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1:13–1:15 (2분)
📖 교재: 8절 WLC 주의사항
자살예방상담전화 109, 정신건강위기상담 등 공식 연락처는 교육 시점에 재확인해 안내.
객관식 3번 오답: "자살위험 신호가 보이면 WLC가 직접 상담을 이어 간다" →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1:15–1:18 (3분)
📖 교재: 9절
collective grief. 사건 직후 원칙은 다음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1:18–1:23 (5분)
📖 교재: 9.1절
각 원칙의 "금지"를 강조. 현장 사례 1(고등학생)과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1:23–1:26 (3분)
📖 교재: 10절 · WLC 교육 포인트
현대의 죽음교육에는 미디어 리터러시가 포함되어야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1:26–1:31 (5분)
📖 교재: 11절 · 표
WLC는 정책을 대신 집행하는 사람이 아니라 "정보의 번역자"이자 "관계의 연결자".
수강생 각자 활동하고 싶은 현장에 표시하게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1:31–1:35 (4분)
📖 교재: 12절 · 표
서술형 Q9(역할 4가지). 객관식 5번 오답: "연명의료 결정권자" → WLC 역할 아님.
이어서 짝 활동: 나는 어떤 역할에 가장 끌리는가.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1:35–1:39 (4분)
📖 교재: 11~12절
이 답은 3교시 "60분 프로그램 설계"의 조 편성에 활용할 수 있다(같은 현장을 고른 사람끼리).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1:39–1:44 (5분)
📖 교재: 13절
3교시 실습 3(60분 프로그램 설계)의 체크리스트로 그대로 사용한다.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1:44–1:49 (5분)
📖 교재: 14절 · 표
모든 프로그램이 "결과물"을 남긴다는 점에 주목. 마지막 단계는 항상 오늘의 관계·실천으로 끝난다(원칙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휴식 중 4~5명 조 편성(같은 현장을 고른 사람끼리).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2:00–2:06 (6분)
📖 교재: 15.1절 · 실습지
오프닝 질문을 깊게 쓰는 시간. 발표 없음.
마무리 멘트: "우리가 배우지 못했던 것을, 이제 우리가 가르치는 사람이 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2:06–2:13 (7분)
📖 교재: 16절 · 표
조 수가 4개 미만이면 사례 1·4를 우선 배정(학교 안전·공포교육 금지 핵심).
강사는 다음 슬라이드를 미리 보여 주지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2:13–2:17 (4분)
📖 교재: 16절 · 표
조별 판단과 비교하며 짧게 피드백. 서술형 Q8(학교 사망사건 후 사전 확인 3가지): 학교 위기대응·상담 담당자 협의 / 사건 세부·사실 확인 범위 / 고위험 학생 연계 경로·참여 선택권.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2:17–2:20 (3분)
📖 교재: 17절
실습 3 설계안의 "위기연계" 칸을 채울 때 이 목록을 확인하게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2:20–2:26 (6분)
📖 교재: 15.2절 · 실습지 / 부록 12 지역자원지도
수업 중에는 아는 만큼만 적고, 연락처 확인은 과제로. 휴대폰 검색 허용.
이 지도는 WLC 활동 내내 쓰는 도구(코치노트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2:26–2:37 (11분)
📖 교재: 15.3절 · 실습지
조별로 A3 용지에 작성. 7대 원칙(13절)과 윤리 체크리스트(17절)를 옆에 두고 점검.
강사는 순회하며 "공포 자료를 쓰지 않았는지", "마무리가 삶으로 돌아오는지"를 확인.
이 설계안은 15강(교육프로그램 운영)과 실기시험 기획서 작성의 기초가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2:37–2:43 (6분)
📖 교재: 15.3절 · 13절
비판보다 "잘 지킨 원칙"을 찾는 피드백으로 진행. 시간 부족 시 2~3개 조만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2:43–2:45 (2분)
📖 교재: 2.1·3.1·7.2·16절
정답: 1 X / 2 O / 3 X / 4 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2:45–2:46 (1분)
📖 교재: 2.1절
정답 ③. 2025년 65세 이상 인구는 1,051만 4천 명으로 전체의 20.3%.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3.1절
정답 ②. 1인가구 804만 5천 가구, 일반가구의 36.1%. 41.3%는 2052년 전망치.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8절
정답 ③. WLC는 두 영역을 혼동하지 않고 위험 시 전문체계로 즉시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6·17절
정답 ②. 상실 경험 공개를 강요하지 않고 말하지 않을 권리도 존중한다.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12절
정답 ④. 의료결정은 환자·가족·의료진의 영역이며 WLC가 결정하지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2:50–2:53 (3분)
📖 교재: 강사용 해설서 제2장 B
객관식 5번 정답 ④(연명의료 결정권자는 WLC 역할 아님)는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2:53–2:54 (1분)
📖 교재: 18절 학습점검 Q1~Q10
채점 기준(문항당 10점): 핵심요소 3개 10점 / 2개 7점 / 1개 4점 / 없음 0점, 역할경계 이탈 -3점. 모범답안은 강사용 해설서 제2장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2:54–2:56 (2분)
📖 교재: 19절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20절 코치 노트
7번: 마지막 질문은 "그렇다면 오늘 누구와 어떻게 살아갈 것인가?"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15.2절 · 16절 사례 3 · 부록 12
다음 강의 첫 시간에 "가족의 삶 이야기" 경험을 나눈다. 3강의 인생그래프용 사진(선택)도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19절 · 제2장의 마지막 질문
10초 침묵 후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21절 제3장으로의 연결
제1장이 죽음의 의미를, 제2장이 사회가 죽음을 배워야 하는 이유를 다루었다면, 제3장은 다시 개인의 삶으로 돌아온다.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제2강 초고령사회와 죽음교육의 필요성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제2강 초고령사회와 죽음교육의 필요성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제1부 삶과 죽음을 이해하다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제2강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초고령사회와 죽음교육의 필요성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Super-aged Society &amp; the Need for Death Education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죽음교육이 필요한 사회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초고령사회·1인가구·고독사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죽음교육의 7영역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대상과 현장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생애주기·학교 죽음교육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자살예방교육과의 구분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재난·미디어·WLC의 역할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죽음교육을 설계하다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현장 사례 토론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지역 자원 지도·60분 프로그램 설계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퀴즈·정리·다음 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지난 한 주, 해 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1강 과제 — 실습 4 “나의 남은 삶”, 부록 1 준비도 점검, 작은 행동 1개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마주 앉습니다.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작은 행동을 해 보았는지, 해 보니 어땠는지 2분씩 이야기합니다.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못 했다면 “무엇이 가로막았는지”를 이야기해도 좋습니다.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부록 1에서 가장 비어 있던 영역을 서로 알려 줍니다.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내 준비도에서 가장 비어 있는 영역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지난 시간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제1강에서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죽음의 의미는 사람마다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직접 묻고 확인합니다.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불안은 지우지 않는다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감정 인정 → 구체화 → 자원 → 작은 행동.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다시 삶으로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“오늘부터 어떻게 살고 싶은가?”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1강이 “죽음이란 무엇인가”를 물었다면, 2강은 “왜 우리 사회가 죽음을 배워야 하는가”를 묻습니다.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“나는 죽음에 대해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누구에게, 어디에서 처음 배웠나요?”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학교였나요, 가족이었나요, 아니면 혼자였나요?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손 들기 2분 — 학교 / 가족 / 종교 / 미디어 / 혼자 겪으며. 이어서 짝과 1분씩 그때의 기억을 나눕니다.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죽음을 말할 수 있는 사회가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삶을 더 잘 돌볼 수 있다.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초고령사회에서 죽음교육은 임종을 앞둔 사람만을 위한 교육이 아니다. 생애 전 과정에서 죽음·상실·돌봄·관계·자기결정·안전을 배우고, 예기치 않은 상실 앞에서 서로를 지지하는 사회적 역량을 기르는 교육이다.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초고령사회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인구·가구 변화와 웰다잉 교육의 사회적 필요성을 설명한다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죽음교육의 목적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생명존중·상실대처·관계·자기결정·삶의 의미로 설명한다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생애단계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대상별 죽음 이해와 교육 접근의 차이를 구분한다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학교 교육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사회정서·재난안전교육과 연결하고 자살예방교육과 구분한다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갑작스러운 상실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재난·사별 이후 애도교육의 기본원칙을 이해한다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고독사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고립을 관계망·돌봄·지역사회의 문제로 설명한다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WLC의 범위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기관·지역에서 할 수 있는 프로그램과 한계를 제안한다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프로그램 설계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엔딩–웰다잉–웰빙 순환과 연결해 교육을 설계한다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31620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531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초고령사회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1428" y="1691640"/>
            <a:ext cx="1220724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1428" y="1691640"/>
            <a:ext cx="12207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1인가구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03320" y="1691640"/>
            <a:ext cx="1769364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691640"/>
            <a:ext cx="17693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고령 1인가구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73852" y="1691640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73852" y="1691640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사회적 고립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25512" y="1691640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5512" y="1691640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고독사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28532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28532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죽음교육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생명존중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66544" y="2487168"/>
            <a:ext cx="1746504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66544" y="248716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사회정서교육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014216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14216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상실교육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32120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애도교육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50024" y="2487168"/>
            <a:ext cx="1746504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0024" y="248716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재난안전교육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97696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97696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트라우마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328269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282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학교기반 예방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15184" y="328269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15184" y="3282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지역사회 돌봄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681728" y="3282696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81728" y="3282696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관계망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984748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84748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자기결정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고령인구 20.3%, 1인가구 36.1% 같은 수치와 “죽음교육 ≠ 자살예방교육”은 필기에 자주 나옵니다.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죽음교육이 필요한 사회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오래 살고, 혼자 살고, 갑작스러운 상실을 함께 겪는 사회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왜 지금 죽음교육인가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숫자로 보는 초고령사회와 1인가구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고독사와 사회적 고립 · 죽음교육의 7영역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왜 지금 죽음교육인가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죽음은 그대로인데, 사회가 달라졌다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오래 사는 사회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삶의 후반기가 길어졌습니다.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혼자 사는 가구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 함께하던 죽음이 줄었습니다.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돌봄·장례의 외부화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돌봄과 장례가 전문 서비스로 옮겨 갔습니다.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갑작스러운 상실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사고·재난·자살 사별을 함께 겪습니다.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관점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출발점은 “어떻게 죽을 것인가”가 아니라 “유한한 삶을 어떻게 살고, 상실 앞에서 서로를 어떻게 돌볼 것인가”입니다.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2.1 숫자로 보는 초고령사회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한국은 이미 초고령사회다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20.3%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E3DC"/>
                </a:solidFill>
              </a:rPr>
              <a:t>65세 이상 인구 비중 (2025)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1,051만 4천 명. 웰다잉 교육은 소수의 노인교육이 아니라 보편적 생애교육입니다.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90824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3704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21.5년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65세 기대여명 (2023)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73704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65세 이후에도 긴 삶이 남습니다. “마지막 준비”보다 “후반기 삶의 설계”가 중요합니다.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33008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39.8%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66세 이상 상대적 빈곤율 (2023)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경제적 웰다잉·돌봄비용·주거·사회적 연결을 함께 다뤄야 합니다.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075191" y="1600200"/>
            <a:ext cx="2567864" cy="406908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8071" y="1874520"/>
            <a:ext cx="2202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6B"/>
                </a:solidFill>
              </a:rPr>
              <a:t>24.8%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258071" y="292608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65~79세 평생교육 참여율 (2024)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58071" y="3703320"/>
            <a:ext cx="2202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지역 평생교육과 WLC 프로그램을 연결할 여지가 큽니다.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출처: 국가데이터처 「2025 고령자 통계」(2025.9.29.)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2.1 · 3.1 변화의 속도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고령인구와 1인가구, 얼마나 빨리 늘고 있나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509000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1" descr=""/>
          <p:cNvGraphicFramePr/>
          <p:nvPr/>
        </p:nvGraphicFramePr>
        <p:xfrm>
          <a:off x="6415888" y="1645920"/>
          <a:ext cx="509000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120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출처: 국가데이터처 고령자 통계(2025)·인구주택총조사(2024)·장래가구추계(2024) · 2036·2050년은 “30%·40% 초과” 전망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560070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7195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5532120"/>
            <a:ext cx="9905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1인가구 41.3%는 2052년 전망치입니다. 현재(2024) 수치 36.1%와 구분하세요.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2.2 수명보다 삶의 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초고령사회는 “노인이 많은 사회”만이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돌봄이 필요한 기간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만성질환·장애와 함께 사는 시간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사별의 누적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배우자·친구를 잃는 경험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역할의 변화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은퇴 이후 정체성과 역할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2310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재정 부담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의료·돌봄·생활비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2310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주거와 이동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어디서, 어떻게 살 것인가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8127797" y="3451860"/>
            <a:ext cx="3515258" cy="1623060"/>
          </a:xfrm>
          <a:prstGeom prst="roundRect">
            <a:avLst>
              <a:gd name="adj" fmla="val 676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56397" y="368046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2310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87917" y="3653028"/>
            <a:ext cx="232653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관계의 축소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만나는 사람이 줄어듦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교육의 범위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죽음을 “마지막 사건”으로만 다루지 않고, 후반기 삶·돌봄·관계·정리·남길 것까지 함께 다룹니다.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혼자 사는 사회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혼자 사는 것과 고립은 다르다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가구형태로 보기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1인가구 36.1% (2024)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고령 1인가구 약 219만 7천, 65세 이상의 22.1%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“혼자 사시나요?”에서 멈춤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연결망으로 보기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위기 때 연결될 사람이 있는가?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돌봄과 안전망이 있는가?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사회적으로 고립되어 있는가?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1인가구 증가 = 고독사 증가가 아닙니다. 혼자 사는 것은 하나의 생활형태입니다.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3.2 WLC 코칭 질문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“혼자 사시나요?” 다음에 물을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“아플 때 가장 먼저 연락할 사람은 누구인가요?”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“사흘간 연락이 닿지 않으면 누가 알아차릴까요?”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“평소 정기적으로 만나는 사람이나 모임이 있나요?”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고독사와 사회적 고립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고독사 예방은 죽음 이전의 관계를 보는 일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51206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위험 징후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관찰할 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WLC의 연결 방향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 축소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정기 연락·방문·모임이 거의 없음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가족·지인·이웃·복지기관·지역모임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 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식사·위생·주거 관리가 급격히 어려움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복지서비스·돌봄·건강지원 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경제 위기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실직·부채·주거불안·공과금 체납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복지상담·금융복지·법률구조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건강 악화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만성질환·이동제한·약물관리 어려움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의료·보건소·방문건강관리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 누적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배우자·가족 사별 후 고립 심화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애도지원·자조모임·전문상담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역할 경계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WLC는 위험군을 “판정”하거나 위기개입을 혼자 하지 않습니다. 변화를 발견하고 필요한 서비스에 연결합니다.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미니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안전망 점검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“내가 사흘간 연락이 닿지 않으면, 누가 가장 먼저 알아차릴까요?”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떠오르는 사람의 이름(또는 관계)을 3명까지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3명을 채우기 어렵다면, 연결될 수 있는 모임이나 기관을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이번 주 안부를 먼저 전할 한 사람에게 표시합니다.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안전망 3칸과 이번 주 연락할 1명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죽음교육이란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죽음교육이 다루는 일곱 가지 영역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인지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죽음·임종·애도에 대해 무엇을 알고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죽음과 상실을 생각할 때 어떤 감정이 드는가?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누구에게 감사·사과·용서의 말을 전하고 싶은가?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의사결정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의료·돌봄·장례에 대해 어떤 가치를 중요하게 여기는가?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상실대처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사별·사고·재난을 겪었을 때 어떻게 도움을 요청하고 서로 지지할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의미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유한한 삶에서 지금 무엇을 더 소중히 살아야 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시민성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죽음과 돌봄을 공동체가 함께 다룰 문제로 볼 수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죽음교육은 “죽는 법”이 아니라 “유한한 삶을 살아가는 법”과 “상실을 함께 견디는 법”을 배우는 교육입니다.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초고령사회에서 죽음교육은 보편적 생애교육이다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혼자 사는 것과 고립은 다르다 — 연결망을 본다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죽음교육은 유한한 삶을 사는 법을 배우는 교육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누구에게, 어디에서, 어떻게 가르칠 것인가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대상과 현장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같은 죽음교육도, 누구에게 어디서 하느냐에 따라 달라집니다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생애주기별·학교 죽음교육과 자살예방교육의 구분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예기치 않은 죽음·미디어 시대의 죽음교육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지역사회와 WLC의 사회적 역할 · 설계 7대 원칙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생애주기별 죽음교육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대상에 따라 언어와 활동이 달라야 한다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84632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교육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권장 접근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아동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죽음의 기본 개념, 감정 이름 붙이기, 반려동물·조부모 상실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구체적이고 간단한 언어, 그림·이야기, 사실과 상상 구분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청소년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친구·가족 상실, 생명존중, 온라인 추모, 도움요청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토론·사례, 또래지지와 성인 도움요청 경로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청년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예기치 않은 사고, 관계·진로·의미, 디지털 흔적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우선순위·위험대응·디지털 유산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부모 사별·돌봄, 자신의 건강, 경제·상속·가족대화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부모 돌봄과 자기 노후준비를 함께 설계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노년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배우자·친구 사별, 의료결정, 장례, 생애회고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존엄·자기결정·관계·사회적 연결 중심 실습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초고령·돌봄의존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반복되는 상실, 선택권 축소, 돌봄자와의 소통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일상의 작은 선택, 익숙한 관계와 기억의 지속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학교와 죽음·상실교육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학교에서는 기존 교육과 연결한다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사회정서교육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2025년 시범 도입, 2026학년도 모든 학교로 확대 지원. 감정 인식·관계·공동체·정신건강 역량과 상실교육을 연결합니다.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1608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재난안전교육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2025년 476개교 학생 주도 재난안전훈련. 위험에 대비하고 생명을 보호하는 교육입니다.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중요한 구분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재난안전교육은 “위험 대비·생명 보호”, 죽음·상실교육은 “실제 상실의 이해·애도·의미 회복”. 연결되지만 같은 교육은 아닙니다.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죽음교육 ≠ 자살예방교육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두 교육은 같지 않다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754880"/>
                <a:gridCol w="475488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죽음교육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자살예방교육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유한성·상실·애도·관계·가치·의료·장례 준비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자살위험 신호·도움요청·게이트키퍼·위기 대응·전문서비스 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대상·운영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일반 시민·전 연령 대상 예방적·성찰적 교육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안전지침·전문 교육모형·기관 규정 준수가 특히 중요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방향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죽음을 삶의 의미와 연결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자살을 선택지로 정상화하지 않고 생명보호·즉시 연결 우선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WLC 주의사항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청소년 교육에서 반드시 지킬 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자살의 방법·수단·장소를 구체적으로 다루거나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자살을 “죽음의 한 방식”으로 토론하지 않습니다.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위기 신호 확인 시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학교 위기대응 체계와 정신건강 전문가에게 즉시 연결합니다.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WLC는 상담을 이어 가지 않는다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자살예방은 별도의 전문영역입니다.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연계처는 미리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교육 전에 학교 상담·Wee센터·정신건강복지센터를 확인합니다.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예기치 않은 죽음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갑작스러운 죽음과 집단적 상실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갑작스러운 죽음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사고·재난·범죄·자살·감염병은 준비할 시간을 주지 않습니다. 충격과 함께 “왜 막지 못했나”라는 죄책감·분노·의문이 남습니다.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1608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집단적 애도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학교·직장·지역이 함께 겪으면 추모 방식, 사실 확인, 소문·영상 확산, 기념일 반응이 회복에 영향을 줍니다.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연결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재난·사고·자살사별, 심리적 응급지원과 집단 애도는 제12강에서 심화합니다.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9.1 사건 직후의 기본 원칙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갑작스러운 상실 직후, WLC가 지킬 여섯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추측 금지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확인되지 않은 사망 원인이나 세부 상황을 전달하지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311200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감정 강요 금지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침묵·혼란·분노도 정상적인 초기 반응으로 인정한다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465124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반복 노출 금지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충격적인 사진·영상·유품을 교육자료로 쓰지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4800" y="157276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회복 강요 금지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“강해져야 한다”, “이제 잊어야 한다”를 피한다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313944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311200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고위험 신호 연결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수면·식사 악화, 자해·자살위험, 공황·해리는 전문기관으로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467868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4651248"/>
            <a:ext cx="4724248" cy="1466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선택권 존중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추모 참여를 선택하게 하고 유가족의 문화와 의사를 존중한다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미디어 시대의 죽음교육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보여 주는 것이 교육은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사실과 추측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확인된 정보와 소문을 구분합니다.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반복 시청 줄이기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충격 영상을 반복해 보지 않습니다.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존엄 존중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고인과 유가족의 사생활을 지킵니다.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온라인 추모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추모공간의 언어와 예절을 배웁니다.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교육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죽음 콘텐츠를 많이 보여 주는 것이 아니라, 이해·공감·안전·행동 역량을 높이는 것이 목적입니다.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정부·지자체·지역사회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일할 수 있는 현장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38404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가능한 WLC 프로그램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연계 필요 분야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평생학습관·복지관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웰빙–웰다잉 입문, 생애회고, 엔딩노트, 관계정리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복지·보건·정신건강·법률상담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노인복지기관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 사별, 의료결정, 장례설계, 생전정리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의료·호스피스·장례·법률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중장년센터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부모돌봄, 은퇴 이후 삶, 재산·주거·관계 설계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재무·주거·돌봄·복지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학교·청소년기관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상실 이해, 생명존중, 감정표현, 도움요청, 안전한 추모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학교상담·Wee센터·정신건강 전문가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지역공동체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고립 예방, 이웃관계, 죽음 대화모임, 데스카페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지자체·복지관·보건소·종교·시민단체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WLC의 사회적 역할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 전문가가 아니라, 삶의 후반기를 돕는 사람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죽음 대화의 촉진자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피하던 대화를 안전하게 시작하도록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삶의 설계 코치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 성찰을 삶의 설계로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정보의 번역자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복잡한 제도를 쉬운 말로(자문은 대신 않음)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717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관계의 연결자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고립 전에 가족·이웃·자원과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7174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애도 동행자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정상 애도 존중, 필요하면 전문기관으로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8127797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56397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7174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87917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교육 프로그램 기획자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대상에 맞는 웰다잉 교육 설계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나는 어떤 WLC가 되고 싶은가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여섯 가지 역할 중 내가 가장 잘할 수 있는 역할 하나를 고르세요.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 하나를 고르고, 그 이유를 한 문장으로 적습니다.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역할로 일하고 싶은 현장(앞 슬라이드 표)을 하나 고릅니다.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1분씩 나눕니다.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 후 2인 나눔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역할 1개 + 활동 현장 1곳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프로그램 설계 7대 원칙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죽음교육 프로그램을 만들 때 지킬 일곱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생명과 삶을 중심에 둔다.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목적은 삶의 가치·관계·선택을 분명히 하는 것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5987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5987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32442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발달단계와 경험을 고려한다.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대상마다 언어와 활동이 달라야 한다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919549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195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892117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공포를 교육수단으로 쓰지 않는다.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충격적 사진·영상·통계로 행동을 강요하지 않는다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579223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7922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551791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참여와 침묵의 선택권을 보장한다.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사별 경험 공개나 감정 표현을 강요하지 않는다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238897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3889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211465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문화·종교·가족 다양성을 존중한다.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특정 죽음관·장례방식을 정답으로 제시하지 않는다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898571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985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871139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위기 연계체계를 미리 준비한다.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자살위험·트라우마·복합애도 시 연결할 기관 확보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55824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55824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530814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4A"/>
                </a:solidFill>
              </a:rPr>
              <a:t>반드시 다시 삶으로 돌아온다.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 마지막 활동은 “오늘 무엇을 다르게 살 것인가”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대상별 프로그램 예시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90분 프로그램은 이렇게 흐른다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035040"/>
                <a:gridCol w="33832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90분 흐름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산출물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중·고등학생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생명과 상실 이해 → 감정 언어 → 도움 요청 → 기억과 추모 → 오늘의 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도움 요청할 사람 3명 카드, 감사메시지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청년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예기치 않은 죽음·미디어 → 삶의 우선순위 → 디지털 흔적 → 관계와 안전망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나의 연결망 지도, 디지털 정리 체크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중장년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부모의 노화·사별 → 나의 후반기 → 의료·돌봄 → 관계·경제·엔딩 준비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후반기 삶 설계 1페이지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노년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생애회고 → 감사·화해 → 의료의사 → 장례·추모 → 레거시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 문장 레거시, 가족대화 계획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지역주민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고독사 이해 → 사회적 고립 → 이웃 연결 → 지역자원 → 작은 실천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우리 동네 연결망 지도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죽음교육과 자살예방교육은 다르다 — 위기는 즉시 연결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갑작스러운 상실 직후에는 추측·강요·반복 노출 금지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설계 원칙 7: 반드시 다시 삶으로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직접 설계해 봅니다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죽음교육을 설계하다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나의 경험에서 출발해, 우리 지역의 프로그램으로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 나의 죽음교육 경험 · 현장 사례 토론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2 지역 위험·자원 지도 · 실습 3 60분 프로그램 설계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조별 발표 · 퀴즈 · 정리 · 다음 예고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죽음교육 경험 점검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013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학교에서 죽음·상실·애도를 공식적으로 배운 기억이 있는가?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15184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가족은 죽음이나 장례에 대해 대화하는 편이었는가?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47288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처음 가까운 이의 죽음을 겪었을 때 누가 설명하고 도와주었는가?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79392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대형사고·재난 뉴스 뒤 감정을 나누거나 도움받은 경험이 있는가?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111496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나의 죽음 태도는 교육보다 어떤 경험으로 형성되었는가?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5" name="Shape 22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실습지 15.1 기록 5줄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현장 사례 토론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나라면 어떻게 판단할까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조마다 사례 하나를 맡아 “WLC의 판단”을 정리합니다.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사례 1 — 같은 학교 학생의 갑작스러운 사망 후 “죽음교육 특강” 요청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사례 2 — 68세 1인가구, “혼자 죽으면 며칠 뒤 발견될까 봐 겁난다”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사례 3 — 부모가 죽음 이야기를 꺼내면 자녀가 “불길하다”며 피함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사례 4 — 고독사 예방교육에 충격적인 현장사진을 쓰자는 제안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4~5인 조별 토론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조별 판단 1문장과 그 이유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WLC 판단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사례별 WLC의 판단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판단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고등학생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사건 세부를 교육소재로 쓰지 않는다. 학교 상담·위기대응 담당자와 사전협의하고, 감정·안전·도움요청·추모 선택권에 초점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68세 1인가구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죽음불안만 상담하지 않고 정기 연락망·이웃·돌봄서비스·의료·복지 연결을 함께 점검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중년 자녀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죽음을 예측하는 대화가 아니라 부모의 가치와 돌봄 선호를 확인하는 “가족의 삶 이야기”로 프레임 전환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지역주민 교육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공포·혐오 대신 관계단절의 신호, 이웃 연결, 도움 요청 방법을 교육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교육의 윤리와 안전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학교·기관 교육 전 체크리스트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최근 사별 경험 공개를 요구하지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259874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5987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32442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발표하지 않아도 참여할 수 있는 대체활동을 준비한다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919549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195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892117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미성년자 교육은 기관 규정·보호체계·위기대응 체계를 사전 확인한다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579223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7922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551791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사고·자살·범죄의 구체적 방법과 충격적 시각자료를 피한다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238897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3889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211465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위기징후가 드러나면 비밀보장의 한계를 설명하고 전문체계에 연결한다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8571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985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871139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종교적 해석이나 사후세계관을 사실로 가르치지 않는다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8640" y="5558246"/>
            <a:ext cx="438912" cy="438912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55824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530814"/>
            <a:ext cx="10408615" cy="58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통계는 공포의 수단이 아니라 행동을 설계하는 자료로 쓴다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 지역 위험·자원 지도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23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우리 지역의 현황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연결 가능한 기관·사람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고령 1인가구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중장년 고립 위험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복지관·평생학습기관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보건소·정신건강복지센터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호스피스·의료기관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장례·법률·재무 전문가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학교·청소년 상담자원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15.3 실습 3 · 조별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60분 죽음교육 미니 프로그램 설계</a:t>
            </a:r>
            <a:endParaRPr lang="en-US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기획 가이드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연령·상황·기관을 구체적으로 (예: ○○복지관 70대 배우자 사별 여성 12명)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교육목표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 후 참여자가 알고·느끼고·할 수 있어야 할 것 2~3개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도입 10분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 공포가 아닌 삶의 질문으로 시작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이해 15분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대상에 필요한 핵심 개념·통계·사례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성찰 15분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 기록·소그룹 대화·질문카드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실천 15분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관계·도움요청·가족대화·삶의 작은 행동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마무리 5분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“오늘부터 어떻게 살 것인가?” 한 문장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위기연계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교육 중 위기징후 발견 시 연결할 기관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조별 발표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 조의 60분 프로그램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한 조당 1분 — 대상, 마무리 한 문장, 위기연계 기관을 발표합니다.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대상과 교육목표를 한 문장으로 말합니다.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도입 질문과 마무리 한 문장을 소개합니다.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다른 조는 “7대 원칙 중 잘 지킨 점” 하나를 말해 줍니다.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조별 1분 발표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피드백 받은 설계안 1장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1인가구가 늘어나면 고독사도 같은 비율로 늘어난다.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재난안전교육과 죽음·상실교육은 연결되지만 같은 교육은 아니다.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고독사 예방교육에서는 경각심을 위해 현장 사진을 보여 주는 것이 효과적이다.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65세 이상 인구가 전체의 20%를 넘는 사회를 흔히 초고령사회라고 부른다.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고령인구 비중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국가데이터처 「2025 고령자 통계」에 따른 2025년 65세 이상 인구 비중은?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14.3%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17.5%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20.3%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25.1%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1인가구 비중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2024년 인구주택총조사 기준 1인가구 비중은?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약 24%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36.1%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41.3%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48.0%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죽음교육과 자살예방교육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죽음교육과 자살예방교육에 대한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두 교육은 같은 내용이므로 통합해 운영한다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자살위험 신호가 보이면 WLC가 직접 상담을 이어 간다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자살예방은 고위험 신호 발견과 위기개입 연계를 다루는 별도 전문영역이다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죽음교육에서는 자살 사례를 상세히 다루는 것이 효과적이다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아동·청소년 죽음교육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아동·청소년 죽음교육 운영 원칙으로 옳지 않은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발달단계에 맞는 언어를 쓴다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 경험 공개를 권장해 모두 발표하게 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학교 상담·위기대응 체계를 사전 확인한다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참여하지 않을 권리를 보장한다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WLC의 사회적 역할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교재가 제시한 WLC의 사회적 역할이 아닌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 대화의 촉진자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정보의 번역자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관계의 연결자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연명의료 결정권자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혼자 사는 것은 생활형태, 핵심은 고립 여부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위험 대비 vs 상실 이해·애도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공포·혐오 대신 연결과 도움요청을 교육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2025년 20.3%로 초고령사회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20.3% (1,051만 4천 명)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36.1% (41.3%는 2052년 전망)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자살예방은 별도 전문영역, 즉시 연결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상실 경험 공개를 강요하지 않음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초고령사회의 기준과 2025년 고령인구 비중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1인가구 증가 ≠ 고독사 증가인 이유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죽음교육의 목적 세 가지 이상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아동·청소년 죽음교육의 주의점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죽음교육과 자살예방교육의 차이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재난안전교육과 상실·애도교육의 연결과 구분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고독사 예방에서 “관계의 복원”이 중요한 이유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학교 사망사건 후 교육 요청 시 사전 확인 3가지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초고령사회 WLC의 사회적 역할 네 가지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엔딩–웰다잉–웰빙 관점에서 죽음교육이 삶을 바꾸는 과정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제2강에서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초고령사회는 죽음교육을 보편교육으로 만든다.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웰다잉은 노년층만의 주제가 아니다.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혼자 사는 것과 고립은 다르다.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핵심은 관계·돌봄·도움요청의 연결망이다.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죽음교육은 생명과 삶을 중심에 둔다.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감정·관계·의사결정·상실대처를 배운다.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학교의 죽음교육은 기존 체계와 연결한다.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사회정서·생명존중·재난안전·상담체계와 협력.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예기치 않은 죽음은 전문적 경계를 요구한다.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트라우마·자살위험·복합애도는 전문가와 연결.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사회의 죽음대화를 여는 교육자다.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죽음을 말함으로써 삶과 공동체의 돌봄을 강화한다.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일곱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죽음교육을 공포교육으로 만들지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학교에서는 혼자 들어가지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죽음과 자살을 구분한다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고독사를 숫자로만 보지 않는다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상실 경험 공개를 강요하지 않는다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지역자원 지도를 만든다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교육은 다시 웰빙으로 돌아온다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지역 자원 지도 완성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실습 2(부록 12)의 기관 연락처를 3곳 이상 확인해 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가족의 삶 이야기 10분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사례 3처럼 “죽음”이 아닌 “삶과 돌봄의 바람”으로 가족과 대화해 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안부 한 통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미니 활동에서 표시한 한 사람에게 먼저 연락합니다.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제2강의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“내가 속한 가족·학교·지역사회는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죽음과 상실을 안전하게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이야기할 수 있는 곳인가?”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그렇지 않다면, 그곳을 바꾸는 첫 사람이 WLC입니다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제3강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웰빙·웰다잉·엔딩의 통합철학과 삶의 설계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“죽음이 삶의 일부라면, 나는 남은 삶을 어떻게 더 잘 설계할 것인가?”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웰빙–웰다잉–엔딩–레거시는 하나의 여정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에릭슨의 자아통합과 생애회고 · 인생그래프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브로니 웨어의 다섯 가지 후회와 역설계 코칭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“마지막 18년”에서 “나의 남은 삶” 6영역 설계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엔딩노트와 레거시 디자인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제3장 1~9절  ·  가져올 것: 1강 “한 문장 레거시”, 인생 사진 1~2장(선택)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제2강 초고령사회와 죽음교육의 필요성</dc:title>
  <dc:subject>PptxGenJS Presentation</dc:subject>
  <dc:creator>삶잇다협동조합</dc:creator>
  <cp:lastModifiedBy>삶잇다협동조합</cp:lastModifiedBy>
  <cp:revision>1</cp:revision>
  <dcterms:created xsi:type="dcterms:W3CDTF">2026-10-29T23:51:28Z</dcterms:created>
  <dcterms:modified xsi:type="dcterms:W3CDTF">2026-10-29T23:51:28Z</dcterms:modified>
</cp:coreProperties>
</file>