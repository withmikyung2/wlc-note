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notesMasterIdLst>
    <p:notesMasterId r:id="rId5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열기" id="{38528e5b-fdc0-8e52-1bc6-4a39b994a13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1교시 재산·유언·상속의 기본" id="{b566d4fc-d01c-b230-4e36-66c03ea220b0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2교시 유류분·후견·경제적 학대" id="{c1480e7c-216e-6945-494c-2bb2543bd3db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  <p14:section name="3교시 삶의 안전을 설계하다" id="{26c2f2b6-3582-21cd-19b5-bb0fb28fc0da}">
          <p14:sldIdLst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</p14:sldIdLst>
        </p14:section>
        <p14:section name="정리와 예고" id="{a97b02dd-f2ca-9da0-1b46-282b693f65d6}">
          <p14:sldIdLst>
            <p14:sldId id="303"/>
            <p14:sldId id="304"/>
            <p14:sldId id="305"/>
            <p14:sldId id="306"/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0:00–0:01 (1분)
인사. 제3부(삶의 존엄을 준비하다)의 첫 시간.
"오늘은 돈 이야기를 합니다. 얼마를 남길지가 아니라, 마지막까지 내 삶의 안전을 어떻게 지킬지에 대한 이야기입니다."
법령 내용이 많은 회차 — 수업 직전 국가법령정보센터에서 2026.3.17 개정 민법을 재확인한다.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0:01–0:02 (1분)
📖 교재: 교재 목차
제3부: 8강 경제·재산 → 9강 의료결정·후견 → 10강 가족소통·생명윤리. 삶의 존엄을 지키는 세 기둥.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0:02–0:03 (1분)
오늘의 결과물: 재산·채무 한눈에 보기(금액·계좌번호 없이), 유언 필요성 점검, 가족회의 준비표.
실제 금액·계좌번호는 수업에서 적지 않는다고 미리 안내한다(개인정보).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0:03–0:08 (5분)
📖 교재: 7강 과제 · 30일 프로젝트
"보험이 몇 개인지 몰랐다", "자동이체가 많았다" 같은 답이 오늘 수업(재산목록)과 바로 연결된다.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0:08–0:10 (2분)
📖 교재: 4~7장 핵심정리
짧게 복습.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0:10–0:14 (4분)
📖 교재: 1절 · WLC의 첫 질문
이름을 말하게 하지 않는다. "떠오르는 사람이 없다"도 중요한 발견 — 2교시 후견·임의후견과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0:14–0:15 (1분)
📖 교재: 8장 표제 · 핵심 메시지
핵심 메시지를 천천히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0:15–0:17 (2분)
📖 교재: 8장 학습목표 1~8
굵은 키워드만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0:17–0:18 (1분)
📖 교재: 8장 핵심 키워드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0:18–0:21 (3분)
📖 교재: 1절
서술형 Q1. 코치노트 1: 재산 규모로 내담자를 판단하지 않는다 — 자산가만의 주제가 아니다.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0:21–0:26 (5분)
📖 교재: 2절 · 표
여섯 영역의 순서에 주목: 사후이전(상속)은 마지막. 코치노트 2: 생활비와 돌봄비를 먼저 보호한다.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0:26–0:31 (5분)
📖 교재: 3절 · 표 / 핵심
서술형 Q2. OX 3번. 7강 금융정보(존재와 접근경로)와 같은 원칙. 부록 5와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0:31–0:33 (2분)
📖 교재: 4절 · 민법 제1065조
OX 1번. 3강에서 배운 내용을 경제적 관점에서 다시 짚는다.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0:33–0:38 (5분)
📖 교재: 4절 · 표 / 2026년 법령 확인
서술형 Q3. 객관식 1번. WLC는 유언서를 직접 작성해 주지 않고 "법적 유언이 필요한지" 생각하도록 돕는다(코치노트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0:38–0:42 (4분)
📖 교재: 5.1~5.2절
서술형 Q4.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0:42–0:45 (3분)
📖 교재: 6절 · 민법 제1091조
객관식 2번(검인 필요 없는 방식 = 공정증서).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0:45–0:48 (3분)
📖 교재: 7절 · WLC 실무 질문
재산목록에 채무를 반드시 넣어야 하는 이유와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0:48–1:00 (12분)
1교시 정리 2분 + 휴식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1:00–1:06 (6분)
📖 교재: 8절 · 표 / 민법 [시행 2026.3.17.]
서술형 Q5(변화 세 가지)·Q6(상속권 상실의 취지). OX 2번.
코치노트 4: 2026년 개정 전 자료를 그대로 쓰지 않는다. 수업 직전 국가법령정보센터 재확인.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1:06–1:10 (4분)
📖 교재: 9절 · 표 / 민법 제1117조
객관식 3번(직계존속 1/3), 4번(1년·10년).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1:10–1:12 (2분)
📖 교재: 9절 WLC 주의
학습목표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1:12–1:17 (5분)
📖 교재: 10절 · 표
상속 갈등은 금액보다 "누가 돌봤는가", "나는 인정받지 못했다"는 감정과 결합되는 경우가 많다(코치노트 5). 10강(가족갈등 중재)과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1:17–1:20 (3분)
📖 교재: 10절
민감한 주제이므로 공유 없이 개인 성찰로만 진행. 3교시 가족회의 준비표에서 다시 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1:20–1:26 (6분)
📖 교재: 11절 · 표
서술형 Q7. 질병·장애·노령 등으로 사무처리 능력이 부족한 성인을 보호하는 제도. 9강에서 의료결정과 함께 심화.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1:26–1:29 (3분)
📖 교재: 11절 · 민법 제959조의20
오프닝 질문("누가 도와주면 좋겠습니까?")의 제도적 답. OX 4번. 핵심정리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1:29–1:32 (3분)
📖 교재: 12절 · WLC 질문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1:32–1:38 (6분)
📖 교재: 13절 · 표 / 안전 원칙
서술형 Q8(위험신호 네 가지). 객관식 5번. 가해자는 낯선 사람일 수도, 가족·지인·돌봄관계자일 수도 있다(코치노트 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1:38–1:42 (4분)
📖 교재: 14절
다음 활동(체크)으로 바로 이어진다.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1:42–1:45 (3분)
📖 교재: 14절
부모님을 떠올리며 체크해도 좋다고 안내(내담자 교육용 도구로 쓰임).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1:45–1:49 (4분)
📖 교재: 16절 · 표
서술형 Q10. 코치노트 8. 핵심정리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1:49–2:00 (11분)
2교시 정리 1분 + 휴식 10분.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전환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2:00–2:04 (4분)
📖 교재: 17절 · 표
상황: 78세 내담자가 "큰아들이 나를 많이 돌봤으니 지금 사는 집을 미리 넘기고 싶다"고 말한다.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2:04–2:16 (12분)
📖 교재: 17절 · 13~14절
"조카의 투자처"는 경제적 학대·사기 위험신호(고수익 권유) 연습, "통장 관리"는 10가지 생활원칙 2번 연습. 시간이 되면 역할을 바꿔 한 번 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2:16–2:26 (10분)
📖 교재: 18.1절 · 실습지 / 부록 5
"대략적 내용"에는 "있음/없음", "주거래 1곳" 정도만. 비밀번호·계좌번호·금액은 적지 않는다.
채무·보증 칸을 꼭 채우게 한다(비어 있으면 "없음"이라고 쓰기).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2:26–2:30 (4분)
📖 교재: 18.2절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2:30–2:34 (4분)
📖 교재: 15절 · 표 / 회의 원칙
서술형 Q9(재산분배보다 먼저 다룰 주제 세 가지).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2:34–2:44 (10분)
📖 교재: 18.3절 · 실습지
모든 칸을 채우지 않아도 된다. 2교시 개인 성찰에서 적은 한 문장을 해당 주제에 옮겨 적게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2:44–2:46 (2분)
📖 교재: 3·4·8·11절
정답: 1 X / 2 O / 3 X / 4 O
※ 8강 퀴즈는 강사용 해설서에 문제은행이 없어 교재 본문을 근거로 새로 작성한 문항입니다.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2:46–2:47 (1분)
📖 교재: 4절 · 민법 제1065조
정답 ④. 다섯 방식: 자필증서·녹음·공정증서·비밀증서·구수증서.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2:47–2:48 (1분)
📖 교재: 6절 · 민법 제1091조
정답 ③. 공정증서와 구수증서는 검인 대상에서 제외.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2:48–2:49 (1분)
📖 교재: 9절 · 민법 제1112조
정답 ②. 직계비속·배우자 1/2, 직계존속 1/3, 형제자매는 권리자 아님.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2:49–2:50 (1분)
📖 교재: 9절 · 민법 제1117조
정답 ①.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2:50–2:51 (1분)
📖 교재: 13절 안전 원칙
정답 ③.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2:51–2:54 (3분)
📖 교재: 8장 본문 (강사 제작 문항)
객관식 5번 정답 ③(이해·자발성·독립된 확인)은 구두로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2:54–2:55 (1분)
📖 교재: 19절 학습점검 Q1~Q10
채점 기준(문항당 10점): 핵심요소 3개 10점 / 2개 7점 / 1개 4점 / 없음 0점, 역할경계 이탈 -3점.
※ 8장 모범답안은 강사용 해설서(제1~4장)에 없으므로 교재 핵심정리·본문을 기준으로 채점.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2:55–2:56 (1분)
📖 교재: 20절 핵심정리
굵은 부분을 함께 읽는다.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2:56–2:57 (1분)
📖 교재: 21절 코치 노트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2:57–2:58 (1분)
📖 교재: 18절 · 7강 30일 프로젝트
9강 준비: 엔딩노트 "건강·의료·돌봄" 쪽을 미리 펼쳐 보게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2:58–2:59 (1분)
📖 교재: 20절 · 제8장의 마지막 질문
10초 침묵 후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⏱ 2:59–3:00 (1분)
📖 교재: 22절 제9장으로의 연결
경제적 웰다잉의 핵심이 "자원과 의사결정 기반을 지키는 것"이라면, 9장은 의료와 돌봄의 선택을 어떻게 준비할지 다룬다. 1강(죽음의 의료화)·5강(싱가포르 ACP)과 연결.
마무리 인사.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제8강 경제적 웰다잉과 재산·신상 보호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">
    <p:bg>
      <p:bgPr>
        <a:solidFill>
          <a:srgbClr val="EAF3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WLC 2급 자격과정  ·  제8강 경제적 웰다잉과 재산·신상 보호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dirty="0">
                <a:solidFill>
                  <a:srgbClr val="2E7D6B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4E4A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2E7D6B">
              <a:alpha val="45000"/>
            </a:srgbClr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3566160"/>
            <a:ext cx="3840480" cy="3840480"/>
          </a:xfrm>
          <a:prstGeom prst="ellipse">
            <a:avLst/>
          </a:prstGeom>
          <a:solidFill>
            <a:srgbClr val="8FB9A8">
              <a:alpha val="30000"/>
            </a:srgbClr>
          </a:solidFill>
          <a:ln w="12700">
            <a:solidFill>
              <a:srgbClr val="8FB9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8C5BC"/>
                </a:solidFill>
              </a:rPr>
              <a:t>WLC 2급 자격과정  ·  제3부 삶의 존엄을 준비하다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제8강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0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Noto Serif KR Black" pitchFamily="34" charset="0"/>
                <a:ea typeface="Noto Serif KR Black" pitchFamily="34" charset="-122"/>
                <a:cs typeface="Noto Serif KR Black" pitchFamily="34" charset="-120"/>
              </a:rPr>
              <a:t>경제적 웰다잉과 재산·신상 보호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03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3DC"/>
                </a:solidFill>
              </a:rPr>
              <a:t>Economic Well-dying, Property &amp; Personal Protection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3시간 과정  ·  1교시 50분 · 2교시 50분 · 3교시 60분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6692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삶잇다협동조합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과정 안내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 2급 16강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제1부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삶과 죽음을 이해하다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죽음을 이해하는 통찰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초고령사회와 죽음교육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웰빙·웰다잉·엔딩 통합철학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804099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1259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제2부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변화하는 죽음문화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04099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41259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웰다잉 문화와 엔딩산업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804099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41259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일본 슈카츠와 세계 웰다잉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04099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1259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장례·장묘 제도의 변화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04099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41259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생전정리·유품·디지털 유산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59558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6718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제3부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삶의 존엄을 준비하다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059558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96718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8강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경제적 웰다잉과 재산 보호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59558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96718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의료결정·사전돌봄·후견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059558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96718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가족소통·생명윤리·갈등중재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017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452177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제4부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상실과 임종을 동행하다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15017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52177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상실·애도와 관계회복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017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52177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예기치 않은 죽음·재난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315017" y="4105656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452177" y="4151376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임종 단계별 돌봄 실무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315017" y="4946904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452177" y="4992624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사망 직후 초기지원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570476" y="1508760"/>
            <a:ext cx="2072579" cy="777240"/>
          </a:xfrm>
          <a:prstGeom prst="roundRect">
            <a:avLst>
              <a:gd name="adj" fmla="val 14118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707636" y="1581912"/>
            <a:ext cx="17982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C5BC"/>
                </a:solidFill>
              </a:rPr>
              <a:t>제5부
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WLC로 활동하다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570476" y="2423160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707636" y="2468880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WLC 코칭 실무·교육 운영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570476" y="3264408"/>
            <a:ext cx="2072579" cy="731520"/>
          </a:xfrm>
          <a:prstGeom prst="roundRect">
            <a:avLst>
              <a:gd name="adj" fmla="val 150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9707636" y="3310128"/>
            <a:ext cx="17982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16강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전문직 윤리·자격검정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오늘의 3시간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오늘은 이렇게 진행합니다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재산·유언·상속의 기본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과제 나눔·오프닝 질문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경제적 웰다잉 6영역·재산목록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유언 5방식·검인·상속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30422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21862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46778" y="1737360"/>
            <a:ext cx="3026918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38218" y="1828800"/>
            <a:ext cx="28440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50분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92498" y="3063240"/>
            <a:ext cx="29354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유류분·후견·경제적 학대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2026 민법 개정과 유류분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성년후견·임의후견·신탁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경제적 학대·10가지 생활원칙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328560" y="1737360"/>
            <a:ext cx="561492" cy="1051560"/>
          </a:xfrm>
          <a:prstGeom prst="roundRect">
            <a:avLst>
              <a:gd name="adj" fmla="val 19542"/>
            </a:avLst>
          </a:prstGeom>
          <a:solidFill>
            <a:srgbClr val="D9DEDC"/>
          </a:solidFill>
          <a:ln w="12700">
            <a:solidFill>
              <a:srgbClr val="D9DE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0000" y="1828800"/>
            <a:ext cx="3786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6B6B"/>
                </a:solidFill>
              </a:rPr>
              <a:t>휴식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10분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44917" y="1737360"/>
            <a:ext cx="3643274" cy="1051560"/>
          </a:xfrm>
          <a:prstGeom prst="roundRect">
            <a:avLst>
              <a:gd name="adj" fmla="val 10435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36357" y="1828800"/>
            <a:ext cx="346039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3교시</a:t>
            </a:r>
            <a:endParaRPr lang="en-US" sz="2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60분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990637" y="3063240"/>
            <a:ext cx="355183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삶의 안전을 설계하다
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코칭 사례 롤플레이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재산·채무 표·유언 필요성 점검</a:t>
            </a:r>
            <a:endParaRPr lang="en-US" sz="22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가족회의 준비표·퀴즈·예고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과제 나눔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30일 프로젝트 1주차, 어떠셨나요?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7강 과제 — 서류 한 파일 만들기, 사후관리 기능 하나 확인, 기억유산 6~10번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짝과 2분씩 서류 한 파일을 만든 경험을 나눕니다.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찾아본 사후관리 기능(구글·애플·카카오)이 있다면 소개합니다.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정리하며 “생각보다 몰랐던 것” 하나를 말합니다.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2인 1조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정리하며 새로 알게 된 것 1가지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제2부 돌아보기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제2부에서 가져올 세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WLC는 안내자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판매하지 않고 선택을 돕고 연결합니다(4강).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38218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6681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원리를 번역한다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해외 사례를 한국에 맞게 바꿉니다(5강).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27797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56397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56397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무엇을 남길까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정리는 버리기가 아니라 선택하기(6·7강).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오늘의 확장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제3부에서는 삶의 존엄을 지키는 세 기둥 — 경제, 의료, 가족 — 을 차례로 다룹니다. 오늘은 경제입니다.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31125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C5BC"/>
                </a:solidFill>
              </a:rPr>
              <a:t>오프닝 질문 · WLC의 첫 질문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4028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“아프거나 판단이 어려워졌을 때,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내 생활과 재산관리를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누가 어떻게 도와주면 좋겠습니까?”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“재산이 얼마나 있으십니까?”보다 먼저 묻는 질문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11094415" cy="1051560"/>
          </a:xfrm>
          <a:prstGeom prst="roundRect">
            <a:avLst>
              <a:gd name="adj" fmla="val 10435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5230368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537301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507492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30초 생각한 뒤 떠오르는 사람이나 방법을 적습니다. 짝과는 “쉽게 떠올랐는지, 어려웠는지”만 나눕니다.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8FB9A8"/>
                </a:solidFill>
              </a:rPr>
              <a:t>“</a:t>
            </a:r>
            <a:endParaRPr lang="en-US" sz="11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존엄한 마무리는 마음의 준비만으로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완성되지 않는다.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24612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8C5BC"/>
                </a:solidFill>
              </a:rPr>
              <a:t>— WLC 교육 메시지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1094415" cy="1600200"/>
          </a:xfrm>
          <a:prstGeom prst="roundRect">
            <a:avLst>
              <a:gd name="adj" fmla="val 6857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343400"/>
            <a:ext cx="104543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8FB9A8"/>
                </a:solidFill>
              </a:rPr>
              <a:t>이 강의의 핵심 메시지
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경제적 웰다잉은 많은 재산을 남기는 일이 아니다. 삶의 후반기에 필요한 비용과 자원을 파악하고, 재산·채무·계약 정보를 정리하며, 의사결정능력이 약해지거나 사망한 뒤에도 자신의 뜻과 생활의 안전이 지켜지도록 준비하는 일이다.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학습목표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수업을 마치면 할 수 있는 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경제적 웰다잉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재산 규모가 아닌 삶의 안정성 관점으로 설명한다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재산목록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재산목록과 중요문서 정리의 기본 구조를 안내한다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유언 5방식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민법상 유언 방식과 엔딩노트의 차이를 설명한다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2026 민법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상속권 상실·특별부양 보상·유류분 변화의 방향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유류분 구조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권리자·산정·청구·시효를 구분한다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후견제도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네 가지 후견과 임의후견의 자기결정 의미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경제적 학대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사기·명의도용·무리한 재산이전 신호를 인식한다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4E4A"/>
                </a:solidFill>
              </a:rPr>
              <a:t>Architect </a:t>
            </a:r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법률·세무·금융 전문가와 협업하는 WLC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핵심 키워드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오늘 만날 단어들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86537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경제적 웰다잉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615184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15184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재산목록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33088" y="1691640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33088" y="1691640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채무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21224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21224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중요문서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39128" y="1691640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39128" y="1691640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유언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827264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27264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자필증서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345168" y="1691640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45168" y="1691640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공정증서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2487168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2487168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검인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636776" y="2487168"/>
            <a:ext cx="1101852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636776" y="2487168"/>
            <a:ext cx="11018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유류분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939796" y="2487168"/>
            <a:ext cx="1650492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39796" y="2487168"/>
            <a:ext cx="16504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상속권 상실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91456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91456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특별수익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09360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09360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기여보상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827264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827264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성년후견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45168" y="2487168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345168" y="2487168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임의후견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48640" y="3282696"/>
            <a:ext cx="88696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3282696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신탁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636776" y="3282696"/>
            <a:ext cx="1650492" cy="566928"/>
          </a:xfrm>
          <a:prstGeom prst="roundRect">
            <a:avLst>
              <a:gd name="adj" fmla="val 19355"/>
            </a:avLst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636776" y="3282696"/>
            <a:ext cx="16504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경제적 학대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3488436" y="3282696"/>
            <a:ext cx="1316736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488436" y="3282696"/>
            <a:ext cx="1316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사기예방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006340" y="3282696"/>
            <a:ext cx="1527048" cy="566928"/>
          </a:xfrm>
          <a:prstGeom prst="roundRect">
            <a:avLst>
              <a:gd name="adj" fmla="val 193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006340" y="3282696"/>
            <a:ext cx="1527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4E4A"/>
                </a:solidFill>
              </a:rPr>
              <a:t>Architect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4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43" name="Text 40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시험 포인트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유언 5방식, 검인 제외 방식, 2026 유류분 변화(형제자매 삭제), 유류분 비율·시효, 후견 4유형이 자주 나옵니다.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1교시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재산·유언·상속의 기본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얼마를 남길까가 아니라, 끝까지 무엇을 지킬까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경제적 웰다잉의 여섯 영역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재산목록은 삶의 관리도구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유언 5방식 · 검인 · 상속은 의무도 함께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1절 경제적 웰다잉이란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“얼마를 남길까”에서 “무엇을 지킬까”로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6B"/>
                </a:solidFill>
              </a:rPr>
              <a:t>흔한 생각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자산가의 상속 준비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“얼마를 남길 것인가”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자산의 많고 적음을 평가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경제적 웰다잉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마지막까지 필요한 자원을 안정적으로 관리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의료·돌봄·주거·이동·생활비를 함께 준비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</a:rPr>
              <a:t>정보정리·위험감소·역할분담·전문가 연결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WLC의 첫 질문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“재산이 얼마나 있으십니까?”보다 “판단이 어려워졌을 때 생활·돌봄·재산관리를 누가 어떻게 도와주면 좋겠습니까?”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2절 여섯 영역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경제적 웰다잉의 여섯 영역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557784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영역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내용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생활비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기본생활·주거·이동비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“수입이 줄어도 유지하고 싶은 생활은 무엇인가요?”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의료·돌봄비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치료·간병·장기요양·돌봄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“돌봄이 필요해질 때 어떤 비용과 지원을 먼저 확인할까요?”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자가·임차·시설·이전 가능성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“지금 집에서 계속 살 수 없다면 대안은?”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재산·채무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예금·보험·부동산·대출·보증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“가족이 재산뿐 아니라 채무의 존재도 알고 있나요?”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의사결정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계약·금융·재산관리의 도움체계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“판단이 어려워질 때 누구를 신뢰하고 싶나요?”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사후이전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유언·상속·기부·레거시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“무엇을 누구에게 어떤 의미로 남기고 싶나요?”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3절 재산목록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재산목록은 상속목록이 아니라 삶의 관리도구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범주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기록할 내용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예금·현금성 자산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금융기관·계좌 종류·주요 용도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비밀번호 자체는 적지 않는다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부동산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소재지·소유형태·임대차·담보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등기·대출·세금은 전문가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보험사·상품·계약자·수익자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보장내용과 납입상태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투자·가상자산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증권사·거래소·지갑 존재 여부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접근정보와 상속절차는 별도 관리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채무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대출·카드·보증·사적 채무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재산과 함께 반드시 기록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사업·지분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회사·사업체·주식·영업권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정관·주주계약·세무 검토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정기계약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임대차·통신·구독·렌탈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해지·승계 여부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핵심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“재산”만 적고 “채무”를 빼면 전체 그림이 왜곡됩니다. 자산과 부채를 함께 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유언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“마지막 말”과 법적 유언은 다르다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엔딩노트, 가족에게 남긴 편지, 휴대전화 메모에 재산 분배의 바람을 적었다고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자동으로 법적 유언이 되지 않습니다.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민법이 정한 방식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유언의 보통방식은 다섯 가지로 한정됩니다(제1065조).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엄격한 요건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방식마다 요건을 갖춰야 효력이 있습니다.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3강의 복습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엔딩노트 = 삶의 통합 도구, 유언 = 법적 문서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4절 유언의 다섯 가지 방식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민법이 정한 유언의 보통방식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38912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유언 방식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구조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WLC가 기억할 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자필증서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전문·연월일·주소·성명을 직접 쓰고 날인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일부라도 요건을 놓치면 분쟁 가능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녹음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유언취지·성명·연월일을 말하고 참여 증인이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전자파일 보관·증인요건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공정증서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증인 2인 참여, 공증인 면전에서 법정 절차로 작성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절차가 명확, 비용·공증 절차 필요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비밀증서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서명한 증서를 봉인해 공증절차 진행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실무 사용이 많지 않음, 요건 확인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구수증서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질병 등 급박한 사유로 다른 방식이 불가능할 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예외적 방식, 엄격한 요건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5절 자주 묻는 두 방식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자필증서 유언과 공정증서 유언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8E04"/>
                </a:solidFill>
              </a:rPr>
              <a:t>자필증서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비교적 쉽게 작성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형식요건이 핵심 — 자필·날짜·주소·성명·날인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“컴퓨터로 출력해 서명하면 된다”는 안내는 금물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공정증서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증인 2명 참여, 공증인의 법정 절차(제1068조)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유언취지를 말하면 공증인이 기록·낭독, 승인 후 서명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200" dirty="0">
                <a:solidFill>
                  <a:srgbClr val="222222"/>
                </a:solidFill>
              </a:rPr>
              <a:t>절차가 명확하지만 비용이 듦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WLC 선택 지원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“어떤 유언이 더 좋다”고 일률적으로 말하지 않습니다. 재산구조·가족관계·분쟁 가능성·건강·비용을 고려해 전문가 상담을 안내합니다.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6절 유언 이후의 절차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유언은 작성으로 끝나지 않는다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검인 청구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유언증서·녹음을 보관하거나 발견한 사람은 사망 후 지체 없이 법원에 검인을 청구합니다(제1091조).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검인 제외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공정증서와 구수증서는 검인 대상에서 제외됩니다.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352044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후속 절차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유언집행자, 상속등기, 세무 등 후속 절차가 방식에 따라 달라집니다.</a:t>
            </a:r>
            <a:endParaRPr lang="en-US" sz="2200" dirty="0"/>
          </a:p>
        </p:txBody>
      </p:sp>
      <p:sp>
        <p:nvSpPr>
          <p:cNvPr id="16" name="Shape 11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주의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“유언을 써 두면 가족이 그대로 나누면 된다”고 단순화하지 않습니다.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7절 상속의 기본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상속은 권리뿐 아니라 의무도 함께 온다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상속은 재산적 권리와 의무가 함께 승계되는 제도입니다.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예금·부동산만이 아니라 채무·보증·사업상 의무도 확인 대상입니다.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상속인의 선택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승인·한정승인·포기 등을 검토할 수 있습니다.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시간과 절차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기한이 중요하므로 WLC가 개별 판단을 대신하지 않습니다.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WLC 실무 질문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“채무·보증·사업상 의무의 존재도 가족이 알 수 있나요?”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경제적 웰다잉은 삶의 안전을 준비하는 일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재산목록에는 채무를 함께 — 비밀번호는 적지 않는다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유언은 5방식, 엔딩노트와 다르다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2교시 — 유류분·후견·경제적 학대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2교시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유류분·후견·경제적 학대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바뀐 법을 정확히, 판단이 흐려질 때를 미리, 위험신호는 민감하게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2026년 민법 개정과 유류분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재산은 관계의 문제 · 후견 · 신탁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경제적 학대·금융사기 · 10가지 생활원칙 · WLC는 Architect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8절 유류분 — 2026년 최신 민법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2024 헌재 결정과 2026 민법 개정으로 달라진 것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6949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핵심 변화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내용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형제자매 유류분 삭제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민법 제1112조 제4호 삭제 — 2024년 위헌결정 취지 반영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직계비속·배우자·직계존속 유지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각자의 유류분 비율은 현행 제1112조에 규정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상속권 상실 제도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중대한 부양의무 위반·심히 부당한 대우 등 일정 사유가 있으면 가정법원에 상속권 상실 청구(제1004조의2)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특별부양 보상 고려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장기간 동거·간호 등 특별부양이나 재산유지 기여의 보상인 증여·유증은 일정 범위에서 특별수익에서 제외(제1008조)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반환 대신 가액 지급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유류분 부족액은 재산 자체가 아니라 가액 지급을 청구하는 구조로 정비(제1115조)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9절 유류분 비율과 청구시효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누가, 얼마만큼, 언제까지</a:t>
            </a:r>
            <a:endParaRPr lang="en-US" sz="2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권리자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현행 유류분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직계비속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법정상속분의 1/2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배우자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법정상속분의 1/2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직계존속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법정상속분의 1/3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형제자매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현행 유류분 권리자 아님</a:t>
                      </a:r>
                      <a:endParaRPr lang="en-US" sz="18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6EA5"/>
                </a:solidFill>
              </a:rPr>
              <a:t>청구시효 (제1117조)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상속개시와 반환대상 증여·유증 사실을 안 때부터 1년, 상속개시 때부터 10년이 지나면 소멸합니다.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9절 WLC 주의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WLC는 유류분을 계산하지 않는다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유류분은 가족관계·증여 시점·상속개시 시점·개정법 적용 여부에 따라 달라집니다.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WLC가 금액을 계산하거나 승소 가능성을 판단하지 않습니다.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“무조건 받는 최소재산”이 아님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권리자·산정·청구·시효의 구조가 있습니다.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WLC가 하는 일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전문가에게 물을 질문을 정리합니다.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D98E04"/>
                </a:solidFill>
              </a:rPr>
              <a:t>연결할 곳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변호사·법률구조 기관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10절 재산은 관계의 문제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상속 갈등의 표면과 그 아래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585216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갈등의 표면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그 아래의 질문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 대화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재산분배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공정성과 인정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“가족들이 가장 불공평하다고 느낄 수 있는 부분은요?”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돌봄기여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누가 부담했는가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“돌봄을 맡은 사람의 시간과 비용을 가족이 알고 있나요?”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가업·부동산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유지인가 현금화인가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“재산의 의미와 실질적 관리 가능성을 분리해 볼까요?”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특정 자녀에게 증여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편애·보상 논란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“왜 그 결정을 했는지 설명할 언어가 준비되어 있나요?”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기부·사회환원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 기대와 가치 충돌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“가족과 나의 가치 차이를 언제 어떻게 말할까요?”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개인 성찰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우리 집의 “그 아래의 질문”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앞 표의 다섯 줄 중, 우리 가족에게 가장 가까운 줄은 어디인가요?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가장 가까운 줄 하나에 표시합니다(속으로만 생각해도 됩니다).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그 줄의 “WLC 대화” 질문에 나라면 어떻게 답할지 한 문장 적습니다.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발표는 하지 않습니다.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성찰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나의 답 한 문장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11절 성년후견제도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판단이 어려워질 때의 네 가지 보호장치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4480560"/>
              </a:tblGrid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유형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기본 취지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WLC가 이해할 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성년후견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사무처리 능력이 지속적으로 결여된 경우 폭넓은 보호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잔존능력과 자기결정 존중이 중요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한정후견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사무처리 능력이 부족한 경우 필요한 범위의 지원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모든 결정을 대신하는 제도가 아님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특정후견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특정 사무나 기간에 한정하여 지원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필요한 부분만 선택적으로 지원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임의후견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판단능력이 있을 때 미래 후견사무를 계약으로 정함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생전 자기결정의 도구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11절 임의후견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후견은 자기결정을 빼앗는 제도만이 아니다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임의후견은 건강할 때, 판단이 어려워질 미래에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누가 무엇을 도와줄지 내가 미리 계약으로 정하는 방법입니다.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등기된 후견계약 존중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원칙적으로 임의후견을 존중합니다(제959조의20).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법정후견과의 조정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본인의 이익을 위해 특별히 필요할 때만 조정합니다.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2E7D6B"/>
                </a:solidFill>
              </a:rPr>
              <a:t>인지저하 전 준비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건강할 때 신뢰할 사람과 상담합니다(코치노트 6).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12절 신탁과 사후재산관리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“누구에게 줄까”에서 “어떻게 관리할까”로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011680"/>
          </a:xfrm>
          <a:prstGeom prst="roundRect">
            <a:avLst>
              <a:gd name="adj" fmla="val 5455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822960" cy="82296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650" y="21799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65960" y="1783080"/>
            <a:ext cx="93570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“재산을 누구에게 남길 것인가?”와 함께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“그 재산이 어떤 목적을 위해 어떻게 관리되기를 원하는가?”를 묻습니다.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3A6EA5"/>
                </a:solidFill>
              </a:rPr>
              <a:t>관리 목적의 예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인지저하 대비, 장애가 있는 가족의 장기생활비, 사후 관리, 기부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338218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6818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3A6EA5"/>
                </a:solidFill>
              </a:rPr>
              <a:t>신탁 상품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유언대용신탁 등 — 계약구조·수수료·해지 조건 확인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7797" y="3886200"/>
            <a:ext cx="3515258" cy="2240280"/>
          </a:xfrm>
          <a:prstGeom prst="roundRect">
            <a:avLst>
              <a:gd name="adj" fmla="val 4898"/>
            </a:avLst>
          </a:prstGeom>
          <a:solidFill>
            <a:srgbClr val="F3F4F3"/>
          </a:solidFill>
          <a:ln w="12700">
            <a:solidFill>
              <a:srgbClr val="F3F4F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56397" y="4069080"/>
            <a:ext cx="305805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rgbClr val="3A6EA5"/>
                </a:solidFill>
              </a:rPr>
              <a:t>WLC의 자리</a:t>
            </a:r>
            <a:endParaRPr lang="en-US" sz="2100" dirty="0"/>
          </a:p>
          <a:p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상품을 추천하지 않고 전문가와 상의할 주제로 안내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13절 경제적 학대와 금융사기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존엄을 위협하는 위험신호</a:t>
            </a:r>
            <a:endParaRPr lang="en-US" sz="2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2062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위험 신호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확인할 내용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대응 원칙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갑작스러운 재산이전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본인이 이해하고 자발적으로 결정했는가?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서두르지 말고 독립된 전문가와 확인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명의·인증수단 요구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통장·카드·휴대전화·인증서를 타인이 관리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접근권한과 거래내역 점검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반복되는 금전요구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가족·지인의 대출·보증·투자 요청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본인의 생활비·돌봄비 우선 보호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고수익 투자권유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원금보장·확정수익·비밀유지 강조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금융회사·감독기관 공식채널 확인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사회적 고립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재산관리자가 다른 가족·지인과의 연락을 막음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외부 관계망과 상담기관 연결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의심스러운 서명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내용을 읽지 못한 계약·위임장에 서명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즉시 중단하고 법률상담</a:t>
                      </a:r>
                      <a:endParaRPr lang="en-US" sz="13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안전 원칙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“가족이니까 믿어도 된다”, “가족은 위험하다” 어느 쪽도 단정하지 않습니다. 본인의 이해·자발성·독립된 확인절차를 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14절 10가지 생활원칙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노년기 재산·신상 보호를 위한 열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중요 계약은 당일 결정하지 않는다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통장·도장·신분증·인증수단을 한 사람에게 모두 맡기지 않는다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대출·보증·명의대여는 서명 전 제3의 전문가에게 확인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금융·보험·부동산·채무 목록을 정기적으로 갱신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자동이체와 정기구독을 1년에 한 번 점검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큰 증여는 세금·유류분·생활비 영향을 함께 검토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생활비와 돌봄비를 먼저 확보한 뒤 증여 검토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문서 위치는 기록하되 비밀번호는 평문으로 남기지 않는다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건강할 때 임의후견·재산관리 방식을 상담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의심 전화·문자·투자제안은 공식 대표번호로 재확인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셀프 체크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나는 몇 가지를 지키고 있나요?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열 가지 생활원칙 중 지금 지키고 있는 것에 ○ 표시를 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지키고 있는 원칙에 ○, 아닌 것에 × 를 표시합니다.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8892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889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87096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× 중 가장 쉽게 바꿀 수 있는 하나를 고릅니다.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9255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925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907280"/>
            <a:ext cx="630936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그것을 이번 주에 어떻게 할지 한 줄로 적습니다.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3분</a:t>
            </a:r>
            <a:endParaRPr lang="en-US" sz="2800" dirty="0"/>
          </a:p>
        </p:txBody>
      </p:sp>
      <p:sp>
        <p:nvSpPr>
          <p:cNvPr id="20" name="Shape 17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개인 체크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이번 주 바꿀 원칙 1개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16절 WLC는 Architect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전체 그림을 설계하고 전문가와 연결한다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F8E6E1"/>
          </a:solidFill>
          <a:ln w="12700">
            <a:solidFill>
              <a:srgbClr val="F8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10512"/>
            <a:ext cx="548640" cy="548640"/>
          </a:xfrm>
          <a:prstGeom prst="ellipse">
            <a:avLst/>
          </a:prstGeom>
          <a:solidFill>
            <a:srgbClr val="B5452F"/>
          </a:solidFill>
          <a:ln w="12700">
            <a:solidFill>
              <a:srgbClr val="B5452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1953158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전문가가 하는 일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법적 권리·의무 판단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유언·계약서의 법률문안 작성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상속·유류분 분쟁 대리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후견청구·공증·신탁계약 실무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세금 계산·절세설계·투자추천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78728" y="1554480"/>
            <a:ext cx="5364328" cy="3520440"/>
          </a:xfrm>
          <a:prstGeom prst="roundRect">
            <a:avLst>
              <a:gd name="adj" fmla="val 3117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53048" y="1810512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694" y="1953158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84568" y="1810512"/>
            <a:ext cx="4084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WLC가 하는 일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삶의 가치·우선순위 탐색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재산·채무·문서 목록화 지원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가족대화 촉진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후견·신탁 필요성 질문</a:t>
            </a:r>
            <a:endParaRPr lang="en-US" sz="21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222222"/>
                </a:solidFill>
              </a:rPr>
              <a:t>전문가에게 물을 질문 정리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핵심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WLC는 여러 전문영역을 한 사람의 생애계획 안에서 연결하는 Architect입니다.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005840"/>
            <a:ext cx="1097280" cy="109728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291133"/>
            <a:ext cx="526694" cy="52669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휴식 10분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918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FB9A8"/>
                </a:solidFill>
              </a:rPr>
              <a:t>지금까지 기억할 세 가지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2026 유류분: 형제자매 삭제·상속권 상실·특별부양 보상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338218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66818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임의후견은 건강할 때의 자기결정 도구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127797" y="38404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2A5F5A"/>
          </a:solidFill>
          <a:ln w="12700">
            <a:solidFill>
              <a:srgbClr val="2A5F5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56397" y="39319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큰 거래는 이해·자발성·독립된 확인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23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FE3DC"/>
                </a:solidFill>
              </a:rPr>
              <a:t>다음  ▸  3교시 — 삶의 안전을 설계하다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737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FB9A8"/>
                </a:solidFill>
              </a:rPr>
              <a:t>3교시</a:t>
            </a:r>
            <a:endParaRPr lang="en-US" sz="2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65176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삶의 안전을 설계하다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DC"/>
                </a:solidFill>
              </a:rPr>
              <a:t>남길 재산보다, 마지막까지 지키고 싶은 삶의 안전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코칭 사례 “아들에게 집을 미리 넘겨주고 싶어요”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실습 1 재산·채무 한눈에 · 실습 2 유언이 필요한가</a:t>
            </a:r>
            <a:endParaRPr lang="en-US" sz="19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900" dirty="0">
                <a:solidFill>
                  <a:srgbClr val="FFFFFF"/>
                </a:solidFill>
              </a:rPr>
              <a:t>가족회의의 순서 · 실습 3 가족회의 준비표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17절 코칭 사례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“아들에게 집을 미리 넘겨주고 싶어요”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의도 확인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“아드님에게 고마움을 표현하고 싶은 마음이 가장 크신가요?”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04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276856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현재생활 보호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“집을 넘긴 뒤에도 지금처럼 살 권리와 생활비는 충분히 확보되나요?”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008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2980944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가족관계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“다른 자녀들은 이 결정을 어떻게 받아들일 수 있을까요?”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371246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712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685032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법적 변화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“2026년 유류분·특별부양 관련 민법이 바뀌어 개별 상황은 전문가 확인이 필요해요.”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389120"/>
            <a:ext cx="10408615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4E4A"/>
                </a:solidFill>
              </a:rPr>
              <a:t>전문 연계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  “증여세·상속·거주권·유언·신탁을 비교할 수 있게 전문가 질문목록을 만들어 볼까요?”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코칭 핵심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78세 내담자 — 효도에 대한 감사와 재산이전은 같은 문제가 아닙니다. 감정을 인정하되 주거·생활비·의사결정권을 먼저 보호합니다.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롤플레이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재산 이야기를 코칭하기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40664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E4A"/>
                </a:solidFill>
              </a:rPr>
              <a:t>내담자는 세 가지 상황 중 하나를 골라 이야기합니다.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85292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852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8346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상황: “집을 아들에게” / “조카의 투자 권유” / “통장을 딸에게 전부”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22960" y="363016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11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3인 1조: 내담자·WLC·관찰자를 정합니다.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3891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WLC는 의도 확인 → 생활 보호 → 가족관계 → 전문 연계 순으로 5분간 대화합니다.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822960" y="5184648"/>
            <a:ext cx="384048" cy="384048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5184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51663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</a:rPr>
              <a:t>관찰자는 WLC가 법률·세무 판단을 하지 않았는지, 생활비 보호를 물었는지 체크합니다.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8229600" y="1554480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1755648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1874520"/>
            <a:ext cx="219456" cy="219456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006840" y="1755648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C5BC"/>
                </a:solidFill>
              </a:rPr>
              <a:t>시간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430768" y="2267712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12분</a:t>
            </a:r>
            <a:endParaRPr lang="en-US" sz="2800" dirty="0"/>
          </a:p>
        </p:txBody>
      </p:sp>
      <p:sp>
        <p:nvSpPr>
          <p:cNvPr id="23" name="Shape 20"/>
          <p:cNvSpPr/>
          <p:nvPr/>
        </p:nvSpPr>
        <p:spPr>
          <a:xfrm>
            <a:off x="8229600" y="3127248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430768" y="3328416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447288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9006840" y="3328416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방식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8430768" y="3840480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3인 1조</a:t>
            </a:r>
            <a:endParaRPr lang="en-US" sz="1800" dirty="0"/>
          </a:p>
        </p:txBody>
      </p:sp>
      <p:sp>
        <p:nvSpPr>
          <p:cNvPr id="28" name="Shape 24"/>
          <p:cNvSpPr/>
          <p:nvPr/>
        </p:nvSpPr>
        <p:spPr>
          <a:xfrm>
            <a:off x="8229600" y="4700016"/>
            <a:ext cx="3413455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430768" y="4901184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5020056"/>
            <a:ext cx="219456" cy="219456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006840" y="4901184"/>
            <a:ext cx="2499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</a:rPr>
              <a:t>결과물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8430768" y="5413248"/>
            <a:ext cx="30019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전문가에게 물을 질문 2개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18.1 실습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재산·채무 한눈에 보기 (금액·계좌번호는 적지 않습니다)</a:t>
            </a:r>
            <a:endParaRPr lang="en-US" sz="2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2377440"/>
                <a:gridCol w="22860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항목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기관 / 대상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대략적 내용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문서 위치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 공유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예금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부동산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보험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투자·가상자산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채무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보증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상조·장례계약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사업·지분</a:t>
                      </a: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18.2 실습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유언이 필요한가? — 점검</a:t>
            </a:r>
            <a:endParaRPr lang="en-US" sz="2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1064240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점검 문항 (해당하면 ☑)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재산의 종류나 가족관계가 복잡하다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특정 사람·기관에 재산을 남기고 싶은 명확한 뜻이 있다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가족 간 분쟁 가능성이 걱정된다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돌봄·기여에 대한 보상 의사를 명확히 하고 싶다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법정상속과 다른 분배를 원한다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☐  기부·사회환원 또는 사업승계 계획이 있다</a:t>
                      </a:r>
                      <a:endParaRPr lang="en-US" sz="17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8E04"/>
                </a:solidFill>
              </a:rPr>
              <a:t>사용법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체크가 많다고 특정 유언방식을 자동으로 고르는 것이 아닙니다. 전문가 상담 필요성을 확인하는 자료입니다.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15절 경제적 웰다잉 가족회의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“누가 얼마”보다 먼저 이야기할 것</a:t>
            </a:r>
            <a:endParaRPr lang="en-US" sz="2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85039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대화 순서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질문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1. 삶의 우선순위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“앞으로 돈을 가장 먼저 써야 할 곳은 어디인가요?”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2. 돌봄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“돌봄이 필요해지면 비용과 역할을 어떻게 나눌까요?”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3. 정보공유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“중요한 문서와 채무의 위치를 누가 알아야 하나요?”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4. 의사결정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“판단이 어려워졌을 때 누구에게 무엇을 부탁하고 싶나요?”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5. 사후재산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“남기고 싶은 재산과 그 이유는 무엇인가요?”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6. 전문가 확인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“법률·세무·공증·금융 중 어디의 도움을 받아야 할까요?”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5509260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562813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5394960"/>
            <a:ext cx="9905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6B"/>
                </a:solidFill>
              </a:rPr>
              <a:t>회의 원칙   </a:t>
            </a:r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재산분배를 확정하는 자리가 아니라, 본인의 안전·돌봄·의사결정·정보공유 원칙을 확인하는 자리로 시작합니다.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18.3 실습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가족회의 준비표</a:t>
            </a:r>
            <a:endParaRPr lang="en-US" sz="28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206240"/>
                <a:gridCol w="4206240"/>
              </a:tblGrid>
              <a:tr h="5120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대화주제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내 생각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가족에게 묻고 싶은 것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4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노후 생활비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돌봄비와 역할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주거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중요문서 위치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재산·채무 정보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후견·의사결정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4E4A"/>
                          </a:solidFill>
                          <a:latin typeface="Noto Serif KR Black" pitchFamily="34" charset="0"/>
                          <a:ea typeface="Noto Serif KR Black" pitchFamily="34" charset="-122"/>
                          <a:cs typeface="Noto Serif KR Black" pitchFamily="34" charset="-120"/>
                        </a:rPr>
                        <a:t>유언·상속</a:t>
                      </a: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Noto Serif KR Black" charset="0"/>
                        <a:ea typeface="Noto Serif KR Black" charset="0"/>
                        <a:cs typeface="Noto Serif KR Black" charset="0"/>
                      </a:endParaRPr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OX 퀵퀴즈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맞으면 O, 틀리면 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165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1165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55448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엔딩노트에 재산 분배 바람을 적으면 법적 유언이 된다.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7228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228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637215" y="172021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637215" y="172021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70891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96608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296608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70891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2026년 현행 민법상 형제자매는 유류분 권리자가 아니다.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97228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28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637215" y="287464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37215" y="287464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6334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2051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12051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86334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재산목록에는 채무를 빼고 자산만 적는 것이 원칙이다.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7228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7228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10637215" y="402907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637215" y="402907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548640" y="5017770"/>
            <a:ext cx="11094415" cy="971550"/>
          </a:xfrm>
          <a:prstGeom prst="roundRect">
            <a:avLst>
              <a:gd name="adj" fmla="val 1129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274945"/>
            <a:ext cx="457200" cy="45720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27494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463040" y="5017770"/>
            <a:ext cx="798545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임의후견은 판단능력이 있을 때 미래 후견사무를 계약으로 정하는 제도이다.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97228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3A6EA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7228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A6EA5"/>
                </a:solidFill>
              </a:rPr>
              <a:t>O</a:t>
            </a:r>
            <a:endParaRPr lang="en-US" sz="2200" dirty="0"/>
          </a:p>
        </p:txBody>
      </p:sp>
      <p:sp>
        <p:nvSpPr>
          <p:cNvPr id="34" name="Shape 32"/>
          <p:cNvSpPr/>
          <p:nvPr/>
        </p:nvSpPr>
        <p:spPr>
          <a:xfrm>
            <a:off x="10637215" y="5183505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545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37215" y="5183505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5452F"/>
                </a:solidFill>
              </a:rPr>
              <a:t>X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1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유언의 보통방식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민법상 유언의 보통방식에 해당하지 않는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자필증서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녹음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공정증서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영상 메시지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2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검인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사망 후 법원 검인을 청구하지 않아도 되는 유언 방식은?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자필증서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녹음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공정증서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비밀증서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3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유류분 비율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현행 민법상 직계존속의 유류분은?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법정상속분의 1/2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법정상속분의 1/3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법정상속분의 1/4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유류분 권리가 없다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4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유류분 청구시효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유류분 관련 청구권의 소멸시효로 옳은 것은?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안 때부터 1년, 상속개시 때부터 10년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안 때부터 3년, 상속개시 때부터 5년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안 때부터 6개월, 상속개시 때부터 1년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시효가 없다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필기 대비 객관식 5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경제적 학대 대응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4E4A"/>
                </a:solidFill>
              </a:rPr>
              <a:t>노년기 큰 재산거래를 앞둔 내담자에 대한 WLC의 태도로 가장 적절한 것은?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①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가족이 권한 일이니 믿고 진행하도록 한다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233008" y="256032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07328" y="299923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07328" y="29992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②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330288" y="265176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가족은 위험하다고 경고한다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③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본인의 이해·자발성과 독립된 확인절차가 있는지 함께 본다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33008" y="4297680"/>
            <a:ext cx="5410048" cy="1463040"/>
          </a:xfrm>
          <a:prstGeom prst="roundRect">
            <a:avLst>
              <a:gd name="adj" fmla="val 7500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07328" y="4736592"/>
            <a:ext cx="585216" cy="585216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07328" y="47365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④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330288" y="4389120"/>
            <a:ext cx="408416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WLC가 대신 거래를 확인해 준다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정답과 해설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퀴즈 정답 확인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유언은 민법이 정한 5방식과 요건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제1112조 제4호 삭제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X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2331720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자산과 채무를 함께 기록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OX 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O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건강할 때의 자기결정 도구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233008" y="150876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15888" y="150876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93128" y="150876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④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8016088" y="155448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영상 메시지는 법정 방식 아님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233008" y="268605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5888" y="268605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2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193128" y="268605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③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8016088" y="273177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공정증서·구수증서는 검인 제외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233008" y="386334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15888" y="386334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93128" y="386334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②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8016088" y="390906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직계존속 1/3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233008" y="5040630"/>
            <a:ext cx="5410048" cy="1040130"/>
          </a:xfrm>
          <a:prstGeom prst="roundRect">
            <a:avLst>
              <a:gd name="adj" fmla="val 10549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15888" y="5040630"/>
            <a:ext cx="91440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6B6B"/>
                </a:solidFill>
              </a:rPr>
              <a:t>객관식 4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193128" y="5040630"/>
            <a:ext cx="73152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6B"/>
                </a:solidFill>
              </a:rPr>
              <a:t>①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8016088" y="5086350"/>
            <a:ext cx="3444088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1년 / 10년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19절 학습점검 · 복습 과제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서술형으로 정리해 보세요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경제적 웰다잉과 단순한 상속준비의 구분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재산목록에 채무를 반드시 넣어야 하는 이유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민법상 유언의 5가지 보통방식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자필증서 유언과 공정증서 유언의 차이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2026 민법 개정에 따른 유류분 변화 세 가지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1572768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상속권 상실 제도의 기본 취지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2523744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2523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2496312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성년·한정·특정·임의후견의 차이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3447288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3419856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노년기 경제적 학대의 위험신호 네 가지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6233008" y="4370832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33008" y="4370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6854800" y="4343400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가족회의에서 재산분배보다 먼저 다룰 주제 세 가지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233008" y="5294376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233008" y="52943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10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854800" y="5266944"/>
            <a:ext cx="47242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WLC가 “Architect” 역할을 한다는 의미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20절 핵심정리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제8강에서 꼭 기억할 여섯 문장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경제적 웰다잉은 삶의 안전을 준비하는 일이다.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생활·돌봄·주거·의사결정의 기반이 먼저다.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36982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698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34238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재산과 채무를 함께 본다.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좋은 정보정리가 혼란과 분쟁을 줄인다.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13944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139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11200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엔딩노트와 법적 유언은 다르다.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법적 유언은 민법의 방식과 요건을 따른다.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388162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2026년 유류분 제도는 크게 바뀌었다.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형제자매 삭제·상속권 상실·특별부양 보상.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7868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78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465124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후견은 자기결정을 빼앗는 제도만이 아니다.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임의후견은 건강할 때의 설계 도구다.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54483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4483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170432" y="5420868"/>
            <a:ext cx="10408615" cy="696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4E4A"/>
                </a:solidFill>
              </a:rPr>
              <a:t>WLC는 전문가를 대신하지 않는다. </a:t>
            </a:r>
            <a:pPr indent="0" marL="0">
              <a:buNone/>
            </a:pPr>
            <a:r>
              <a:rPr lang="en-US" sz="2000" dirty="0">
                <a:solidFill>
                  <a:srgbClr val="222222"/>
                </a:solidFill>
              </a:rPr>
              <a:t> 전체 그림을 보고 질문을 정리해 연결한다.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21절 WLC 코치 노트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현장에서 기억할 여덟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재산 규모로 내담자를 판단하지 않는다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생활비와 돌봄비를 먼저 보호한다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48640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70432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유언 문안을 대신 써 주지 않는다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70432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유류분은 반드시 최신법으로 설명한다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33008" y="160020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33008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854800" y="157276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가족의 기여와 감정을 함께 본다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233008" y="275463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33008" y="275463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4800" y="272719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인지저하 전 준비를 강조한다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6233008" y="390906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33008" y="39090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54800" y="388162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사기·경제적 학대 신호를 민감하게 본다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6233008" y="5063490"/>
            <a:ext cx="438912" cy="43891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3008" y="506349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854800" y="5036058"/>
            <a:ext cx="4724248" cy="10812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WLC는 Architect다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이번 주 과제와 실천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시간까지 해 올 세 가지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30일 프로젝트 2주차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사진 한 상자 — 꼭 남길 사진 20장과 사연을 고릅니다.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338218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AF3F0"/>
          </a:solidFill>
          <a:ln w="12700">
            <a:solidFill>
              <a:srgbClr val="EAF3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66818" y="1783080"/>
            <a:ext cx="548640" cy="548640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2572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7D6B"/>
                </a:solidFill>
              </a:rPr>
              <a:t>재산·채무 표 완성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실습 1을 부록 5에 옮겨 완성합니다(금액·번호 없이).</a:t>
            </a:r>
            <a:endParaRPr lang="en-US" sz="2200" dirty="0"/>
          </a:p>
        </p:txBody>
      </p:sp>
      <p:sp>
        <p:nvSpPr>
          <p:cNvPr id="12" name="Shape 8"/>
          <p:cNvSpPr/>
          <p:nvPr/>
        </p:nvSpPr>
        <p:spPr>
          <a:xfrm>
            <a:off x="8127797" y="1554480"/>
            <a:ext cx="3515258" cy="4617720"/>
          </a:xfrm>
          <a:prstGeom prst="roundRect">
            <a:avLst>
              <a:gd name="adj" fmla="val 3121"/>
            </a:avLst>
          </a:prstGeom>
          <a:solidFill>
            <a:srgbClr val="E8EFF8"/>
          </a:solidFill>
          <a:ln w="12700">
            <a:solidFill>
              <a:srgbClr val="E8EFF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8356397" y="1783080"/>
            <a:ext cx="548640" cy="548640"/>
          </a:xfrm>
          <a:prstGeom prst="ellipse">
            <a:avLst/>
          </a:prstGeom>
          <a:solidFill>
            <a:srgbClr val="3A6EA5"/>
          </a:solidFill>
          <a:ln w="12700">
            <a:solidFill>
              <a:srgbClr val="3A6EA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2572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56397" y="2468880"/>
            <a:ext cx="305805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3A6EA5"/>
                </a:solidFill>
              </a:rPr>
              <a:t>가족회의 한 주제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</a:rPr>
              <a:t>준비표의 주제 하나(예: 중요문서 위치)를 가족과 이야기합니다.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B9A8"/>
                </a:solidFill>
              </a:rPr>
              <a:t>제8강의 마지막 질문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005840" y="2103120"/>
            <a:ext cx="10180015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“내가 남길 재산보다,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마지막까지 지키고 싶은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삶의 안전은 무엇인가?”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3DC"/>
                </a:solidFill>
              </a:rPr>
              <a:t>돈 이야기는 결국 존엄 이야기입니다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C5B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548640" y="29260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6B"/>
                </a:solidFill>
              </a:rPr>
              <a:t>다음 회차 예고</a:t>
            </a:r>
            <a:endParaRPr lang="en-US" sz="13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603504"/>
            <a:ext cx="110944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4E4A"/>
                </a:solidFill>
              </a:rPr>
              <a:t>다음 시간에 만날 이야기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937760" cy="4572000"/>
          </a:xfrm>
          <a:prstGeom prst="roundRect">
            <a:avLst>
              <a:gd name="adj" fmla="val 2400"/>
            </a:avLst>
          </a:prstGeom>
          <a:solidFill>
            <a:srgbClr val="1F4E4A"/>
          </a:solidFill>
          <a:ln w="12700">
            <a:solidFill>
              <a:srgbClr val="1F4E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8FB9A8"/>
                </a:solidFill>
              </a:rPr>
              <a:t>다음 시간  ·  제9강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존엄한 의료결정·사전돌봄계획과 후견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49040"/>
            <a:ext cx="4389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8FB9A8"/>
                </a:solidFill>
              </a:rPr>
              <a:t>다음 질문
</a:t>
            </a:r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</a:rPr>
              <a:t>“내가 의사표현을 하지 못하게 되었을 때, 나의 의료·돌봄에 관한 뜻은 어떻게 확인되고 존중될 수 있는가?”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554480"/>
            <a:ext cx="5882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7D6B"/>
                </a:solidFill>
              </a:rPr>
              <a:t>이런 내용을 다룹니다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60720" y="2029968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2029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11680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연명의료결정제도의 기본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760720" y="2606040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6072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87752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사전연명의료의향서와 연명의료계획서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760720" y="3182112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182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3163824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ACP — 서류가 아니라 지속적 대화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760720" y="3758184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0" y="3758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739896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호스피스·완화의료의 이해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760720" y="4334256"/>
            <a:ext cx="347472" cy="347472"/>
          </a:xfrm>
          <a:prstGeom prst="ellipse">
            <a:avLst/>
          </a:prstGeom>
          <a:solidFill>
            <a:srgbClr val="2E7D6B"/>
          </a:solidFill>
          <a:ln w="12700">
            <a:solidFill>
              <a:srgbClr val="2E7D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4315968"/>
            <a:ext cx="537941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</a:rPr>
              <a:t>가족의사결정과 후견의 연계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5760720" y="5029200"/>
            <a:ext cx="5882335" cy="1097280"/>
          </a:xfrm>
          <a:prstGeom prst="roundRect">
            <a:avLst>
              <a:gd name="adj" fmla="val 10000"/>
            </a:avLst>
          </a:prstGeom>
          <a:solidFill>
            <a:srgbClr val="FDF1DC"/>
          </a:solidFill>
          <a:ln w="12700">
            <a:solidFill>
              <a:srgbClr val="FDF1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0" y="5257800"/>
            <a:ext cx="548640" cy="548640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6246" y="540044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6675120" y="5074920"/>
            <a:ext cx="47850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22222"/>
                </a:solidFill>
              </a:rPr>
              <a:t>미리 읽기: 교재 제9장  ·  가져올 것: 엔딩노트 “건강·의료·돌봄” 쪽, 가족회의 준비표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473952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6B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KR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erif KR Blac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WLC 2급 제8강 경제적 웰다잉과 재산·신상 보호</dc:title>
  <dc:subject>PptxGenJS Presentation</dc:subject>
  <dc:creator>삶잇다협동조합</dc:creator>
  <cp:lastModifiedBy>삶잇다협동조합</cp:lastModifiedBy>
  <cp:revision>1</cp:revision>
  <dcterms:created xsi:type="dcterms:W3CDTF">2026-10-29T23:51:31Z</dcterms:created>
  <dcterms:modified xsi:type="dcterms:W3CDTF">2026-10-29T23:51:31Z</dcterms:modified>
</cp:coreProperties>
</file>