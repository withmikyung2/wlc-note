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272a5014-a1fb-e037-b12e-31c4e9711e2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1교시 WLC 코칭의 원칙과 기술" id="{a92cd17d-51e1-b660-ac9b-1d3326f0b8a7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교시 프로그램 운영·연계·기록·자기돌봄" id="{0d174357-c9a9-30ce-a3ba-ae9b706de31e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3교시 WLC 실무 역량 워크숍" id="{0c37c1fa-34c1-e6a5-efe4-3c2d4f11a72d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정리와 예고" id="{9c4a461a-72a1-5f76-a310-7f07c7f4c3db}">
          <p14:sldIdLst>
            <p14:sldId id="303"/>
            <p14:sldId id="304"/>
            <p14:sldId id="305"/>
            <p14:sldId id="306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제5부 "WLC로 활동하다"의 첫 시간.
"1강부터 14강까지 배운 지식은 현장에서 대화와 프로그램이 될 때 비로소 WLC의 전문성이 됩니다. 오늘은 그 방법을 연습합니다."
오늘은 실습 비중이 높다. 3교시 90분 프로그램 설계를 위해 4~5인 조를 미리 구상해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제1~4부 = 지식과 태도. 제5부 = 활동 방법(15강)과 전문직 기준(16강).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GROW 질문지, 조별 90분 프로그램 설계안, 자기돌봄 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0:03–0:07 (4분)
📖 교재: 14강 과제
이 주제가 3교시 90분 프로그램 설계의 재료가 된다. 비슷한 주제끼리 조를 묶는다.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0:07–0:09 (2분)
📖 교재: 15장 핵심 메시지
"지식만 있으면 강의가 되고, 대화만 있으면 위로가 됩니다. WLC는 둘을 잇고, 혼자 해결하지 않고, 자신을 돌봅니다."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0:09–0:13 (4분)
📖 교재: 1·5절
대부분 "질문이 더 오래 남았다". → "WLC는 답을 대신 주는 사람이 아닙니다."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0:13–0:14 (1분)
📖 교재: 15장 표제 · 핵심 메시지
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0:14–0:16 (2분)
📖 교재: 15장 학습목표 1~10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0:16–0:21 (5분)
📖 교재: 1절 · 표
서술형 Q1. 객관식 1번. 3강 WLC 철학과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0:21–0:25 (4분)
📖 교재: 2절 · 표
9·13·14강에서 반복된 역할 경계의 총정리. 16강 직무범위로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0:25–0:29 (4분)
📖 교재: 3절 · 표
50분 세션 기준. 이 일곱 단계가 GROW와 겹쳐 있다는 것을 다음 장에서 보여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0:29–0:33 (4분)
📖 교재: 4절 · 표
서술형 Q2. 코치노트 2. OX 1번. 웰다잉 영역에서는 성과보다 의미·준비도·관계·불안을 함께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0:33–0:38 (5분)
📖 교재: 5절 · 표
서술형 Q3. 코치노트 1. 객관식 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0:38–0:42 (4분)
📖 교재: 5절
예: "유언장을 생각하면 어떤 마음이 드세요?" / "남기고 싶은 것 중 가장 중요한 것은?" / "이번 주에 10분만 쓴다면 무엇부터?"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0:42–0:45 (3분)
📖 교재: 6절 · 표
서술형 Q4. 코치노트 3. 내담자가 원하지 않으면 사용하지 않거나 다른 방식을 선택한다.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0:45–0:48 (3분)
📖 교재: 7절 · 표
7강 엔딩노트 작성 실습과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1:00–1:04 (4분)
📖 교재: 8절 · 표
삶잇다협동조합 대화카드 흐름: 내 인생 돌아보기 → 감사와 관계 → 삶의 가치 → 마무리 준비 → 상실·애도 → 나눔·유산 → 나의 다음 걸음.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1:04–1:08 (4분)
📖 교재: 9절 · 표
6회기가 2급 과정의 3·7·8·9·6강 흐름과 겹친다는 것을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1:08–1:13 (5분)
📖 교재: 10절 · 표
서술형 Q5. 객관식 3번.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1:13–1:18 (5분)
📖 교재: 11절
서술형 Q6. 코치노트 4. 이 과정 16강 내내 강사가 실천해 온 원칙임을 짚는다(오늘 수업의 약속 카드 등). OX 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1:18–1:23 (5분)
📖 교재: 12절 · 표
3교시 90분 설계의 틀. 2강 60분 프로그램 설계안과 비교.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1:23–1:27 (4분)
📖 교재: 13절 · 표
수강생이 고른 주제가 어느 대상에 해당하는지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1:27–1:31 (4분)
📖 교재: 14절 · 표
서술형 Q7. 코치노트 7: 오래된 전화번호와 제도정보는 위험하다. 2·4·12·13·14강에서 쌓아 온 자원지도를 오늘 완성.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1:31–1:35 (4분)
📖 교재: 15절 · 표
서술형 Q8. 코치노트 6: 연계는 실패가 아니다. 객관식 4번.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1:35–1:40 (5분)
📖 교재: 16·17절 · 표
서술형 Q9. 코치노트 5. 수집 목적–범위–보관기간–제3자 제공 여부를 안내하는 습관.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1:40–1:44 (4분)
📖 교재: 16절
예: "아들과 6개월째 연락하지 않는다고 말함. 연명의료 이야기를 꺼내자 화제를 바꿈."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1:44–1:49 (5분)
📖 교재: 18·19절 · 표
서술형 Q10. 역전이: 감정이 생기는 것은 잘못이 아니다. 그 감정이 내담자의 선택을 대신하지 않게 한다. 11강 자기돌봄 복습. 코치노트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휴식 중 주제가 비슷한 수강생끼리 4~5인 조 편성.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2:00–2:04 (4분)
📖 교재: 23절 · 표
W가 얼마나 작은지에 주목.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2:04–2:07 (3분)
📖 교재: 24절 · 표
객관식 5번. 8강 재산·상속과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2:07–2:20 (13분)
📖 교재: 25.1절 · 4절
실기시험(코칭 시연)과 직접 연결. 관찰자는 "유도 질문", "강사 경험담"을 체크.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2:20–2:34 (14분)
📖 교재: 25.2절 · 12절 설계 공식
10분 설계 + 4분 조별 30초 발표. 14강 과제로 고른 주제 활용. 설계안은 16강 수료 포트폴리오에 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2:34–2:36 (2분)
📖 교재: 21절 · 표
설계안의 "평가 방법" 칸을 이 표로 점검. 코치노트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2:36–2:39 (3분)
📖 교재: 20절 · 표
코치노트 9: 수퍼비전을 정례화한다. 16강에서 수퍼비전 체계를 다시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2:39–2:43 (4분)
📖 교재: 25.5절 · 실습지
"좋은 코치는 자신을 돌본다." 핵심정리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2:43–2:45 (2분)
📖 교재: 22절 · 표
연차만으로 전문성이 오르지 않는다. 사례의 질·수퍼비전·지속교육·윤리. 16강 지속성장으로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2:45–2:47 (2분)
📖 교재: 4·11·16·15절
정답: 1 X / 2 X / 3 O / 4 X
※ 15강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1절
정답 ①. ④는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5절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10절
정답 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15절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2:51–2:52 (1분)
📖 교재: 24절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2:52–2:54 (2분)
📖 교재: 15장 본문 (강사 제작 문항)
객관식 5번 정답 ③은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26절 학습점검 Q1~Q10
채점 기준(문항당 10점): 핵심요소 3개 10점 / 2개 7점 / 1개 4점 / 없음 0점, 역할경계 이탈 -3점.
※ 15장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27절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28절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25.3절 · 4절 · 16강 준비
16강은 마지막 시간. 윤리·자격검정 안내와 수료 의례가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27절 · 제15장의 마지막 질문
10초 침묵. 오늘 함께해 준 수강생들에게 감사를 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29절 제16장으로의 연결
실무 역량이 있다고 곧 전문직으로서 신뢰를 얻는 것은 아니다. 마지막 장은 자격과 활동의 기준, 윤리, 지속성장.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제15강 WLC 코칭 실무와 교육프로그램 운영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제15강 WLC 코칭 실무와 교육프로그램 운영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제5부 WLC로 활동하다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제15강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WLC 코칭 실무와 교육프로그램 운영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WLC Coaching Practice &amp; Educational Program Operations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WLC 코칭의 원칙과 기술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4대 원칙 · 역할 경계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세션 구조 · GROW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질문 · 도구 · 엔딩노트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프로그램 운영·연계·기록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대화카드 · 1:1과 집단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설계 공식 · 자원지도 · 연계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사례기록 · 소진 관리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WLC 실무 역량 워크숍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GROW 롤플레잉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90분 교육프로그램 설계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평가 · 수퍼비전 · 자기돌봄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내가 가르치고 싶은 주제는?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14강 과제 — e하늘 둘러보기, 엔딩노트 장례 칸, 나의 강의 주제 고르기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“내가 지역에서 가르치고 싶은 주제”와 그 이유를 1분씩 나눕니다.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38912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주제를 들을 대상(누구에게)을 한 단어로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주제 + 대상 1줄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제5부를 시작하며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지식이 전문성이 되는 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1466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146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지식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1~14강의 이론과 제도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2584643" y="26700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1531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357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35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대화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코칭 질문과 경청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67534" y="26700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4422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7248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672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51582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프로그램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교육·워크숍 설계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50425" y="26700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313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0139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0139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34473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연계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지역자원과 전문가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433316" y="26700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80204" y="1828800"/>
            <a:ext cx="1962851" cy="1920240"/>
          </a:xfrm>
          <a:prstGeom prst="roundRect">
            <a:avLst>
              <a:gd name="adj" fmla="val 5714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33030" y="2011680"/>
            <a:ext cx="457200" cy="457200"/>
          </a:xfrm>
          <a:prstGeom prst="ellipse">
            <a:avLst/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3303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17364" y="2606040"/>
            <a:ext cx="1688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성찰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기록·수퍼비전·자기돌봄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“누군가 나에게 답을 주었을 때와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좋은 질문을 던졌을 때,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무엇이 더 오래 남았나요?”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내 삶을 바꾼 질문 하나를 떠올려 봅니다.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그 질문을 한 문장으로 적고, 짝에게 들려줍니다.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좋은 WLC는 답을 대신 주는 사람이 아니라,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삶의 질문을 실행 가능한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다음 한 걸음으로 바꾸도록 돕는 사람이다.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WLC는 존엄·공감·진정성·성찰의 원칙을 바탕으로 내담자의 삶을 대신 결정하지 않고, 스스로 선택하고 실행하도록 돕는다.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4대 원칙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존엄·공감·진정성·성찰을 대화에 적용한다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GROW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막연한 불안을 작은 다음 행동으로 바꾼다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세션·도구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세션 구조를 운영하고 도구를 선택한다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1:1과 집단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대상별 프로그램을 설계한다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안전 운영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민감한 주제를 안전하게 다룬다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자원·연계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지역자원을 지도화하고 연결한다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기록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사실·표현·해석을 구분해 안전하게 기록한다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자기돌봄·평가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소진을 관리하고 프로그램을 평가한다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WLC 코칭의 원칙과 기술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기술보다 관계와 역할경계가 먼저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4대 원칙 · 코칭과 상담·치료·자문의 경계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세션의 기본 구조 · GROW 모델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열린 질문 · 실무도구 · 엔딩노트 코칭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WLC 코칭의 4대 원칙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존엄 · 공감 · 진정성 · 성찰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466344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현장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존엄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선택권을 가진 한 사람으로 대함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“이분의 선택권과 속도를 존중하고 있는가?”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이해하려 노력하되 감정에 휩쓸리지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“지금 가장 크게 느껴지는 것은 무엇인가?”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진정성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모르는 것을 아는 척하지 않고 한계를 밝힘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 질문은 제 영역인가, 전문가 확인이 필요한가?”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성찰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세션 뒤 말·감정·판단·개입을 검토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 경험과 가치가 내담자의 선택에 들어가지 않았는가?”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실무 기준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존엄을 잃으면 설득이, 공감을 잃으면 정보 전달이, 진정성이 없으면 과장이, 성찰이 없으면 반복된 실수가 남습니다.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코칭과 상담·치료·자문의 경계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WLC의 영역과 연계 영역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3931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주요 목적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WLC와의 관계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가치·목표·선택·실행을 스스로 정하도록 촉진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WLC의 기본 활동영역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정확한 정보·개념·제도·도구 설명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WLC의 핵심 활동영역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상담·심리치료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정신건강 문제의 평가·치료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임상전문가에게 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진단·예후·치료·약물·의료결정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의료진에게 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법률·세무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권리·의무·분쟁·세금의 개별 판단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변호사·법무사·세무사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 실무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시신관리·입관·장례진행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장례지도사·장사시설과 협업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경계 문장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“일반적인 정보와 질문은 함께 정리할 수 있지만, 법적·의학적 판단은 해당 전문가에게 확인해야 합니다.”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WLC 세션의 기본 구조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연결에서 마무리까지 일곱 단계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57607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 질문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1. 연결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안전·라포·오늘의 목적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“오늘 가장 이야기하고 싶은 것은 무엇인가요?”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2. 탐색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상황·감정·가치·관계·자원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“가장 마음에 걸리는 부분은 무엇인가요?”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3. 초점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이번 세션에서 다룰 한 가지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“오늘 하나만 분명해진다면 무엇이면 좋을까요?”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4. 선택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대안과 가능한 행동 탐색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“할 수 있는 방법이 세 가지 있다면?”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5. 실행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작은 다음 행동 구체화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“이번 주에 가장 작게 시작할 한 가지는?”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6. 점검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이해·감정·실행의 현실성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 계획을 0~10으로 보면 얼마나 가능할까요?”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7. 마무리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요약·연계·다음 일정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“오늘 가져가고 싶은 한 문장은?”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GROW 모델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웰다잉 코칭에 맞게 쓰는 GROW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9436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뜻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G – Goal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원하는 변화·방향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 대화를 마쳤을 때 무엇이 조금 더 분명해지면 좋겠나요?”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R – Reality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 상황·자원·장애물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“지금까지 해본 것은 무엇이고, 무엇이 가장 막히나요?”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O – Options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가능한 대안·선택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“완벽하지 않아도 해볼 수 있는 방법은?”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 – Will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실행할 작은 다음 행동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“이번 주에 한 가지 한다면 무엇을 언제 하시겠어요?”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핵심 원칙 — W는 작게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“이번 달까지 엔딩노트 완성”보다 “오늘 감사한 사람 한 명에게 한 문장 쓰기”가 실행 가능성을 높입니다.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생각을 여는 질문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좋은 질문과 피해야 할 질문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9319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좋은 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피해야 할 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열린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“그 선택이 중요한 이유는 무엇인가요?”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“자연장이 더 좋지 않나요?”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“마지막까지 지키고 싶은 삶의 기준은?”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“보통은 부담 안 주는 게 좋죠?”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구체화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“‘편안하게’는 당신에게 어떤 상태인가요?”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“편안한 게 좋은 거죠?”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미래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“준비가 잘 되었다면 6개월 뒤 무엇이 달라질까요?”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“언제까지 다 하실 건가요?”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자원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“이미 잘하고 있는 것은 무엇인가요?”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“왜 아직 아무것도 안 하셨어요?”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행동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“이번 주에 15분만 쓸 수 있다면?”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“당장 정리부터 하세요.”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닫힌 질문을 열린 질문으로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“유언장은 미리 써 두는 게 좋지 않으세요?”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이 질문을 열린 질문·가치 질문·행동 질문으로 각각 바꿔 씁니다.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38912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짝에게 세 질문을 던지고, 어느 질문에 가장 답하고 싶었는지 듣습니다.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바꾼 질문 3개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실무도구를 목적에 맞게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도구는 평가시험이 아니다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적합한 목적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엔딩노트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삶·관계·의료·재산·장례·메시지 통합 정리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완료를 강요하지 않고 업데이트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대화카드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죽음·감사·관계·애도 주제를 부담 없이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“패스” 선택 허용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그래프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전환점·의미 시각화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외상사건 세부노출 강요 금지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관계지도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가족·친구·도움 요청할 사람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관계의 질을 평가하지 않음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가치카드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지키고 싶은 가치 탐색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정답 순위를 만들지 않음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지역자원지도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의료·법률·복지·장례·정신건강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정기적으로 갱신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행동계획표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다음 한 걸음·담당·기한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미수행을 실패로 규정하지 않음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엔딩노트 코칭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“빈칸 채우기”에서 “삶의 대화”로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엔딩노트 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코칭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삶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 인생에서 꼭 기억하고 싶은 장면은 무엇인가요?”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“고맙다고 말하고 싶은 사람은 누구인가요?”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“의사표현이 어렵게 되면 가족이 무엇을 알았으면 하나요?”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재산·문서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“가족이 존재만이라도 알아야 할 정보는 무엇인가요?”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장례·추모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“장례 형식보다 꼭 남기고 싶은 의미는?”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레거시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“사람들이 나를 어떤 사람으로 기억하면 좋겠나요?”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중요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엔딩노트는 법적 유언, 사전연명의료의향서, 금융·법률계약을 대신하지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존엄·공감·진정성·성찰 — 기술보다 관계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GROW의 W는 작게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도구는 대화를 돕는 수단, 시험지가 아니다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프로그램 운영·연계·기록·자기돌봄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프로그램 운영·연계·기록·자기돌봄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안전과 선택권이 교육효과보다 먼저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대화카드 운영 · 1:1 코칭 설계 · 1:1과 집단의 차이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집단교육 안전수칙 · 설계 공식 · 대상별 예시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지역자원지도 · 연계 · 사례기록 · 소진 관리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대화카드 운영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질문을 “안전한 대화”로 바꾸는 방법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운영 원칙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카드를 고르거나 바꾸거나 패스할 수 있음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비밀유지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그룹 밖으로 개인의 이야기를 옮기지 않음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시간 제한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 사람이 오래 독점하지 않도록 균형 조정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반응 존중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조언보다 “고맙습니다, 잘 들었습니다”로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위험신호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자살·폭력·학대가 드러나면 그룹에서 다루지 않고 별도 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마무리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무거운 질문 뒤에는 자원·감사·다음 행동 질문으로 회복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1:1 코칭 프로그램 설계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6회기 예시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937760"/>
                <a:gridCol w="484632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회기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초점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 도구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 형성·현재 고민·코칭 목표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웰다잉 준비도 체크, 가치질문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회고·강점·미완의 관계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그래프, 관계지도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의료·돌봄·가족대화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ACP 질문지, 가족대화 준비표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재산·문서·생전정리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재산·문서 목록, 생전정리 체크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5회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장례·추모·레거시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장례가치표, 기억유산 프로젝트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통합·다음 행동·연계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엔딩노트 업데이트, 지역자원지도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프로그램 유연성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6회는 교육용 예시이지 표준치료 프로토콜이 아닙니다. 목적과 준비도에 따라 조정합니다.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1:1 코칭과 집단교육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집단은 다르게 설계한다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52120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항목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1:1 코칭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집단교육·워크숍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깊이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개인의 맥락을 깊게 탐색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민감한 개인사 공개를 최소화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내담자의 속도에 맞춤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전체 일정과 참여자 균형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비밀유지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코치-내담자 관계 중심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참여자 모두의 비밀유지 약속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 맞춤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선택형·익명형·가상사례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위기대응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개별 즉시 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별도 공간·담당자 확보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평가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개인목표와 행동 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학습목표·참여도·후속행동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민감한 주제의 집단교육 안전수칙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강사가 지켜야 할 여덟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시작 전 “말하지 않을 권리”와 패스 규칙 안내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최근 사별·재난·자살사별 공개 요구 금지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실제 경험 대신 가상사례로도 참여 가능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울음·침묵을 문제로 보지 않되 쉴 공간 제공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자살·자해·학대 위험은 별도 안전절차로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강사 자신의 사별경험을 과도하게 공유하지 않음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의료·법률·재산 질문은 개별자문처럼 답하지 않음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마무리는 “오늘 할 수 있는 작은 행동”으로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교육프로그램 설계 공식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대상에서 후속까지 아홉 가지 질문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설계 질문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누구를 위한 프로그램인가? 연령·상황·관심·위험요인은?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필요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 대상이 실제로 어려워하는 것은?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목표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 후 무엇을 알고·느끼고·행동할 수 있어야 하는가?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메시지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반드시 기억할 1~3문장은?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활동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강의보다 참여자가 직접 해볼 것은?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민감한 경험·위기·개인정보를 어떻게 보호할까?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 후 어디에 도움을 요청할 수 있는가?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평가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무엇이 달라졌는지 어떻게 확인할까?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후속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일주일·한 달 뒤 실행을 어떻게 이어갈까?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설계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핵심 메시지 1개 + 실습 1개 + 다음 행동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대상별 WLC 프로그램 예시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누구에게, 무엇을, 어떤 순서로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5577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프로그램 주제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구성 예시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중장년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 삶의 후반기 설계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그래프 → 가치 → 관계 → 엔딩노트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노년층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가족에게 부담 덜 주는 준비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중요문서 → 의료·돌봄 → 장례 → 생전정리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가족돌봄자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돌봄과 웰다잉 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돌봄부담 → ACP → 가족회의 → 자기돌봄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지역주민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웰다잉을 위한 웰빙의 삶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죽음인식 → 현재 삶 → 관계·감사 → 실천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기관 종사자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죽음·상실을 만나는 현장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의사소통 → 애도 → 위기연계 → 소진예방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수강생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코칭 실무 워크숍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GROW → 역할극 → 기록 → 수퍼비전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지역자원지도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전화번호만 적지 않는다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분야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 대상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확인할 정보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의료·호스피스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병원, 호스피스·완화의료기관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대상, 의뢰방법, 연락처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연명의료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사전연명의료의향서 등록기관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상담시간, 예약, 작성절차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정신건강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정신건강복지센터·상담기관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위기연락, 운영시간, 의뢰기준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법률·세무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법률구조, 변호사·법무사·세무사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상속·유언·후견 상담범위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장례·장묘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e하늘, 장례식장, 공영장례 담당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시설·비용·지원·절차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복지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복지관, 행정복지센터, 장기요양기관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돌봄·주거·독거 지원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유족지원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애도상담·자살유족·재난지원기관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대상, 신청방법, 비용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전문가 연계(Referral)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“넘기는 것”이 아니라 “연결하는 것”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역할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 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왜 연계가 필요한지 설명하고 동의를 구함. 전문가에게 물을 질문목록 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 중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기관·절차 정보를 제공하고 내담자가 직접 예약·문의하도록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 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전문가 상담 결과를 삶의 계획에 어떻게 반영할지 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위기 상황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자살·자해·폭력·학대·응급의료는 공식 위기체계로 우선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16~17절 사례기록과 개인정보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많이 쓰기보다 정확하고 안전하게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기록 항목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오늘의 목표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자녀와 연명의료 대화를 시작하는 방법 정리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주요 사실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사전연명의료의향서 작성 여부 미확인, 가족 2명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내담자 표현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“아이들에게 짐을 주고 싶지 않아요.”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코치 개입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가치질문, 가족대화 스크립트, 등록기관 정보 안내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다음 행동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이번 주 딸과 20분 대화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사전연명의료의향서 등록기관 확인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코치 성찰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 경험을 설명하고 싶은 충동 → 수퍼비전에서 점검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기록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“우울증으로 보임”(해석) 대신 “2주간 거의 잠들지 못하고 아무것도 하고 싶지 않다고 말함”(사실·표현). 식별정보 제거, 단톡방 공유 금지.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해석을 관찰로 고쳐 쓰기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“내담자는 아들과 사이가 나쁘고 죽음을 회피하는 성격으로 보임.”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이 기록에서 “해석”에 밑줄을 긋습니다.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사실·내담자의 직접 표현으로 다시 씁니다(필요하면 가상의 말을 지어도 됩니다).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바꿔 읽고 평가하는 단어가 남았는지 확인합니다.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고쳐 쓴 기록 1줄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18~19절 공감피로·역전이·소진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코치도 흔들린다 — 신호를 알아차리기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18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코칭 후 극심한 피로, 두통, 불면, 식욕변화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슬픔에 지나치게 휩쓸리거나 냉소적·무감각해짐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“내가 꼭 해결해야 한다”, 특정 내담자를 계속 생각함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연락시간·역할경계를 넘기 시작, 회피·과로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동료·가족에게 짜증, 사회적 고립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감정노트 5분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세션 후 5분: 느낀 감정 · 강하게 반응한 순간 · 내 경험과의 연결 · 필요한 자기돌봄 · 수퍼비전 질문.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집단에서는 개인의 상실을 공개시키지 않는다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연계는 실패가 아니라 전문성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기록은 해석보다 관찰과 내담자 표현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WLC 실무 역량 워크숍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WLC 실무 역량 워크숍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내담자가 스스로 선택하도록 돕는 연습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— 엔딩노트가 무서워요, 상속세 질문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GROW 롤플레잉 · 90분 교육프로그램 설계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평가 · 수퍼비전 · 자기돌봄 계획 · 성장 경로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23절 코칭 사례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“엔딩노트를 시작하기가 무서워요”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7840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GROW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G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“엔딩노트를 시작한다면 가장 먼저 얻고 싶은 것은 무엇인가요?”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R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“가장 막히는 것은 죽음 이야기를 꺼내는 것인가요, 무엇을 쓸지 모르는 것인가요?”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O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“죽음 대신 ‘내가 살아온 이야기’나 ‘감사한 사람’부터 시작한다면 어떨까요?”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“오늘 집에 가서 딱 한 문장, ‘내가 가장 고마운 사람은…’으로 시작해 보시겠어요?”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68세 여성이 엔딩노트를 써야 한다고 생각하지만, 자녀들이 자신이 곧 죽을 것처럼 느낄까 걱정합니다.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24절 코칭 사례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“상속세를 줄이는 방법도 알려주세요”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대응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의도 탐색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“세금 자체가 걱정되시나요, 자녀 간 분쟁이나 생활비가 더 걱정되시나요?”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경계 설명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“재산이전 방식별 세금 계산과 절세 자문은 제가 판단할 영역은 아닙니다.”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준비 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“세무사 상담에 필요한 재산·채무·가족 상황을 한 장으로 정리해 볼 수 있습니다.”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 후 코칭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“전문가 설명을 듣고 그 선택이 노후생활과 가치에 맞는지 다시 정리해 보겠습니다.”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전문적 연계의 의미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답을 모른다고 코칭이 끝나지 않습니다. “무엇을 누구에게 물어야 하는지”를 분명히 하는 것이 실무역량입니다.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25.1 실습 1 · 롤플레잉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GROW 롤플레잉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4A"/>
                </a:solidFill>
              </a:rPr>
              <a:t>상황 예: “엔딩노트가 무서워요” / “가족에게 연명의료 이야기를 못 꺼내겠어요” / “부모님 집 정리를 시작해야 해요”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내담자·WLC·관찰자를 정하고 상황 하나를 고릅니다.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WLC는 G → R → O → W 순서로 4분간 대화합니다. 조언하지 말고 질문으로만 진행합니다.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관찰자는 실습지에 각 단계의 질문과 내담자 반응을 기록하고, W가 충분히 작았는지 피드백합니다.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바꿔 세 번 진행합니다.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13분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GROW 질문지 (25.1)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25.2 실습 2 · 조별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90분 교육프로그램 설계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항목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기획 내용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 · 주제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메시지 1~3개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도입 10분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핵심교육 25분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실습 30분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나눔 15분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마무리·다음 행동 10분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 · 전문가 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평가 방법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교육프로그램 평가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만족도보다 변화까지 본다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평가 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 질문/지표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이해하기 쉬웠는가? 안전하게 참여할 수 있었는가?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학습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새롭게 알게 된 개념·제도·도구는?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태도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 대화에 대한 불편감이나 준비의지가 달라졌는가?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가족대화·엔딩노트·문서정리를 실제로 시작했는가?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 · 지속성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필요한 기관을 알게 되었는가? 1개월 뒤에도 이어지는가?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 평가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“죽음불안 점수가 낮아졌다”처럼 임상적 효과를 함부로 주장하지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수퍼비전과 동료학습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어려운 사례는 혼자 품지 않는다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볼 것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역할경계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“내가 전문가 영역을 넘은 부분은 없었나?”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윤리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“자기결정과 비밀유지를 지켰나?”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“질문이 유도적이거나 조언 중심이 되지 않았나?”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“연계해야 할 신호를 놓치지 않았나?”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 개인 경험·가치가 개입하지 않았나?”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학습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“다음 사례에서는 무엇을 다르게 해볼까?”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25.5 실습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자기돌봄 계획</a:t>
            </a:r>
            <a:endParaRPr lang="en-US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5778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자기돌봄 행동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구체적 실행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세션 직후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 분리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매일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신체·수면·마음챙김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매주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업무 경계 점검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매월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동료 사례회의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교육·수퍼비전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22절 WLC 실무 성장 경로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기초에서 교육·리더십까지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과제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권장 활동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이론·기본 질문·역할경계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자격과정, 역할극, 관찰실습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초기 실무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안전한 소규모 코칭 경험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동료코칭, 공동진행, 사례기록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숙련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다양한 대상·프로그램 운영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사례발표, 심화교육, 지역 네트워크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관심분야 전문역량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애도·생애설계·노년·교육 심화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교육·리더십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후배 코치 교육·프로그램 개발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수퍼비전 역량, 교재·워크숍 개발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GROW의 W 단계는 “이번 달까지 엔딩노트 완성”처럼 크게 잡을수록 좋다.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집단교육에서는 최근 사별 경험을 모두 공개하게 해야 교육효과가 높다.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코칭기록에서는 코치의 해석보다 사실과 내담자의 직접 표현을 남긴다.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전문가에게 연계하는 것은 WLC의 실패를 의미한다.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4대 원칙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코칭의 4대 원칙으로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존엄·공감·진정성·성찰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경청·조언·설득·종결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정보·교육·상담·치료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목표·현실·대안·실행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좋은 질문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중 WLC의 열린 질문으로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“자연장이 더 좋지 않나요?”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“왜 아직 아무것도 안 하셨어요?”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“그 선택이 당신에게 중요한 이유는 무엇인가요?”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“언제까지 다 하실 건가요?”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1:1과 집단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집단교육·워크숍 운영으로 적절하지 않은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선택형·익명형·가상사례 도구를 쓴다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참여자 모두의 비밀유지 약속을 받는다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위기 발생 시 별도 공간과 담당자를 확보한다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개인의 맥락을 깊게 탐색하도록 사별 경험을 자세히 묻는다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전문가 연계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전문가 연계 “전” 단계의 WLC 역할로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내담자 대신 예약하고 결과를 통보받는다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연계 필요성을 설명해 동의를 구하고 질문목록을 정리한다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연계 후에는 관계를 종결한다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위기 상황에도 일반 연계 절차를 먼저 따른다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역할 경계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내담자가 절세 방법을 물을 때 WLC의 대응으로 가장 적절한 것은?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인터넷에서 찾은 절세 방법을 알려 준다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“그건 제 일이 아닙니다”라고 대화를 마친다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걱정의 의도를 탐색하고, 세무 상담을 위한 정보를 정리한 뒤 연계한다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증여가 가장 유리하다고 조언한다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W는 작게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공개 요구 금지, 선택권 우선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해석보다 관찰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연계도 전문성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①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존엄·공감·진정성·성찰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생각을 여는 질문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④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집단은 개인사 공개 최소화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설명·동의·질문목록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26절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4대 원칙과 각각의 실무적 의미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GROW 네 단계를 사례에 적용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 질문이 조언·설득과 달라야 하는 이유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엔딩노트·대화카드에서 선택권을 보장하는 이유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1:1 코칭과 집단교육의 차이 네 가지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집단교육 안전수칙 다섯 가지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자원지도에 전화번호 외에 확인할 내용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연계 전·중·후 WLC의 역할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기록에서 사실과 해석을 구분하는 이유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공감피로·역전이 관리 방법 네 가지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27절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제15강에서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 코칭은 존엄·공감·진정성·성찰 위에 세워진다.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기술보다 관계와 역할경계.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GROW의 마지막은 작은 행동이어야 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이번 주의 현실적인 한 걸음.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도구는 목적에 따라 선택한다.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내담자를 평가하는 시험지가 아니다.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개인코칭과 집단교육은 다르게 운영한다.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선택권·비밀유지·위기대응·시간 균형.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WLC의 전문성에는 연계 역량이 포함된다.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혼자 해결하지 않는다.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좋은 코치는 자신을 돌본다.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감정노트·수퍼비전·휴식과 경계.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28절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열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답보다 질문을 준비한다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 단계를 작게 만든다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도구를 강요하지 않는다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그룹에서 개인의 상실을 공개시키지 않는다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기록은 최소한으로 정확하게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연계는 실패가 아니다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기관정보를 업데이트한다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 경험을 답으로 만들지 않는다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수퍼비전을 정례화한다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교육을 끝낸 뒤 행동을 남긴다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자원지도 완성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25.3 실습지로 분야별 기관·의뢰기준·운영시간·최종 확인일을 채웁니다.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GROW 한 번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가족이나 동료와 GROW 대화를 10분 해 보고 W 한 가지를 적습니다.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수료 준비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16강 수료 나눔에서 읽을 “나의 WLC 선언” 초안을 3문장으로 씁니다.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제15강의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“내담자가 자신의 삶을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스스로 선택하도록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얼마나 잘 돕고 있는가?”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“내가 얼마나 많이 알고 있는가?”보다 먼저 묻는 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 — 마지막 시간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제16강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WLC 전문직 윤리·자격검정과 지속성장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“WLC라는 이름으로 활동할 때, 무엇을 할 수 있는가뿐 아니라 무엇을 하지 않아야 하는가?”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WLC 2급의 직무범위와 자격검정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전문직 윤리 · 비밀유지와 개인정보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이해충돌 · 위기대응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수퍼비전 · 지속교육 · 자격 유지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16강 과정 마무리와 수료 나눔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제16장  ·  가져올 것: 나의 WLC 선언 초안, 13강 철학 선언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LC Teal">
  <a:themeElements>
    <a:clrScheme name="WLC Teal">
      <a:dk1>
        <a:srgbClr val="222222"/>
      </a:dk1>
      <a:lt1>
        <a:srgbClr val="FFFFFF"/>
      </a:lt1>
      <a:dk2>
        <a:srgbClr val="1F4E4A"/>
      </a:dk2>
      <a:lt2>
        <a:srgbClr val="EAF3F0"/>
      </a:lt2>
      <a:accent1>
        <a:srgbClr val="2E7D6B"/>
      </a:accent1>
      <a:accent2>
        <a:srgbClr val="D98E04"/>
      </a:accent2>
      <a:accent3>
        <a:srgbClr val="3A6EA5"/>
      </a:accent3>
      <a:accent4>
        <a:srgbClr val="B5452F"/>
      </a:accent4>
      <a:accent5>
        <a:srgbClr val="8FB9A8"/>
      </a:accent5>
      <a:accent6>
        <a:srgbClr val="6B6B6B"/>
      </a:accent6>
      <a:hlink>
        <a:srgbClr val="3A6EA5"/>
      </a:hlink>
      <a:folHlink>
        <a:srgbClr val="1F4E4A"/>
      </a:folHlink>
    </a:clrScheme>
    <a:fontScheme name="WLC Teal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제15강 WLC 코칭 실무와 교육프로그램 운영</dc:title>
  <dc:subject>PptxGenJS Presentation</dc:subject>
  <dc:creator>삶잇다협동조합</dc:creator>
  <cp:lastModifiedBy>삶잇다협동조합</cp:lastModifiedBy>
  <cp:revision>1</cp:revision>
  <dcterms:created xsi:type="dcterms:W3CDTF">2026-10-29T23:47:19Z</dcterms:created>
  <dcterms:modified xsi:type="dcterms:W3CDTF">2026-10-29T23:47:19Z</dcterms:modified>
</cp:coreProperties>
</file>