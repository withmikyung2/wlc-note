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aeed47cf-2ddb-65cf-4225-ffa88d336cc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1교시 사망 직후의 순서와 장례 준비" id="{0d9f2595-39f3-9796-491e-88afc5765d1c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교시 가족·유품·재산·애도 지원" id="{7d383212-1990-61c1-b857-d16e4c2a706b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3교시 사망 직후 72시간 워크숍" id="{a8b34808-e214-a527-1c1d-29c46cbdade1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정리와 예고" id="{59c6a1ec-e116-c4d9-9f57-5546f4948711}">
          <p14:sldIdLst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제4부 마지막 시간.
"13강이 마지막까지 살아 있는 사람을 돌보는 일이었다면, 오늘은 사망 직후 남겨진 가족의 현실적 결정과 초기 애도를 함께 지원하는 일입니다."
최신성 고지: 사망신고 절차, 안심상속 자격, 화장예약·시설 이용료, 공영장례·화장장려금, 장례식장 가격은 법령과 지역 정책에 따라 달라진다. 수업 직전 정부24·e하늘에서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6강(장례·장묘 제도) · 7강(유품·디지털 유산) · 13강(임종 돌봄)이 오늘 하나로 모인다. 다음 시간부터 제5부 "WLC로 활동하다".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첫 6시간 체크, 장례 계약 질문표, 가족 역할분담표, 장례 후 2주 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0:03–0:07 (4분)
📖 교재: 13강 과제
엔딩노트 장례 칸이 비어 있다는 것이 오늘 수업의 출발점. "가족은 이 빈칸을 몇 시간 안에 채워야 합니다."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0:07–0:09 (2분)
📖 교재: 참고문헌 고지 · 핵심정리 6
"전문영역·상업적 중립성 고지"를 수업 첫머리에 분명히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0:09–0:13 (4분)
📖 교재: 1절 · 18절
"너무 비싼 관", "상조와 중복 결제", "아이를 빈소에 못 오게 한 것", "휴대폰을 바로 해지한 것" 등이 나온다. 오늘 수업 내용과 하나씩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0:13–0:14 (1분)
📖 교재: 14장 표제 · 핵심 메시지
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0:14–0:16 (2분)
📖 교재: 14장 학습목표 1~11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0:16–0:21 (5분)
📖 교재: 1절 · 표
서술형 Q1. 코치노트 1: 필수결정과 나중결정을 구분한다. 13강 15절(사망 직후)과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0:21–0:24 (3분)
📖 교재: 2절 · WLC 금지선
서술형 Q2. 코치노트 2. 13강 12절과 같은 원칙.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0:24–0:26 (2분)
📖 교재: 3절 · 실무 팁
서술형 Q3.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0:26–0:29 (3분)
📖 교재: 4절 · 가족관계등록법 제84·85조 (수업 직전 재확인)
서술형 Q4. 객관식 1번. 코치노트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0:29–0:32 (3분)
📖 교재: 5절 · 장사법 제6조
서술형 Q5. 코치노트 3. OX 1번. 6강 장례 제도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0:32–0:37 (5분)
📖 교재: 6절 · 표
공식 비교 도구: e하늘 장사정보서비스. 특정 업체 설명만 듣지 말고 공식정보를 비교의 출발점으로.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0:37–0:42 (5분)
📖 교재: 7절 · 표
서술형 Q7. 코치노트 4·5. 객관식 2번. 16강 윤리(이해충돌)와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0:42–0:46 (4분)
📖 교재: 6·7절
좋은 질문: "포함·별도·선택을 표로 받을 수 있나요?", "상조와 겹치는 항목은?", "오늘 꼭 정해야 하는 것은?"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0:46–0:48 (2분)
📖 교재: 8절 · 표
서술형 Q6. 화면 시연 가능(영상 삽입 후보): e하늘 메인 → 화장예약 → 지역별 지원. 법적 기준은 6강에서 다룸.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1:00–1:05 (5분)
📖 교재: 9절 · WLC 언어
지원대상·금액·절차는 지자체마다 다르다. 4강 지역자원지도에 공영장례 담당부서를 추가하게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1:05–1:10 (5분)
📖 교재: 10절 · 표
코치노트 6. 3교시 역할분담표 실습으로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1:10–1:14 (4분)
📖 교재: 11절
SNS·단체채팅방 확산은 편리하지만 개인정보가 예상보다 넓게 퍼진다. 12강 미디어 원칙과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1:14–1:19 (5분)
📖 교재: 11절
10강 가족 갈등중재 기술(입장보다 관심사)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1:19–1:24 (5분)
📖 교재: 12절 · 표
서술형 Q9. 코치노트 8. OX 3번. 상세 절차는 7강(유품·디지털 유산).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1:24–1:29 (5분)
📖 교재: 13절 · 정부24 (수업 직전 재확인)
서술형 Q8. 객관식 3번. 8강 상속 기초와 연결. 정부24 화면 시연 후보.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1:29–1:34 (5분)
📖 교재: 14절 · 표
11강 애도 반응과 연결. OX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1:34–1:39 (5분)
📖 교재: 15절
코치노트 7. 아이에게 필요한 것: 정확한 설명, 선택권, 믿을 수 있는 어른, 일상으로 돌아갈 구조. 객관식 4번.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1:39–1:44 (5분)
📖 교재: 16절
6강 장례의 기능, 5강 일본 사례(작은 장례)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1:44–1:49 (5분)
📖 교재: 17절 · 표
서술형 Q10(위험신호). 코치노트 10. 109·정신건강복지센터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 휴식 중 3인 1조 편성.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2:00–2:06 (6분)
📖 교재: 18절 · 표
다음 롤플레이의 기본 대본.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2:06–2:10 (4분)
📖 교재: 19절 · 표
지시 대신 질문으로 돕는 코칭 방식에 주목.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2:10–2:24 (14분)
📖 교재: 18절 · 6·7절
상담자 역할도 악역이 아니라 "시간에 쫓기는 실무자"로 연기하게 한다. 실기시험 시연과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2:24–2:29 (5분)
📖 교재: 20.1절 · 실습지
12강 72시간 지원계획의 "0~6시간"과 비교.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2:29–2:36 (7분)
📖 교재: 20.2절 · 실습지
롤플레이에서 나온 질문을 옮겨 적는다. e하늘 가격정보와 함께 쓰면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2:36–2:41 (5분)
📖 교재: 20.3절 · 실습지
자기 가족을 떠올려 써도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2:41–2:45 (4분)
📖 교재: 20.4절 · 실습지
"애도"와 "행정"을 같은 칸에 넣지 않게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2:45–2:47 (2분)
📖 교재: 5·7·12·14절
정답: 1 X / 2 O / 3 X / 4 X
※ 14강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4절
정답 ②. 법령은 수업 직전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7절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13절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15절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2:51–2:52 (1분)
📖 교재: 5절
정답 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2:52–2:54 (2분)
📖 교재: 14장 본문 (강사 제작 문항)
객관식 5번 정답 ②는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21절 학습점검 Q1~Q10
채점 기준(문항당 10점): 핵심요소 3개 10점 / 2개 7점 / 1개 4점 / 없음 0점, 역할경계 이탈(대행·보증·법적 판단) -3점.
※ 14장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22절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23절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8·9·16절 · 7강 엔딩노트
15강에서 이 주제로 60분 프로그램을 설계한다.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22절 · 제14장의 마지막 질문
10초 침묵. 제4부를 마친 수강생들에게 감사를 전한다.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24절 제15장으로의 연결
제14장까지는 삶의 마무리·사망·장례·초기애도를 현장에서 어떻게 이해하고 지원할지 다뤘다. 이제 제5부, WLC로 활동하는 방법.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제14강 사망 직후 초기지원·장례 준비와 가족 지원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제14강 사망 직후 초기지원·장례 준비와 가족 지원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제4부 상실과 임종을 동행하다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제14강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사망 직후 초기지원·장례 준비와 가족 지원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Immediate Support after Death, Funeral Preparation &amp; Family Care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사망 직후의 순서와 장례 준비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해야 할 일보다 순서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서류 · 사망신고 · 24시간 원칙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장례식장 · 상조 · e하늘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가족·유품·재산·애도 지원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공영장례 · 역할분담 · 부고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유품 보호 · 안심상속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장례 중의 애도 · 첫 2주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사망 직후 72시간 워크숍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 2가지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장례 상담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72시간 워크시트 4종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마지막 대화, 미리 건네 보셨나요?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13강 과제 — 호스피스 기관 찾기, 마지막 대화 카드 미리 건네기, 엔딩노트 장례·연락처 점검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“미리 건넨 한 문장”과 그때의 반응을 나눕니다(원하는 만큼만).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3891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엔딩노트 장례 칸에서 비어 있던 것 하나를 말합니다.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오늘 채울 엔딩노트 칸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 수업의 전제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WLC는 장례를 대신 치르는 사람이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대행하지 않습니다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장례지도·법률·상속·세무·행정 업무를 대신하지 않습니다.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D98E04"/>
                </a:solidFill>
              </a:rPr>
              <a:t>보증하지 않습니다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특정 장례식장·상조·장묘시설·법률서비스를 보증하지 않습니다.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이렇게 돕습니다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정보정리·가족대화·역할분담·자원연계로 가족이 존엄하게 결정하도록.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“장례식장에서 가장 후회되는 결정은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무엇이었나요?”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내가 겪었거나, 곁에서 지켜본 장례를 떠올려 봅니다.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“그때 누가 이것만 알려 줬더라면” 하는 것 하나를 적습니다.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사망 직후의 몇 시간은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가장 많은 결정을 해야 하지만,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가족의 판단력이 가장 흔들리기 쉬운 시간이다.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사망 직후 가족에게 필요한 것은 “빨리 모든 일을 끝내는 것”이 아니다. 공식 절차를 차분히 확인하고, 장례·장묘를 서둘러 계약하지 않으며, 가족이 작별할 시간과 기본적 돌봄을 지키는 것이다.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우선순위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 확인–가족의 시간–역할분담–장례–행정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서류와 기한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진단서·검안서, 사망신고 1개월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24시간 원칙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3일장은 법적 의무가 아님을 설명한다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e하늘·계약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공식정보로 비교하고 포함·별도·선택을 구분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안심상속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재산조회 통합신청을 안내한다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유품 보호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 직후 폐기·해지하지 않도록 안내한다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초기 애도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다양한 반응 존중, 위험신호는 전문연계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역할 경계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대행하지 않고 정보정리·가족지원·연계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사망 직후의 순서와 장례 준비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모든 결정을 동시에 할 필요는 없다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해야 할 일보다 순서 · 예상된 사망과 예기치 않은 사망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사망진단서·사망신고 · 장사법 24시간 원칙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장례식장 · 상조 계약 · e하늘 장사정보시스템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해야 할 일보다 순서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사망 직후 여섯 단계의 핵심 질문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우선순위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공식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사망확인과 필요한 서류는 누가 안내하고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가족의 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가족이 잠시 곁에 머물고 작별할 시간이 필요한가?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연락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가장 먼저 연락해야 할 가족·종교인·장례기관은 누구인가?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역할분담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장례·행정·연락·비용을 누가 각각 맡을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5. 장례 준비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고인의 뜻과 가족상황에 맞는 규모·장소·방식은?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6. 후속 행정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사망신고·재산조회·계약해지는 언제, 누가 진행할 것인가?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예상된 사망과 예기치 않은 사망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초기 대응이 다를 수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예상된 자연사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호스피스·병원·가정돌봄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의료기관·담당 의료팀 절차에 따라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사망확인과 서류 발급 진행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갑작스럽거나 사인 불명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사고·외상·사인 불분명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응급·검안·수사 등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공식 절차가 달라질 수 있음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 금지선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“119를 부르지 마세요”, “경찰에 신고해야 합니다”처럼 개별 사망의 절차를 임의로 판단하지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사망진단서·시체검안서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후속 절차의 출발점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사망신고, 화장예약, 보험·상속·금융 등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여러 후속 절차에서 요구될 수 있는 중요한 서류입니다.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일률적 지시 금지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“몇 부를 떼야 한다”고 정하지 않습니다.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233008" y="3886200"/>
            <a:ext cx="541004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1608" y="4069080"/>
            <a:ext cx="49528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실무 팁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원본을 요구하는 기관이 있을 수 있습니다. 사용할 기관을 목록화한 뒤 필요한 부수를 의료기관에 문의합니다.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사망신고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장례가 끝난 뒤에도 잊지 말아야 할 행정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항목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 사실을 안 날부터 1개월 이내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기본 첨부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사망진단서 또는 시체검안서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신고자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법이 정한 친족·동거자·사망장소 관리인 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실제 접수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관할 가족관계등록기관의 최신 안내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역할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대신 작성하거나 적격성을 판단하지 않고, 기한을 체크리스트에 넣어 행정복지센터에 문의하도록 연결합니다.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장사법 24시간 원칙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3일장은 법적 의무가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장사법 제6조: 원칙적으로 사망 후 24시간이 지나기 전에는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매장이나 화장을 할 수 없습니다.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3일장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관행적 장례 일정이지, 법적 의무는 아닙니다.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일정은 달라질 수 있음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종교·거리·화장예약·빈소 운영에 따라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더 중요한 것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가족이 충분히 작별하고 절차를 법에 맞게 준비하는 것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장례식장을 고를 때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“규모”보다 먼저 확인할 것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거리·접근성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가족·주요 조문객이 접근하기 적절한가?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빈소 규모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예상 조문객 수와 원하는 장례규모에 맞는가?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안치·입관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안치료·입관실·염습 비용과 절차는?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음식·접객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산정기준과 최소 주문조건이 있는가?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장례용품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관·수의·제단·꽃의 필수와 선택이 구분되는가?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차량·인력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운구차량·도우미·장례지도사 서비스 범위는?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화장예약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어느 화장시설을, 예약상태·이동시간은?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총비용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패키지 외 별도·추가비용·관리비는?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상조·장례서비스 계약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가족이 확인할 여섯 가지 질문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1148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 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기존 상조계약이 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중복계약·중복비용 방지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상조상품에 포함된 인력·차량·용품은?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추가비용 여부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장례식장 비용과 상조 비용이 겹치는 항목은?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이중지출 방지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고급관·수의·제단이 선택사항인지 설명받았는가?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원치 않는 업셀링 방지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취소·변경·환급 기준은?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조건변경 대비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계약서·영수증을 보관했는가?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 정산·분쟁 대비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WLC의 중립성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특정 업체를 보증하거나 소개수수료를 받으면 이해충돌이 생깁니다. 교육·코칭과 상품영업을 분리합니다.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총액보다 구조를 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“패키지 ○○○만 원이에요. 오늘 계약하시면 관을 한 단계 올려 드릴게요.”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A는 장례식장 상담자, B는 가족 곁의 WLC입니다.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B는 계약을 대신하지 않고, 가족이 물어야 할 질문 세 가지를 제안합니다.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역할을 바꿉니다.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가족에게 건넬 질문 3개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e하늘 장사정보시스템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직후의 공식 정보도구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e하늘 기능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활용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화장예약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장례일정과 화장시설 가용성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장사시설 검색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장례식장·화장·봉안·자연장지 비교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가격정보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시설비·용품가격·패키지 상품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지역별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화장장려금·공영장례 등 지원사항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사망 직후에는 순서를 만든다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3일장은 관행, 법은 24시간 원칙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장례비용은 총액보다 구조 — 포함·별도·선택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가족·유품·재산·애도 지원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가족·유품·재산·애도 지원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정리보다 보호, 외형보다 기억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공영장례 · 가족 역할분담 · 부고와 개인정보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유품 보호 · 안심상속 원스톱서비스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장례 중의 애도 · 아이의 참여 · 의미 중심 장례 · 첫 2주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공영장례와 지역지원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장례의 존엄을 포기할 필요는 없다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가족관계가 약하거나 경제적 어려움이 있어도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지역에 따라 공적 지원을 받을 수 있습니다.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제도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무연고 시신 등의 장례를 지방자치단체가 조례에 따라 수행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확인처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e하늘 지역별 지원사항, 관할 시·군·구 조례·복지부서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WLC 언어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“돈이 없으면 장례를 못 치른다”가 아니라 “공적 지원을 먼저 확인해 보자”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장례 기간 가족 역할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역할을 나누면 결정이 가벼워진다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업무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 총괄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장례지도사·화장·장묘 일정과 가족 결정을 연결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연락 담당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가족·친지·직장·종교공동체에 필요한 범위로 부고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비용·계약 담당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계약서·영수증·비용표를 한 곳에 보관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고인 뜻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엔딩노트·사전장례의향·가족 대화 기록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행정 담당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사망신고·재산조회·보험 등 후속 일정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유품·디지털 담당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휴대전화·문서·열쇠·귀중품·계정 보관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 담당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상주 가족의 식사·수면·약 복용·휴식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상주의 건강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“상주는 자리를 지켜야 한다”는 관행 때문에 건강과 안전을 해치지 않도록 교대합니다.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부고와 개인정보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알릴 권리와 보호할 권리를 함께 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먼저 합의할 것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유가족이 원하는 공개범위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사망원인은 합의한 범위만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계좌번호 공개는 가족 합의 후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주의할 것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미성년 자녀·가족의 연락처 노출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사칭·피싱 위험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고인 휴대전화의 메시지·사진 무단 공개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역할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부고문을 대신 결정하지 않고 “누구에게, 어디까지, 어떤 방식으로 알릴까”를 가족이 합의하도록 돕습니다.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짝 연습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부고 공개범위 합의하기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형은 “단톡방에 다 올리자”, 동생은 “가까운 사람만 알리자”고 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WLC로서 두 사람이 합의할 질문 세 가지를 만듭니다(누구에게·어디까지·어떤 방식).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38912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질문을 비교하고 가장 좋은 질문 하나를 고릅니다.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부고 합의 질문 3개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유품과 중요정보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“정리”보다 “보호”가 먼저다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보호 대상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초기 원칙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현금·귀금속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목록화하고 가족이 함께 확인하여 안전 보관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통장·인감·카드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임의 사용보다 상속·금융기관 절차를 먼저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휴대전화·PC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초기화·해지 전에 사진·계정·금융·연락처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유언·보험·부동산·채무·사업자료 확인 후 폐기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열쇠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주거·차량·사무실·금고 등 연결된 자산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사진·편지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애도와 기억자료가 될 수 있어 즉시 폐기하지 않음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안심상속 원스톱서비스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재산을 한 번에 확인하는 출발점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주요 조회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금융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예금·대출 등 금융내역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부동산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토지·건축물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차량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자동차·이륜차·건설기계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세금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국세·지방세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연금·공제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국민연금·공무원연금 등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E04"/>
                </a:solidFill>
              </a:rPr>
              <a:t>중요   </a:t>
            </a:r>
            <a:pPr indent="0" marL="0">
              <a:buNone/>
            </a:pPr>
            <a:r>
              <a:rPr lang="en-US" sz="1700" dirty="0">
                <a:solidFill>
                  <a:srgbClr val="222222"/>
                </a:solidFill>
              </a:rPr>
              <a:t>신청: 사망신고와 동시에 또는 사망일이 속한 달의 말일부터 1년 이내(정부24). 재산조회는 “상속을 받겠다”는 결정이 아닙니다 — 승인·한정승인·포기는 전문가에게 연결.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장례 중의 애도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울지 않는 사람도, 계속 우는 사람도 있다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멍함·현실감 없음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 결정을 몰아주지 않고 한 단계씩 안내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계속 우는 사람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울음을 멈추게 하기보다 안전한 공간과 지지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울지 않는 사람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무정하다고 평가하지 않고 애도방식 존중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분노·갈등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장례결정과 오래된 가족갈등을 분리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안도감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긴 간병이 끝난 안도와 슬픔이 함께 있음을 인정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죄책감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사실과 감정을 구분, 심각하면 전문애도상담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피해야 할 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“좋은 곳에 가셨으니 울지 마세요.” “정신 차려야죠.” “상주는 강해야 합니다.”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아이의 장례 참여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배제보다 선택과 설명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미리 설명한다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 무엇을 보게 될지 알려 줍니다.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선택권을 준다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 시신을 볼지, 입관·발인·화장에 참여할지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안전을 약속한다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 언제든 나올 수 있고 보호자가 함께 있습니다.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정확하게 말한다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 “잠들었다”가 아니라 몸의 기능이 멈췄다고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1040861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반복을 받아준다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  같은 질문에도 같은 답을 차분히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의미 중심 장례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“어떻게 보여줄까”보다 “무엇을 기억할까”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작은 기억공간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대표 사진·작품·책·음악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90824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9424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9424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고인에게 받은 것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 한 문장씩 남기는 기록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233008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61608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추모문·기억카드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고인의 가치를 소개하고 조문객이 기억을 남김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9075191" y="1554480"/>
            <a:ext cx="2567864" cy="3520440"/>
          </a:xfrm>
          <a:prstGeom prst="roundRect">
            <a:avLst>
              <a:gd name="adj" fmla="val 4273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303791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25726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03791" y="2468880"/>
            <a:ext cx="211066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기억 아카이브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사진·음성·메시지를 가족이 보관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의미 중심 장례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장례의 개인화는 화려하게 꾸미는 것이 아니라 “이 사람은 어떤 삶을 살았는가”를 함께 기억하는 것입니다.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장례가 끝난 뒤 첫 2주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행정과 애도를 분리해서 계획한다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846320"/>
                <a:gridCol w="45720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할 일의 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사망신고, 재산조회, 보험·연금·금융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기한과 자격을 공식기관에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집 정리, 반려동물·차량·우편·공과금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 사람이 다 맡지 않도록 분담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중요문서·귀중품·디지털기기 우선 보존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감정이 큰 시기에 대량폐기 지양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도움 준 사람에게 감사, 연락 정리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답장을 모두 해야 한다는 압박 줄이기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애도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수면·식사·산책·추모·대화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“정상 생활” 복귀를 서두르지 않음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고위험 신호 점검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자살위험·심한 기능저하·외상반응 즉시 연계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부고는 가족이 공개범위를 합의한다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유품·휴대전화는 정리보다 보호가 먼저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안심상속 = 재산조회, 상속 결정은 아니다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사망 직후 72시간 워크숍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사망 직후 72시간 워크숍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고인의 뜻을 존중하며, 감당 가능한 방식으로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— 장례식장의 한꺼번에 결정, 휴대전화 해지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장례 상담 동행 롤플레이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첫 6시간 · 계약 질문표 · 역할분담표 · 2주 계획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18절 코칭 사례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모든 것을 당장 결정하라고 느낄 때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단계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지원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속도 조절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“지금 모든 것을 한 번에 결정하실 필요는 없습니다. 필수결정과 나중결정을 나눠 보겠습니다.”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가치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“고인이 생전에 장례에 대해 말한 것이 있었나요?”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비용 구조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“포함된 항목과 추가 선택항목을 구분해서 표시해 달라고 요청해 보겠습니다.”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역할 분담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“한 분은 계약과 비용, 다른 분은 가족연락을 맡으면 어떨까요?”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공식정보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“화장·장사시설 정보는 e하늘에서도 확인할 수 있습니다.”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갑작스럽게 배우자를 잃은 가족이 관·제단·음식·상조·화장·봉안을 한꺼번에 선택해야 해 혼란스러워합니다.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코칭 사례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“엄마 휴대전화부터 해지할까요?”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38328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“휴대전화 안에 금융·보험·사진·연락처 등 필요한 정보가 남아 있을까요?”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중요데이터 소실 방지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“가족이 추모용으로 남기고 싶은 사진·음성이 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기억유산 보호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“해지 전에 플랫폼별 사망자 계정정책을 확인했나요?”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7강 디지털 유산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“비밀번호를 임의로 쓰기보다 공식 절차가 필요한 것은 무엇일까요?”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법적·보안 위험 방지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상황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장례가 끝난 다음날, 자녀가 고인의 휴대전화·SNS·구독서비스를 빨리 없애야 한다고 말합니다.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상담에 동행하기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사례 1의 가족과 함께 장례식장 상담실에 앉아 있습니다.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가족·장례식장 상담자·WLC를 정합니다.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상담자는 패키지와 추가 선택을 빠르게 권하고, 가족은 혼란스러워합니다.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속도 조절 → 가치 확인 → 비용 구조 → 역할 분담 → 공식정보 순서로 4분간 돕습니다.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역할을 바꿔 세 번 진행하고, 계약을 대신하거나 업체를 평가한 순간이 있었는지 피드백합니다.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14분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필수결정 / 나중결정 목록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첫 6시간 체크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사망확인·의료기관 안내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가족과 잠시 작별할 시간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가장 먼저 연락할 사람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장례기관/종교인 연락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유품·귀중품·휴대전화 보관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 돌봄자의 식사·약·휴식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계약 질문표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280160"/>
                <a:gridCol w="6309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포함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별도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확인할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빈소·안치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입관·염습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관·수의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제단·꽃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음식·접객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차량·인력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화장·장묘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 역할분담표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10896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업무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담당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연락 / 기한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장례 총괄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가족·친지 연락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계약·비용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행정·사망신고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1개월 이내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재산조회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유품·디지털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식사·휴식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20.4 실습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후 2주 계획</a:t>
            </a:r>
            <a:endParaRPr lang="en-US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이번 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다음 주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행정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재산·보험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유품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추모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상담·지원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한국의 장례는 법에 따라 반드시 3일장으로 치러야 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 계약에서는 포함·별도·선택 항목을 구분해 확인하도록 돕는다.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고인의 휴대전화는 장례 직후 바로 초기화·해지하는 것이 좋다.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 중 울지 않는 가족은 애도가 부족한 것이므로 감정을 표현하도록 권한다.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사망신고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가족관계등록법상 사망신고의 기본 기한은?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사망한 날부터 7일 이내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사실을 안 날부터 1개월 이내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장례가 끝난 날부터 3개월 이내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기한 없음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계약과 중립성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계약 지원에서 WLC의 태도로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신뢰하는 상조회사를 소개하고 수수료를 받는다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 대신 계약을 협상한다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포함·별도·선택을 구분하게 돕고 특정 업체를 보증하지 않는다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총액이 가장 낮은 상품을 고르게 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안심상속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안심상속 원스톱서비스에 대한 설명으로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신청하면 자동으로 상속을 승인한 것이 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금융·토지·자동차·세금·연금 등을 통합 조회 신청할 수 있다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 전에만 신청할 수 있다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대신 신청한다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아이의 장례 참여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아이의 장례 참여에 대한 안내로 가장 적절한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충격받지 않도록 무조건 집에 둔다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모든 절차에 반드시 참여시킨다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무엇을 보게 될지 설명하고 참여 여부를 선택하게 한다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“할아버지는 잠드셨어”라고 설명한다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장례 일정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장사법상 매장·화장에 대한 기본 원칙은?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후 12시간이 지나면 가능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원칙적으로 사망 후 24시간이 지난 뒤 가능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반드시 3일째에 해야 함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종교에 따라 자유롭게 정함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3일장은 관행, 법은 24시간 원칙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총액보다 구조를 본다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정리보다 보호가 먼저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개인의 애도방식 존중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안 날부터 1개월 이내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구조 확인 · 중립성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재산조회 ≠ 상속 결정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설명과 선택권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 직후 지원의 우선순위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예상된 사망과 사인 불명 사망의 초기 대응 차이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사망진단서·시체검안서가 중요한 이유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사망신고의 기본 기한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24시간 원칙과 3일장 관행의 차이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e하늘의 기능 네 가지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포함·별도·선택을 구분해야 하는 이유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안심상속의 목적과 신청시기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유품·디지털기기를 바로 폐기·해지하지 않는 이유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전문기관으로 즉시 연결할 위험신호 세 가지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22절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제14강에서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사망 직후에는 순서를 만든다.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공식 확인·가족의 시간·역할분담·장례·행정.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3일장은 법적 의무가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24시간 원칙과 실제 일정을 구분한다.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장례비용은 총액보다 구조를 본다.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포함·별도·선택, 상조 중복 확인.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e하늘은 장례 직후의 기본 정보도구다.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화장예약·시설·가격·지역지원.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유품은 장례 직후에 버리지 않는다.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보호·목록화부터 한다.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장례를 대신 치르는 사람이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정보·대화·역할분담·전문연계.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23절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열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결정의 속도를 낮춘다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공식 절차를 우선한다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3일장을 법으로 설명하지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계약의 중립성을 지킨다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가격은 포함·별도·선택으로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상주의 건강을 지킨다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아이에게 선택권을 준다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유품·휴대전화는 보호가 먼저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사망신고·재산조회 기한을 챙긴다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장례 후에도 지원을 이어간다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e하늘 둘러보기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우리 지역 화장시설과 공영장례·화장장려금 지원사항을 찾아 자원지도에 적습니다.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엔딩노트 장례 칸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내가 원하는 장례의 규모·방식·기억하고 싶은 것을 한 줄씩 채웁니다.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나의 강의 주제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1~14강 중 내가 지역에서 가르치고 싶은 주제 하나를 골라 옵니다(15강 준비).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제14강의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“고인의 뜻을 존중하면서,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가족이 감당 가능한 방식으로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충분히 작별했는가?”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“장례를 잘 치렀는가?”보다 먼저 묻는 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제15강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WLC 코칭 실무와 교육프로그램 운영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“WLC는 배운 지식을 어떻게 상담·교육·지역프로그램으로 바꾸고, 자신의 전문영역을 지키며 활동할 것인가?”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WLC 코칭의 기본 구조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상담·교육 프로그램 설계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사례기록과 지역자원 연계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강의·워크숍 운영, 엔딩노트·대화카드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프로그램 평가와 현장실습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제15장  ·  가져올 것: 나의 강의 주제, 2강 60분 프로그램 설계안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LC Teal">
  <a:themeElements>
    <a:clrScheme name="WLC Teal">
      <a:dk1>
        <a:srgbClr val="222222"/>
      </a:dk1>
      <a:lt1>
        <a:srgbClr val="FFFFFF"/>
      </a:lt1>
      <a:dk2>
        <a:srgbClr val="1F4E4A"/>
      </a:dk2>
      <a:lt2>
        <a:srgbClr val="EAF3F0"/>
      </a:lt2>
      <a:accent1>
        <a:srgbClr val="2E7D6B"/>
      </a:accent1>
      <a:accent2>
        <a:srgbClr val="D98E04"/>
      </a:accent2>
      <a:accent3>
        <a:srgbClr val="3A6EA5"/>
      </a:accent3>
      <a:accent4>
        <a:srgbClr val="B5452F"/>
      </a:accent4>
      <a:accent5>
        <a:srgbClr val="8FB9A8"/>
      </a:accent5>
      <a:accent6>
        <a:srgbClr val="6B6B6B"/>
      </a:accent6>
      <a:hlink>
        <a:srgbClr val="3A6EA5"/>
      </a:hlink>
      <a:folHlink>
        <a:srgbClr val="1F4E4A"/>
      </a:folHlink>
    </a:clrScheme>
    <a:fontScheme name="WLC Teal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제14강 사망 직후 초기지원·장례 준비와 가족 지원</dc:title>
  <dc:subject>PptxGenJS Presentation</dc:subject>
  <dc:creator>삶잇다협동조합</dc:creator>
  <cp:lastModifiedBy>삶잇다협동조합</cp:lastModifiedBy>
  <cp:revision>1</cp:revision>
  <dcterms:created xsi:type="dcterms:W3CDTF">2026-10-29T23:44:04Z</dcterms:created>
  <dcterms:modified xsi:type="dcterms:W3CDTF">2026-10-29T23:44:04Z</dcterms:modified>
</cp:coreProperties>
</file>