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cebcb480-6d1c-6934-ba4d-c9ab5244fe3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연명의료결정제도의 언어" id="{9b8777b4-3ee9-c2ef-bff1-7681e265ac3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교시 ACP·호스피스·후견" id="{8568acbe-c62d-f3af-4ce9-90d1d53558b2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3교시 나의 의료·돌봄 가치 설계" id="{a87af8c9-e731-9be2-3799-358ee718b02b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정리와 예고" id="{1b38c6db-33ec-1490-70aa-a4eebb7a6af6}">
          <p14:sldIdLst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제3부 두 번째 시간.
"오늘은 가장 어려운 질문 중 하나를 다룹니다. 내가 말할 수 없을 때, 내 몸에 대한 결정은 누가 어떻게 하는가."
법령·기관 수치가 많은 회차 — 수업 직전 국립연명의료관리기관(www.lst.go.kr)·국가법령정보센터에서 재확인한다.
최근 가족의 임종을 겪은 수강생이 있을 수 있음을 염두에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제3부: 8강 경제 → 9강 의료 → 10강 가족. 13강(임종 돌봄)에서 실무를 다시 만난다.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나의 의료 가치 질문, 사전연명의료의향서 상담 전 준비표(교육용, 법적 효력 없음), 가족대화 스크립트.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8강 과제 · 7강 30일 프로젝트
돈 이야기보다 의료 이야기가 더 어렵다고 말하는 수강생이 많다 — 오늘 주제로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8장 핵심정리
짧게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9절 ACP · 10절
대부분 사람은 떠오르지만 "말해 본 적은 없다(×)"에 표시한다. "오늘 수업의 목적은 이 × 를 ○ 로 바꾸는 것입니다."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9장 표제 · 핵심 메시지
핵심 메시지를 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9장 학습목표 1~9
학습목표 9(WLC는 의료·법률판단을 대신하지 않음)는 수업 전체에 걸쳐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9장 핵심 키워드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0:18–0:22 (4분)
📖 교재: 1절 · WLC 언어
서술형 Q5. 객관식 3번. OX 1번. 코치노트 4: "포기"라는 표현을 신중히.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0:22–0:28 (6분)
📖 교재: 2절 · 표
서술형 Q1(말기환자와 임종과정의 차이). 객관식 1번. 1강에서 "존엄사"가 아니라 "연명의료중단등결정"이 법정 용어라고 배운 것과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0:28–0:32 (4분)
📖 교재: 3절 · 법 제2조 · 시행령 제2조
서술형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0:32–0:38 (6분)
📖 교재: 4절 · 표
서술형 Q3. 객관식 2번. 필기 최빈출.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0:38–0:41 (3분)
📖 교재: 4절 · 등록기관 확인
숫자는 계속 변하므로 수업 당일 포털에서 확인해 업데이트. 가능하면 화면으로 포털 검색을 시연(영상·화면 시연 추가 위치).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0:41–0:44 (3분)
📖 교재: 5절 · WLC 주의
3강·8강의 "엔딩노트 ≠ 법적 문서" 원칙이 의료영역에서도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0:44–0:48 (4분)
📖 교재: 4절 · 표
정답: 1 사전연명의료의향서 / 2 연명의료계획서 / 3 사전연명의료의향서(19세 이상) / 4 연명의료계획서.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 무거운 내용이므로 휴식을 충분히.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1:00–1:07 (7분)
📖 교재: 6절 · 표 / 법 제17조
서술형 Q4. 핵심정리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1:07–1:13 (6분)
📖 교재: 7절 · 법 제18조
객관식 4번. OX 2번. 코치노트 2. 핵심정리 3. 미성년 환자는 친권자 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1:13–1:17 (4분)
📖 교재: 8절 · 표
모든 단계의 주체가 의료진임에 주목 — WLC의 판단 단계는 없다(코치노트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1:17–1:23 (6분)
📖 교재: 9절 · 표
서술형 Q6: 법정 서식은 ACP의 도구일 뿐 전체가 아니다. 5강 싱가포르 ACP 복습. 핵심정리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1:23–1:29 (6분)
📖 교재: 10절 · 표
의향서를 쓰고 가족에게 알리지 않으면 임종상황에서 가족이 충격과 죄책감 속에서 처음 접하게 된다. 코치노트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1:29–1:35 (6분)
📖 교재: 10절
이 문장은 3교시 가족대화 스크립트의 재료가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1:35–1:40 (5분)
📖 교재: 11절 · 표
2026.4 기준 입원형 103·가정형 40·자문형 45·요양병원 시범 5, 총 193개(변동 가능). 서술형 Q7. 객관식 5번. 코치노트 5: 너무 늦게 소개하지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1:40–1:42 (2분)
📖 교재: 12절
OX 3번.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1:42–1:45 (3분)
📖 교재: 13절 · WLC 정리
서술형 Q9. OX 4번. 코치노트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1:45–1:49 (4분)
📖 교재: 14절 · 표
서술형 Q8(중심 원칙: 환자 본인의 확인 가능한 의사). 코치노트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2:00–2:04 (4분)
📖 교재: 15절 · 표
코칭 핵심: WLC는 법적 결론을 내리지 않는다. 환자의 뜻을 중심에 돌려놓고, 가족의 감정을 안전하게 표현하게 하고, 의료진의 공식 절차로 연결한다. 10강(가족갈등 중재)과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2:04–2:07 (3분)
📖 교재: 16절 · 구분 연습
판단은 의료진. WLC는 가족이 환자의 평소 말과 행동을 정리하도록 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2:07–2:17 (10분)
📖 교재: 15~16절
감정이 깊어질 수 있는 연습. 끝나면 역할에서 나오는 시간("나는 ○○입니다, 장남이 아닙니다")을 짧게 갖는다.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2:17–2:25 (8분)
📖 교재: 17.1절 · 실습지
정답이 없는 질문. 모두 채우지 않아도 된다. 3강 "남은 삶 6영역"의 건강·돌봄 칸과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2:25–2:31 (6분)
📖 교재: 17.2절 · 중요
중요: 이 워크시트는 법적 효력이 없다. 실제 사전연명의료의향서는 19세 이상 본인이 보건복지부 지정 등록기관에서 충분한 설명을 듣고 직접 작성한다. 작성을 강요하지 않는다(비강요 원칙).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2:31–2:38 (7분)
📖 교재: 17.3절 · 실습지
희망자 1~2명 낭독. 오프닝 질문의 × 를 ○ 로 바꾸는 도구.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2:38–2:42 (4분)
📖 교재: 17.4절 · 실습지
등록기관·호스피스 기관은 lst.go.kr에서 찾아 과제로 채운다. 4강 엔딩서비스 자원지도와 합친다.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2:42–2:44 (2분)
📖 교재: 18절 · 표
서술형 Q10(전문가에게 넘길 판단 네 가지). 핵심정리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2:44–2:46 (2분)
📖 교재: 1·6·12·13절
정답: 1 X / 2 X / 3 O / 4 X
※ 9강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2절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4절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1절 · 3절
정답 ④. 인공호흡기 착용은 법률에 명시된 연명의료.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7절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11절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2:51–2:54 (3분)
📖 교재: 9장 본문 (강사 제작 문항)
객관식 5번 정답 ③(자문형)은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19절 학습점검 Q1~Q10
채점 기준(문항당 10점): 핵심요소 3개 10점 / 2개 7점 / 1개 4점 / 없음 0점, 역할경계 이탈 -3점.
※ 9장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20절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21절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17절
의향서 작성 자체는 과제로 내지 않는다(비강요). 원하는 사람만 등록기관 상담을 받도록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20절 · 제9장의 마지막 질문
10초 침묵 후 마무리. 오프닝 질문의 ×가 ○가 될 수 있도록 격려.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22절 제10장으로의 연결
의료결정은 법과 서류만으로 해결되지 않는다. 가족의 죄책감, 형제간 의견차이, 종교·가치관의 충돌이 결정을 더 어렵게 만든다. 제3부의 마지막 시간.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제9강 존엄한 의료결정·사전돌봄계획과 후견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제9강 존엄한 의료결정·사전돌봄계획과 후견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제3부 삶의 존엄을 준비하다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제9강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존엄한 의료결정·사전돌봄계획과 후견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Medical Decision-Making, Advance Care Planning &amp; Guardianship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연명의료결정제도의 언어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기본 용어·연명의료의 범위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사전연명의료의향서와 연명의료계획서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ACP·호스피스·후견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법 제17조와 제18조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ACP·가족에게 말하기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호스피스·후견·WLC 윤리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나의 의료·돌봄 가치 설계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두 가지 코칭 사례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의료 가치 질문·상담 전 준비표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가족대화 스크립트·퀴즈·예고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가족회의 한 주제, 이야기해 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8강 과제 — 30일 프로젝트 2주차(사진 20장), 재산·채무 표 완성, 가족회의 한 주제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가족과 나눈 주제와 반응을 이야기합니다.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고른 사진 20장 중 한 장의 사연을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대화가 어려웠다면 무엇이 어려웠는지 나눕니다.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가족대화에서 배운 점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지난 시간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제8강에서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삶의 안전이 먼저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생활비·돌봄비를 먼저 보호합니다.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임의후견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건강할 때 미래 의사결정을 설계합니다.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WLC는 Architect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전문가를 대신하지 않고 연결합니다.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경제가 “삶의 안전의 기반”이었다면, 오늘은 “몸에 대한 결정”입니다. 그리고 8강의 후견이 의료결정과 어디서 만나고 어디서 갈라지는지 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“내가 말할 수 없게 되었을 때,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내 뜻을 가장 잘 설명해 줄 사람은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누구일까요?”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그 사람은 내 뜻을 정말 알고 있을까요?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30초 생각한 뒤 이름 대신 관계(예: 배우자, 큰딸)만 적습니다. 그 사람에게 내 뜻을 말해 본 적이 있는지 ○/×로 표시합니다.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마지막 순간의 결정은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마지막 순간에 처음 생각하는 일이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되어서는 안 된다.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존엄한 의료결정의 핵심은 “치료를 받을 것인가 포기할 것인가”가 아니다. 나에게 중요한 삶의 가치를 미리 생각하고, 가족과 의료진이 그 뜻을 이해하도록 반복해서 대화하며, 필요한 공식 제도를 적법하게 활용하는 것이다.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기본 개념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임종과정·말기환자·연명의료·연명의료중단등결정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두 서류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사전연명의료의향서와 연명의료계획서를 구분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제17조·제18조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환자 의사 확인과 확인 불가 시 절차를 구분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기본 돌봄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중단 가능한 행위와 중단해선 안 되는 돌봄 구분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ACP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문서가 아닌 지속적 대화 과정으로 설명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호스피스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입원형·가정형·자문형의 특성 이해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환자 중심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가족의 뜻보다 환자의 확인 가능한 의사를 우선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후견과 의료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후견인이 모든 의료결정을 대신한다고 오해하지 않기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138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961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연명의료결정법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11196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1196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임종과정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29100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29100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말기환자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47004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7004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연명의료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64908" y="1691640"/>
            <a:ext cx="239115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4908" y="1691640"/>
            <a:ext cx="2391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연명의료중단등결정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487168"/>
            <a:ext cx="239115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487168"/>
            <a:ext cx="2391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사전연명의료의향서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140964" y="2487168"/>
            <a:ext cx="196138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40964" y="2487168"/>
            <a:ext cx="1961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연명의료계획서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03520" y="2487168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24871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환자의사 확인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70064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70064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가족진술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87968" y="2487168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87968" y="24871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가족 전원합의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3282696"/>
            <a:ext cx="81381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282696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ACP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63624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63624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호스피스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081528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81528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완화의료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99432" y="3282696"/>
            <a:ext cx="143560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99432" y="3282696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기본 돌봄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6208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36208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성년후견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754112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54112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임의후견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8640" y="4078224"/>
            <a:ext cx="2606040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7822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국립연명의료관리기관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두 서류의 대상·작성주체·장소, 제17조 vs 제18조, 중단해선 안 되는 기본 돌봄, 호스피스 3유형이 핵심입니다.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연명의료결정제도의 언어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치료 포기가 아니라, 치료 목표의 전환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존엄한 의료결정은 “치료 포기”와 다르다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연명의료결정법의 기본 용어와 연명의료의 범위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사전연명의료의향서와 연명의료계획서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치료 포기와 다르다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“치료를 포기한다”에서 “치료의 목표를 바꾼다”로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오해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“아무 치료도 하지 않는다”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“가족을 포기한다”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“이제 할 수 있는 게 없다”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연명의료중단등결정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임종과정에서 치료효과 없이 기간만 늘리는 의료를 법정 절차로 유보·중단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완치에서 고통 완화·삶의 질·존엄으로 목표 이동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통증 완화와 기본 돌봄은 계속됨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중단해서는 안 되는 것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통증 완화를 위한 의료행위, 영양분 공급, 물 공급, 산소의 단순 공급은 시행하지 않거나 중단해서는 안 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기본 용어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연명의료결정법의 기본 용어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용어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법적 의미의 핵심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구분할 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임종과정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회생 가능성 없고 치료에도 회복되지 않으며 급속히 악화되어 사망에 임박한 상태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일반적인 “말기”와 같지 않다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임종과정에 있는 환자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담당의사와 해당 분야 전문의 1명이 임종과정이라고 판단한 환자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판단할 수 있는 영역이 아니다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말기환자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적극적 치료에도 회복 가능성 없이 악화되어 수개월 내 사망이 예상되는 환자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임종과정보다 넓고 시간적으로 앞설 수 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임종과정 환자에게 치료효과 없이 임종기간만 연장하는 법정 의료행위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시술 자체가 언제나 연명의료인 것은 아님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연명의료중단등결정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연명의료를 시행하지 않거나 중단하기로 하는 결정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정해진 요건과 절차를 따른다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호스피스·완화의료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말기·임종과정 환자와 가족에게 신체·심리사회·영적 종합 돌봄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“죽으러 가는 곳”이 아님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연명의료의 범위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법에서 말하는 연명의료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의료행위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법률에 명시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심폐소생술, 혈액투석, 항암제 투여, 인공호흡기 착용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시행령에 추가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체외생명유지술(ECLS), 수혈, 혈압상승제 투여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그 밖의 시술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담당의사가 환자의 최선의 이익을 위해 시행하지 않거나 중단할 필요가 있다고 의학적으로 판단하는 시술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“항암제·수혈·투석을 안 받으면 연명의료중단”처럼 단순화하지 않습니다. 임종과정 환자에게 치료효과 없이 기간만 연장할 때가 연명의료입니다.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두 가지 법정 서식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사전연명의료의향서와 연명의료계획서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사전연명의료의향서(AD)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연명의료계획서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19세 이상 성인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말기환자 또는 임종과정에 있는 환자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작성주체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본인이 직접 작성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환자의 요청에 따라 담당의사가 작성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작성장소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보건복지부 지정 등록기관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의료기관윤리위원회를 등록한 의료기관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설명의무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등록기관의 상담자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담당의사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성격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건강할 때도 가능한 미래 의사표시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질환·의료상황을 반영한 구체적 계획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변경·철회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본인이 언제든 가능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환자의 의사에 따라 가능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등록기관 확인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어디서 작성하고 어디서 확인하나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844곳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C"/>
                </a:solidFill>
              </a:rPr>
              <a:t>사전연명의료의향서 등록기관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2026.9.22 기준 포털 표시 수(변동 가능)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1098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561곳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21098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의료기관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1098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의료기관윤리위원회 등록 기관(변동 가능)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0677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lst.go.kr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10677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국립연명의료관리기관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10677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등록기관·의료기관 검색, 작성·등록·조회 체계 운영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출처: 국립연명의료관리기관 포털 (2026.9.22 확인)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등록된 공식 기록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“종이 한 장”이 아니라 등록된 공식 기록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개인이 임의로 쓴 메모·가족에게 남긴 문서와 법정 사전연명의료의향서는 다릅니다.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담당의사가 관리기관을 통해 조회·확인하고, 법 제17조 절차를 거쳐 환자의 의사로 봅니다.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단순화 금지 1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“집에 종이가 있으니 바로 효력이 있다”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단순화 금지 2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“등록카드가 없으면 효력이 없다”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중요한 것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적법한 작성·등록 여부와 의료현장의 확인 절차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어느 서류일까요?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강사가 읽는 상황이 사전연명의료의향서인지 연명의료계획서인지 짝과 맞혀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“건강한 55세가 미래를 위해 등록기관에서 직접 작성했다.”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“말기 암 환자의 요청으로 담당의사가 병원에서 작성했다.”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“19세 대학생도 작성할 수 있다.”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“의료기관윤리위원회가 있는 병원에서만 작성된다.”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네 상황의 정답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연명의료중단은 치료 포기가 아니다 — 기본 돌봄은 계속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임종과정·말기의 판단은 의료진의 영역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AD는 본인·등록기관, 계획서는 의사·의료기관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누구의 뜻으로 결정하는가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ACP·호스피스·후견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가족의 뜻이 아니라, 환자의 뜻을 중심에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법 제17조(환자 의사 확인)와 제18조(확인 불가 시)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ACP — 서류보다 먼저 시작하는 대화 · 가족에게 말하기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호스피스·완화의료 · 후견과 의료결정 · WLC 윤리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법 제17조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환자의 의사는 어떻게 확인되는가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4904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경로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요건의 핵심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설명할 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연명의료계획서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의료기관에서 작성된 연명의료계획서가 있음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의료상황을 반영한 직접 의사표시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사전연명의료의향서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의사능력이 있으면 담당의사가 내용 확인 / 없으면 담당의사+해당 분야 전문의 1명이 법정 요건 확인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적법하게 작성된 의향서인지 확인 절차 필요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환자가족 진술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19세 이상 환자가 의사표현 불가 — 가족 2명 이상(1명이면 1명)의 일치된 진술 + 담당의사·전문의 1명 확인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충분한 기간 일관된 평소 의사여야 하며, 반대진술·반증이 있으면 불가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핵심 구분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“가족 2명이 동의하면 된다”는 부정확합니다. 가족이 결정하는 것이 아니라, 환자가 평소 일관되게 표시한 뜻을 진술하는 것입니다.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법 제18조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제17조와 제18조를 혼동하지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제17조 — 환자의 뜻을 확인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계획서·의향서·평소 의사에 대한 가족진술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가족은 환자의 뜻을 “진술”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결정의 주인은 환자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제18조 — 환자의 뜻을 알 수 없을 때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의사 확인도, 의사표현도 불가한 예외적 상황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성인: 법정 범위 가족 전원합의 + 담당의사·전문의 1명 확인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가족 범위: 배우자·1촌 직계 → 2촌 직계 → 형제자매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가장 중요한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제18조는 가족이 환자의 삶과 죽음을 마음대로 결정하는 권리가 아닙니다. 예외적 상황의 엄격한 절차입니다.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이행의 큰 흐름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연명의료중단등결정은 이렇게 이행된다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주체·내용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임종과정 판단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담당의사와 해당 분야 전문의 1명이 판단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환자의사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계획서·의향서·가족진술 등 법 제17조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의사 확인 불가 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 제18조의 미성년 친권자 또는 성인 가족 전원합의 검토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이행 여부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 제15조의 이행대상 요건 충족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5. 이행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담당의사가 법정 절차에 따라 시행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6. 기본 돌봄 유지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 완화·영양분·물·산소의 단순 공급은 중단 불가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7. 기록·통보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이행 과정과 결과를 기록하고 관리기관에 통보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ACP(사전돌봄계획)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서류보다 먼저 시작하는 일곱 가지 대화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ACP 주제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가치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상태에서도 지키고 싶은 것은 무엇인가?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치료 목표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완치 가능성이 낮을 때 무엇을 가장 중요하게 둘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기능·의존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어느 정도의 의존 상태를 받아들일 수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 장소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가능하다면 어디에서 돌봄 받고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역할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누가 나의 가치와 뜻을 가장 잘 이해하고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종교·영성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의료·임종에서 중요한 종교·영적 필요가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 갱신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건강상태나 생각이 바뀌면 언제 다시 이야기할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ACP의 목표는 정답을 미리 확정하는 것이 아니라, 위기 때 가족과 의료진이 환자의 가치에 가까운 결정을 하도록 대화의 흔적을 남기는 것.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가족에게 말해야 서류가 살아난다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이렇게 바꿔 말해 보세요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대화하기 어려운 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돕는 표현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“나는 연명치료 안 받을 거야.”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“회복 가능성이 없고 임종에 가까울 때, 기계로 시간을 늘리는 것보다 편안함과 가족과의 시간이 더 중요해.”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“나 죽으면 아무것도 하지 마.”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“원하지 않는 것뿐 아니라, 통증을 줄이고 곁에 있어 주는 돌봄은 계속 받고 싶어.”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 뜻대로 해 줘.”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“이런 선택을 하는 이유를 가족이 이해하면 좋겠어. 너희에게 결정을 떠넘기지 않으려고 미리 말하는 거야.”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바꿔 말하기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“나 연명치료 안 받을 거야.”를 내 가치가 담긴 문장으로 바꿔 짝에게 말해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내가 지키고 싶은 것(편안함·가족·존엄 등)을 하나 고릅니다.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“~할 때, ~보다 ~이 중요해” 형태로 문장을 만듭니다.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짝에게 말하고, 들은 사람은 “어떤 마음이 전해졌는지” 한 마디 돌려줍니다.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가치 문장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호스피스·완화의료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삶의 질을 지키는 적극적 돌봄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7548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기본 모습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적합한 상황의 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입원형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 전문병동 입원, 다학제 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증상조절과 24시간 의료·간호가 필요한 경우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가정형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 팀이 가정을 방문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집에서 지내길 원하고 가정 돌봄 여건이 있는 경우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자문형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일반 병동·외래에서 진료팀과 호스피스팀 협력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원질환 진료와 완화적 돌봄을 함께 조정할 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확대 모델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요양병원 특화모델 등 시범사업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정책·지역 인프라에 따라 다름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오해 바로잡기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호스피스는 “죽으러 가는 곳”이 아니라 고통을 줄이고 남은 시간을 의미 있게 살도록 돕는 의료입니다.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대상질환과 접근성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암 환자만 호스피스를 이용하는 것은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법정 대상질환: 암, 후천성면역결핍증, 만성폐쇄성호흡기질환, 만성간경화,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그리고 보건복지부령으로 정하는 질환(2026년 자료: 만성호흡부전 포함)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단순화 금지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“암 환자만 가능하다”고 설명하지 않습니다.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실제 이용 여부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진단·상태·기관 유형과 지정범위에 따라 다릅니다.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확인할 곳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호스피스 전문기관·국립연명의료관리기관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후견과 의료결정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연결되지만 동일하지 않다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후견 (8강)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삶 전반의 의사결정 지원체계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재산관리·생활·돌봄 지원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임의후견: 건강할 때 미리 설계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연명의료결정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특별법(연명의료결정법)의 별도 절차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제17조·제18조를 따름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후견인이 자동으로 대신하지 않음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안내 금지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“임의후견인을 정해 두면 의료결정을 전부 대신할 수 있다”고 안내하지 않습니다. 두 제도를 연결해 준비하되 법적 기능을 혼동하지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의료결정의 윤리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지켜야 할 일곱 가지 원칙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환자 중심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가족의 편의보다 확인 가능한 환자 본인의 가치·의사를 먼저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중립성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“끝까지 치료”와 “연명의료중단” 중 어느 쪽도 더 도덕적이라 말하지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비강요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의향서 작성을 성숙함의 증거처럼 강요하지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 정확성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법정 절차·서식·기관을 추측하지 않고 공식자료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 존중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가족의 죄책감·두려움·분노를 “비합리적”이라 평가하지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전문가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예후·치료효과·의사능력 판단은 의료진의 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갱신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건강과 가치가 변하므로 대화를 반복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제17조는 환자의 뜻 확인, 제18조는 예외적 가족 결정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ACP는 서류가 아니라 반복되는 대화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후견인은 연명의료결정을 자동으로 대신하지 않는다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나의 의료·돌봄 가치 설계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나의 의료·돌봄 가치 설계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어떤 치료를 원하느냐보다, 그때까지 어떤 삶을 지키고 싶은가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① 의향서는 있는데 가족이 반대할 때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② 서류가 없고 환자가 말할 수 없을 때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1~4 — 의료 가치·상담 준비·가족대화·연결망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코칭 사례 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등록된 의향서는 있는데 가족이 반대한다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감정 인정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“아버님을 포기하는 것처럼 느껴져 두려우신 마음이 크신 것 같아요.”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76856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중심 회복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“먼저 확인할 것은 가족 중 누가 무엇을 원하는지가 아니라, 아버님이 어떤 뜻을 남기셨는지예요.”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절차 안내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“등록된 의향서가 있고 의사표현이 어려우면, 담당의사와 전문의의 법정 확인 절차가 있어요.”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85032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역할 경계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“실제 이행 여부는 의료진이 임종과정과 법정 요건을 확인해 판단합니다.”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가족대화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“아버님이 왜 그 의향서를 쓰셨는지 가족이 함께 떠올려 보면 도움이 될 수 있어요.”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79세 환자가 적법하게 의향서를 등록했지만, 임종과정에서 장남이 “끝까지 모든 치료를 해야 한다”며 반대합니다.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코칭 사례 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서류가 없고 환자가 말할 수 없을 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85세 환자, 계획서·의향서 없음. 두 자녀는 “평소 기계에 의존해 오래 살고 싶지 않다고 하셨다”고 말합니다.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WLC는 “자녀 둘이 합의했으니 중단할 수 있다”고 말하지 않습니다.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제17조 1항 3호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충분한 기간 일관된 평소 의사를 가족 2명 이상이 일치되게 진술 + 의사 2인 확인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제18조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환자의 뜻 자체를 확인할 수 없을 때 법정 가족 전원합의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WLC의 핵심 이해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“뜻의 진술”과 “가족의 결정”을 혼동하지 않기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가족의 마음과 환자의 뜻 사이에서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사례 ①의 장남 역할과 WLC 역할로 대화해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장남·WLC·관찰자를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장남은 “아버지를 포기할 수 없어요”로 시작합니다.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WLC는 감정 인정 → 중심 회복 → 절차 안내 → 역할 경계 → 가족대화 순으로 4분간 대화합니다.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WLC가 “중단해야 한다/하지 말아야 한다”고 말하지 않았는지 체크합니다.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“환자의 뜻”으로 돌아온 질문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의료 가치 질문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29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생각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내가 가장 지키고 싶은 삶의 기능은 무엇인가?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의사소통이 불가능한 상태에서 장기간 치료받는 것을 어떻게 생각하는가?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통증과 호흡곤란을 줄이는 돌봄에서 무엇을 중요하게 생각하는가?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가능하다면 어느 장소에서 돌봄 받고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가치와 뜻을 가장 잘 이해하는 사람은 누구인가?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종교·영성·가족의례에서 의료진이 알아야 할 것이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17.2 실습 2 · 법적 효력 없는 교육용 워크시트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사전연명의료의향서 상담 전 준비표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질문 · 생각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연명의료의 의미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호스피스·완화의료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가족에게 알릴 내용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변경·철회 가능성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등록기관에서 꼭 물어볼 것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가족대화 스크립트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4A"/>
                </a:solidFill>
              </a:rPr>
              <a:t>“내가 이 이야기를 꺼내는 건 치료를 포기하고 싶어서가 아니라, 내가 말하지 못할 때 너희가 내 뜻을 몰라 더 힘들지 않았으면 해서야.”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위 문장을 참고해 나의 시작 문장을 씁니다.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2교시에 만든 “나의 가치 문장”을 이어 씁니다.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가족에게 부탁하고 싶은 것을 한 문장으로 씁니다.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가족대화 스크립트 3문장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17.4 실습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의료·돌봄 연결망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  <a:gridCol w="32918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사람 · 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연락 /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가족·신뢰하는 사람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주치의·의료기관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사전연명의료의향서 등록기관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호스피스·완화의료 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법률·후견 상담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지역 돌봄·복지기관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WLC의 역할과 금지선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의료결정에서 WLC가 하는 일과 하지 않는 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해서는 안 되는 일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예후·생존기간을 의학적으로 판단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법정 서식 대리 작성·의료기록 개입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가족에게 특정 결정을 설득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제17·18조 적용을 개별 사례에서 최종 판정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후견인이 의료결정을 모두 대신한다고 설명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할 수 있는 일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삶의 가치·치료목표에 관한 질문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AD와 연명의료계획서의 차이 설명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가족대화 촉진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공식 등록기관·호스피스 정보 연결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환자의 평소 뜻을 가족이 정리하도록 지원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연명의료중단등결정을 이행하면 통증 완화와 영양·물 공급도 함께 중단된다.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 제17조의 환자가족 진술은 가족이 환자 대신 결정하는 절차이다.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호스피스 대상질환에는 암 외에 만성폐쇄성호흡기질환 등도 포함된다.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임의후견인은 연명의료중단등결정을 자동으로 대신할 수 있다.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임종과정에 있는 환자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“임종과정에 있는 환자”를 판단하는 주체로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환자 가족 2명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담당의사와 해당 분야 전문의 1명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WLC와 담당의사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의료기관윤리위원회 위원장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사전연명의료의향서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사전연명의료의향서에 대한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말기환자만 작성할 수 있다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담당의사가 작성한다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19세 이상 본인이 지정 등록기관에서 직접 작성한다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한 번 작성하면 철회할 수 없다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중단해서는 안 되는 돌봄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연명의료중단등결정 이행 시에도 중단해서는 안 되는 것이 아닌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통증 완화를 위한 의료행위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영양분 공급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물 공급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인공호흡기 착용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법 제18조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법 제18조(환자의 의사를 확인할 수 없는 경우)에 대한 설명으로 옳은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 중 한 명만 동의하면 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성인 환자는 법정 범위 가족 전원합의와 담당의사·전문의 1명의 확인이 필요하다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가족 의견을 모아 결정한다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후견인이 단독으로 결정한다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호스피스 유형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원질환 진료를 받으며 일반 병동·외래에서 호스피스팀이 협력하는 유형은?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입원형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가정형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자문형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요양형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통증 완화·영양·물·산소 공급은 유지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환자의 평소 뜻을 “진술”하는 절차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암·AIDS·COPD·간경화 등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연명의료결정은 특별법 절차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담당의사 + 전문의 1명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19세 이상 본인, 지정 등록기관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④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인공호흡기는 연명의료에 해당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가족 전원합의 + 의사 2인 확인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말기환자와 임종과정에 있는 환자의 차이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연명의료에 포함될 수 있는 주요 의료행위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AD와 연명의료계획서의 대상·작성주체·장소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제17조 가족진술과 제18조 가족 전원합의의 차이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중단해서는 안 되는 기본 의료·돌봄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ACP를 의향서와 동일시하면 안 되는 이유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호스피스 입원형·가정형·자문형의 특징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환자와 가족의 뜻이 다를 때 중심 원칙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임의후견과 연명의료결정을 혼동하면 안 되는 이유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전문가에게 넘겨야 할 판단 네 가지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제9강에서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연명의료중단은 치료 포기와 같지 않다.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기간만 연장하는 의료를 법정 절차로 유보·중단한다.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환자 본인의 의사가 중심이다.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계획서 → 의향서 → 평소 의사에 대한 가족진술.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제17조와 제18조를 구분한다.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뜻을 확인하는 것과 가족이 결정하는 것은 다르다.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ACP는 문서가 아니라 대화 과정이다.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가치·목표·장소·역할을 반복해서 이야기한다.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호스피스는 적극적 돌봄이다.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통증·증상·심리사회·영적 어려움을 줄인다.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의료판단자가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가치를 탐색하고 정보를 번역하며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여덟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환자의 뜻을 중심에 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제17조와 제18조를 정확히 구분한다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서류보다 대화를 강조한다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“포기”라는 표현을 신중히 쓴다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호스피스를 너무 늦게 소개하지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후견을 만능 대리권으로 설명하지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의료판단은 의료진에게 맡긴다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최신 법령과 공식기관을 확인한다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30일 프로젝트 3주차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디지털 한 분야 — 하나의 계정목록과 사후 희망을 정리합니다.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연결망 채우기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lst.go.kr에서 가까운 등록기관과 호스피스 기관을 찾아 실습 4에 적습니다.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스크립트로 한 번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가족대화 스크립트로 “내 뜻을 설명해 줄 사람”에게 이야기합니다.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제9강의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“그때까지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어떤 삶을 지키고 싶은가?”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“마지막에 어떤 치료를 원하느냐”보다 먼저 묻는 질문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제10강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가족소통·생명윤리와 갈등중재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“가족의 사랑과 두려움이 충돌할 때, WLC는 누구의 편도 들지 않고 어떻게 환자의 뜻을 중심에 둘 수 있는가?”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가족소통: I-Message와 적극적 경청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생명윤리의 기본 원칙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연명의료를 둘러싼 가족 갈등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존엄사·안락사·조력사망의 개념 구분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중립적 갈등중재와 WLC의 역할 경계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제10장  ·  가져올 것: 가족대화 스크립트, 오늘 롤플레이에서 느낀 점 메모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제9강 존엄한 의료결정·사전돌봄계획과 후견</dc:title>
  <dc:subject>PptxGenJS Presentation</dc:subject>
  <dc:creator>삶잇다협동조합</dc:creator>
  <cp:lastModifiedBy>삶잇다협동조합</cp:lastModifiedBy>
  <cp:revision>1</cp:revision>
  <dcterms:created xsi:type="dcterms:W3CDTF">2026-10-29T23:51:55Z</dcterms:created>
  <dcterms:modified xsi:type="dcterms:W3CDTF">2026-10-29T23:51:55Z</dcterms:modified>
</cp:coreProperties>
</file>