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열기" id="{94029dfa-8de5-8b58-26fe-10d2724d8c48}">
          <p14:sldIdLst>
            <p14:sldId id="256"/>
            <p14:sldId id="257"/>
            <p14:sldId id="258"/>
            <p14:sldId id="259"/>
            <p14:sldId id="260"/>
            <p14:sldId id="261"/>
            <p14:sldId id="262"/>
            <p14:sldId id="263"/>
          </p14:sldIdLst>
        </p14:section>
        <p14:section name="1교시 자격과 윤리의 기본" id="{a5bdc92b-7b2e-2130-6017-0b3dbdf49082}">
          <p14:sldIdLst>
            <p14:sldId id="264"/>
            <p14:sldId id="265"/>
            <p14:sldId id="266"/>
            <p14:sldId id="267"/>
            <p14:sldId id="268"/>
            <p14:sldId id="269"/>
            <p14:sldId id="270"/>
            <p14:sldId id="271"/>
            <p14:sldId id="272"/>
            <p14:sldId id="273"/>
            <p14:sldId id="274"/>
          </p14:sldIdLst>
        </p14:section>
        <p14:section name="2교시 경계·이해충돌·딜레마" id="{b8830535-44bf-730f-a743-0be529a53695}">
          <p14:sldIdLst>
            <p14:sldId id="275"/>
            <p14:sldId id="276"/>
            <p14:sldId id="277"/>
            <p14:sldId id="278"/>
            <p14:sldId id="279"/>
            <p14:sldId id="280"/>
            <p14:sldId id="281"/>
            <p14:sldId id="282"/>
            <p14:sldId id="283"/>
            <p14:sldId id="284"/>
            <p14:sldId id="285"/>
            <p14:sldId id="286"/>
            <p14:sldId id="287"/>
            <p14:sldId id="288"/>
            <p14:sldId id="289"/>
          </p14:sldIdLst>
        </p14:section>
        <p14:section name="3교시 검정 준비와 지속성장" id="{18d34798-736d-72f3-25fc-b1a7e3815269}">
          <p14:sldIdLst>
            <p14:sldId id="290"/>
            <p14:sldId id="291"/>
            <p14:sldId id="292"/>
            <p14:sldId id="293"/>
            <p14:sldId id="294"/>
            <p14:sldId id="295"/>
            <p14:sldId id="296"/>
            <p14:sldId id="297"/>
            <p14:sldId id="298"/>
            <p14:sldId id="299"/>
            <p14:sldId id="300"/>
            <p14:sldId id="301"/>
            <p14:sldId id="302"/>
            <p14:sldId id="303"/>
          </p14:sldIdLst>
        </p14:section>
        <p14:section name="과정 마무리" id="{4ee0546c-7323-c828-b9e4-8b2be681d808}">
          <p14:sldIdLst>
            <p14:sldId id="304"/>
            <p14:sldId id="305"/>
            <p14:sldId id="306"/>
            <p14:sldId id="307"/>
            <p14:sldId id="308"/>
            <p14:sldId id="309"/>
            <p14:sldId id="310"/>
            <p14:sldId id="311"/>
            <p14:sldId id="31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0:00–0:01 (1분)
인사. 16강 과정의 마지막 시간.
"오늘은 WLC라는 이름으로 활동할 때 무엇을 할 수 있는가뿐 아니라 무엇을 하지 않아야 하는가를 정리하고, 자격검정을 준비하고, 함께 과정을 마무리합니다."
운영규정 우선 고지: 배점·문항·합격기준·유효기간·보수교육·갱신 규정은 운영기관 규정에 따라 달라질 수 있다. 해당 기수 수험생 안내문을 수업 전 확인해 슬라이드 수치와 대조한다.
수료 나눔을 위해 3교시 마지막 15분은 반드시 확보한다.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0:01–0:02 (1분)
📖 교재: 교재 목차
"16개의 칸이 모두 채워졌습니다." 마지막 칸을 가리키며 시작.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0:02–0:03 (1분)
오늘의 결과물: 실기시험 기획서, 윤리 위험지도, 1년 전문성 개발계획, 나의 WLC 선언.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0:03–0:07 (4분)
📖 교재: 15강 과제
선언 초안이 없는 수강생에게는 13강 "임종 돌봄 철학 선언"을 꺼내 보게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0:07–0:09 (2분)
📖 교재: 16장 핵심 메시지
"자격증은 끝이 아니라 출발선입니다."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0:09–0:13 (4분)
📖 교재: 1절
"모르는 걸 모른다고 말해서", "다른 데를 연결해 줘서"가 자주 나온다. → 오늘의 결론 "경계가 곧 신뢰".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0:13–0:14 (1분)
📖 교재: 16장 표제 · 핵심 메시지
천천히 읽는다.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0:14–0:16 (2분)
📖 교재: 16장 학습목표 1~10
굵은 키워드만 짚는다.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전환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0:16–0:19 (3분)
📖 교재: 1절 · 전문성의 기준
서술형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0:19–0:22 (3분)
📖 교재: 2절 · 표
서술형 Q2. 객관식 1번. 상위등급 요건은 운영기관 최신 규정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0:22–0:26 (4분)
📖 교재: 3절 · 표 (수험생 안내문 우선)
서술형 Q3. 객관식 2번. 해당 기수의 시험 일정·장소·준비물을 이 슬라이드에서 함께 안내.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0:26–0:30 (4분)
📖 교재: 4절 · 표
15강 GROW 롤플레잉, 각 강의 3교시 롤플레이가 모두 실기 준비였음을 짚는다. OX 1번.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0:30–0:34 (4분)
📖 교재: 4.1절 · 표
3교시에 이 틀로 자신의 시연을 기획하고 짝 앞에서 축약 시연한다.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0:34–0:36 (2분)
📖 교재: 5절 · 출제 원칙
출제 원칙: 법령 숫자보다 최신 공식자료를 확인해야 하는 상황과 역할경계 판단. 1~15강 퀴즈가 이 형식이었다.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0:36–0:41 (5분)
📖 교재: 6절 · 표
서술형 Q4. 15강 코칭 4대 원칙(존엄·공감·진정성·성찰)과 구분: 그것은 코칭의 원칙, 이것은 윤리원칙. 객관식 3번.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0:41–0:44 (3분)
📖 교재: 7절 · 첫 세션 안내 예시
서술형 Q5. 사례 2(“죽고 싶다” 메시지)로 이어진다.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0:44–0:48 (4분)
📖 교재: 8절 · 표
6·8·9강에서 다룬 선택지들이 모두 여기 모인다.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0:48–1:00 (12분)
1교시 정리 2분 + 휴식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전환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1:00–1:05 (5분)
📖 교재: 9절 · 표
서술형 Q6. 1~15강의 모든 역할경계를 한 장에 모은 표. 객관식 4번.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1:05–1:08 (3분)
📖 교재: 10절
비차별은 모두에게 같은 방식이 아니라, 다른 조건을 고려해 동등한 접근을 보장하는 것. 14강 공영장례와 연결.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1:08–1:13 (5분)
📖 교재: 11절 · 표
서술형 Q7. 14강 장례 계약의 중립성 복습. 코치노트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1:13–1:18 (5분)
📖 교재: 12절 · 표
서술형 Q8. 객관식 5번. 15강 기록 원칙의 윤리 버전. OX 3번.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1:18–1:21 (3분)
📖 교재: 13절
지역사회에서는 지인·교인·동료로 겹치기 쉽다. 겹치는 것 자체보다 비밀유지·자기결정·공정성에 미치는 영향을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1:21–1:25 (4분)
📖 교재: 14절 · 표
서술형 Q9. 다음 사례 세 개를 이 5단계로 검토한다.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1:25–1:29 (4분)
📖 교재: 15절 · 표
"제가 말씀드릴 수 없는 이유"를 정중하게 설명하는 문장을 함께 만들어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1:29–1:32 (3분)
📖 교재: 16절 · 핵심
코치노트 7: 위기에서는 안전을 우선한다. 연락처는 수업 당일 재확인. 12강 PFA와 연결. OX 2번.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1:32–1:35 (3분)
📖 교재: 17절 · 표
판매 자체를 금지하는 것이 아니라 투명성·선택권·분리를 요구한다.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1:35–1:38 (3분)
📖 교재: 18절
기록 사후 수정 금지는 자기 보호이기도 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1:38–1:43 (5분)
📖 교재: 22절 · 표
수강생의 명함·SNS 소개글을 이 표로 점검해 보게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1:43–1:49 (6분)
📖 교재: 24.2절
다음 슬라이드를 띄우기 전에 상황만 구두로 읽어 준다. △가 있다는 것이 핵심 — 윤리는 O/X만이 아니다.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전환
📖 교재: 24.2절 · 표
활동 시간 안에 함께 확인(시간 배정은 앞 활동에 포함).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1:49–2:00 (11분)
2교시 정리 1분 + 휴식 10분. 휴식 중 수료 나눔 자리 배치(원형)를 준비.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전환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2:00–2:03 (3분)
📖 교재: 19절 · 표
서술형 Q10. 코치노트 8: 혼자 성장하려 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2:03–2:05 (2분)
📖 교재: 20·21절 · 표
중대한 윤리위반·허위자격표시·전문영역 침범은 별도 절차. 활동 중단 후 복귀 시 법령·윤리 재점검.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2:05–2:14 (9분)
📖 교재: 24.1절 · 4.1절
15강 90분 설계안을 15분으로 압축한다고 생각하게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2:14–2:24 (10분)
📖 교재: 4절 · 4.1절
역할경계 침범(의료·법률 단정)이 나오면 그 자리에서 짚어 준다. 실기시험 전 마지막 리허설.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2:24–2:28 (4분)
📖 교재: 24.4절 · 실습지
가장 취약한 상황 하나에 ★ 표시.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2:28–2:32 (4분)
📖 교재: 24.5절 · 실습지
부록 16(윤리선언·1년 성장계획)에 옮겨 적고 6개월 뒤 다시 보게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2:32–2:34 (2분)
📖 교재: 4·7·12·2절
정답: 1 X / 2 X / 3 O / 4 X
※ 16강 퀴즈는 강사용 해설서에 문제은행이 없어 교재 본문을 근거로 새로 작성한 문항입니다.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2:34–2:35 (1분)
📖 교재: 2절
정답 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2:35–2:36 (1분)
📖 교재: 3절
정답 ③. 실제 시험은 해당 기수 안내문 우선.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2:36–2:37 (1분)
📖 교재: 6절
정답 ④. 나머지 하나는 비차별·공정성.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2:37–2:38 (1분)
📖 교재: 9절
정답 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2:38–2:39 (1분)
📖 교재: 12절
정답 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2:39–2:41 (2분)
📖 교재: 16장 본문 (강사 제작 문항)
객관식 5번 정답 ④는 구두로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2:41–2:42 (1분)
📖 교재: 25절 학습점검 Q1~Q10
채점 기준(문항당 10점): 핵심요소 3개 10점 / 2개 7점 / 1개 4점 / 없음 0점, 역할경계 이탈 -3점.
※ 16장 모범답안은 강사용 해설서(제1~4장)에 없으므로 교재 핵심정리·본문을 기준으로 채점. 필기시험 대비 복습 과제로 안내.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2:42–2:43 (1분)
📖 교재: 26절 핵심정리
굵은 부분을 함께 읽는다.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2:43–2:44 (1분)
📖 교재: 28절 마지막 코치 노트
10번을 강조: "죽음에 관한 모든 대화의 마지막은 지금 어떻게 살 것인가로 연결한다."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2:44–2:46 (2분)
📖 교재: 27절 기준교재 전체를 마치며
"우리는 죽음을 통해 현재의 삶을 다시 바라보고, 관계를 정리하고, 의료와 재산을 준비하고, 장례와 애도를 이해하며, 갑작스러운 상실과 임종에 안전하게 동행하고, 다시 살아갈 힘을 돕는 방법을 배웠습니다."
수강생에게 가장 기억에 남는 회차를 손으로 가리켜 보게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2:46–2:48 (2분)
📖 교재: 27절 WLC 통합철학
3강 "웰빙·웰다잉·엔딩 통합철학"으로 시작한 과정이 같은 문장으로 끝난다.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2:48–2:51 (3분)
📖 교재: 23절 윤리선언문 전문
전원 기립해 함께 낭독. 전문(全文)은 교재 23절과 부록 16 참조.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2:51–2:58 (7분)
📖 교재: 24.5절 · 부록 16
인원이 많으면 조별로 진행 후 대표 낭독. 강사도 마지막에 자신의 선언을 읽는다.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2:58–2:59 (1분)
📖 교재: 19절 · 코치노트 8
자격검정 일정과 수험생 안내문 배부를 여기서 다시 공지.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2:59–3:00 (1분)
📖 교재: 28절 코치노트 10 · 27절
과정 마무리 인사.
"한 사람의 삶 앞에서 판단을 늦추고, 경청하고, 정확히 확인하고, 필요한 곳에 연결하며, 자신의 한계를 성찰하는 매 순간이 전문성의 훈련입니다."(27절)
수료증 전달·단체사진(촬영 동의 확인) 안내.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F4E4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4E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1094415" cy="10058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F4E4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B6B6B"/>
                </a:solidFill>
              </a:rPr>
              <a:t>WLC 2급 자격과정  ·  제16강 WLC 전문직 윤리·자격검정과 지속성장</a:t>
            </a:r>
            <a:endParaRPr lang="en-US" sz="1000" dirty="0"/>
          </a:p>
        </p:txBody>
      </p:sp>
      <p:sp>
        <p:nvSpPr>
          <p:cNvPr id="3" name="Text 1"/>
          <p:cNvSpPr/>
          <p:nvPr>
            <p:ph idx="101" type="body" hasCustomPrompt="1"/>
          </p:nvPr>
        </p:nvSpPr>
        <p:spPr>
          <a:xfrm>
            <a:off x="548640" y="292608"/>
            <a:ext cx="11094415" cy="292608"/>
          </a:xfrm>
          <a:prstGeom prst="rect">
            <a:avLst/>
          </a:prstGeom>
          <a:noFill/>
          <a:ln/>
        </p:spPr>
        <p:txBody>
          <a:bodyPr wrap="square" rtlCol="0"/>
          <a:lstStyle>
            <a:lvl1pPr indent="0" marL="0">
              <a:buNone/>
              <a:defRPr lang="en-US" sz="1300" b="1" dirty="0">
                <a:solidFill>
                  <a:srgbClr val="2E7D6B"/>
                </a:solidFill>
              </a:defRPr>
            </a:lvl1pPr>
          </a:lstStyle>
          <a:p>
            <a:pPr indent="0" marL="0">
              <a:buNone/>
            </a:pPr>
            <a:endParaRPr lang="en-US" sz="1300" dirty="0"/>
          </a:p>
        </p:txBody>
      </p:sp>
      <p:sp>
        <p:nvSpPr>
          <p:cNvPr id="4" name="Text 1"/>
          <p:cNvSpPr/>
          <p:nvPr>
            <p:ph idx="102" type="title" hasCustomPrompt="1"/>
          </p:nvPr>
        </p:nvSpPr>
        <p:spPr>
          <a:xfrm>
            <a:off x="548640" y="603504"/>
            <a:ext cx="11094415" cy="658368"/>
          </a:xfrm>
          <a:prstGeom prst="rect">
            <a:avLst/>
          </a:prstGeom>
          <a:noFill/>
          <a:ln/>
        </p:spPr>
        <p:txBody>
          <a:bodyPr wrap="square" rtlCol="0"/>
          <a:lstStyle>
            <a:lvl1pPr algn="l" indent="0" marL="0">
              <a:buNone/>
              <a:defRPr lang="en-US" sz="2800" b="1" dirty="0">
                <a:solidFill>
                  <a:srgbClr val="1F4E4A"/>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CTIVITY">
    <p:bg>
      <p:bgPr>
        <a:solidFill>
          <a:srgbClr val="EAF3F0"/>
        </a:solidFill>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B6B6B"/>
                </a:solidFill>
              </a:rPr>
              <a:t>WLC 2급 자격과정  ·  제16강 WLC 전문직 윤리·자격검정과 지속성장</a:t>
            </a:r>
            <a:endParaRPr lang="en-US" sz="1000" dirty="0"/>
          </a:p>
        </p:txBody>
      </p:sp>
      <p:sp>
        <p:nvSpPr>
          <p:cNvPr id="3" name="Text 1"/>
          <p:cNvSpPr/>
          <p:nvPr>
            <p:ph idx="101" type="body" hasCustomPrompt="1"/>
          </p:nvPr>
        </p:nvSpPr>
        <p:spPr>
          <a:xfrm>
            <a:off x="548640" y="292608"/>
            <a:ext cx="11094415" cy="292608"/>
          </a:xfrm>
          <a:prstGeom prst="rect">
            <a:avLst/>
          </a:prstGeom>
          <a:noFill/>
          <a:ln/>
        </p:spPr>
        <p:txBody>
          <a:bodyPr wrap="square" rtlCol="0"/>
          <a:lstStyle>
            <a:lvl1pPr indent="0" marL="0">
              <a:buNone/>
              <a:defRPr lang="en-US" sz="1300" b="1" dirty="0">
                <a:solidFill>
                  <a:srgbClr val="2E7D6B"/>
                </a:solidFill>
              </a:defRPr>
            </a:lvl1pPr>
          </a:lstStyle>
          <a:p>
            <a:pPr indent="0" marL="0">
              <a:buNone/>
            </a:pPr>
            <a:endParaRPr lang="en-US" sz="1300" dirty="0"/>
          </a:p>
        </p:txBody>
      </p:sp>
      <p:sp>
        <p:nvSpPr>
          <p:cNvPr id="4" name="Text 1"/>
          <p:cNvSpPr/>
          <p:nvPr>
            <p:ph idx="102" type="title" hasCustomPrompt="1"/>
          </p:nvPr>
        </p:nvSpPr>
        <p:spPr>
          <a:xfrm>
            <a:off x="548640" y="603504"/>
            <a:ext cx="11094415" cy="658368"/>
          </a:xfrm>
          <a:prstGeom prst="rect">
            <a:avLst/>
          </a:prstGeom>
          <a:noFill/>
          <a:ln/>
        </p:spPr>
        <p:txBody>
          <a:bodyPr wrap="square" rtlCol="0"/>
          <a:lstStyle>
            <a:lvl1pPr algn="l" indent="0" marL="0">
              <a:buNone/>
              <a:defRPr lang="en-US" sz="2800" b="1" dirty="0">
                <a:solidFill>
                  <a:srgbClr val="1F4E4A"/>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6.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5.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5.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5.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6.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5.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6.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5.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slideLayout" Target="../slideLayouts/slideLayout6.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slideLayout" Target="../slideLayouts/slideLayout5.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2E7D6B">
              <a:alpha val="45000"/>
            </a:srgbClr>
          </a:solidFill>
          <a:ln w="12700">
            <a:solidFill>
              <a:srgbClr val="2E7D6B"/>
            </a:solidFill>
            <a:prstDash val="solid"/>
          </a:ln>
        </p:spPr>
      </p:sp>
      <p:sp>
        <p:nvSpPr>
          <p:cNvPr id="3" name="Shape 1"/>
          <p:cNvSpPr/>
          <p:nvPr/>
        </p:nvSpPr>
        <p:spPr>
          <a:xfrm>
            <a:off x="9509760" y="3566160"/>
            <a:ext cx="3840480" cy="3840480"/>
          </a:xfrm>
          <a:prstGeom prst="ellipse">
            <a:avLst/>
          </a:prstGeom>
          <a:solidFill>
            <a:srgbClr val="8FB9A8">
              <a:alpha val="30000"/>
            </a:srgbClr>
          </a:solidFill>
          <a:ln w="12700">
            <a:solidFill>
              <a:srgbClr val="8FB9A8"/>
            </a:solidFill>
            <a:prstDash val="solid"/>
          </a:ln>
        </p:spPr>
      </p:sp>
      <p:sp>
        <p:nvSpPr>
          <p:cNvPr id="4" name="Text 2"/>
          <p:cNvSpPr txBox="1"/>
          <p:nvPr/>
        </p:nvSpPr>
        <p:spPr>
          <a:xfrm>
            <a:off x="548640" y="1188720"/>
            <a:ext cx="8229600" cy="365760"/>
          </a:xfrm>
          <a:prstGeom prst="rect">
            <a:avLst/>
          </a:prstGeom>
          <a:noFill/>
          <a:ln/>
        </p:spPr>
        <p:txBody>
          <a:bodyPr wrap="square" lIns="0" tIns="0" rIns="0" bIns="0" rtlCol="0" anchor="t"/>
          <a:lstStyle/>
          <a:p>
            <a:pPr indent="0" marL="0">
              <a:buNone/>
            </a:pPr>
            <a:r>
              <a:rPr lang="en-US" sz="1600" b="1" dirty="0">
                <a:solidFill>
                  <a:srgbClr val="A8C5BC"/>
                </a:solidFill>
              </a:rPr>
              <a:t>WLC 2급 자격과정  ·  제5부 WLC로 활동하다</a:t>
            </a:r>
            <a:endParaRPr lang="en-US" sz="1600" dirty="0"/>
          </a:p>
        </p:txBody>
      </p:sp>
      <p:sp>
        <p:nvSpPr>
          <p:cNvPr id="5" name="Text 3"/>
          <p:cNvSpPr txBox="1"/>
          <p:nvPr/>
        </p:nvSpPr>
        <p:spPr>
          <a:xfrm>
            <a:off x="548640" y="1828800"/>
            <a:ext cx="8229600" cy="731520"/>
          </a:xfrm>
          <a:prstGeom prst="rect">
            <a:avLst/>
          </a:prstGeom>
          <a:noFill/>
          <a:ln/>
        </p:spPr>
        <p:txBody>
          <a:bodyPr wrap="square" lIns="0" tIns="0" rIns="0" bIns="0" rtlCol="0" anchor="t"/>
          <a:lstStyle/>
          <a:p>
            <a:pPr indent="0" marL="0">
              <a:buNone/>
            </a:pPr>
            <a:r>
              <a:rPr lang="en-US" sz="3200" b="1" dirty="0">
                <a:solidFill>
                  <a:srgbClr val="FFFFFF"/>
                </a:solidFill>
              </a:rPr>
              <a:t>제16강</a:t>
            </a:r>
            <a:endParaRPr lang="en-US" sz="3200" dirty="0"/>
          </a:p>
        </p:txBody>
      </p:sp>
      <p:sp>
        <p:nvSpPr>
          <p:cNvPr id="6" name="Text 4"/>
          <p:cNvSpPr txBox="1"/>
          <p:nvPr/>
        </p:nvSpPr>
        <p:spPr>
          <a:xfrm>
            <a:off x="548640" y="2514600"/>
            <a:ext cx="10607040" cy="1828800"/>
          </a:xfrm>
          <a:prstGeom prst="rect">
            <a:avLst/>
          </a:prstGeom>
          <a:noFill/>
          <a:ln/>
        </p:spPr>
        <p:txBody>
          <a:bodyPr wrap="square" lIns="0" tIns="0" rIns="0" bIns="0" rtlCol="0" anchor="t"/>
          <a:lstStyle/>
          <a:p>
            <a:pPr indent="0" marL="0">
              <a:buNone/>
            </a:pPr>
            <a:r>
              <a:rPr lang="en-US" sz="4800" b="1" dirty="0">
                <a:solidFill>
                  <a:srgbClr val="FFFFFF"/>
                </a:solidFill>
                <a:latin typeface="Noto Serif KR Black" pitchFamily="34" charset="0"/>
                <a:ea typeface="Noto Serif KR Black" pitchFamily="34" charset="-122"/>
                <a:cs typeface="Noto Serif KR Black" pitchFamily="34" charset="-120"/>
              </a:rPr>
              <a:t>WLC 전문직 윤리·자격검정과 지속성장</a:t>
            </a:r>
            <a:endParaRPr lang="en-US" sz="4800" dirty="0"/>
          </a:p>
        </p:txBody>
      </p:sp>
      <p:sp>
        <p:nvSpPr>
          <p:cNvPr id="7" name="Text 5"/>
          <p:cNvSpPr txBox="1"/>
          <p:nvPr/>
        </p:nvSpPr>
        <p:spPr>
          <a:xfrm>
            <a:off x="548640" y="4434840"/>
            <a:ext cx="8229600" cy="411480"/>
          </a:xfrm>
          <a:prstGeom prst="rect">
            <a:avLst/>
          </a:prstGeom>
          <a:noFill/>
          <a:ln/>
        </p:spPr>
        <p:txBody>
          <a:bodyPr wrap="square" lIns="0" tIns="0" rIns="0" bIns="0" rtlCol="0" anchor="t"/>
          <a:lstStyle/>
          <a:p>
            <a:pPr indent="0" marL="0">
              <a:buNone/>
            </a:pPr>
            <a:r>
              <a:rPr lang="en-US" sz="1800" i="1" dirty="0">
                <a:solidFill>
                  <a:srgbClr val="CFE3DC"/>
                </a:solidFill>
              </a:rPr>
              <a:t>Professional Ethics, Qualification &amp; Continuing Development</a:t>
            </a:r>
            <a:endParaRPr lang="en-US" sz="1800" dirty="0"/>
          </a:p>
        </p:txBody>
      </p:sp>
      <p:sp>
        <p:nvSpPr>
          <p:cNvPr id="8" name="Text 6"/>
          <p:cNvSpPr txBox="1"/>
          <p:nvPr/>
        </p:nvSpPr>
        <p:spPr>
          <a:xfrm>
            <a:off x="548640" y="4983480"/>
            <a:ext cx="8229600" cy="365760"/>
          </a:xfrm>
          <a:prstGeom prst="rect">
            <a:avLst/>
          </a:prstGeom>
          <a:noFill/>
          <a:ln/>
        </p:spPr>
        <p:txBody>
          <a:bodyPr wrap="square" lIns="0" tIns="0" rIns="0" bIns="0" rtlCol="0" anchor="t"/>
          <a:lstStyle/>
          <a:p>
            <a:pPr indent="0" marL="0">
              <a:buNone/>
            </a:pPr>
            <a:r>
              <a:rPr lang="en-US" sz="1500" dirty="0">
                <a:solidFill>
                  <a:srgbClr val="CFE3DC"/>
                </a:solidFill>
              </a:rPr>
              <a:t>3시간 과정  ·  1교시 50분 · 2교시 50분 · 3교시 60분</a:t>
            </a:r>
            <a:endParaRPr lang="en-US" sz="1500" dirty="0"/>
          </a:p>
        </p:txBody>
      </p:sp>
      <p:sp>
        <p:nvSpPr>
          <p:cNvPr id="9" name="Text 7"/>
          <p:cNvSpPr txBox="1"/>
          <p:nvPr/>
        </p:nvSpPr>
        <p:spPr>
          <a:xfrm>
            <a:off x="548640" y="5669280"/>
            <a:ext cx="5486400" cy="411480"/>
          </a:xfrm>
          <a:prstGeom prst="rect">
            <a:avLst/>
          </a:prstGeom>
          <a:noFill/>
          <a:ln/>
        </p:spPr>
        <p:txBody>
          <a:bodyPr wrap="square" lIns="0" tIns="0" rIns="0" bIns="0" rtlCol="0" anchor="t"/>
          <a:lstStyle/>
          <a:p>
            <a:pPr indent="0" marL="0">
              <a:buNone/>
            </a:pPr>
            <a:r>
              <a:rPr lang="en-US" sz="1800" b="1" dirty="0">
                <a:solidFill>
                  <a:srgbClr val="FFFFFF"/>
                </a:solidFill>
              </a:rPr>
              <a:t>삶잇다협동조합</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과정 안내</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WLC 2급 16강 로드맵</a:t>
            </a:r>
            <a:endParaRPr lang="en-US" sz="2800" dirty="0"/>
          </a:p>
        </p:txBody>
      </p:sp>
      <p:sp>
        <p:nvSpPr>
          <p:cNvPr id="4" name="Shape 2"/>
          <p:cNvSpPr/>
          <p:nvPr/>
        </p:nvSpPr>
        <p:spPr>
          <a:xfrm>
            <a:off x="548640" y="1508760"/>
            <a:ext cx="2072579" cy="777240"/>
          </a:xfrm>
          <a:prstGeom prst="roundRect">
            <a:avLst>
              <a:gd name="adj" fmla="val 14118"/>
            </a:avLst>
          </a:prstGeom>
          <a:solidFill>
            <a:srgbClr val="1F4E4A"/>
          </a:solidFill>
          <a:ln w="12700">
            <a:solidFill>
              <a:srgbClr val="1F4E4A"/>
            </a:solidFill>
            <a:prstDash val="solid"/>
          </a:ln>
        </p:spPr>
      </p:sp>
      <p:sp>
        <p:nvSpPr>
          <p:cNvPr id="5" name="Text 3"/>
          <p:cNvSpPr txBox="1"/>
          <p:nvPr/>
        </p:nvSpPr>
        <p:spPr>
          <a:xfrm>
            <a:off x="685800"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제1부
</a:t>
            </a:r>
            <a:pPr indent="0" marL="0">
              <a:buNone/>
            </a:pPr>
            <a:r>
              <a:rPr lang="en-US" sz="1500" b="1" dirty="0">
                <a:solidFill>
                  <a:srgbClr val="FFFFFF"/>
                </a:solidFill>
              </a:rPr>
              <a:t>삶과 죽음을 이해하다</a:t>
            </a:r>
            <a:endParaRPr lang="en-US" sz="1300" dirty="0"/>
          </a:p>
        </p:txBody>
      </p:sp>
      <p:sp>
        <p:nvSpPr>
          <p:cNvPr id="6" name="Shape 4"/>
          <p:cNvSpPr/>
          <p:nvPr/>
        </p:nvSpPr>
        <p:spPr>
          <a:xfrm>
            <a:off x="548640" y="2423160"/>
            <a:ext cx="2072579" cy="731520"/>
          </a:xfrm>
          <a:prstGeom prst="roundRect">
            <a:avLst>
              <a:gd name="adj" fmla="val 15000"/>
            </a:avLst>
          </a:prstGeom>
          <a:solidFill>
            <a:srgbClr val="EAF3F0"/>
          </a:solidFill>
          <a:ln w="12700">
            <a:solidFill>
              <a:srgbClr val="EAF3F0"/>
            </a:solidFill>
            <a:prstDash val="solid"/>
          </a:ln>
        </p:spPr>
      </p:sp>
      <p:sp>
        <p:nvSpPr>
          <p:cNvPr id="7" name="Text 5"/>
          <p:cNvSpPr txBox="1"/>
          <p:nvPr/>
        </p:nvSpPr>
        <p:spPr>
          <a:xfrm>
            <a:off x="685800"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1강  </a:t>
            </a:r>
            <a:pPr indent="0" marL="0">
              <a:buNone/>
            </a:pPr>
            <a:r>
              <a:rPr lang="en-US" sz="1300" dirty="0">
                <a:solidFill>
                  <a:srgbClr val="222222"/>
                </a:solidFill>
              </a:rPr>
              <a:t>죽음을 이해하는 통찰</a:t>
            </a:r>
            <a:endParaRPr lang="en-US" sz="1300" dirty="0"/>
          </a:p>
        </p:txBody>
      </p:sp>
      <p:sp>
        <p:nvSpPr>
          <p:cNvPr id="8" name="Shape 6"/>
          <p:cNvSpPr/>
          <p:nvPr/>
        </p:nvSpPr>
        <p:spPr>
          <a:xfrm>
            <a:off x="548640" y="3264408"/>
            <a:ext cx="2072579" cy="731520"/>
          </a:xfrm>
          <a:prstGeom prst="roundRect">
            <a:avLst>
              <a:gd name="adj" fmla="val 15000"/>
            </a:avLst>
          </a:prstGeom>
          <a:solidFill>
            <a:srgbClr val="EAF3F0"/>
          </a:solidFill>
          <a:ln w="12700">
            <a:solidFill>
              <a:srgbClr val="EAF3F0"/>
            </a:solidFill>
            <a:prstDash val="solid"/>
          </a:ln>
        </p:spPr>
      </p:sp>
      <p:sp>
        <p:nvSpPr>
          <p:cNvPr id="9" name="Text 7"/>
          <p:cNvSpPr txBox="1"/>
          <p:nvPr/>
        </p:nvSpPr>
        <p:spPr>
          <a:xfrm>
            <a:off x="685800"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2강  </a:t>
            </a:r>
            <a:pPr indent="0" marL="0">
              <a:buNone/>
            </a:pPr>
            <a:r>
              <a:rPr lang="en-US" sz="1300" dirty="0">
                <a:solidFill>
                  <a:srgbClr val="222222"/>
                </a:solidFill>
              </a:rPr>
              <a:t>초고령사회와 죽음교육</a:t>
            </a:r>
            <a:endParaRPr lang="en-US" sz="1300" dirty="0"/>
          </a:p>
        </p:txBody>
      </p:sp>
      <p:sp>
        <p:nvSpPr>
          <p:cNvPr id="10" name="Shape 8"/>
          <p:cNvSpPr/>
          <p:nvPr/>
        </p:nvSpPr>
        <p:spPr>
          <a:xfrm>
            <a:off x="548640" y="4105656"/>
            <a:ext cx="2072579" cy="731520"/>
          </a:xfrm>
          <a:prstGeom prst="roundRect">
            <a:avLst>
              <a:gd name="adj" fmla="val 15000"/>
            </a:avLst>
          </a:prstGeom>
          <a:solidFill>
            <a:srgbClr val="EAF3F0"/>
          </a:solidFill>
          <a:ln w="12700">
            <a:solidFill>
              <a:srgbClr val="EAF3F0"/>
            </a:solidFill>
            <a:prstDash val="solid"/>
          </a:ln>
        </p:spPr>
      </p:sp>
      <p:sp>
        <p:nvSpPr>
          <p:cNvPr id="11" name="Text 9"/>
          <p:cNvSpPr txBox="1"/>
          <p:nvPr/>
        </p:nvSpPr>
        <p:spPr>
          <a:xfrm>
            <a:off x="685800" y="4151376"/>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3강  </a:t>
            </a:r>
            <a:pPr indent="0" marL="0">
              <a:buNone/>
            </a:pPr>
            <a:r>
              <a:rPr lang="en-US" sz="1300" dirty="0">
                <a:solidFill>
                  <a:srgbClr val="222222"/>
                </a:solidFill>
              </a:rPr>
              <a:t>웰빙·웰다잉·엔딩 통합철학</a:t>
            </a:r>
            <a:endParaRPr lang="en-US" sz="1300" dirty="0"/>
          </a:p>
        </p:txBody>
      </p:sp>
      <p:sp>
        <p:nvSpPr>
          <p:cNvPr id="12" name="Shape 10"/>
          <p:cNvSpPr/>
          <p:nvPr/>
        </p:nvSpPr>
        <p:spPr>
          <a:xfrm>
            <a:off x="2804099" y="1508760"/>
            <a:ext cx="2072579" cy="777240"/>
          </a:xfrm>
          <a:prstGeom prst="roundRect">
            <a:avLst>
              <a:gd name="adj" fmla="val 14118"/>
            </a:avLst>
          </a:prstGeom>
          <a:solidFill>
            <a:srgbClr val="1F4E4A"/>
          </a:solidFill>
          <a:ln w="12700">
            <a:solidFill>
              <a:srgbClr val="1F4E4A"/>
            </a:solidFill>
            <a:prstDash val="solid"/>
          </a:ln>
        </p:spPr>
      </p:sp>
      <p:sp>
        <p:nvSpPr>
          <p:cNvPr id="13" name="Text 11"/>
          <p:cNvSpPr txBox="1"/>
          <p:nvPr/>
        </p:nvSpPr>
        <p:spPr>
          <a:xfrm>
            <a:off x="2941259"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제2부
</a:t>
            </a:r>
            <a:pPr indent="0" marL="0">
              <a:buNone/>
            </a:pPr>
            <a:r>
              <a:rPr lang="en-US" sz="1500" b="1" dirty="0">
                <a:solidFill>
                  <a:srgbClr val="FFFFFF"/>
                </a:solidFill>
              </a:rPr>
              <a:t>변화하는 죽음문화</a:t>
            </a:r>
            <a:endParaRPr lang="en-US" sz="1300" dirty="0"/>
          </a:p>
        </p:txBody>
      </p:sp>
      <p:sp>
        <p:nvSpPr>
          <p:cNvPr id="14" name="Shape 12"/>
          <p:cNvSpPr/>
          <p:nvPr/>
        </p:nvSpPr>
        <p:spPr>
          <a:xfrm>
            <a:off x="2804099" y="2423160"/>
            <a:ext cx="2072579" cy="731520"/>
          </a:xfrm>
          <a:prstGeom prst="roundRect">
            <a:avLst>
              <a:gd name="adj" fmla="val 15000"/>
            </a:avLst>
          </a:prstGeom>
          <a:solidFill>
            <a:srgbClr val="EAF3F0"/>
          </a:solidFill>
          <a:ln w="12700">
            <a:solidFill>
              <a:srgbClr val="EAF3F0"/>
            </a:solidFill>
            <a:prstDash val="solid"/>
          </a:ln>
        </p:spPr>
      </p:sp>
      <p:sp>
        <p:nvSpPr>
          <p:cNvPr id="15" name="Text 13"/>
          <p:cNvSpPr txBox="1"/>
          <p:nvPr/>
        </p:nvSpPr>
        <p:spPr>
          <a:xfrm>
            <a:off x="2941259"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4강  </a:t>
            </a:r>
            <a:pPr indent="0" marL="0">
              <a:buNone/>
            </a:pPr>
            <a:r>
              <a:rPr lang="en-US" sz="1300" dirty="0">
                <a:solidFill>
                  <a:srgbClr val="222222"/>
                </a:solidFill>
              </a:rPr>
              <a:t>웰다잉 문화와 엔딩산업</a:t>
            </a:r>
            <a:endParaRPr lang="en-US" sz="1300" dirty="0"/>
          </a:p>
        </p:txBody>
      </p:sp>
      <p:sp>
        <p:nvSpPr>
          <p:cNvPr id="16" name="Shape 14"/>
          <p:cNvSpPr/>
          <p:nvPr/>
        </p:nvSpPr>
        <p:spPr>
          <a:xfrm>
            <a:off x="2804099" y="3264408"/>
            <a:ext cx="2072579" cy="731520"/>
          </a:xfrm>
          <a:prstGeom prst="roundRect">
            <a:avLst>
              <a:gd name="adj" fmla="val 15000"/>
            </a:avLst>
          </a:prstGeom>
          <a:solidFill>
            <a:srgbClr val="EAF3F0"/>
          </a:solidFill>
          <a:ln w="12700">
            <a:solidFill>
              <a:srgbClr val="EAF3F0"/>
            </a:solidFill>
            <a:prstDash val="solid"/>
          </a:ln>
        </p:spPr>
      </p:sp>
      <p:sp>
        <p:nvSpPr>
          <p:cNvPr id="17" name="Text 15"/>
          <p:cNvSpPr txBox="1"/>
          <p:nvPr/>
        </p:nvSpPr>
        <p:spPr>
          <a:xfrm>
            <a:off x="2941259"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5강  </a:t>
            </a:r>
            <a:pPr indent="0" marL="0">
              <a:buNone/>
            </a:pPr>
            <a:r>
              <a:rPr lang="en-US" sz="1300" dirty="0">
                <a:solidFill>
                  <a:srgbClr val="222222"/>
                </a:solidFill>
              </a:rPr>
              <a:t>일본 슈카츠와 세계 웰다잉</a:t>
            </a:r>
            <a:endParaRPr lang="en-US" sz="1300" dirty="0"/>
          </a:p>
        </p:txBody>
      </p:sp>
      <p:sp>
        <p:nvSpPr>
          <p:cNvPr id="18" name="Shape 16"/>
          <p:cNvSpPr/>
          <p:nvPr/>
        </p:nvSpPr>
        <p:spPr>
          <a:xfrm>
            <a:off x="2804099" y="4105656"/>
            <a:ext cx="2072579" cy="731520"/>
          </a:xfrm>
          <a:prstGeom prst="roundRect">
            <a:avLst>
              <a:gd name="adj" fmla="val 15000"/>
            </a:avLst>
          </a:prstGeom>
          <a:solidFill>
            <a:srgbClr val="EAF3F0"/>
          </a:solidFill>
          <a:ln w="12700">
            <a:solidFill>
              <a:srgbClr val="EAF3F0"/>
            </a:solidFill>
            <a:prstDash val="solid"/>
          </a:ln>
        </p:spPr>
      </p:sp>
      <p:sp>
        <p:nvSpPr>
          <p:cNvPr id="19" name="Text 17"/>
          <p:cNvSpPr txBox="1"/>
          <p:nvPr/>
        </p:nvSpPr>
        <p:spPr>
          <a:xfrm>
            <a:off x="2941259" y="4151376"/>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6강  </a:t>
            </a:r>
            <a:pPr indent="0" marL="0">
              <a:buNone/>
            </a:pPr>
            <a:r>
              <a:rPr lang="en-US" sz="1300" dirty="0">
                <a:solidFill>
                  <a:srgbClr val="222222"/>
                </a:solidFill>
              </a:rPr>
              <a:t>장례·장묘 제도의 변화</a:t>
            </a:r>
            <a:endParaRPr lang="en-US" sz="1300" dirty="0"/>
          </a:p>
        </p:txBody>
      </p:sp>
      <p:sp>
        <p:nvSpPr>
          <p:cNvPr id="20" name="Shape 18"/>
          <p:cNvSpPr/>
          <p:nvPr/>
        </p:nvSpPr>
        <p:spPr>
          <a:xfrm>
            <a:off x="2804099" y="4946904"/>
            <a:ext cx="2072579" cy="731520"/>
          </a:xfrm>
          <a:prstGeom prst="roundRect">
            <a:avLst>
              <a:gd name="adj" fmla="val 15000"/>
            </a:avLst>
          </a:prstGeom>
          <a:solidFill>
            <a:srgbClr val="EAF3F0"/>
          </a:solidFill>
          <a:ln w="12700">
            <a:solidFill>
              <a:srgbClr val="EAF3F0"/>
            </a:solidFill>
            <a:prstDash val="solid"/>
          </a:ln>
        </p:spPr>
      </p:sp>
      <p:sp>
        <p:nvSpPr>
          <p:cNvPr id="21" name="Text 19"/>
          <p:cNvSpPr txBox="1"/>
          <p:nvPr/>
        </p:nvSpPr>
        <p:spPr>
          <a:xfrm>
            <a:off x="2941259" y="4992624"/>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7강  </a:t>
            </a:r>
            <a:pPr indent="0" marL="0">
              <a:buNone/>
            </a:pPr>
            <a:r>
              <a:rPr lang="en-US" sz="1300" dirty="0">
                <a:solidFill>
                  <a:srgbClr val="222222"/>
                </a:solidFill>
              </a:rPr>
              <a:t>생전정리·유품·디지털 유산</a:t>
            </a:r>
            <a:endParaRPr lang="en-US" sz="1300" dirty="0"/>
          </a:p>
        </p:txBody>
      </p:sp>
      <p:sp>
        <p:nvSpPr>
          <p:cNvPr id="22" name="Shape 20"/>
          <p:cNvSpPr/>
          <p:nvPr/>
        </p:nvSpPr>
        <p:spPr>
          <a:xfrm>
            <a:off x="5059558" y="1508760"/>
            <a:ext cx="2072579" cy="777240"/>
          </a:xfrm>
          <a:prstGeom prst="roundRect">
            <a:avLst>
              <a:gd name="adj" fmla="val 14118"/>
            </a:avLst>
          </a:prstGeom>
          <a:solidFill>
            <a:srgbClr val="1F4E4A"/>
          </a:solidFill>
          <a:ln w="12700">
            <a:solidFill>
              <a:srgbClr val="1F4E4A"/>
            </a:solidFill>
            <a:prstDash val="solid"/>
          </a:ln>
        </p:spPr>
      </p:sp>
      <p:sp>
        <p:nvSpPr>
          <p:cNvPr id="23" name="Text 21"/>
          <p:cNvSpPr txBox="1"/>
          <p:nvPr/>
        </p:nvSpPr>
        <p:spPr>
          <a:xfrm>
            <a:off x="5196718"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제3부
</a:t>
            </a:r>
            <a:pPr indent="0" marL="0">
              <a:buNone/>
            </a:pPr>
            <a:r>
              <a:rPr lang="en-US" sz="1500" b="1" dirty="0">
                <a:solidFill>
                  <a:srgbClr val="FFFFFF"/>
                </a:solidFill>
              </a:rPr>
              <a:t>삶의 존엄을 준비하다</a:t>
            </a:r>
            <a:endParaRPr lang="en-US" sz="1300" dirty="0"/>
          </a:p>
        </p:txBody>
      </p:sp>
      <p:sp>
        <p:nvSpPr>
          <p:cNvPr id="24" name="Shape 22"/>
          <p:cNvSpPr/>
          <p:nvPr/>
        </p:nvSpPr>
        <p:spPr>
          <a:xfrm>
            <a:off x="5059558" y="2423160"/>
            <a:ext cx="2072579" cy="731520"/>
          </a:xfrm>
          <a:prstGeom prst="roundRect">
            <a:avLst>
              <a:gd name="adj" fmla="val 15000"/>
            </a:avLst>
          </a:prstGeom>
          <a:solidFill>
            <a:srgbClr val="EAF3F0"/>
          </a:solidFill>
          <a:ln w="12700">
            <a:solidFill>
              <a:srgbClr val="EAF3F0"/>
            </a:solidFill>
            <a:prstDash val="solid"/>
          </a:ln>
        </p:spPr>
      </p:sp>
      <p:sp>
        <p:nvSpPr>
          <p:cNvPr id="25" name="Text 23"/>
          <p:cNvSpPr txBox="1"/>
          <p:nvPr/>
        </p:nvSpPr>
        <p:spPr>
          <a:xfrm>
            <a:off x="5196718"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8강  </a:t>
            </a:r>
            <a:pPr indent="0" marL="0">
              <a:buNone/>
            </a:pPr>
            <a:r>
              <a:rPr lang="en-US" sz="1300" dirty="0">
                <a:solidFill>
                  <a:srgbClr val="222222"/>
                </a:solidFill>
              </a:rPr>
              <a:t>경제적 웰다잉과 재산 보호</a:t>
            </a:r>
            <a:endParaRPr lang="en-US" sz="1300" dirty="0"/>
          </a:p>
        </p:txBody>
      </p:sp>
      <p:sp>
        <p:nvSpPr>
          <p:cNvPr id="26" name="Shape 24"/>
          <p:cNvSpPr/>
          <p:nvPr/>
        </p:nvSpPr>
        <p:spPr>
          <a:xfrm>
            <a:off x="5059558" y="3264408"/>
            <a:ext cx="2072579" cy="731520"/>
          </a:xfrm>
          <a:prstGeom prst="roundRect">
            <a:avLst>
              <a:gd name="adj" fmla="val 15000"/>
            </a:avLst>
          </a:prstGeom>
          <a:solidFill>
            <a:srgbClr val="EAF3F0"/>
          </a:solidFill>
          <a:ln w="12700">
            <a:solidFill>
              <a:srgbClr val="EAF3F0"/>
            </a:solidFill>
            <a:prstDash val="solid"/>
          </a:ln>
        </p:spPr>
      </p:sp>
      <p:sp>
        <p:nvSpPr>
          <p:cNvPr id="27" name="Text 25"/>
          <p:cNvSpPr txBox="1"/>
          <p:nvPr/>
        </p:nvSpPr>
        <p:spPr>
          <a:xfrm>
            <a:off x="5196718"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9강  </a:t>
            </a:r>
            <a:pPr indent="0" marL="0">
              <a:buNone/>
            </a:pPr>
            <a:r>
              <a:rPr lang="en-US" sz="1300" dirty="0">
                <a:solidFill>
                  <a:srgbClr val="222222"/>
                </a:solidFill>
              </a:rPr>
              <a:t>의료결정·사전돌봄·후견</a:t>
            </a:r>
            <a:endParaRPr lang="en-US" sz="1300" dirty="0"/>
          </a:p>
        </p:txBody>
      </p:sp>
      <p:sp>
        <p:nvSpPr>
          <p:cNvPr id="28" name="Shape 26"/>
          <p:cNvSpPr/>
          <p:nvPr/>
        </p:nvSpPr>
        <p:spPr>
          <a:xfrm>
            <a:off x="5059558" y="4105656"/>
            <a:ext cx="2072579" cy="731520"/>
          </a:xfrm>
          <a:prstGeom prst="roundRect">
            <a:avLst>
              <a:gd name="adj" fmla="val 15000"/>
            </a:avLst>
          </a:prstGeom>
          <a:solidFill>
            <a:srgbClr val="EAF3F0"/>
          </a:solidFill>
          <a:ln w="12700">
            <a:solidFill>
              <a:srgbClr val="EAF3F0"/>
            </a:solidFill>
            <a:prstDash val="solid"/>
          </a:ln>
        </p:spPr>
      </p:sp>
      <p:sp>
        <p:nvSpPr>
          <p:cNvPr id="29" name="Text 27"/>
          <p:cNvSpPr txBox="1"/>
          <p:nvPr/>
        </p:nvSpPr>
        <p:spPr>
          <a:xfrm>
            <a:off x="5196718" y="4151376"/>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10강  </a:t>
            </a:r>
            <a:pPr indent="0" marL="0">
              <a:buNone/>
            </a:pPr>
            <a:r>
              <a:rPr lang="en-US" sz="1300" dirty="0">
                <a:solidFill>
                  <a:srgbClr val="222222"/>
                </a:solidFill>
              </a:rPr>
              <a:t>가족소통·생명윤리·갈등중재</a:t>
            </a:r>
            <a:endParaRPr lang="en-US" sz="1300" dirty="0"/>
          </a:p>
        </p:txBody>
      </p:sp>
      <p:sp>
        <p:nvSpPr>
          <p:cNvPr id="30" name="Shape 28"/>
          <p:cNvSpPr/>
          <p:nvPr/>
        </p:nvSpPr>
        <p:spPr>
          <a:xfrm>
            <a:off x="7315017" y="1508760"/>
            <a:ext cx="2072579" cy="777240"/>
          </a:xfrm>
          <a:prstGeom prst="roundRect">
            <a:avLst>
              <a:gd name="adj" fmla="val 14118"/>
            </a:avLst>
          </a:prstGeom>
          <a:solidFill>
            <a:srgbClr val="1F4E4A"/>
          </a:solidFill>
          <a:ln w="12700">
            <a:solidFill>
              <a:srgbClr val="1F4E4A"/>
            </a:solidFill>
            <a:prstDash val="solid"/>
          </a:ln>
        </p:spPr>
      </p:sp>
      <p:sp>
        <p:nvSpPr>
          <p:cNvPr id="31" name="Text 29"/>
          <p:cNvSpPr txBox="1"/>
          <p:nvPr/>
        </p:nvSpPr>
        <p:spPr>
          <a:xfrm>
            <a:off x="7452177"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제4부
</a:t>
            </a:r>
            <a:pPr indent="0" marL="0">
              <a:buNone/>
            </a:pPr>
            <a:r>
              <a:rPr lang="en-US" sz="1500" b="1" dirty="0">
                <a:solidFill>
                  <a:srgbClr val="FFFFFF"/>
                </a:solidFill>
              </a:rPr>
              <a:t>상실과 임종을 동행하다</a:t>
            </a:r>
            <a:endParaRPr lang="en-US" sz="1300" dirty="0"/>
          </a:p>
        </p:txBody>
      </p:sp>
      <p:sp>
        <p:nvSpPr>
          <p:cNvPr id="32" name="Shape 30"/>
          <p:cNvSpPr/>
          <p:nvPr/>
        </p:nvSpPr>
        <p:spPr>
          <a:xfrm>
            <a:off x="7315017" y="2423160"/>
            <a:ext cx="2072579" cy="731520"/>
          </a:xfrm>
          <a:prstGeom prst="roundRect">
            <a:avLst>
              <a:gd name="adj" fmla="val 15000"/>
            </a:avLst>
          </a:prstGeom>
          <a:solidFill>
            <a:srgbClr val="EAF3F0"/>
          </a:solidFill>
          <a:ln w="12700">
            <a:solidFill>
              <a:srgbClr val="EAF3F0"/>
            </a:solidFill>
            <a:prstDash val="solid"/>
          </a:ln>
        </p:spPr>
      </p:sp>
      <p:sp>
        <p:nvSpPr>
          <p:cNvPr id="33" name="Text 31"/>
          <p:cNvSpPr txBox="1"/>
          <p:nvPr/>
        </p:nvSpPr>
        <p:spPr>
          <a:xfrm>
            <a:off x="7452177"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11강  </a:t>
            </a:r>
            <a:pPr indent="0" marL="0">
              <a:buNone/>
            </a:pPr>
            <a:r>
              <a:rPr lang="en-US" sz="1300" dirty="0">
                <a:solidFill>
                  <a:srgbClr val="222222"/>
                </a:solidFill>
              </a:rPr>
              <a:t>상실·애도와 관계회복</a:t>
            </a:r>
            <a:endParaRPr lang="en-US" sz="1300" dirty="0"/>
          </a:p>
        </p:txBody>
      </p:sp>
      <p:sp>
        <p:nvSpPr>
          <p:cNvPr id="34" name="Shape 32"/>
          <p:cNvSpPr/>
          <p:nvPr/>
        </p:nvSpPr>
        <p:spPr>
          <a:xfrm>
            <a:off x="7315017" y="3264408"/>
            <a:ext cx="2072579" cy="731520"/>
          </a:xfrm>
          <a:prstGeom prst="roundRect">
            <a:avLst>
              <a:gd name="adj" fmla="val 15000"/>
            </a:avLst>
          </a:prstGeom>
          <a:solidFill>
            <a:srgbClr val="EAF3F0"/>
          </a:solidFill>
          <a:ln w="12700">
            <a:solidFill>
              <a:srgbClr val="EAF3F0"/>
            </a:solidFill>
            <a:prstDash val="solid"/>
          </a:ln>
        </p:spPr>
      </p:sp>
      <p:sp>
        <p:nvSpPr>
          <p:cNvPr id="35" name="Text 33"/>
          <p:cNvSpPr txBox="1"/>
          <p:nvPr/>
        </p:nvSpPr>
        <p:spPr>
          <a:xfrm>
            <a:off x="7452177"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12강  </a:t>
            </a:r>
            <a:pPr indent="0" marL="0">
              <a:buNone/>
            </a:pPr>
            <a:r>
              <a:rPr lang="en-US" sz="1300" dirty="0">
                <a:solidFill>
                  <a:srgbClr val="222222"/>
                </a:solidFill>
              </a:rPr>
              <a:t>예기치 않은 죽음·재난</a:t>
            </a:r>
            <a:endParaRPr lang="en-US" sz="1300" dirty="0"/>
          </a:p>
        </p:txBody>
      </p:sp>
      <p:sp>
        <p:nvSpPr>
          <p:cNvPr id="36" name="Shape 34"/>
          <p:cNvSpPr/>
          <p:nvPr/>
        </p:nvSpPr>
        <p:spPr>
          <a:xfrm>
            <a:off x="7315017" y="4105656"/>
            <a:ext cx="2072579" cy="731520"/>
          </a:xfrm>
          <a:prstGeom prst="roundRect">
            <a:avLst>
              <a:gd name="adj" fmla="val 15000"/>
            </a:avLst>
          </a:prstGeom>
          <a:solidFill>
            <a:srgbClr val="EAF3F0"/>
          </a:solidFill>
          <a:ln w="12700">
            <a:solidFill>
              <a:srgbClr val="EAF3F0"/>
            </a:solidFill>
            <a:prstDash val="solid"/>
          </a:ln>
        </p:spPr>
      </p:sp>
      <p:sp>
        <p:nvSpPr>
          <p:cNvPr id="37" name="Text 35"/>
          <p:cNvSpPr txBox="1"/>
          <p:nvPr/>
        </p:nvSpPr>
        <p:spPr>
          <a:xfrm>
            <a:off x="7452177" y="4151376"/>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13강  </a:t>
            </a:r>
            <a:pPr indent="0" marL="0">
              <a:buNone/>
            </a:pPr>
            <a:r>
              <a:rPr lang="en-US" sz="1300" dirty="0">
                <a:solidFill>
                  <a:srgbClr val="222222"/>
                </a:solidFill>
              </a:rPr>
              <a:t>임종 단계별 돌봄 실무</a:t>
            </a:r>
            <a:endParaRPr lang="en-US" sz="1300" dirty="0"/>
          </a:p>
        </p:txBody>
      </p:sp>
      <p:sp>
        <p:nvSpPr>
          <p:cNvPr id="38" name="Shape 36"/>
          <p:cNvSpPr/>
          <p:nvPr/>
        </p:nvSpPr>
        <p:spPr>
          <a:xfrm>
            <a:off x="7315017" y="4946904"/>
            <a:ext cx="2072579" cy="731520"/>
          </a:xfrm>
          <a:prstGeom prst="roundRect">
            <a:avLst>
              <a:gd name="adj" fmla="val 15000"/>
            </a:avLst>
          </a:prstGeom>
          <a:solidFill>
            <a:srgbClr val="EAF3F0"/>
          </a:solidFill>
          <a:ln w="12700">
            <a:solidFill>
              <a:srgbClr val="EAF3F0"/>
            </a:solidFill>
            <a:prstDash val="solid"/>
          </a:ln>
        </p:spPr>
      </p:sp>
      <p:sp>
        <p:nvSpPr>
          <p:cNvPr id="39" name="Text 37"/>
          <p:cNvSpPr txBox="1"/>
          <p:nvPr/>
        </p:nvSpPr>
        <p:spPr>
          <a:xfrm>
            <a:off x="7452177" y="4992624"/>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14강  </a:t>
            </a:r>
            <a:pPr indent="0" marL="0">
              <a:buNone/>
            </a:pPr>
            <a:r>
              <a:rPr lang="en-US" sz="1300" dirty="0">
                <a:solidFill>
                  <a:srgbClr val="222222"/>
                </a:solidFill>
              </a:rPr>
              <a:t>사망 직후 초기지원</a:t>
            </a:r>
            <a:endParaRPr lang="en-US" sz="1300" dirty="0"/>
          </a:p>
        </p:txBody>
      </p:sp>
      <p:sp>
        <p:nvSpPr>
          <p:cNvPr id="40" name="Shape 38"/>
          <p:cNvSpPr/>
          <p:nvPr/>
        </p:nvSpPr>
        <p:spPr>
          <a:xfrm>
            <a:off x="9570476" y="1508760"/>
            <a:ext cx="2072579" cy="777240"/>
          </a:xfrm>
          <a:prstGeom prst="roundRect">
            <a:avLst>
              <a:gd name="adj" fmla="val 14118"/>
            </a:avLst>
          </a:prstGeom>
          <a:solidFill>
            <a:srgbClr val="1F4E4A"/>
          </a:solidFill>
          <a:ln w="12700">
            <a:solidFill>
              <a:srgbClr val="1F4E4A"/>
            </a:solidFill>
            <a:prstDash val="solid"/>
          </a:ln>
        </p:spPr>
      </p:sp>
      <p:sp>
        <p:nvSpPr>
          <p:cNvPr id="41" name="Text 39"/>
          <p:cNvSpPr txBox="1"/>
          <p:nvPr/>
        </p:nvSpPr>
        <p:spPr>
          <a:xfrm>
            <a:off x="9707636"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제5부
</a:t>
            </a:r>
            <a:pPr indent="0" marL="0">
              <a:buNone/>
            </a:pPr>
            <a:r>
              <a:rPr lang="en-US" sz="1500" b="1" dirty="0">
                <a:solidFill>
                  <a:srgbClr val="FFFFFF"/>
                </a:solidFill>
              </a:rPr>
              <a:t>WLC로 활동하다</a:t>
            </a:r>
            <a:endParaRPr lang="en-US" sz="1300" dirty="0"/>
          </a:p>
        </p:txBody>
      </p:sp>
      <p:sp>
        <p:nvSpPr>
          <p:cNvPr id="42" name="Shape 40"/>
          <p:cNvSpPr/>
          <p:nvPr/>
        </p:nvSpPr>
        <p:spPr>
          <a:xfrm>
            <a:off x="9570476" y="2423160"/>
            <a:ext cx="2072579" cy="731520"/>
          </a:xfrm>
          <a:prstGeom prst="roundRect">
            <a:avLst>
              <a:gd name="adj" fmla="val 15000"/>
            </a:avLst>
          </a:prstGeom>
          <a:solidFill>
            <a:srgbClr val="EAF3F0"/>
          </a:solidFill>
          <a:ln w="12700">
            <a:solidFill>
              <a:srgbClr val="EAF3F0"/>
            </a:solidFill>
            <a:prstDash val="solid"/>
          </a:ln>
        </p:spPr>
      </p:sp>
      <p:sp>
        <p:nvSpPr>
          <p:cNvPr id="43" name="Text 41"/>
          <p:cNvSpPr txBox="1"/>
          <p:nvPr/>
        </p:nvSpPr>
        <p:spPr>
          <a:xfrm>
            <a:off x="9707636"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15강  </a:t>
            </a:r>
            <a:pPr indent="0" marL="0">
              <a:buNone/>
            </a:pPr>
            <a:r>
              <a:rPr lang="en-US" sz="1300" dirty="0">
                <a:solidFill>
                  <a:srgbClr val="222222"/>
                </a:solidFill>
              </a:rPr>
              <a:t>WLC 코칭 실무·교육 운영</a:t>
            </a:r>
            <a:endParaRPr lang="en-US" sz="1300" dirty="0"/>
          </a:p>
        </p:txBody>
      </p:sp>
      <p:sp>
        <p:nvSpPr>
          <p:cNvPr id="44" name="Shape 42"/>
          <p:cNvSpPr/>
          <p:nvPr/>
        </p:nvSpPr>
        <p:spPr>
          <a:xfrm>
            <a:off x="9570476" y="3264408"/>
            <a:ext cx="2072579" cy="731520"/>
          </a:xfrm>
          <a:prstGeom prst="roundRect">
            <a:avLst>
              <a:gd name="adj" fmla="val 15000"/>
            </a:avLst>
          </a:prstGeom>
          <a:solidFill>
            <a:srgbClr val="2E7D6B"/>
          </a:solidFill>
          <a:ln w="12700">
            <a:solidFill>
              <a:srgbClr val="2E7D6B"/>
            </a:solidFill>
            <a:prstDash val="solid"/>
          </a:ln>
        </p:spPr>
      </p:sp>
      <p:sp>
        <p:nvSpPr>
          <p:cNvPr id="45" name="Text 43"/>
          <p:cNvSpPr txBox="1"/>
          <p:nvPr/>
        </p:nvSpPr>
        <p:spPr>
          <a:xfrm>
            <a:off x="9707636" y="3310128"/>
            <a:ext cx="1798259" cy="640080"/>
          </a:xfrm>
          <a:prstGeom prst="rect">
            <a:avLst/>
          </a:prstGeom>
          <a:noFill/>
          <a:ln/>
        </p:spPr>
        <p:txBody>
          <a:bodyPr wrap="square" lIns="0" tIns="0" rIns="0" bIns="0" rtlCol="0" anchor="ctr"/>
          <a:lstStyle/>
          <a:p>
            <a:pPr indent="0" marL="0">
              <a:buNone/>
            </a:pPr>
            <a:r>
              <a:rPr lang="en-US" sz="1300" b="1" dirty="0">
                <a:solidFill>
                  <a:srgbClr val="FFFFFF"/>
                </a:solidFill>
              </a:rPr>
              <a:t>16강  </a:t>
            </a:r>
            <a:pPr indent="0" marL="0">
              <a:buNone/>
            </a:pPr>
            <a:r>
              <a:rPr lang="en-US" sz="1300" b="1" dirty="0">
                <a:solidFill>
                  <a:srgbClr val="FFFFFF"/>
                </a:solidFill>
              </a:rPr>
              <a:t>전문직 윤리·자격검정</a:t>
            </a:r>
            <a:endParaRPr lang="en-US" sz="13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오늘의 3시간</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오늘은 이렇게 진행합니다</a:t>
            </a:r>
            <a:endParaRPr lang="en-US" sz="2800" dirty="0"/>
          </a:p>
        </p:txBody>
      </p:sp>
      <p:sp>
        <p:nvSpPr>
          <p:cNvPr id="4" name="Shape 2"/>
          <p:cNvSpPr/>
          <p:nvPr/>
        </p:nvSpPr>
        <p:spPr>
          <a:xfrm>
            <a:off x="548640" y="1737360"/>
            <a:ext cx="3026918" cy="1051560"/>
          </a:xfrm>
          <a:prstGeom prst="roundRect">
            <a:avLst>
              <a:gd name="adj" fmla="val 10435"/>
            </a:avLst>
          </a:prstGeom>
          <a:solidFill>
            <a:srgbClr val="1F4E4A"/>
          </a:solidFill>
          <a:ln w="12700">
            <a:solidFill>
              <a:srgbClr val="1F4E4A"/>
            </a:solidFill>
            <a:prstDash val="solid"/>
          </a:ln>
        </p:spPr>
      </p:sp>
      <p:sp>
        <p:nvSpPr>
          <p:cNvPr id="5" name="Text 3"/>
          <p:cNvSpPr txBox="1"/>
          <p:nvPr/>
        </p:nvSpPr>
        <p:spPr>
          <a:xfrm>
            <a:off x="640080" y="1828800"/>
            <a:ext cx="2844038" cy="868680"/>
          </a:xfrm>
          <a:prstGeom prst="rect">
            <a:avLst/>
          </a:prstGeom>
          <a:noFill/>
          <a:ln/>
        </p:spPr>
        <p:txBody>
          <a:bodyPr wrap="square" lIns="0" tIns="0" rIns="0" bIns="0" rtlCol="0" anchor="ctr"/>
          <a:lstStyle/>
          <a:p>
            <a:pPr algn="ctr" indent="0" marL="0">
              <a:buNone/>
            </a:pPr>
            <a:r>
              <a:rPr lang="en-US" sz="2000" b="1" dirty="0">
                <a:solidFill>
                  <a:srgbClr val="FFFFFF"/>
                </a:solidFill>
              </a:rPr>
              <a:t>1교시</a:t>
            </a:r>
            <a:endParaRPr lang="en-US" sz="2000" dirty="0"/>
          </a:p>
          <a:p>
            <a:pPr algn="ctr" indent="0" marL="0">
              <a:buNone/>
            </a:pPr>
            <a:r>
              <a:rPr lang="en-US" sz="1500" dirty="0">
                <a:solidFill>
                  <a:srgbClr val="CFE3DC"/>
                </a:solidFill>
              </a:rPr>
              <a:t>50분</a:t>
            </a:r>
            <a:endParaRPr lang="en-US" sz="2000" dirty="0"/>
          </a:p>
        </p:txBody>
      </p:sp>
      <p:sp>
        <p:nvSpPr>
          <p:cNvPr id="6" name="Text 4"/>
          <p:cNvSpPr txBox="1"/>
          <p:nvPr/>
        </p:nvSpPr>
        <p:spPr>
          <a:xfrm>
            <a:off x="594360" y="3063240"/>
            <a:ext cx="2935478" cy="2743200"/>
          </a:xfrm>
          <a:prstGeom prst="rect">
            <a:avLst/>
          </a:prstGeom>
          <a:noFill/>
          <a:ln/>
        </p:spPr>
        <p:txBody>
          <a:bodyPr wrap="square" lIns="0" tIns="0" rIns="0" bIns="0" rtlCol="0" anchor="t"/>
          <a:lstStyle/>
          <a:p>
            <a:pPr indent="0" marL="0">
              <a:spcAft>
                <a:spcPts val="800"/>
              </a:spcAft>
              <a:buNone/>
            </a:pPr>
            <a:r>
              <a:rPr lang="en-US" sz="2200" b="1" dirty="0">
                <a:solidFill>
                  <a:srgbClr val="2E7D6B"/>
                </a:solidFill>
              </a:rPr>
              <a:t>자격과 윤리의 기본
</a:t>
            </a:r>
            <a:pPr indent="0" marL="0">
              <a:buNone/>
            </a:pPr>
            <a:r>
              <a:rPr lang="en-US" sz="2000" dirty="0">
                <a:solidFill>
                  <a:srgbClr val="222222"/>
                </a:solidFill>
              </a:rPr>
              <a:t>내담자 보호와 자기 보호</a:t>
            </a:r>
            <a:endParaRPr lang="en-US" sz="2200" dirty="0"/>
          </a:p>
          <a:p>
            <a:pPr indent="0" marL="0">
              <a:buNone/>
            </a:pPr>
            <a:r>
              <a:rPr lang="en-US" sz="2000" dirty="0">
                <a:solidFill>
                  <a:srgbClr val="222222"/>
                </a:solidFill>
              </a:rPr>
              <a:t>직무범위 · 자격검정 구조</a:t>
            </a:r>
            <a:endParaRPr lang="en-US" sz="2200" dirty="0"/>
          </a:p>
          <a:p>
            <a:pPr indent="0" marL="0">
              <a:buNone/>
            </a:pPr>
            <a:r>
              <a:rPr lang="en-US" sz="2000" dirty="0">
                <a:solidFill>
                  <a:srgbClr val="222222"/>
                </a:solidFill>
              </a:rPr>
              <a:t>4대 윤리원칙</a:t>
            </a:r>
            <a:endParaRPr lang="en-US" sz="2200" dirty="0"/>
          </a:p>
        </p:txBody>
      </p:sp>
      <p:sp>
        <p:nvSpPr>
          <p:cNvPr id="7" name="Shape 5"/>
          <p:cNvSpPr/>
          <p:nvPr/>
        </p:nvSpPr>
        <p:spPr>
          <a:xfrm>
            <a:off x="3630422" y="1737360"/>
            <a:ext cx="561492" cy="1051560"/>
          </a:xfrm>
          <a:prstGeom prst="roundRect">
            <a:avLst>
              <a:gd name="adj" fmla="val 19542"/>
            </a:avLst>
          </a:prstGeom>
          <a:solidFill>
            <a:srgbClr val="D9DEDC"/>
          </a:solidFill>
          <a:ln w="12700">
            <a:solidFill>
              <a:srgbClr val="D9DEDC"/>
            </a:solidFill>
            <a:prstDash val="solid"/>
          </a:ln>
        </p:spPr>
      </p:sp>
      <p:sp>
        <p:nvSpPr>
          <p:cNvPr id="8" name="Text 6"/>
          <p:cNvSpPr txBox="1"/>
          <p:nvPr/>
        </p:nvSpPr>
        <p:spPr>
          <a:xfrm>
            <a:off x="3721862" y="1828800"/>
            <a:ext cx="378612" cy="868680"/>
          </a:xfrm>
          <a:prstGeom prst="rect">
            <a:avLst/>
          </a:prstGeom>
          <a:noFill/>
          <a:ln/>
        </p:spPr>
        <p:txBody>
          <a:bodyPr wrap="square" lIns="0" tIns="0" rIns="0" bIns="0" rtlCol="0" anchor="ctr"/>
          <a:lstStyle/>
          <a:p>
            <a:pPr algn="ctr" indent="0" marL="0">
              <a:buNone/>
            </a:pPr>
            <a:r>
              <a:rPr lang="en-US" sz="1300" b="1" dirty="0">
                <a:solidFill>
                  <a:srgbClr val="6B6B6B"/>
                </a:solidFill>
              </a:rPr>
              <a:t>휴식</a:t>
            </a:r>
            <a:endParaRPr lang="en-US" sz="1300" dirty="0"/>
          </a:p>
          <a:p>
            <a:pPr algn="ctr" indent="0" marL="0">
              <a:buNone/>
            </a:pPr>
            <a:r>
              <a:rPr lang="en-US" sz="1200" dirty="0">
                <a:solidFill>
                  <a:srgbClr val="6B6B6B"/>
                </a:solidFill>
              </a:rPr>
              <a:t>10분</a:t>
            </a:r>
            <a:endParaRPr lang="en-US" sz="1300" dirty="0"/>
          </a:p>
        </p:txBody>
      </p:sp>
      <p:sp>
        <p:nvSpPr>
          <p:cNvPr id="9" name="Shape 7"/>
          <p:cNvSpPr/>
          <p:nvPr/>
        </p:nvSpPr>
        <p:spPr>
          <a:xfrm>
            <a:off x="4246778" y="1737360"/>
            <a:ext cx="3026918" cy="1051560"/>
          </a:xfrm>
          <a:prstGeom prst="roundRect">
            <a:avLst>
              <a:gd name="adj" fmla="val 10435"/>
            </a:avLst>
          </a:prstGeom>
          <a:solidFill>
            <a:srgbClr val="1F4E4A"/>
          </a:solidFill>
          <a:ln w="12700">
            <a:solidFill>
              <a:srgbClr val="1F4E4A"/>
            </a:solidFill>
            <a:prstDash val="solid"/>
          </a:ln>
        </p:spPr>
      </p:sp>
      <p:sp>
        <p:nvSpPr>
          <p:cNvPr id="10" name="Text 8"/>
          <p:cNvSpPr txBox="1"/>
          <p:nvPr/>
        </p:nvSpPr>
        <p:spPr>
          <a:xfrm>
            <a:off x="4338218" y="1828800"/>
            <a:ext cx="2844038" cy="868680"/>
          </a:xfrm>
          <a:prstGeom prst="rect">
            <a:avLst/>
          </a:prstGeom>
          <a:noFill/>
          <a:ln/>
        </p:spPr>
        <p:txBody>
          <a:bodyPr wrap="square" lIns="0" tIns="0" rIns="0" bIns="0" rtlCol="0" anchor="ctr"/>
          <a:lstStyle/>
          <a:p>
            <a:pPr algn="ctr" indent="0" marL="0">
              <a:buNone/>
            </a:pPr>
            <a:r>
              <a:rPr lang="en-US" sz="2000" b="1" dirty="0">
                <a:solidFill>
                  <a:srgbClr val="FFFFFF"/>
                </a:solidFill>
              </a:rPr>
              <a:t>2교시</a:t>
            </a:r>
            <a:endParaRPr lang="en-US" sz="2000" dirty="0"/>
          </a:p>
          <a:p>
            <a:pPr algn="ctr" indent="0" marL="0">
              <a:buNone/>
            </a:pPr>
            <a:r>
              <a:rPr lang="en-US" sz="1500" dirty="0">
                <a:solidFill>
                  <a:srgbClr val="CFE3DC"/>
                </a:solidFill>
              </a:rPr>
              <a:t>50분</a:t>
            </a:r>
            <a:endParaRPr lang="en-US" sz="2000" dirty="0"/>
          </a:p>
        </p:txBody>
      </p:sp>
      <p:sp>
        <p:nvSpPr>
          <p:cNvPr id="11" name="Text 9"/>
          <p:cNvSpPr txBox="1"/>
          <p:nvPr/>
        </p:nvSpPr>
        <p:spPr>
          <a:xfrm>
            <a:off x="4292498" y="3063240"/>
            <a:ext cx="2935478" cy="2743200"/>
          </a:xfrm>
          <a:prstGeom prst="rect">
            <a:avLst/>
          </a:prstGeom>
          <a:noFill/>
          <a:ln/>
        </p:spPr>
        <p:txBody>
          <a:bodyPr wrap="square" lIns="0" tIns="0" rIns="0" bIns="0" rtlCol="0" anchor="t"/>
          <a:lstStyle/>
          <a:p>
            <a:pPr indent="0" marL="0">
              <a:spcAft>
                <a:spcPts val="800"/>
              </a:spcAft>
              <a:buNone/>
            </a:pPr>
            <a:r>
              <a:rPr lang="en-US" sz="2200" b="1" dirty="0">
                <a:solidFill>
                  <a:srgbClr val="2E7D6B"/>
                </a:solidFill>
              </a:rPr>
              <a:t>경계·이해충돌·딜레마
</a:t>
            </a:r>
            <a:pPr indent="0" marL="0">
              <a:buNone/>
            </a:pPr>
            <a:r>
              <a:rPr lang="en-US" sz="2000" dirty="0">
                <a:solidFill>
                  <a:srgbClr val="222222"/>
                </a:solidFill>
              </a:rPr>
              <a:t>역할경계 · 비차별</a:t>
            </a:r>
            <a:endParaRPr lang="en-US" sz="2200" dirty="0"/>
          </a:p>
          <a:p>
            <a:pPr indent="0" marL="0">
              <a:buNone/>
            </a:pPr>
            <a:r>
              <a:rPr lang="en-US" sz="2000" dirty="0">
                <a:solidFill>
                  <a:srgbClr val="222222"/>
                </a:solidFill>
              </a:rPr>
              <a:t>이해충돌 · 개인정보 · AI</a:t>
            </a:r>
            <a:endParaRPr lang="en-US" sz="2200" dirty="0"/>
          </a:p>
          <a:p>
            <a:pPr indent="0" marL="0">
              <a:buNone/>
            </a:pPr>
            <a:r>
              <a:rPr lang="en-US" sz="2000" dirty="0">
                <a:solidFill>
                  <a:srgbClr val="222222"/>
                </a:solidFill>
              </a:rPr>
              <a:t>딜레마 5단계 · 윤리 사례</a:t>
            </a:r>
            <a:endParaRPr lang="en-US" sz="2200" dirty="0"/>
          </a:p>
        </p:txBody>
      </p:sp>
      <p:sp>
        <p:nvSpPr>
          <p:cNvPr id="12" name="Shape 10"/>
          <p:cNvSpPr/>
          <p:nvPr/>
        </p:nvSpPr>
        <p:spPr>
          <a:xfrm>
            <a:off x="7328560" y="1737360"/>
            <a:ext cx="561492" cy="1051560"/>
          </a:xfrm>
          <a:prstGeom prst="roundRect">
            <a:avLst>
              <a:gd name="adj" fmla="val 19542"/>
            </a:avLst>
          </a:prstGeom>
          <a:solidFill>
            <a:srgbClr val="D9DEDC"/>
          </a:solidFill>
          <a:ln w="12700">
            <a:solidFill>
              <a:srgbClr val="D9DEDC"/>
            </a:solidFill>
            <a:prstDash val="solid"/>
          </a:ln>
        </p:spPr>
      </p:sp>
      <p:sp>
        <p:nvSpPr>
          <p:cNvPr id="13" name="Text 11"/>
          <p:cNvSpPr txBox="1"/>
          <p:nvPr/>
        </p:nvSpPr>
        <p:spPr>
          <a:xfrm>
            <a:off x="7420000" y="1828800"/>
            <a:ext cx="378612" cy="868680"/>
          </a:xfrm>
          <a:prstGeom prst="rect">
            <a:avLst/>
          </a:prstGeom>
          <a:noFill/>
          <a:ln/>
        </p:spPr>
        <p:txBody>
          <a:bodyPr wrap="square" lIns="0" tIns="0" rIns="0" bIns="0" rtlCol="0" anchor="ctr"/>
          <a:lstStyle/>
          <a:p>
            <a:pPr algn="ctr" indent="0" marL="0">
              <a:buNone/>
            </a:pPr>
            <a:r>
              <a:rPr lang="en-US" sz="1300" b="1" dirty="0">
                <a:solidFill>
                  <a:srgbClr val="6B6B6B"/>
                </a:solidFill>
              </a:rPr>
              <a:t>휴식</a:t>
            </a:r>
            <a:endParaRPr lang="en-US" sz="1300" dirty="0"/>
          </a:p>
          <a:p>
            <a:pPr algn="ctr" indent="0" marL="0">
              <a:buNone/>
            </a:pPr>
            <a:r>
              <a:rPr lang="en-US" sz="1200" dirty="0">
                <a:solidFill>
                  <a:srgbClr val="6B6B6B"/>
                </a:solidFill>
              </a:rPr>
              <a:t>10분</a:t>
            </a:r>
            <a:endParaRPr lang="en-US" sz="1300" dirty="0"/>
          </a:p>
        </p:txBody>
      </p:sp>
      <p:sp>
        <p:nvSpPr>
          <p:cNvPr id="14" name="Shape 12"/>
          <p:cNvSpPr/>
          <p:nvPr/>
        </p:nvSpPr>
        <p:spPr>
          <a:xfrm>
            <a:off x="7944917" y="1737360"/>
            <a:ext cx="3643274" cy="1051560"/>
          </a:xfrm>
          <a:prstGeom prst="roundRect">
            <a:avLst>
              <a:gd name="adj" fmla="val 10435"/>
            </a:avLst>
          </a:prstGeom>
          <a:solidFill>
            <a:srgbClr val="1F4E4A"/>
          </a:solidFill>
          <a:ln w="12700">
            <a:solidFill>
              <a:srgbClr val="1F4E4A"/>
            </a:solidFill>
            <a:prstDash val="solid"/>
          </a:ln>
        </p:spPr>
      </p:sp>
      <p:sp>
        <p:nvSpPr>
          <p:cNvPr id="15" name="Text 13"/>
          <p:cNvSpPr txBox="1"/>
          <p:nvPr/>
        </p:nvSpPr>
        <p:spPr>
          <a:xfrm>
            <a:off x="8036357" y="1828800"/>
            <a:ext cx="3460394" cy="868680"/>
          </a:xfrm>
          <a:prstGeom prst="rect">
            <a:avLst/>
          </a:prstGeom>
          <a:noFill/>
          <a:ln/>
        </p:spPr>
        <p:txBody>
          <a:bodyPr wrap="square" lIns="0" tIns="0" rIns="0" bIns="0" rtlCol="0" anchor="ctr"/>
          <a:lstStyle/>
          <a:p>
            <a:pPr algn="ctr" indent="0" marL="0">
              <a:buNone/>
            </a:pPr>
            <a:r>
              <a:rPr lang="en-US" sz="2000" b="1" dirty="0">
                <a:solidFill>
                  <a:srgbClr val="FFFFFF"/>
                </a:solidFill>
              </a:rPr>
              <a:t>3교시</a:t>
            </a:r>
            <a:endParaRPr lang="en-US" sz="2000" dirty="0"/>
          </a:p>
          <a:p>
            <a:pPr algn="ctr" indent="0" marL="0">
              <a:buNone/>
            </a:pPr>
            <a:r>
              <a:rPr lang="en-US" sz="1500" dirty="0">
                <a:solidFill>
                  <a:srgbClr val="CFE3DC"/>
                </a:solidFill>
              </a:rPr>
              <a:t>60분</a:t>
            </a:r>
            <a:endParaRPr lang="en-US" sz="2000" dirty="0"/>
          </a:p>
        </p:txBody>
      </p:sp>
      <p:sp>
        <p:nvSpPr>
          <p:cNvPr id="16" name="Text 14"/>
          <p:cNvSpPr txBox="1"/>
          <p:nvPr/>
        </p:nvSpPr>
        <p:spPr>
          <a:xfrm>
            <a:off x="7990637" y="3063240"/>
            <a:ext cx="3551834" cy="2743200"/>
          </a:xfrm>
          <a:prstGeom prst="rect">
            <a:avLst/>
          </a:prstGeom>
          <a:noFill/>
          <a:ln/>
        </p:spPr>
        <p:txBody>
          <a:bodyPr wrap="square" lIns="0" tIns="0" rIns="0" bIns="0" rtlCol="0" anchor="t"/>
          <a:lstStyle/>
          <a:p>
            <a:pPr indent="0" marL="0">
              <a:spcAft>
                <a:spcPts val="800"/>
              </a:spcAft>
              <a:buNone/>
            </a:pPr>
            <a:r>
              <a:rPr lang="en-US" sz="2200" b="1" dirty="0">
                <a:solidFill>
                  <a:srgbClr val="2E7D6B"/>
                </a:solidFill>
              </a:rPr>
              <a:t>검정 준비와 과정 마무리
</a:t>
            </a:r>
            <a:pPr indent="0" marL="0">
              <a:buNone/>
            </a:pPr>
            <a:r>
              <a:rPr lang="en-US" sz="2000" dirty="0">
                <a:solidFill>
                  <a:srgbClr val="222222"/>
                </a:solidFill>
              </a:rPr>
              <a:t>지속성장 · 실기 기획·시연</a:t>
            </a:r>
            <a:endParaRPr lang="en-US" sz="2200" dirty="0"/>
          </a:p>
          <a:p>
            <a:pPr indent="0" marL="0">
              <a:buNone/>
            </a:pPr>
            <a:r>
              <a:rPr lang="en-US" sz="2000" dirty="0">
                <a:solidFill>
                  <a:srgbClr val="222222"/>
                </a:solidFill>
              </a:rPr>
              <a:t>윤리 위험지도 · 1년 계획</a:t>
            </a:r>
            <a:endParaRPr lang="en-US" sz="2200" dirty="0"/>
          </a:p>
          <a:p>
            <a:pPr indent="0" marL="0">
              <a:buNone/>
            </a:pPr>
            <a:r>
              <a:rPr lang="en-US" sz="2000" dirty="0">
                <a:solidFill>
                  <a:srgbClr val="222222"/>
                </a:solidFill>
              </a:rPr>
              <a:t>윤리선언 · 수료 나눔</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과제 나눔</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자원지도와 WLC 선언 초안</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400" b="1" dirty="0">
                <a:solidFill>
                  <a:srgbClr val="1F4E4A"/>
                </a:solidFill>
              </a:rPr>
              <a:t>15강 과제 — 자원지도 완성, GROW 대화 한 번, 나의 WLC 선언 초안 3문장</a:t>
            </a:r>
            <a:endParaRPr lang="en-US" sz="24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1508760"/>
          </a:xfrm>
          <a:prstGeom prst="rect">
            <a:avLst/>
          </a:prstGeom>
          <a:noFill/>
          <a:ln/>
        </p:spPr>
        <p:txBody>
          <a:bodyPr wrap="square" lIns="0" tIns="0" rIns="0" bIns="0" rtlCol="0" anchor="t"/>
          <a:lstStyle/>
          <a:p>
            <a:pPr indent="0" marL="0">
              <a:buNone/>
            </a:pPr>
            <a:r>
              <a:rPr lang="en-US" sz="2100" dirty="0">
                <a:solidFill>
                  <a:srgbClr val="222222"/>
                </a:solidFill>
              </a:rPr>
              <a:t>짝과 GROW 대화에서 나온 W 하나를 나눕니다.</a:t>
            </a:r>
            <a:endParaRPr lang="en-US" sz="2100" dirty="0"/>
          </a:p>
        </p:txBody>
      </p:sp>
      <p:sp>
        <p:nvSpPr>
          <p:cNvPr id="9" name="Shape 7"/>
          <p:cNvSpPr/>
          <p:nvPr/>
        </p:nvSpPr>
        <p:spPr>
          <a:xfrm>
            <a:off x="822960" y="440740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4407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4389120"/>
            <a:ext cx="6309360" cy="1508760"/>
          </a:xfrm>
          <a:prstGeom prst="rect">
            <a:avLst/>
          </a:prstGeom>
          <a:noFill/>
          <a:ln/>
        </p:spPr>
        <p:txBody>
          <a:bodyPr wrap="square" lIns="0" tIns="0" rIns="0" bIns="0" rtlCol="0" anchor="t"/>
          <a:lstStyle/>
          <a:p>
            <a:pPr indent="0" marL="0">
              <a:buNone/>
            </a:pPr>
            <a:r>
              <a:rPr lang="en-US" sz="2100" dirty="0">
                <a:solidFill>
                  <a:srgbClr val="222222"/>
                </a:solidFill>
              </a:rPr>
              <a:t>WLC 선언 초안은 아직 읽지 않고 접어 둡니다(3교시 마지막에 다듬어 읽습니다).</a:t>
            </a:r>
            <a:endParaRPr lang="en-US" sz="2100" dirty="0"/>
          </a:p>
        </p:txBody>
      </p:sp>
      <p:sp>
        <p:nvSpPr>
          <p:cNvPr id="12" name="Shape 10"/>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3" name="Shape 11"/>
          <p:cNvSpPr/>
          <p:nvPr/>
        </p:nvSpPr>
        <p:spPr>
          <a:xfrm>
            <a:off x="8430768" y="1755648"/>
            <a:ext cx="457200" cy="457200"/>
          </a:xfrm>
          <a:prstGeom prst="ellipse">
            <a:avLst/>
          </a:prstGeom>
          <a:solidFill>
            <a:srgbClr val="D98E04"/>
          </a:solidFill>
          <a:ln w="12700">
            <a:solidFill>
              <a:srgbClr val="D98E04"/>
            </a:solidFill>
            <a:prstDash val="solid"/>
          </a:ln>
        </p:spPr>
      </p:sp>
      <p:pic>
        <p:nvPicPr>
          <p:cNvPr id="14"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15" name="Text 12"/>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16" name="Text 13"/>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4분</a:t>
            </a:r>
            <a:endParaRPr lang="en-US" sz="2800" dirty="0"/>
          </a:p>
        </p:txBody>
      </p:sp>
      <p:sp>
        <p:nvSpPr>
          <p:cNvPr id="17" name="Shape 14"/>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8430768" y="3328416"/>
            <a:ext cx="457200" cy="457200"/>
          </a:xfrm>
          <a:prstGeom prst="ellipse">
            <a:avLst/>
          </a:prstGeom>
          <a:solidFill>
            <a:srgbClr val="2E7D6B"/>
          </a:solidFill>
          <a:ln w="12700">
            <a:solidFill>
              <a:srgbClr val="2E7D6B"/>
            </a:solidFill>
            <a:prstDash val="solid"/>
          </a:ln>
        </p:spPr>
      </p:sp>
      <p:pic>
        <p:nvPicPr>
          <p:cNvPr id="19"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0" name="Text 16"/>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1" name="Text 17"/>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2인 1조</a:t>
            </a:r>
            <a:endParaRPr lang="en-US" sz="1800" dirty="0"/>
          </a:p>
        </p:txBody>
      </p:sp>
      <p:sp>
        <p:nvSpPr>
          <p:cNvPr id="22" name="Shape 18"/>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3" name="Shape 19"/>
          <p:cNvSpPr/>
          <p:nvPr/>
        </p:nvSpPr>
        <p:spPr>
          <a:xfrm>
            <a:off x="8430768" y="4901184"/>
            <a:ext cx="457200" cy="457200"/>
          </a:xfrm>
          <a:prstGeom prst="ellipse">
            <a:avLst/>
          </a:prstGeom>
          <a:solidFill>
            <a:srgbClr val="2E7D6B"/>
          </a:solidFill>
          <a:ln w="12700">
            <a:solidFill>
              <a:srgbClr val="2E7D6B"/>
            </a:solidFill>
            <a:prstDash val="solid"/>
          </a:ln>
        </p:spPr>
      </p:sp>
      <p:pic>
        <p:nvPicPr>
          <p:cNvPr id="24"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25" name="Text 20"/>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26" name="Text 21"/>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GROW의 W 한 가지</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마지막 시간을 시작하며</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오늘 우리가 정리할 세 가지</a:t>
            </a:r>
            <a:endParaRPr lang="en-US" sz="2800" dirty="0"/>
          </a:p>
        </p:txBody>
      </p:sp>
      <p:sp>
        <p:nvSpPr>
          <p:cNvPr id="4" name="Shape 2"/>
          <p:cNvSpPr/>
          <p:nvPr/>
        </p:nvSpPr>
        <p:spPr>
          <a:xfrm>
            <a:off x="548640" y="1554480"/>
            <a:ext cx="3515258" cy="4617720"/>
          </a:xfrm>
          <a:prstGeom prst="roundRect">
            <a:avLst>
              <a:gd name="adj" fmla="val 3121"/>
            </a:avLst>
          </a:prstGeom>
          <a:solidFill>
            <a:srgbClr val="EAF3F0"/>
          </a:solidFill>
          <a:ln w="12700">
            <a:solidFill>
              <a:srgbClr val="EAF3F0"/>
            </a:solidFill>
            <a:prstDash val="solid"/>
          </a:ln>
        </p:spPr>
      </p:sp>
      <p:sp>
        <p:nvSpPr>
          <p:cNvPr id="5" name="Shape 3"/>
          <p:cNvSpPr/>
          <p:nvPr/>
        </p:nvSpPr>
        <p:spPr>
          <a:xfrm>
            <a:off x="777240" y="1783080"/>
            <a:ext cx="548640" cy="548640"/>
          </a:xfrm>
          <a:prstGeom prst="ellipse">
            <a:avLst/>
          </a:prstGeom>
          <a:solidFill>
            <a:srgbClr val="2E7D6B"/>
          </a:solidFill>
          <a:ln w="12700">
            <a:solidFill>
              <a:srgbClr val="2E7D6B"/>
            </a:solidFill>
            <a:prstDash val="solid"/>
          </a:ln>
        </p:spPr>
      </p:sp>
      <p:pic>
        <p:nvPicPr>
          <p:cNvPr id="6" name="Image 0" descr="preencoded.png">    </p:cNvPr>
          <p:cNvPicPr>
            <a:picLocks noChangeAspect="1"/>
          </p:cNvPicPr>
          <p:nvPr/>
        </p:nvPicPr>
        <p:blipFill>
          <a:blip r:embed="rId1"/>
          <a:stretch>
            <a:fillRect/>
          </a:stretch>
        </p:blipFill>
        <p:spPr>
          <a:xfrm>
            <a:off x="919886" y="1925726"/>
            <a:ext cx="263347" cy="263347"/>
          </a:xfrm>
          <a:prstGeom prst="rect">
            <a:avLst/>
          </a:prstGeom>
        </p:spPr>
      </p:pic>
      <p:sp>
        <p:nvSpPr>
          <p:cNvPr id="7" name="Text 4"/>
          <p:cNvSpPr txBox="1"/>
          <p:nvPr/>
        </p:nvSpPr>
        <p:spPr>
          <a:xfrm>
            <a:off x="777240" y="2468880"/>
            <a:ext cx="3058058" cy="356616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무엇을 하지 않는가</a:t>
            </a:r>
            <a:endParaRPr lang="en-US" sz="2200" dirty="0"/>
          </a:p>
          <a:p>
            <a:pPr indent="0" marL="0">
              <a:buNone/>
            </a:pPr>
            <a:r>
              <a:rPr lang="en-US" sz="2200" dirty="0">
                <a:solidFill>
                  <a:srgbClr val="222222"/>
                </a:solidFill>
              </a:rPr>
              <a:t>직무범위와 역할경계, 이해충돌 — 신뢰는 경계에서 시작됩니다.</a:t>
            </a:r>
            <a:endParaRPr lang="en-US" sz="2200" dirty="0"/>
          </a:p>
        </p:txBody>
      </p:sp>
      <p:sp>
        <p:nvSpPr>
          <p:cNvPr id="8" name="Shape 5"/>
          <p:cNvSpPr/>
          <p:nvPr/>
        </p:nvSpPr>
        <p:spPr>
          <a:xfrm>
            <a:off x="4338218" y="1554480"/>
            <a:ext cx="3515258" cy="4617720"/>
          </a:xfrm>
          <a:prstGeom prst="roundRect">
            <a:avLst>
              <a:gd name="adj" fmla="val 3121"/>
            </a:avLst>
          </a:prstGeom>
          <a:solidFill>
            <a:srgbClr val="EAF3F0"/>
          </a:solidFill>
          <a:ln w="12700">
            <a:solidFill>
              <a:srgbClr val="EAF3F0"/>
            </a:solidFill>
            <a:prstDash val="solid"/>
          </a:ln>
        </p:spPr>
      </p:sp>
      <p:sp>
        <p:nvSpPr>
          <p:cNvPr id="9" name="Shape 6"/>
          <p:cNvSpPr/>
          <p:nvPr/>
        </p:nvSpPr>
        <p:spPr>
          <a:xfrm>
            <a:off x="4566818" y="1783080"/>
            <a:ext cx="548640" cy="548640"/>
          </a:xfrm>
          <a:prstGeom prst="ellipse">
            <a:avLst/>
          </a:prstGeom>
          <a:solidFill>
            <a:srgbClr val="2E7D6B"/>
          </a:solidFill>
          <a:ln w="12700">
            <a:solidFill>
              <a:srgbClr val="2E7D6B"/>
            </a:solidFill>
            <a:prstDash val="solid"/>
          </a:ln>
        </p:spPr>
      </p:sp>
      <p:pic>
        <p:nvPicPr>
          <p:cNvPr id="10" name="Image 1" descr="preencoded.png">    </p:cNvPr>
          <p:cNvPicPr>
            <a:picLocks noChangeAspect="1"/>
          </p:cNvPicPr>
          <p:nvPr/>
        </p:nvPicPr>
        <p:blipFill>
          <a:blip r:embed="rId2"/>
          <a:stretch>
            <a:fillRect/>
          </a:stretch>
        </p:blipFill>
        <p:spPr>
          <a:xfrm>
            <a:off x="4709465" y="1925726"/>
            <a:ext cx="263347" cy="263347"/>
          </a:xfrm>
          <a:prstGeom prst="rect">
            <a:avLst/>
          </a:prstGeom>
        </p:spPr>
      </p:pic>
      <p:sp>
        <p:nvSpPr>
          <p:cNvPr id="11" name="Text 7"/>
          <p:cNvSpPr txBox="1"/>
          <p:nvPr/>
        </p:nvSpPr>
        <p:spPr>
          <a:xfrm>
            <a:off x="4566818" y="2468880"/>
            <a:ext cx="3058058" cy="356616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어떻게 증명하는가</a:t>
            </a:r>
            <a:endParaRPr lang="en-US" sz="2200" dirty="0"/>
          </a:p>
          <a:p>
            <a:pPr indent="0" marL="0">
              <a:buNone/>
            </a:pPr>
            <a:r>
              <a:rPr lang="en-US" sz="2200" dirty="0">
                <a:solidFill>
                  <a:srgbClr val="222222"/>
                </a:solidFill>
              </a:rPr>
              <a:t>실기 40 · 필기 60, 안전하고 윤리적인 실무역량을 보여 줍니다.</a:t>
            </a:r>
            <a:endParaRPr lang="en-US" sz="2200" dirty="0"/>
          </a:p>
        </p:txBody>
      </p:sp>
      <p:sp>
        <p:nvSpPr>
          <p:cNvPr id="12" name="Shape 8"/>
          <p:cNvSpPr/>
          <p:nvPr/>
        </p:nvSpPr>
        <p:spPr>
          <a:xfrm>
            <a:off x="8127797" y="1554480"/>
            <a:ext cx="3515258" cy="4617720"/>
          </a:xfrm>
          <a:prstGeom prst="roundRect">
            <a:avLst>
              <a:gd name="adj" fmla="val 3121"/>
            </a:avLst>
          </a:prstGeom>
          <a:solidFill>
            <a:srgbClr val="E8EFF8"/>
          </a:solidFill>
          <a:ln w="12700">
            <a:solidFill>
              <a:srgbClr val="E8EFF8"/>
            </a:solidFill>
            <a:prstDash val="solid"/>
          </a:ln>
        </p:spPr>
      </p:sp>
      <p:sp>
        <p:nvSpPr>
          <p:cNvPr id="13" name="Shape 9"/>
          <p:cNvSpPr/>
          <p:nvPr/>
        </p:nvSpPr>
        <p:spPr>
          <a:xfrm>
            <a:off x="8356397" y="1783080"/>
            <a:ext cx="548640" cy="548640"/>
          </a:xfrm>
          <a:prstGeom prst="ellipse">
            <a:avLst/>
          </a:prstGeom>
          <a:solidFill>
            <a:srgbClr val="3A6EA5"/>
          </a:solidFill>
          <a:ln w="12700">
            <a:solidFill>
              <a:srgbClr val="3A6EA5"/>
            </a:solidFill>
            <a:prstDash val="solid"/>
          </a:ln>
        </p:spPr>
      </p:sp>
      <p:pic>
        <p:nvPicPr>
          <p:cNvPr id="14" name="Image 2" descr="preencoded.png">    </p:cNvPr>
          <p:cNvPicPr>
            <a:picLocks noChangeAspect="1"/>
          </p:cNvPicPr>
          <p:nvPr/>
        </p:nvPicPr>
        <p:blipFill>
          <a:blip r:embed="rId3"/>
          <a:stretch>
            <a:fillRect/>
          </a:stretch>
        </p:blipFill>
        <p:spPr>
          <a:xfrm>
            <a:off x="8499043" y="1925726"/>
            <a:ext cx="263347" cy="263347"/>
          </a:xfrm>
          <a:prstGeom prst="rect">
            <a:avLst/>
          </a:prstGeom>
        </p:spPr>
      </p:pic>
      <p:sp>
        <p:nvSpPr>
          <p:cNvPr id="15" name="Text 10"/>
          <p:cNvSpPr txBox="1"/>
          <p:nvPr/>
        </p:nvSpPr>
        <p:spPr>
          <a:xfrm>
            <a:off x="8356397" y="2468880"/>
            <a:ext cx="3058058" cy="3566160"/>
          </a:xfrm>
          <a:prstGeom prst="rect">
            <a:avLst/>
          </a:prstGeom>
          <a:noFill/>
          <a:ln/>
        </p:spPr>
        <p:txBody>
          <a:bodyPr wrap="square" lIns="0" tIns="0" rIns="0" bIns="0" rtlCol="0" anchor="t"/>
          <a:lstStyle/>
          <a:p>
            <a:pPr indent="0" marL="0">
              <a:spcAft>
                <a:spcPts val="600"/>
              </a:spcAft>
              <a:buNone/>
            </a:pPr>
            <a:r>
              <a:rPr lang="en-US" sz="2200" b="1" dirty="0">
                <a:solidFill>
                  <a:srgbClr val="3A6EA5"/>
                </a:solidFill>
              </a:rPr>
              <a:t>어떻게 자라는가</a:t>
            </a:r>
            <a:endParaRPr lang="en-US" sz="2200" dirty="0"/>
          </a:p>
          <a:p>
            <a:pPr indent="0" marL="0">
              <a:buNone/>
            </a:pPr>
            <a:r>
              <a:rPr lang="en-US" sz="2200" dirty="0">
                <a:solidFill>
                  <a:srgbClr val="222222"/>
                </a:solidFill>
              </a:rPr>
              <a:t>수퍼비전·지속교육·네트워크로 자격 이후를 설계합니다.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1097280"/>
            <a:ext cx="822960" cy="822960"/>
          </a:xfrm>
          <a:prstGeom prst="ellipse">
            <a:avLst/>
          </a:prstGeom>
          <a:solidFill>
            <a:srgbClr val="2E7D6B"/>
          </a:solidFill>
          <a:ln w="12700">
            <a:solidFill>
              <a:srgbClr val="2E7D6B"/>
            </a:solidFill>
            <a:prstDash val="solid"/>
          </a:ln>
        </p:spPr>
      </p:sp>
      <p:pic>
        <p:nvPicPr>
          <p:cNvPr id="3" name="Image 0" descr="preencoded.png">    </p:cNvPr>
          <p:cNvPicPr>
            <a:picLocks noChangeAspect="1"/>
          </p:cNvPicPr>
          <p:nvPr/>
        </p:nvPicPr>
        <p:blipFill>
          <a:blip r:embed="rId1"/>
          <a:stretch>
            <a:fillRect/>
          </a:stretch>
        </p:blipFill>
        <p:spPr>
          <a:xfrm>
            <a:off x="762610" y="1311250"/>
            <a:ext cx="395021" cy="395021"/>
          </a:xfrm>
          <a:prstGeom prst="rect">
            <a:avLst/>
          </a:prstGeom>
        </p:spPr>
      </p:pic>
      <p:sp>
        <p:nvSpPr>
          <p:cNvPr id="4" name="Text 1"/>
          <p:cNvSpPr txBox="1"/>
          <p:nvPr/>
        </p:nvSpPr>
        <p:spPr>
          <a:xfrm>
            <a:off x="1600200" y="1234440"/>
            <a:ext cx="7315200" cy="548640"/>
          </a:xfrm>
          <a:prstGeom prst="rect">
            <a:avLst/>
          </a:prstGeom>
          <a:noFill/>
          <a:ln/>
        </p:spPr>
        <p:txBody>
          <a:bodyPr wrap="square" lIns="0" tIns="0" rIns="0" bIns="0" rtlCol="0" anchor="ctr"/>
          <a:lstStyle/>
          <a:p>
            <a:pPr indent="0" marL="0">
              <a:buNone/>
            </a:pPr>
            <a:r>
              <a:rPr lang="en-US" sz="1800" b="1" dirty="0">
                <a:solidFill>
                  <a:srgbClr val="A8C5BC"/>
                </a:solidFill>
              </a:rPr>
              <a:t>오프닝 질문</a:t>
            </a:r>
            <a:endParaRPr lang="en-US" sz="1800" dirty="0"/>
          </a:p>
        </p:txBody>
      </p:sp>
      <p:sp>
        <p:nvSpPr>
          <p:cNvPr id="5" name="Text 2"/>
          <p:cNvSpPr txBox="1"/>
          <p:nvPr/>
        </p:nvSpPr>
        <p:spPr>
          <a:xfrm>
            <a:off x="548640" y="2240280"/>
            <a:ext cx="11094415" cy="1828800"/>
          </a:xfrm>
          <a:prstGeom prst="rect">
            <a:avLst/>
          </a:prstGeom>
          <a:noFill/>
          <a:ln/>
        </p:spPr>
        <p:txBody>
          <a:bodyPr wrap="square" lIns="0" tIns="0" rIns="0" bIns="0" rtlCol="0" anchor="ctr"/>
          <a:lstStyle/>
          <a:p>
            <a:pPr indent="0" marL="0">
              <a:buNone/>
            </a:pPr>
            <a:r>
              <a:rPr lang="en-US" sz="3800" b="1" dirty="0">
                <a:solidFill>
                  <a:srgbClr val="FFFFFF"/>
                </a:solidFill>
              </a:rPr>
              <a:t>“내가 믿고 찾아가는 전문가는</a:t>
            </a:r>
            <a:endParaRPr lang="en-US" sz="3800" dirty="0"/>
          </a:p>
          <a:p>
            <a:pPr indent="0" marL="0">
              <a:buNone/>
            </a:pPr>
            <a:r>
              <a:rPr lang="en-US" sz="3800" b="1" dirty="0">
                <a:solidFill>
                  <a:srgbClr val="FFFFFF"/>
                </a:solidFill>
              </a:rPr>
              <a:t>어떤 사람인가요?”</a:t>
            </a:r>
            <a:endParaRPr lang="en-US" sz="3800" dirty="0"/>
          </a:p>
        </p:txBody>
      </p:sp>
      <p:sp>
        <p:nvSpPr>
          <p:cNvPr id="6" name="Text 3"/>
          <p:cNvSpPr txBox="1"/>
          <p:nvPr/>
        </p:nvSpPr>
        <p:spPr>
          <a:xfrm>
            <a:off x="548640" y="4206240"/>
            <a:ext cx="11094415" cy="548640"/>
          </a:xfrm>
          <a:prstGeom prst="rect">
            <a:avLst/>
          </a:prstGeom>
          <a:noFill/>
          <a:ln/>
        </p:spPr>
        <p:txBody>
          <a:bodyPr wrap="square" lIns="0" tIns="0" rIns="0" bIns="0" rtlCol="0" anchor="t"/>
          <a:lstStyle/>
          <a:p>
            <a:pPr indent="0" marL="0">
              <a:buNone/>
            </a:pPr>
            <a:r>
              <a:rPr lang="en-US" sz="1800" dirty="0">
                <a:solidFill>
                  <a:srgbClr val="CFE3DC"/>
                </a:solidFill>
              </a:rPr>
              <a:t>의사든, 변호사든, 선생님이든 — 그 신뢰는 어디서 왔을까요?</a:t>
            </a:r>
            <a:endParaRPr lang="en-US" sz="1800" dirty="0"/>
          </a:p>
        </p:txBody>
      </p:sp>
      <p:sp>
        <p:nvSpPr>
          <p:cNvPr id="7" name="Shape 4"/>
          <p:cNvSpPr/>
          <p:nvPr/>
        </p:nvSpPr>
        <p:spPr>
          <a:xfrm>
            <a:off x="548640" y="4983480"/>
            <a:ext cx="11094415" cy="1051560"/>
          </a:xfrm>
          <a:prstGeom prst="roundRect">
            <a:avLst>
              <a:gd name="adj" fmla="val 10435"/>
            </a:avLst>
          </a:prstGeom>
          <a:solidFill>
            <a:srgbClr val="2A5F5A"/>
          </a:solidFill>
          <a:ln w="12700">
            <a:solidFill>
              <a:srgbClr val="2A5F5A"/>
            </a:solidFill>
            <a:prstDash val="solid"/>
          </a:ln>
        </p:spPr>
      </p:sp>
      <p:sp>
        <p:nvSpPr>
          <p:cNvPr id="8" name="Shape 5"/>
          <p:cNvSpPr/>
          <p:nvPr/>
        </p:nvSpPr>
        <p:spPr>
          <a:xfrm>
            <a:off x="777240" y="5230368"/>
            <a:ext cx="548640" cy="548640"/>
          </a:xfrm>
          <a:prstGeom prst="ellipse">
            <a:avLst/>
          </a:prstGeom>
          <a:solidFill>
            <a:srgbClr val="D98E04"/>
          </a:solidFill>
          <a:ln w="12700">
            <a:solidFill>
              <a:srgbClr val="D98E04"/>
            </a:solidFill>
            <a:prstDash val="solid"/>
          </a:ln>
        </p:spPr>
      </p:sp>
      <p:pic>
        <p:nvPicPr>
          <p:cNvPr id="9" name="Image 1" descr="preencoded.png">    </p:cNvPr>
          <p:cNvPicPr>
            <a:picLocks noChangeAspect="1"/>
          </p:cNvPicPr>
          <p:nvPr/>
        </p:nvPicPr>
        <p:blipFill>
          <a:blip r:embed="rId2"/>
          <a:stretch>
            <a:fillRect/>
          </a:stretch>
        </p:blipFill>
        <p:spPr>
          <a:xfrm>
            <a:off x="919886" y="5373014"/>
            <a:ext cx="263347" cy="263347"/>
          </a:xfrm>
          <a:prstGeom prst="rect">
            <a:avLst/>
          </a:prstGeom>
        </p:spPr>
      </p:pic>
      <p:sp>
        <p:nvSpPr>
          <p:cNvPr id="10" name="Text 6"/>
          <p:cNvSpPr txBox="1"/>
          <p:nvPr/>
        </p:nvSpPr>
        <p:spPr>
          <a:xfrm>
            <a:off x="1554480" y="5074920"/>
            <a:ext cx="9905695" cy="868680"/>
          </a:xfrm>
          <a:prstGeom prst="rect">
            <a:avLst/>
          </a:prstGeom>
          <a:noFill/>
          <a:ln/>
        </p:spPr>
        <p:txBody>
          <a:bodyPr wrap="square" lIns="0" tIns="0" rIns="0" bIns="0" rtlCol="0" anchor="ctr"/>
          <a:lstStyle/>
          <a:p>
            <a:pPr indent="0" marL="0">
              <a:buNone/>
            </a:pPr>
            <a:r>
              <a:rPr lang="en-US" sz="1900" dirty="0">
                <a:solidFill>
                  <a:srgbClr val="FFFFFF"/>
                </a:solidFill>
              </a:rPr>
              <a:t>신뢰의 이유를 한 단어로 적습니다(예: 정직, 경청, 비밀, 한계 인정).</a:t>
            </a:r>
            <a:endParaRPr lang="en-US" sz="19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822960"/>
            <a:ext cx="1371600" cy="1280160"/>
          </a:xfrm>
          <a:prstGeom prst="rect">
            <a:avLst/>
          </a:prstGeom>
          <a:noFill/>
          <a:ln/>
        </p:spPr>
        <p:txBody>
          <a:bodyPr wrap="square" lIns="0" tIns="0" rIns="0" bIns="0" rtlCol="0" anchor="t"/>
          <a:lstStyle/>
          <a:p>
            <a:pPr indent="0" marL="0">
              <a:buNone/>
            </a:pPr>
            <a:r>
              <a:rPr lang="en-US" sz="11000" b="1" dirty="0">
                <a:solidFill>
                  <a:srgbClr val="8FB9A8"/>
                </a:solidFill>
              </a:rPr>
              <a:t>“</a:t>
            </a:r>
            <a:endParaRPr lang="en-US" sz="11000" dirty="0"/>
          </a:p>
        </p:txBody>
      </p:sp>
      <p:sp>
        <p:nvSpPr>
          <p:cNvPr id="3" name="Text 1"/>
          <p:cNvSpPr txBox="1"/>
          <p:nvPr/>
        </p:nvSpPr>
        <p:spPr>
          <a:xfrm>
            <a:off x="914400" y="1828800"/>
            <a:ext cx="10362895" cy="1371600"/>
          </a:xfrm>
          <a:prstGeom prst="rect">
            <a:avLst/>
          </a:prstGeom>
          <a:noFill/>
          <a:ln/>
        </p:spPr>
        <p:txBody>
          <a:bodyPr wrap="square" lIns="0" tIns="0" rIns="0" bIns="0" rtlCol="0" anchor="ctr"/>
          <a:lstStyle/>
          <a:p>
            <a:pPr indent="0" marL="0">
              <a:buNone/>
            </a:pPr>
            <a:r>
              <a:rPr lang="en-US" sz="3200" b="1" dirty="0">
                <a:solidFill>
                  <a:srgbClr val="FFFFFF"/>
                </a:solidFill>
              </a:rPr>
              <a:t>자격증은 전문성의 증명이 아니라,</a:t>
            </a:r>
            <a:endParaRPr lang="en-US" sz="3200" dirty="0"/>
          </a:p>
          <a:p>
            <a:pPr indent="0" marL="0">
              <a:buNone/>
            </a:pPr>
            <a:r>
              <a:rPr lang="en-US" sz="3200" b="1" dirty="0">
                <a:solidFill>
                  <a:srgbClr val="FFFFFF"/>
                </a:solidFill>
              </a:rPr>
              <a:t>전문성을 책임 있게 시작하겠다는</a:t>
            </a:r>
            <a:endParaRPr lang="en-US" sz="3200" dirty="0"/>
          </a:p>
          <a:p>
            <a:pPr indent="0" marL="0">
              <a:buNone/>
            </a:pPr>
            <a:r>
              <a:rPr lang="en-US" sz="3200" b="1" dirty="0">
                <a:solidFill>
                  <a:srgbClr val="FFFFFF"/>
                </a:solidFill>
              </a:rPr>
              <a:t>약속이다.</a:t>
            </a:r>
            <a:endParaRPr lang="en-US" sz="3200" dirty="0"/>
          </a:p>
        </p:txBody>
      </p:sp>
      <p:sp>
        <p:nvSpPr>
          <p:cNvPr id="4" name="Text 2"/>
          <p:cNvSpPr txBox="1"/>
          <p:nvPr/>
        </p:nvSpPr>
        <p:spPr>
          <a:xfrm>
            <a:off x="914400" y="3246120"/>
            <a:ext cx="10362895" cy="411480"/>
          </a:xfrm>
          <a:prstGeom prst="rect">
            <a:avLst/>
          </a:prstGeom>
          <a:noFill/>
          <a:ln/>
        </p:spPr>
        <p:txBody>
          <a:bodyPr wrap="square" lIns="0" tIns="0" rIns="0" bIns="0" rtlCol="0" anchor="t"/>
          <a:lstStyle/>
          <a:p>
            <a:pPr indent="0" marL="0">
              <a:buNone/>
            </a:pPr>
            <a:r>
              <a:rPr lang="en-US" sz="1500" dirty="0">
                <a:solidFill>
                  <a:srgbClr val="A8C5BC"/>
                </a:solidFill>
              </a:rPr>
              <a:t>— WLC 교육 메시지</a:t>
            </a:r>
            <a:endParaRPr lang="en-US" sz="1500" dirty="0"/>
          </a:p>
        </p:txBody>
      </p:sp>
      <p:sp>
        <p:nvSpPr>
          <p:cNvPr id="5" name="Shape 3"/>
          <p:cNvSpPr/>
          <p:nvPr/>
        </p:nvSpPr>
        <p:spPr>
          <a:xfrm>
            <a:off x="548640" y="4206240"/>
            <a:ext cx="11094415" cy="1600200"/>
          </a:xfrm>
          <a:prstGeom prst="roundRect">
            <a:avLst>
              <a:gd name="adj" fmla="val 6857"/>
            </a:avLst>
          </a:prstGeom>
          <a:solidFill>
            <a:srgbClr val="2A5F5A"/>
          </a:solidFill>
          <a:ln w="12700">
            <a:solidFill>
              <a:srgbClr val="2A5F5A"/>
            </a:solidFill>
            <a:prstDash val="solid"/>
          </a:ln>
        </p:spPr>
      </p:sp>
      <p:sp>
        <p:nvSpPr>
          <p:cNvPr id="6" name="Text 4"/>
          <p:cNvSpPr txBox="1"/>
          <p:nvPr/>
        </p:nvSpPr>
        <p:spPr>
          <a:xfrm>
            <a:off x="868680" y="4343400"/>
            <a:ext cx="10454335" cy="1371600"/>
          </a:xfrm>
          <a:prstGeom prst="rect">
            <a:avLst/>
          </a:prstGeom>
          <a:noFill/>
          <a:ln/>
        </p:spPr>
        <p:txBody>
          <a:bodyPr wrap="square" lIns="0" tIns="0" rIns="0" bIns="0" rtlCol="0" anchor="ctr"/>
          <a:lstStyle/>
          <a:p>
            <a:pPr indent="0" marL="0">
              <a:spcAft>
                <a:spcPts val="600"/>
              </a:spcAft>
              <a:buNone/>
            </a:pPr>
            <a:r>
              <a:rPr lang="en-US" sz="1500" b="1" dirty="0">
                <a:solidFill>
                  <a:srgbClr val="8FB9A8"/>
                </a:solidFill>
              </a:rPr>
              <a:t>이 강의의 핵심 메시지
</a:t>
            </a:r>
            <a:pPr indent="0" marL="0">
              <a:buNone/>
            </a:pPr>
            <a:r>
              <a:rPr lang="en-US" sz="1800" dirty="0">
                <a:solidFill>
                  <a:srgbClr val="FFFFFF"/>
                </a:solidFill>
              </a:rPr>
              <a:t>WLC는 생명·질병·죽음·재산·가족갈등·상실처럼 매우 민감한 영역을 다룬다. 지식과 코칭기술만으로는 충분하지 않다. 비밀유지, 자기결정, 역할경계, 이해충돌 관리, 지속성장이 함께해야 한다.</a:t>
            </a:r>
            <a:endParaRPr lang="en-US" sz="15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학습목표</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오늘 수업을 마치면 할 수 있는 것</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직무범위 </a:t>
            </a:r>
            <a:pPr indent="0" marL="0">
              <a:buNone/>
            </a:pPr>
            <a:r>
              <a:rPr lang="en-US" sz="2200" dirty="0">
                <a:solidFill>
                  <a:srgbClr val="222222"/>
                </a:solidFill>
              </a:rPr>
              <a:t>2급의 범위 안에서 활동한다</a:t>
            </a:r>
            <a:endParaRPr lang="en-US" sz="2200" dirty="0"/>
          </a:p>
        </p:txBody>
      </p:sp>
      <p:sp>
        <p:nvSpPr>
          <p:cNvPr id="7" name="Shape 5"/>
          <p:cNvSpPr/>
          <p:nvPr/>
        </p:nvSpPr>
        <p:spPr>
          <a:xfrm>
            <a:off x="548640" y="2754630"/>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75463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72719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자격검정 </a:t>
            </a:r>
            <a:pPr indent="0" marL="0">
              <a:buNone/>
            </a:pPr>
            <a:r>
              <a:rPr lang="en-US" sz="2200" dirty="0">
                <a:solidFill>
                  <a:srgbClr val="222222"/>
                </a:solidFill>
              </a:rPr>
              <a:t>실기 40·필기 60 구조와 절차를 이해한다</a:t>
            </a:r>
            <a:endParaRPr lang="en-US" sz="2200" dirty="0"/>
          </a:p>
        </p:txBody>
      </p:sp>
      <p:sp>
        <p:nvSpPr>
          <p:cNvPr id="10" name="Shape 8"/>
          <p:cNvSpPr/>
          <p:nvPr/>
        </p:nvSpPr>
        <p:spPr>
          <a:xfrm>
            <a:off x="548640" y="3909060"/>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9090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88162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4대 윤리원칙 </a:t>
            </a:r>
            <a:pPr indent="0" marL="0">
              <a:buNone/>
            </a:pPr>
            <a:r>
              <a:rPr lang="en-US" sz="2200" dirty="0">
                <a:solidFill>
                  <a:srgbClr val="222222"/>
                </a:solidFill>
              </a:rPr>
              <a:t>비밀유지·자기결정·역량·비차별 적용</a:t>
            </a:r>
            <a:endParaRPr lang="en-US" sz="2200" dirty="0"/>
          </a:p>
        </p:txBody>
      </p:sp>
      <p:sp>
        <p:nvSpPr>
          <p:cNvPr id="13" name="Shape 11"/>
          <p:cNvSpPr/>
          <p:nvPr/>
        </p:nvSpPr>
        <p:spPr>
          <a:xfrm>
            <a:off x="548640" y="5063490"/>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506349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503605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역할경계 </a:t>
            </a:r>
            <a:pPr indent="0" marL="0">
              <a:buNone/>
            </a:pPr>
            <a:r>
              <a:rPr lang="en-US" sz="2200" dirty="0">
                <a:solidFill>
                  <a:srgbClr val="222222"/>
                </a:solidFill>
              </a:rPr>
              <a:t>할 수 있는 일과 넘길 일을 구분한다</a:t>
            </a:r>
            <a:endParaRPr lang="en-US" sz="2200" dirty="0"/>
          </a:p>
        </p:txBody>
      </p:sp>
      <p:sp>
        <p:nvSpPr>
          <p:cNvPr id="16" name="Shape 14"/>
          <p:cNvSpPr/>
          <p:nvPr/>
        </p:nvSpPr>
        <p:spPr>
          <a:xfrm>
            <a:off x="6233008" y="1600200"/>
            <a:ext cx="438912" cy="438912"/>
          </a:xfrm>
          <a:prstGeom prst="ellipse">
            <a:avLst/>
          </a:prstGeom>
          <a:solidFill>
            <a:srgbClr val="2E7D6B"/>
          </a:solidFill>
          <a:ln w="12700">
            <a:solidFill>
              <a:srgbClr val="2E7D6B"/>
            </a:solidFill>
            <a:prstDash val="solid"/>
          </a:ln>
        </p:spPr>
      </p:sp>
      <p:sp>
        <p:nvSpPr>
          <p:cNvPr id="17" name="Text 15"/>
          <p:cNvSpPr txBox="1"/>
          <p:nvPr/>
        </p:nvSpPr>
        <p:spPr>
          <a:xfrm>
            <a:off x="6233008"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6854800" y="157276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이해충돌 </a:t>
            </a:r>
            <a:pPr indent="0" marL="0">
              <a:buNone/>
            </a:pPr>
            <a:r>
              <a:rPr lang="en-US" sz="2200" dirty="0">
                <a:solidFill>
                  <a:srgbClr val="222222"/>
                </a:solidFill>
              </a:rPr>
              <a:t>판매·소개·관계를 투명하게 관리한다</a:t>
            </a:r>
            <a:endParaRPr lang="en-US" sz="2200" dirty="0"/>
          </a:p>
        </p:txBody>
      </p:sp>
      <p:sp>
        <p:nvSpPr>
          <p:cNvPr id="19" name="Shape 17"/>
          <p:cNvSpPr/>
          <p:nvPr/>
        </p:nvSpPr>
        <p:spPr>
          <a:xfrm>
            <a:off x="6233008" y="2754630"/>
            <a:ext cx="438912" cy="438912"/>
          </a:xfrm>
          <a:prstGeom prst="ellipse">
            <a:avLst/>
          </a:prstGeom>
          <a:solidFill>
            <a:srgbClr val="2E7D6B"/>
          </a:solidFill>
          <a:ln w="12700">
            <a:solidFill>
              <a:srgbClr val="2E7D6B"/>
            </a:solidFill>
            <a:prstDash val="solid"/>
          </a:ln>
        </p:spPr>
      </p:sp>
      <p:sp>
        <p:nvSpPr>
          <p:cNvPr id="20" name="Text 18"/>
          <p:cNvSpPr txBox="1"/>
          <p:nvPr/>
        </p:nvSpPr>
        <p:spPr>
          <a:xfrm>
            <a:off x="6233008" y="275463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6854800" y="272719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개인정보·AI </a:t>
            </a:r>
            <a:pPr indent="0" marL="0">
              <a:buNone/>
            </a:pPr>
            <a:r>
              <a:rPr lang="en-US" sz="2200" dirty="0">
                <a:solidFill>
                  <a:srgbClr val="222222"/>
                </a:solidFill>
              </a:rPr>
              <a:t>최소수집·목적제한·보안·동의</a:t>
            </a:r>
            <a:endParaRPr lang="en-US" sz="2200" dirty="0"/>
          </a:p>
        </p:txBody>
      </p:sp>
      <p:sp>
        <p:nvSpPr>
          <p:cNvPr id="22" name="Shape 20"/>
          <p:cNvSpPr/>
          <p:nvPr/>
        </p:nvSpPr>
        <p:spPr>
          <a:xfrm>
            <a:off x="6233008" y="3909060"/>
            <a:ext cx="438912" cy="438912"/>
          </a:xfrm>
          <a:prstGeom prst="ellipse">
            <a:avLst/>
          </a:prstGeom>
          <a:solidFill>
            <a:srgbClr val="2E7D6B"/>
          </a:solidFill>
          <a:ln w="12700">
            <a:solidFill>
              <a:srgbClr val="2E7D6B"/>
            </a:solidFill>
            <a:prstDash val="solid"/>
          </a:ln>
        </p:spPr>
      </p:sp>
      <p:sp>
        <p:nvSpPr>
          <p:cNvPr id="23" name="Text 21"/>
          <p:cNvSpPr txBox="1"/>
          <p:nvPr/>
        </p:nvSpPr>
        <p:spPr>
          <a:xfrm>
            <a:off x="6233008" y="39090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24" name="Text 22"/>
          <p:cNvSpPr txBox="1"/>
          <p:nvPr/>
        </p:nvSpPr>
        <p:spPr>
          <a:xfrm>
            <a:off x="6854800" y="388162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딜레마 대응 </a:t>
            </a:r>
            <a:pPr indent="0" marL="0">
              <a:buNone/>
            </a:pPr>
            <a:r>
              <a:rPr lang="en-US" sz="2200" dirty="0">
                <a:solidFill>
                  <a:srgbClr val="222222"/>
                </a:solidFill>
              </a:rPr>
              <a:t>사실–원칙–경계–자문–기록</a:t>
            </a:r>
            <a:endParaRPr lang="en-US" sz="2200" dirty="0"/>
          </a:p>
        </p:txBody>
      </p:sp>
      <p:sp>
        <p:nvSpPr>
          <p:cNvPr id="25" name="Shape 23"/>
          <p:cNvSpPr/>
          <p:nvPr/>
        </p:nvSpPr>
        <p:spPr>
          <a:xfrm>
            <a:off x="6233008" y="5063490"/>
            <a:ext cx="438912" cy="438912"/>
          </a:xfrm>
          <a:prstGeom prst="ellipse">
            <a:avLst/>
          </a:prstGeom>
          <a:solidFill>
            <a:srgbClr val="2E7D6B"/>
          </a:solidFill>
          <a:ln w="12700">
            <a:solidFill>
              <a:srgbClr val="2E7D6B"/>
            </a:solidFill>
            <a:prstDash val="solid"/>
          </a:ln>
        </p:spPr>
      </p:sp>
      <p:sp>
        <p:nvSpPr>
          <p:cNvPr id="26" name="Text 24"/>
          <p:cNvSpPr txBox="1"/>
          <p:nvPr/>
        </p:nvSpPr>
        <p:spPr>
          <a:xfrm>
            <a:off x="6233008" y="506349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8</a:t>
            </a:r>
            <a:endParaRPr lang="en-US" sz="1500" dirty="0"/>
          </a:p>
        </p:txBody>
      </p:sp>
      <p:sp>
        <p:nvSpPr>
          <p:cNvPr id="27" name="Text 25"/>
          <p:cNvSpPr txBox="1"/>
          <p:nvPr/>
        </p:nvSpPr>
        <p:spPr>
          <a:xfrm>
            <a:off x="6854800" y="503605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지속성장 </a:t>
            </a:r>
            <a:pPr indent="0" marL="0">
              <a:buNone/>
            </a:pPr>
            <a:r>
              <a:rPr lang="en-US" sz="2200" dirty="0">
                <a:solidFill>
                  <a:srgbClr val="222222"/>
                </a:solidFill>
              </a:rPr>
              <a:t>윤리선언과 1년 개발계획을 쓴다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737360"/>
            <a:ext cx="5486400" cy="548640"/>
          </a:xfrm>
          <a:prstGeom prst="rect">
            <a:avLst/>
          </a:prstGeom>
          <a:noFill/>
          <a:ln/>
        </p:spPr>
        <p:txBody>
          <a:bodyPr wrap="square" lIns="0" tIns="0" rIns="0" bIns="0" rtlCol="0" anchor="t"/>
          <a:lstStyle/>
          <a:p>
            <a:pPr indent="0" marL="0">
              <a:buNone/>
            </a:pPr>
            <a:r>
              <a:rPr lang="en-US" sz="2200" b="1" dirty="0">
                <a:solidFill>
                  <a:srgbClr val="8FB9A8"/>
                </a:solidFill>
              </a:rPr>
              <a:t>1교시</a:t>
            </a:r>
            <a:endParaRPr lang="en-US" sz="2200" dirty="0"/>
          </a:p>
        </p:txBody>
      </p:sp>
      <p:sp>
        <p:nvSpPr>
          <p:cNvPr id="3" name="Text 0"/>
          <p:cNvSpPr/>
          <p:nvPr>
            <p:ph idx="100" type="title" hasCustomPrompt="1"/>
          </p:nvPr>
        </p:nvSpPr>
        <p:spPr>
          <a:xfrm>
            <a:off x="548640" y="2651760"/>
            <a:ext cx="11094415" cy="1005840"/>
          </a:xfrm>
          <a:prstGeom prst="rect">
            <a:avLst/>
          </a:prstGeom>
          <a:noFill/>
          <a:ln/>
        </p:spPr>
        <p:txBody>
          <a:bodyPr wrap="square" lIns="0" tIns="0" rIns="0" bIns="0" rtlCol="0" anchor="t"/>
          <a:lstStyle/>
          <a:p>
            <a:pPr algn="l" indent="0" marL="0">
              <a:buNone/>
            </a:pPr>
            <a:r>
              <a:rPr lang="en-US" sz="4000" b="1" dirty="0">
                <a:solidFill>
                  <a:srgbClr val="FFFFFF"/>
                </a:solidFill>
              </a:rPr>
              <a:t>자격과 윤리의 기본</a:t>
            </a:r>
            <a:endParaRPr lang="en-US" sz="4000" dirty="0"/>
          </a:p>
        </p:txBody>
      </p:sp>
      <p:sp>
        <p:nvSpPr>
          <p:cNvPr id="4" name="Text 2"/>
          <p:cNvSpPr txBox="1"/>
          <p:nvPr/>
        </p:nvSpPr>
        <p:spPr>
          <a:xfrm>
            <a:off x="548640" y="3749040"/>
            <a:ext cx="11094415" cy="548640"/>
          </a:xfrm>
          <a:prstGeom prst="rect">
            <a:avLst/>
          </a:prstGeom>
          <a:noFill/>
          <a:ln/>
        </p:spPr>
        <p:txBody>
          <a:bodyPr wrap="square" lIns="0" tIns="0" rIns="0" bIns="0" rtlCol="0" anchor="t"/>
          <a:lstStyle/>
          <a:p>
            <a:pPr indent="0" marL="0">
              <a:buNone/>
            </a:pPr>
            <a:r>
              <a:rPr lang="en-US" sz="2000" dirty="0">
                <a:solidFill>
                  <a:srgbClr val="CFE3DC"/>
                </a:solidFill>
              </a:rPr>
              <a:t>모르는 것을 모른다고 말하는 힘</a:t>
            </a:r>
            <a:endParaRPr lang="en-US" sz="2000" dirty="0"/>
          </a:p>
        </p:txBody>
      </p:sp>
      <p:sp>
        <p:nvSpPr>
          <p:cNvPr id="5" name="Text 3"/>
          <p:cNvSpPr txBox="1"/>
          <p:nvPr/>
        </p:nvSpPr>
        <p:spPr>
          <a:xfrm>
            <a:off x="548640" y="4480560"/>
            <a:ext cx="11094415" cy="164592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FFFFFF"/>
                </a:solidFill>
              </a:rPr>
              <a:t>내담자 보호와 자기 보호 · 등급별 직무범위</a:t>
            </a:r>
            <a:endParaRPr lang="en-US" sz="1900" dirty="0"/>
          </a:p>
          <a:p>
            <a:pPr marL="342900" indent="-342900">
              <a:spcAft>
                <a:spcPts val="600"/>
              </a:spcAft>
              <a:buSzPct val="100000"/>
              <a:buChar char="•"/>
            </a:pPr>
            <a:r>
              <a:rPr lang="en-US" sz="1900" dirty="0">
                <a:solidFill>
                  <a:srgbClr val="FFFFFF"/>
                </a:solidFill>
              </a:rPr>
              <a:t>자격검정 구조 · 실기와 필기는 무엇을 보는가</a:t>
            </a:r>
            <a:endParaRPr lang="en-US" sz="1900" dirty="0"/>
          </a:p>
          <a:p>
            <a:pPr marL="342900" indent="-342900">
              <a:spcAft>
                <a:spcPts val="600"/>
              </a:spcAft>
              <a:buSzPct val="100000"/>
              <a:buChar char="•"/>
            </a:pPr>
            <a:r>
              <a:rPr lang="en-US" sz="1900" dirty="0">
                <a:solidFill>
                  <a:srgbClr val="FFFFFF"/>
                </a:solidFill>
              </a:rPr>
              <a:t>4대 윤리원칙 · 비밀유지 · 자기결정권</a:t>
            </a:r>
            <a:endParaRPr lang="en-US" sz="19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1절 전문직으로서의 WLC</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두 축의 책임</a:t>
            </a:r>
            <a:endParaRPr lang="en-US" sz="2800" dirty="0"/>
          </a:p>
        </p:txBody>
      </p:sp>
      <p:sp>
        <p:nvSpPr>
          <p:cNvPr id="4" name="Shape 2"/>
          <p:cNvSpPr/>
          <p:nvPr/>
        </p:nvSpPr>
        <p:spPr>
          <a:xfrm>
            <a:off x="548640" y="1554480"/>
            <a:ext cx="5364328" cy="3520440"/>
          </a:xfrm>
          <a:prstGeom prst="roundRect">
            <a:avLst>
              <a:gd name="adj" fmla="val 3117"/>
            </a:avLst>
          </a:prstGeom>
          <a:solidFill>
            <a:srgbClr val="EAF3F0"/>
          </a:solidFill>
          <a:ln w="12700">
            <a:solidFill>
              <a:srgbClr val="EAF3F0"/>
            </a:solidFill>
            <a:prstDash val="solid"/>
          </a:ln>
        </p:spPr>
      </p:sp>
      <p:sp>
        <p:nvSpPr>
          <p:cNvPr id="5" name="Shape 3"/>
          <p:cNvSpPr/>
          <p:nvPr/>
        </p:nvSpPr>
        <p:spPr>
          <a:xfrm>
            <a:off x="822960" y="1810512"/>
            <a:ext cx="548640" cy="548640"/>
          </a:xfrm>
          <a:prstGeom prst="ellipse">
            <a:avLst/>
          </a:prstGeom>
          <a:solidFill>
            <a:srgbClr val="2E7D6B"/>
          </a:solidFill>
          <a:ln w="12700">
            <a:solidFill>
              <a:srgbClr val="2E7D6B"/>
            </a:solidFill>
            <a:prstDash val="solid"/>
          </a:ln>
        </p:spPr>
      </p:sp>
      <p:pic>
        <p:nvPicPr>
          <p:cNvPr id="6" name="Image 0" descr="preencoded.png">    </p:cNvPr>
          <p:cNvPicPr>
            <a:picLocks noChangeAspect="1"/>
          </p:cNvPicPr>
          <p:nvPr/>
        </p:nvPicPr>
        <p:blipFill>
          <a:blip r:embed="rId1"/>
          <a:stretch>
            <a:fillRect/>
          </a:stretch>
        </p:blipFill>
        <p:spPr>
          <a:xfrm>
            <a:off x="965606" y="1953158"/>
            <a:ext cx="263347" cy="263347"/>
          </a:xfrm>
          <a:prstGeom prst="rect">
            <a:avLst/>
          </a:prstGeom>
        </p:spPr>
      </p:pic>
      <p:sp>
        <p:nvSpPr>
          <p:cNvPr id="7" name="Text 4"/>
          <p:cNvSpPr txBox="1"/>
          <p:nvPr/>
        </p:nvSpPr>
        <p:spPr>
          <a:xfrm>
            <a:off x="1554480" y="1810512"/>
            <a:ext cx="4084168" cy="548640"/>
          </a:xfrm>
          <a:prstGeom prst="rect">
            <a:avLst/>
          </a:prstGeom>
          <a:noFill/>
          <a:ln/>
        </p:spPr>
        <p:txBody>
          <a:bodyPr wrap="square" lIns="0" tIns="0" rIns="0" bIns="0" rtlCol="0" anchor="ctr"/>
          <a:lstStyle/>
          <a:p>
            <a:pPr indent="0" marL="0">
              <a:buNone/>
            </a:pPr>
            <a:r>
              <a:rPr lang="en-US" sz="2200" b="1" dirty="0">
                <a:solidFill>
                  <a:srgbClr val="2E7D6B"/>
                </a:solidFill>
              </a:rPr>
              <a:t>내담자 보호</a:t>
            </a:r>
            <a:endParaRPr lang="en-US" sz="2200" dirty="0"/>
          </a:p>
        </p:txBody>
      </p:sp>
      <p:sp>
        <p:nvSpPr>
          <p:cNvPr id="8" name="Text 5"/>
          <p:cNvSpPr txBox="1"/>
          <p:nvPr/>
        </p:nvSpPr>
        <p:spPr>
          <a:xfrm>
            <a:off x="822960" y="2560320"/>
            <a:ext cx="4815688" cy="237744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rgbClr val="222222"/>
                </a:solidFill>
              </a:rPr>
              <a:t>정확한 정보 제공</a:t>
            </a:r>
            <a:endParaRPr lang="en-US" sz="2200" dirty="0"/>
          </a:p>
          <a:p>
            <a:pPr marL="342900" indent="-342900">
              <a:spcAft>
                <a:spcPts val="1000"/>
              </a:spcAft>
              <a:buSzPct val="100000"/>
              <a:buChar char="•"/>
            </a:pPr>
            <a:r>
              <a:rPr lang="en-US" sz="2200" dirty="0">
                <a:solidFill>
                  <a:srgbClr val="222222"/>
                </a:solidFill>
              </a:rPr>
              <a:t>자기결정권 존중</a:t>
            </a:r>
            <a:endParaRPr lang="en-US" sz="2200" dirty="0"/>
          </a:p>
          <a:p>
            <a:pPr marL="342900" indent="-342900">
              <a:spcAft>
                <a:spcPts val="1000"/>
              </a:spcAft>
              <a:buSzPct val="100000"/>
              <a:buChar char="•"/>
            </a:pPr>
            <a:r>
              <a:rPr lang="en-US" sz="2200" dirty="0">
                <a:solidFill>
                  <a:srgbClr val="222222"/>
                </a:solidFill>
              </a:rPr>
              <a:t>사적 정보 보호</a:t>
            </a:r>
            <a:endParaRPr lang="en-US" sz="2200" dirty="0"/>
          </a:p>
          <a:p>
            <a:pPr marL="342900" indent="-342900">
              <a:spcAft>
                <a:spcPts val="1000"/>
              </a:spcAft>
              <a:buSzPct val="100000"/>
              <a:buChar char="•"/>
            </a:pPr>
            <a:r>
              <a:rPr lang="en-US" sz="2200" dirty="0">
                <a:solidFill>
                  <a:srgbClr val="222222"/>
                </a:solidFill>
              </a:rPr>
              <a:t>필요한 전문가 연결</a:t>
            </a:r>
            <a:endParaRPr lang="en-US" sz="2200" dirty="0"/>
          </a:p>
        </p:txBody>
      </p:sp>
      <p:sp>
        <p:nvSpPr>
          <p:cNvPr id="9" name="Shape 6"/>
          <p:cNvSpPr/>
          <p:nvPr/>
        </p:nvSpPr>
        <p:spPr>
          <a:xfrm>
            <a:off x="6278728" y="1554480"/>
            <a:ext cx="5364328" cy="3520440"/>
          </a:xfrm>
          <a:prstGeom prst="roundRect">
            <a:avLst>
              <a:gd name="adj" fmla="val 3117"/>
            </a:avLst>
          </a:prstGeom>
          <a:solidFill>
            <a:srgbClr val="E8EFF8"/>
          </a:solidFill>
          <a:ln w="12700">
            <a:solidFill>
              <a:srgbClr val="E8EFF8"/>
            </a:solidFill>
            <a:prstDash val="solid"/>
          </a:ln>
        </p:spPr>
      </p:sp>
      <p:sp>
        <p:nvSpPr>
          <p:cNvPr id="10" name="Shape 7"/>
          <p:cNvSpPr/>
          <p:nvPr/>
        </p:nvSpPr>
        <p:spPr>
          <a:xfrm>
            <a:off x="6553048" y="1810512"/>
            <a:ext cx="548640" cy="548640"/>
          </a:xfrm>
          <a:prstGeom prst="ellipse">
            <a:avLst/>
          </a:prstGeom>
          <a:solidFill>
            <a:srgbClr val="3A6EA5"/>
          </a:solidFill>
          <a:ln w="12700">
            <a:solidFill>
              <a:srgbClr val="3A6EA5"/>
            </a:solidFill>
            <a:prstDash val="solid"/>
          </a:ln>
        </p:spPr>
      </p:sp>
      <p:pic>
        <p:nvPicPr>
          <p:cNvPr id="11" name="Image 1" descr="preencoded.png">    </p:cNvPr>
          <p:cNvPicPr>
            <a:picLocks noChangeAspect="1"/>
          </p:cNvPicPr>
          <p:nvPr/>
        </p:nvPicPr>
        <p:blipFill>
          <a:blip r:embed="rId2"/>
          <a:stretch>
            <a:fillRect/>
          </a:stretch>
        </p:blipFill>
        <p:spPr>
          <a:xfrm>
            <a:off x="6695694" y="1953158"/>
            <a:ext cx="263347" cy="263347"/>
          </a:xfrm>
          <a:prstGeom prst="rect">
            <a:avLst/>
          </a:prstGeom>
        </p:spPr>
      </p:pic>
      <p:sp>
        <p:nvSpPr>
          <p:cNvPr id="12" name="Text 8"/>
          <p:cNvSpPr txBox="1"/>
          <p:nvPr/>
        </p:nvSpPr>
        <p:spPr>
          <a:xfrm>
            <a:off x="7284568" y="1810512"/>
            <a:ext cx="4084168" cy="548640"/>
          </a:xfrm>
          <a:prstGeom prst="rect">
            <a:avLst/>
          </a:prstGeom>
          <a:noFill/>
          <a:ln/>
        </p:spPr>
        <p:txBody>
          <a:bodyPr wrap="square" lIns="0" tIns="0" rIns="0" bIns="0" rtlCol="0" anchor="ctr"/>
          <a:lstStyle/>
          <a:p>
            <a:pPr indent="0" marL="0">
              <a:buNone/>
            </a:pPr>
            <a:r>
              <a:rPr lang="en-US" sz="2200" b="1" dirty="0">
                <a:solidFill>
                  <a:srgbClr val="3A6EA5"/>
                </a:solidFill>
              </a:rPr>
              <a:t>자기 보호</a:t>
            </a:r>
            <a:endParaRPr lang="en-US" sz="2200" dirty="0"/>
          </a:p>
        </p:txBody>
      </p:sp>
      <p:sp>
        <p:nvSpPr>
          <p:cNvPr id="13" name="Text 9"/>
          <p:cNvSpPr txBox="1"/>
          <p:nvPr/>
        </p:nvSpPr>
        <p:spPr>
          <a:xfrm>
            <a:off x="6553048" y="2560320"/>
            <a:ext cx="4815688" cy="2377440"/>
          </a:xfrm>
          <a:prstGeom prst="rect">
            <a:avLst/>
          </a:prstGeom>
          <a:noFill/>
          <a:ln/>
        </p:spPr>
        <p:txBody>
          <a:bodyPr wrap="square" lIns="0" tIns="0" rIns="0" bIns="0" rtlCol="0" anchor="t"/>
          <a:lstStyle/>
          <a:p>
            <a:pPr marL="342900" indent="-342900">
              <a:spcAft>
                <a:spcPts val="1000"/>
              </a:spcAft>
              <a:buSzPct val="100000"/>
              <a:buChar char="•"/>
            </a:pPr>
            <a:r>
              <a:rPr lang="en-US" sz="2200" dirty="0">
                <a:solidFill>
                  <a:srgbClr val="222222"/>
                </a:solidFill>
              </a:rPr>
              <a:t>역할경계 준수</a:t>
            </a:r>
            <a:endParaRPr lang="en-US" sz="2200" dirty="0"/>
          </a:p>
          <a:p>
            <a:pPr marL="342900" indent="-342900">
              <a:spcAft>
                <a:spcPts val="1000"/>
              </a:spcAft>
              <a:buSzPct val="100000"/>
              <a:buChar char="•"/>
            </a:pPr>
            <a:r>
              <a:rPr lang="en-US" sz="2200" dirty="0">
                <a:solidFill>
                  <a:srgbClr val="222222"/>
                </a:solidFill>
              </a:rPr>
              <a:t>기록과 동의 관리</a:t>
            </a:r>
            <a:endParaRPr lang="en-US" sz="2200" dirty="0"/>
          </a:p>
          <a:p>
            <a:pPr marL="342900" indent="-342900">
              <a:spcAft>
                <a:spcPts val="1000"/>
              </a:spcAft>
              <a:buSzPct val="100000"/>
              <a:buChar char="•"/>
            </a:pPr>
            <a:r>
              <a:rPr lang="en-US" sz="2200" dirty="0">
                <a:solidFill>
                  <a:srgbClr val="222222"/>
                </a:solidFill>
              </a:rPr>
              <a:t>이해충돌 공개</a:t>
            </a:r>
            <a:endParaRPr lang="en-US" sz="2200" dirty="0"/>
          </a:p>
          <a:p>
            <a:pPr marL="342900" indent="-342900">
              <a:spcAft>
                <a:spcPts val="1000"/>
              </a:spcAft>
              <a:buSzPct val="100000"/>
              <a:buChar char="•"/>
            </a:pPr>
            <a:r>
              <a:rPr lang="en-US" sz="2200" dirty="0">
                <a:solidFill>
                  <a:srgbClr val="222222"/>
                </a:solidFill>
              </a:rPr>
              <a:t>소진 예방과 수퍼비전</a:t>
            </a:r>
            <a:endParaRPr lang="en-US" sz="2200" dirty="0"/>
          </a:p>
        </p:txBody>
      </p:sp>
      <p:sp>
        <p:nvSpPr>
          <p:cNvPr id="14" name="Shape 10"/>
          <p:cNvSpPr/>
          <p:nvPr/>
        </p:nvSpPr>
        <p:spPr>
          <a:xfrm>
            <a:off x="548640" y="5303520"/>
            <a:ext cx="11094415" cy="868680"/>
          </a:xfrm>
          <a:prstGeom prst="roundRect">
            <a:avLst>
              <a:gd name="adj" fmla="val 12632"/>
            </a:avLst>
          </a:prstGeom>
          <a:solidFill>
            <a:srgbClr val="EAF3F0"/>
          </a:solidFill>
          <a:ln w="12700">
            <a:solidFill>
              <a:srgbClr val="EAF3F0"/>
            </a:solidFill>
            <a:prstDash val="solid"/>
          </a:ln>
        </p:spPr>
      </p:sp>
      <p:sp>
        <p:nvSpPr>
          <p:cNvPr id="15" name="Shape 11"/>
          <p:cNvSpPr/>
          <p:nvPr/>
        </p:nvSpPr>
        <p:spPr>
          <a:xfrm>
            <a:off x="777240" y="5509260"/>
            <a:ext cx="457200" cy="457200"/>
          </a:xfrm>
          <a:prstGeom prst="ellipse">
            <a:avLst/>
          </a:prstGeom>
          <a:solidFill>
            <a:srgbClr val="2E7D6B"/>
          </a:solidFill>
          <a:ln w="12700">
            <a:solidFill>
              <a:srgbClr val="2E7D6B"/>
            </a:solidFill>
            <a:prstDash val="solid"/>
          </a:ln>
        </p:spPr>
      </p:sp>
      <p:pic>
        <p:nvPicPr>
          <p:cNvPr id="16" name="Image 2" descr="preencoded.png">    </p:cNvPr>
          <p:cNvPicPr>
            <a:picLocks noChangeAspect="1"/>
          </p:cNvPicPr>
          <p:nvPr/>
        </p:nvPicPr>
        <p:blipFill>
          <a:blip r:embed="rId3"/>
          <a:stretch>
            <a:fillRect/>
          </a:stretch>
        </p:blipFill>
        <p:spPr>
          <a:xfrm>
            <a:off x="896112" y="5628132"/>
            <a:ext cx="219456" cy="219456"/>
          </a:xfrm>
          <a:prstGeom prst="rect">
            <a:avLst/>
          </a:prstGeom>
        </p:spPr>
      </p:pic>
      <p:sp>
        <p:nvSpPr>
          <p:cNvPr id="17" name="Text 12"/>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2E7D6B"/>
                </a:solidFill>
              </a:rPr>
              <a:t>전문성의 기준   </a:t>
            </a:r>
            <a:pPr indent="0" marL="0">
              <a:buNone/>
            </a:pPr>
            <a:r>
              <a:rPr lang="en-US" sz="1800" dirty="0">
                <a:solidFill>
                  <a:srgbClr val="222222"/>
                </a:solidFill>
              </a:rPr>
              <a:t>모르는 것을 모른다고 말하고, 확인할 것은 확인하며, 할 수 없는 일은 적절한 전문가에게 연결하는 태도가 신뢰를 만듭니다.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2절 WLC 등급별 직무범위</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2급과 상위등급</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828800"/>
                <a:gridCol w="4572000"/>
                <a:gridCol w="4663440"/>
              </a:tblGrid>
              <a:tr h="566928">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구분</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WLC 2급</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WLC 1급(상위등급 운영모형)</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566928">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핵심 목표</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기본개념 이해와 표준 실무 수행</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심화 프로그램 기획·운영과 인력 성장 지원</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주요 활동</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엔딩노트·대화카드, 개인·소규모 코칭, 표준교육</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심화교육 개발, 기관 프로그램, 사례지도·수퍼비전</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66928">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핵심 역량</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경청·공감·질문, 표준도구, 역할경계, 연계</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프로그램 설계, 복합사례 판단, 리더십</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공통 금지선</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타 전문자격 업무의 무자격 수행 금지</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상위등급도 타 전문자격 고유업무를 대체하지 않음</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3절 WLC 2급 자격검정</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2026 운영기준 — 실기 40 · 필기 60</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828800"/>
                <a:gridCol w="4206240"/>
                <a:gridCol w="5029200"/>
              </a:tblGrid>
              <a:tr h="603504">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구분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현재 운영 구조</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평가의 초점</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60350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수료요건</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출석·참여요건 충족</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성실한 참여와 기본학습 이수</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실기시험</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40점</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역할이해, 강의·코칭 시연, 질문·경청, 구조화, 역할경계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0350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필기시험</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60점</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핵심개념, 제도·윤리·실무 이해, 사례판단</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최종 판정</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최신 검정규정 적용</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안전하고 윤리적인 실무역량 확인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5" name="Shape 2"/>
          <p:cNvSpPr/>
          <p:nvPr/>
        </p:nvSpPr>
        <p:spPr>
          <a:xfrm>
            <a:off x="548640" y="5303520"/>
            <a:ext cx="11094415" cy="868680"/>
          </a:xfrm>
          <a:prstGeom prst="roundRect">
            <a:avLst>
              <a:gd name="adj" fmla="val 12632"/>
            </a:avLst>
          </a:prstGeom>
          <a:solidFill>
            <a:srgbClr val="FDF1DC"/>
          </a:solidFill>
          <a:ln w="12700">
            <a:solidFill>
              <a:srgbClr val="FDF1DC"/>
            </a:solidFill>
            <a:prstDash val="solid"/>
          </a:ln>
        </p:spPr>
      </p:sp>
      <p:sp>
        <p:nvSpPr>
          <p:cNvPr id="6" name="Shape 3"/>
          <p:cNvSpPr/>
          <p:nvPr/>
        </p:nvSpPr>
        <p:spPr>
          <a:xfrm>
            <a:off x="777240" y="5509260"/>
            <a:ext cx="457200" cy="457200"/>
          </a:xfrm>
          <a:prstGeom prst="ellipse">
            <a:avLst/>
          </a:prstGeom>
          <a:solidFill>
            <a:srgbClr val="D98E04"/>
          </a:solidFill>
          <a:ln w="12700">
            <a:solidFill>
              <a:srgbClr val="D98E04"/>
            </a:solidFill>
            <a:prstDash val="solid"/>
          </a:ln>
        </p:spPr>
      </p:sp>
      <p:pic>
        <p:nvPicPr>
          <p:cNvPr id="7"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8" name="Text 4"/>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D98E04"/>
                </a:solidFill>
              </a:rPr>
              <a:t>편집 원칙   </a:t>
            </a:r>
            <a:pPr indent="0" marL="0">
              <a:buNone/>
            </a:pPr>
            <a:r>
              <a:rPr lang="en-US" sz="1800" dirty="0">
                <a:solidFill>
                  <a:srgbClr val="222222"/>
                </a:solidFill>
              </a:rPr>
              <a:t>배점·문항수·합격기준·재시험 규정은 변경될 수 있습니다. 실제 시험은 해당 기수 수험생 안내문과 검정규정을 우선합니다.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4절 실기시험의 관찰 포인트</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“잘 말하는가”보다 “안전하게 진행하는가”</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194560"/>
                <a:gridCol w="8869680"/>
              </a:tblGrid>
              <a:tr h="512064">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평가영역</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관찰 포인트</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512064">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도입·라포</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대상과 목적을 분명히 하고 안전한 분위기를 만드는가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핵심 메시지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한정된 시간 안에 정확하고 이해하기 쉬운 핵심을 전달하는가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12064">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질문·경청</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유도하지 않고 열린 질문과 반영을 사용하는가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참여활동</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대상에게 맞는 짧은 실습을 안전하게 운영하는가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12064">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역할경계</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의료·법률·심리 등 전문가 영역을 침범하지 않는가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마무리</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핵심을 요약하고 실행 가능한 다음 행동을 제시하는가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4.1 실기 준비용 15분 시연 구조</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도입 3 · 전개 7 · 실습 3 · 마무리 2</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828800"/>
                <a:gridCol w="2743200"/>
                <a:gridCol w="6492240"/>
              </a:tblGrid>
              <a:tr h="713232">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시간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구성</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예시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713232">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도입 3분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라포·동기유발 질문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“내 삶에서 꼭 남기고 싶은 한 가지는 무엇인가요?”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전개 7분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핵심 메시지 1개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엔딩노트는 죽음준비가 아니라 남은 삶을 더 잘 살기 위한 기록</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713232">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실습 3분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참여활동 1개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감사한 사람 한 명과 전하고 싶은 한 문장 작성</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마무리 2분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요약·다음 행동</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오늘 쓴 한 문장을 실제로 전할 날짜 정하기</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5절 필기시험</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암기보다 “구분과 판단”을 평가한다</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4724248" cy="1466088"/>
          </a:xfrm>
          <a:prstGeom prst="rect">
            <a:avLst/>
          </a:prstGeom>
          <a:noFill/>
          <a:ln/>
        </p:spPr>
        <p:txBody>
          <a:bodyPr wrap="square" lIns="0" tIns="0" rIns="0" bIns="0" rtlCol="0" anchor="t"/>
          <a:lstStyle/>
          <a:p>
            <a:pPr indent="0" marL="0">
              <a:buNone/>
            </a:pPr>
            <a:r>
              <a:rPr lang="en-US" sz="2200" dirty="0">
                <a:solidFill>
                  <a:srgbClr val="222222"/>
                </a:solidFill>
              </a:rPr>
              <a:t>웰빙·웰다잉·엔딩의 통합철학</a:t>
            </a:r>
            <a:endParaRPr lang="en-US" sz="2200" dirty="0"/>
          </a:p>
        </p:txBody>
      </p:sp>
      <p:sp>
        <p:nvSpPr>
          <p:cNvPr id="7" name="Shape 5"/>
          <p:cNvSpPr/>
          <p:nvPr/>
        </p:nvSpPr>
        <p:spPr>
          <a:xfrm>
            <a:off x="548640" y="3139440"/>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31394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3112008"/>
            <a:ext cx="4724248" cy="1466088"/>
          </a:xfrm>
          <a:prstGeom prst="rect">
            <a:avLst/>
          </a:prstGeom>
          <a:noFill/>
          <a:ln/>
        </p:spPr>
        <p:txBody>
          <a:bodyPr wrap="square" lIns="0" tIns="0" rIns="0" bIns="0" rtlCol="0" anchor="t"/>
          <a:lstStyle/>
          <a:p>
            <a:pPr indent="0" marL="0">
              <a:buNone/>
            </a:pPr>
            <a:r>
              <a:rPr lang="en-US" sz="2200" dirty="0">
                <a:solidFill>
                  <a:srgbClr val="222222"/>
                </a:solidFill>
              </a:rPr>
              <a:t>연명의료·사전돌봄계획·후견의 기본구조</a:t>
            </a:r>
            <a:endParaRPr lang="en-US" sz="2200" dirty="0"/>
          </a:p>
        </p:txBody>
      </p:sp>
      <p:sp>
        <p:nvSpPr>
          <p:cNvPr id="10" name="Shape 8"/>
          <p:cNvSpPr/>
          <p:nvPr/>
        </p:nvSpPr>
        <p:spPr>
          <a:xfrm>
            <a:off x="548640" y="4678680"/>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4678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4651248"/>
            <a:ext cx="4724248" cy="1466088"/>
          </a:xfrm>
          <a:prstGeom prst="rect">
            <a:avLst/>
          </a:prstGeom>
          <a:noFill/>
          <a:ln/>
        </p:spPr>
        <p:txBody>
          <a:bodyPr wrap="square" lIns="0" tIns="0" rIns="0" bIns="0" rtlCol="0" anchor="t"/>
          <a:lstStyle/>
          <a:p>
            <a:pPr indent="0" marL="0">
              <a:buNone/>
            </a:pPr>
            <a:r>
              <a:rPr lang="en-US" sz="2200" dirty="0">
                <a:solidFill>
                  <a:srgbClr val="222222"/>
                </a:solidFill>
              </a:rPr>
              <a:t>상속·유언·재산보호와 역할경계</a:t>
            </a:r>
            <a:endParaRPr lang="en-US" sz="2200" dirty="0"/>
          </a:p>
        </p:txBody>
      </p:sp>
      <p:sp>
        <p:nvSpPr>
          <p:cNvPr id="13" name="Shape 11"/>
          <p:cNvSpPr/>
          <p:nvPr/>
        </p:nvSpPr>
        <p:spPr>
          <a:xfrm>
            <a:off x="6233008" y="1600200"/>
            <a:ext cx="438912" cy="438912"/>
          </a:xfrm>
          <a:prstGeom prst="ellipse">
            <a:avLst/>
          </a:prstGeom>
          <a:solidFill>
            <a:srgbClr val="2E7D6B"/>
          </a:solidFill>
          <a:ln w="12700">
            <a:solidFill>
              <a:srgbClr val="2E7D6B"/>
            </a:solidFill>
            <a:prstDash val="solid"/>
          </a:ln>
        </p:spPr>
      </p:sp>
      <p:sp>
        <p:nvSpPr>
          <p:cNvPr id="14" name="Text 12"/>
          <p:cNvSpPr txBox="1"/>
          <p:nvPr/>
        </p:nvSpPr>
        <p:spPr>
          <a:xfrm>
            <a:off x="6233008"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6854800" y="1572768"/>
            <a:ext cx="4724248" cy="1466088"/>
          </a:xfrm>
          <a:prstGeom prst="rect">
            <a:avLst/>
          </a:prstGeom>
          <a:noFill/>
          <a:ln/>
        </p:spPr>
        <p:txBody>
          <a:bodyPr wrap="square" lIns="0" tIns="0" rIns="0" bIns="0" rtlCol="0" anchor="t"/>
          <a:lstStyle/>
          <a:p>
            <a:pPr indent="0" marL="0">
              <a:buNone/>
            </a:pPr>
            <a:r>
              <a:rPr lang="en-US" sz="2200" dirty="0">
                <a:solidFill>
                  <a:srgbClr val="222222"/>
                </a:solidFill>
              </a:rPr>
              <a:t>장례·장묘·사망 직후 기본절차</a:t>
            </a:r>
            <a:endParaRPr lang="en-US" sz="2200" dirty="0"/>
          </a:p>
        </p:txBody>
      </p:sp>
      <p:sp>
        <p:nvSpPr>
          <p:cNvPr id="16" name="Shape 14"/>
          <p:cNvSpPr/>
          <p:nvPr/>
        </p:nvSpPr>
        <p:spPr>
          <a:xfrm>
            <a:off x="6233008" y="3139440"/>
            <a:ext cx="438912" cy="438912"/>
          </a:xfrm>
          <a:prstGeom prst="ellipse">
            <a:avLst/>
          </a:prstGeom>
          <a:solidFill>
            <a:srgbClr val="2E7D6B"/>
          </a:solidFill>
          <a:ln w="12700">
            <a:solidFill>
              <a:srgbClr val="2E7D6B"/>
            </a:solidFill>
            <a:prstDash val="solid"/>
          </a:ln>
        </p:spPr>
      </p:sp>
      <p:sp>
        <p:nvSpPr>
          <p:cNvPr id="17" name="Text 15"/>
          <p:cNvSpPr txBox="1"/>
          <p:nvPr/>
        </p:nvSpPr>
        <p:spPr>
          <a:xfrm>
            <a:off x="6233008" y="31394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6854800" y="3112008"/>
            <a:ext cx="4724248" cy="1466088"/>
          </a:xfrm>
          <a:prstGeom prst="rect">
            <a:avLst/>
          </a:prstGeom>
          <a:noFill/>
          <a:ln/>
        </p:spPr>
        <p:txBody>
          <a:bodyPr wrap="square" lIns="0" tIns="0" rIns="0" bIns="0" rtlCol="0" anchor="t"/>
          <a:lstStyle/>
          <a:p>
            <a:pPr indent="0" marL="0">
              <a:buNone/>
            </a:pPr>
            <a:r>
              <a:rPr lang="en-US" sz="2200" dirty="0">
                <a:solidFill>
                  <a:srgbClr val="222222"/>
                </a:solidFill>
              </a:rPr>
              <a:t>상실·애도·재난·임종의 기본지원과 연계</a:t>
            </a:r>
            <a:endParaRPr lang="en-US" sz="2200" dirty="0"/>
          </a:p>
        </p:txBody>
      </p:sp>
      <p:sp>
        <p:nvSpPr>
          <p:cNvPr id="19" name="Shape 17"/>
          <p:cNvSpPr/>
          <p:nvPr/>
        </p:nvSpPr>
        <p:spPr>
          <a:xfrm>
            <a:off x="6233008" y="4678680"/>
            <a:ext cx="438912" cy="438912"/>
          </a:xfrm>
          <a:prstGeom prst="ellipse">
            <a:avLst/>
          </a:prstGeom>
          <a:solidFill>
            <a:srgbClr val="2E7D6B"/>
          </a:solidFill>
          <a:ln w="12700">
            <a:solidFill>
              <a:srgbClr val="2E7D6B"/>
            </a:solidFill>
            <a:prstDash val="solid"/>
          </a:ln>
        </p:spPr>
      </p:sp>
      <p:sp>
        <p:nvSpPr>
          <p:cNvPr id="20" name="Text 18"/>
          <p:cNvSpPr txBox="1"/>
          <p:nvPr/>
        </p:nvSpPr>
        <p:spPr>
          <a:xfrm>
            <a:off x="6233008" y="4678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6854800" y="4651248"/>
            <a:ext cx="4724248" cy="1466088"/>
          </a:xfrm>
          <a:prstGeom prst="rect">
            <a:avLst/>
          </a:prstGeom>
          <a:noFill/>
          <a:ln/>
        </p:spPr>
        <p:txBody>
          <a:bodyPr wrap="square" lIns="0" tIns="0" rIns="0" bIns="0" rtlCol="0" anchor="t"/>
          <a:lstStyle/>
          <a:p>
            <a:pPr indent="0" marL="0">
              <a:buNone/>
            </a:pPr>
            <a:r>
              <a:rPr lang="en-US" sz="2200" dirty="0">
                <a:solidFill>
                  <a:srgbClr val="222222"/>
                </a:solidFill>
              </a:rPr>
              <a:t>WLC 코칭·프로그램 운영과 윤리적 판단</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6절 WLC 4대 윤리원칙</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비밀유지 · 자기결정권 · 전문적 역량 · 비차별</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194560"/>
                <a:gridCol w="4572000"/>
                <a:gridCol w="4297680"/>
              </a:tblGrid>
              <a:tr h="731520">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원칙</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핵심 내용</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현장 기준</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73152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비밀유지</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가족사·건강·재산·상실 등 사적 정보를 불필요하게 공개하지 않음</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최소 수집·공유, 안전 보관, 예외는 공식 절차</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자기결정권</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코치의 가치·종교·선호를 강요하지 않음</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충분히 이해하고 스스로 선택하도록 질문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73152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전문적 역량</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교육·자격·경험 범위 안에서만 활동</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모르면 확인, 벗어나면 연계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비차별·공정성</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연령·성별·종교·장애·경제·가족형태로 차별하지 않음</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동일한 존중과 접근기회</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7절 비밀유지의 의미와 예외</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“모든 것을 절대 숨긴다”는 뜻은 아니다</a:t>
            </a:r>
            <a:endParaRPr lang="en-US" sz="2800" dirty="0"/>
          </a:p>
        </p:txBody>
      </p:sp>
      <p:sp>
        <p:nvSpPr>
          <p:cNvPr id="4" name="Shape 2"/>
          <p:cNvSpPr/>
          <p:nvPr/>
        </p:nvSpPr>
        <p:spPr>
          <a:xfrm>
            <a:off x="548640" y="1600200"/>
            <a:ext cx="11094415" cy="2011680"/>
          </a:xfrm>
          <a:prstGeom prst="roundRect">
            <a:avLst>
              <a:gd name="adj" fmla="val 5455"/>
            </a:avLst>
          </a:prstGeom>
          <a:solidFill>
            <a:srgbClr val="FDF1DC"/>
          </a:solidFill>
          <a:ln w="12700">
            <a:solidFill>
              <a:srgbClr val="FDF1DC"/>
            </a:solidFill>
            <a:prstDash val="solid"/>
          </a:ln>
        </p:spPr>
      </p:sp>
      <p:sp>
        <p:nvSpPr>
          <p:cNvPr id="5" name="Shape 3"/>
          <p:cNvSpPr/>
          <p:nvPr/>
        </p:nvSpPr>
        <p:spPr>
          <a:xfrm>
            <a:off x="868680" y="1965960"/>
            <a:ext cx="822960" cy="822960"/>
          </a:xfrm>
          <a:prstGeom prst="ellipse">
            <a:avLst/>
          </a:prstGeom>
          <a:solidFill>
            <a:srgbClr val="D98E04"/>
          </a:solidFill>
          <a:ln w="12700">
            <a:solidFill>
              <a:srgbClr val="D98E04"/>
            </a:solidFill>
            <a:prstDash val="solid"/>
          </a:ln>
        </p:spPr>
      </p:sp>
      <p:pic>
        <p:nvPicPr>
          <p:cNvPr id="6" name="Image 0" descr="preencoded.png">    </p:cNvPr>
          <p:cNvPicPr>
            <a:picLocks noChangeAspect="1"/>
          </p:cNvPicPr>
          <p:nvPr/>
        </p:nvPicPr>
        <p:blipFill>
          <a:blip r:embed="rId1"/>
          <a:stretch>
            <a:fillRect/>
          </a:stretch>
        </p:blipFill>
        <p:spPr>
          <a:xfrm>
            <a:off x="1082650" y="2179930"/>
            <a:ext cx="395021" cy="395021"/>
          </a:xfrm>
          <a:prstGeom prst="rect">
            <a:avLst/>
          </a:prstGeom>
        </p:spPr>
      </p:pic>
      <p:sp>
        <p:nvSpPr>
          <p:cNvPr id="7" name="Text 4"/>
          <p:cNvSpPr txBox="1"/>
          <p:nvPr/>
        </p:nvSpPr>
        <p:spPr>
          <a:xfrm>
            <a:off x="1965960" y="1783080"/>
            <a:ext cx="9357055" cy="1645920"/>
          </a:xfrm>
          <a:prstGeom prst="rect">
            <a:avLst/>
          </a:prstGeom>
          <a:noFill/>
          <a:ln/>
        </p:spPr>
        <p:txBody>
          <a:bodyPr wrap="square" lIns="0" tIns="0" rIns="0" bIns="0" rtlCol="0" anchor="ctr"/>
          <a:lstStyle/>
          <a:p>
            <a:pPr indent="0" marL="0">
              <a:buNone/>
            </a:pPr>
            <a:r>
              <a:rPr lang="en-US" sz="2500" b="1" dirty="0">
                <a:solidFill>
                  <a:srgbClr val="1F4E4A"/>
                </a:solidFill>
              </a:rPr>
              <a:t>자해·자살 위험, 타인 위해 가능성, 정당한 법적 요구가 있을 때는</a:t>
            </a:r>
            <a:endParaRPr lang="en-US" sz="2500" dirty="0"/>
          </a:p>
          <a:p>
            <a:pPr indent="0" marL="0">
              <a:buNone/>
            </a:pPr>
            <a:r>
              <a:rPr lang="en-US" sz="2500" b="1" dirty="0">
                <a:solidFill>
                  <a:srgbClr val="1F4E4A"/>
                </a:solidFill>
              </a:rPr>
              <a:t>안전과 법적 의무에 필요한 최소 범위의 정보만 공유합니다.</a:t>
            </a:r>
            <a:endParaRPr lang="en-US" sz="2500" dirty="0"/>
          </a:p>
        </p:txBody>
      </p:sp>
      <p:sp>
        <p:nvSpPr>
          <p:cNvPr id="8" name="Shape 5"/>
          <p:cNvSpPr/>
          <p:nvPr/>
        </p:nvSpPr>
        <p:spPr>
          <a:xfrm>
            <a:off x="548640" y="3886200"/>
            <a:ext cx="5410048" cy="2240280"/>
          </a:xfrm>
          <a:prstGeom prst="roundRect">
            <a:avLst>
              <a:gd name="adj" fmla="val 4898"/>
            </a:avLst>
          </a:prstGeom>
          <a:solidFill>
            <a:srgbClr val="F3F4F3"/>
          </a:solidFill>
          <a:ln w="12700">
            <a:solidFill>
              <a:srgbClr val="F3F4F3"/>
            </a:solidFill>
            <a:prstDash val="solid"/>
          </a:ln>
        </p:spPr>
      </p:sp>
      <p:sp>
        <p:nvSpPr>
          <p:cNvPr id="9" name="Text 6"/>
          <p:cNvSpPr txBox="1"/>
          <p:nvPr/>
        </p:nvSpPr>
        <p:spPr>
          <a:xfrm>
            <a:off x="777240" y="4069080"/>
            <a:ext cx="495284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첫 세션 안내</a:t>
            </a:r>
            <a:endParaRPr lang="en-US" sz="2100" dirty="0"/>
          </a:p>
          <a:p>
            <a:pPr indent="0" marL="0">
              <a:buNone/>
            </a:pPr>
            <a:r>
              <a:rPr lang="en-US" sz="2000" dirty="0">
                <a:solidFill>
                  <a:srgbClr val="222222"/>
                </a:solidFill>
              </a:rPr>
              <a:t>“원칙적으로 비밀로 다룹니다. 다만 본인이나 다른 사람의 안전에 심각한 위험이 있거나 법령상 필요한 절차가 있는 경우는 예외입니다.”</a:t>
            </a:r>
            <a:endParaRPr lang="en-US" sz="2100" dirty="0"/>
          </a:p>
        </p:txBody>
      </p:sp>
      <p:sp>
        <p:nvSpPr>
          <p:cNvPr id="10" name="Shape 7"/>
          <p:cNvSpPr/>
          <p:nvPr/>
        </p:nvSpPr>
        <p:spPr>
          <a:xfrm>
            <a:off x="6233008" y="3886200"/>
            <a:ext cx="5410048" cy="2240280"/>
          </a:xfrm>
          <a:prstGeom prst="roundRect">
            <a:avLst>
              <a:gd name="adj" fmla="val 4898"/>
            </a:avLst>
          </a:prstGeom>
          <a:solidFill>
            <a:srgbClr val="F3F4F3"/>
          </a:solidFill>
          <a:ln w="12700">
            <a:solidFill>
              <a:srgbClr val="F3F4F3"/>
            </a:solidFill>
            <a:prstDash val="solid"/>
          </a:ln>
        </p:spPr>
      </p:sp>
      <p:sp>
        <p:nvSpPr>
          <p:cNvPr id="11" name="Text 8"/>
          <p:cNvSpPr txBox="1"/>
          <p:nvPr/>
        </p:nvSpPr>
        <p:spPr>
          <a:xfrm>
            <a:off x="6461608" y="4069080"/>
            <a:ext cx="495284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혼자 판단하지 않기</a:t>
            </a:r>
            <a:endParaRPr lang="en-US" sz="2100" dirty="0"/>
          </a:p>
          <a:p>
            <a:pPr indent="0" marL="0">
              <a:buNone/>
            </a:pPr>
            <a:r>
              <a:rPr lang="en-US" sz="2000" dirty="0">
                <a:solidFill>
                  <a:srgbClr val="222222"/>
                </a:solidFill>
              </a:rPr>
              <a:t>법적 공개의무 여부는 기관 책임자·전문가·공식 지침으로 확인</a:t>
            </a:r>
            <a:endParaRPr lang="en-US" sz="21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8절 자기결정권</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“좋은 선택”을 대신 정하지 않는다</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4023360"/>
                <a:gridCol w="7040880"/>
              </a:tblGrid>
              <a:tr h="713232">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유도적 표현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자기결정권을 존중하는 표현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713232">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“요즘은 자연장이 가장 좋아요.”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“봉안·자연장·산분의 특징을 확인하고, 어떤 기준이 중요한지 생각해 볼까요?”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“자녀를 위해 연명의료를 받으셔야죠.”</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“본인이 가장 중요하게 생각하는 치료와 돌봄의 기준은 무엇인가요?”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713232">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“재산은 똑같이 줘야 공평합니다.”</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“본인에게 공정함은 어떤 의미인지 살펴볼까요?”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713232">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“신앙이 있으니 이렇게 하셔야 합니다.”</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“신앙 안에서 어떤 선택이 가장 의미 있게 느껴지나요?”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547208" y="1005840"/>
            <a:ext cx="1097280" cy="1097280"/>
          </a:xfrm>
          <a:prstGeom prst="ellipse">
            <a:avLst/>
          </a:prstGeom>
          <a:solidFill>
            <a:srgbClr val="2E7D6B"/>
          </a:solidFill>
          <a:ln w="12700">
            <a:solidFill>
              <a:srgbClr val="2E7D6B"/>
            </a:solidFill>
            <a:prstDash val="solid"/>
          </a:ln>
        </p:spPr>
      </p:sp>
      <p:pic>
        <p:nvPicPr>
          <p:cNvPr id="3" name="Image 0" descr="preencoded.png">    </p:cNvPr>
          <p:cNvPicPr>
            <a:picLocks noChangeAspect="1"/>
          </p:cNvPicPr>
          <p:nvPr/>
        </p:nvPicPr>
        <p:blipFill>
          <a:blip r:embed="rId1"/>
          <a:stretch>
            <a:fillRect/>
          </a:stretch>
        </p:blipFill>
        <p:spPr>
          <a:xfrm>
            <a:off x="5832500" y="1291133"/>
            <a:ext cx="526694" cy="526694"/>
          </a:xfrm>
          <a:prstGeom prst="rect">
            <a:avLst/>
          </a:prstGeom>
        </p:spPr>
      </p:pic>
      <p:sp>
        <p:nvSpPr>
          <p:cNvPr id="4" name="Text 1"/>
          <p:cNvSpPr txBox="1"/>
          <p:nvPr/>
        </p:nvSpPr>
        <p:spPr>
          <a:xfrm>
            <a:off x="548640" y="2286000"/>
            <a:ext cx="11094415" cy="822960"/>
          </a:xfrm>
          <a:prstGeom prst="rect">
            <a:avLst/>
          </a:prstGeom>
          <a:noFill/>
          <a:ln/>
        </p:spPr>
        <p:txBody>
          <a:bodyPr wrap="square" lIns="0" tIns="0" rIns="0" bIns="0" rtlCol="0" anchor="t"/>
          <a:lstStyle/>
          <a:p>
            <a:pPr algn="ctr" indent="0" marL="0">
              <a:buNone/>
            </a:pPr>
            <a:r>
              <a:rPr lang="en-US" sz="4000" b="1" dirty="0">
                <a:solidFill>
                  <a:srgbClr val="FFFFFF"/>
                </a:solidFill>
              </a:rPr>
              <a:t>휴식 10분</a:t>
            </a:r>
            <a:endParaRPr lang="en-US" sz="4000" dirty="0"/>
          </a:p>
        </p:txBody>
      </p:sp>
      <p:sp>
        <p:nvSpPr>
          <p:cNvPr id="5" name="Text 2"/>
          <p:cNvSpPr txBox="1"/>
          <p:nvPr/>
        </p:nvSpPr>
        <p:spPr>
          <a:xfrm>
            <a:off x="548640" y="3291840"/>
            <a:ext cx="11094415" cy="411480"/>
          </a:xfrm>
          <a:prstGeom prst="rect">
            <a:avLst/>
          </a:prstGeom>
          <a:noFill/>
          <a:ln/>
        </p:spPr>
        <p:txBody>
          <a:bodyPr wrap="square" lIns="0" tIns="0" rIns="0" bIns="0" rtlCol="0" anchor="t"/>
          <a:lstStyle/>
          <a:p>
            <a:pPr algn="ctr" indent="0" marL="0">
              <a:buNone/>
            </a:pPr>
            <a:r>
              <a:rPr lang="en-US" sz="1600" b="1" dirty="0">
                <a:solidFill>
                  <a:srgbClr val="8FB9A8"/>
                </a:solidFill>
              </a:rPr>
              <a:t>지금까지 기억할 세 가지</a:t>
            </a:r>
            <a:endParaRPr lang="en-US" sz="1600" dirty="0"/>
          </a:p>
        </p:txBody>
      </p:sp>
      <p:sp>
        <p:nvSpPr>
          <p:cNvPr id="6" name="Shape 3"/>
          <p:cNvSpPr/>
          <p:nvPr/>
        </p:nvSpPr>
        <p:spPr>
          <a:xfrm>
            <a:off x="548640" y="3840480"/>
            <a:ext cx="3515258" cy="1371600"/>
          </a:xfrm>
          <a:prstGeom prst="roundRect">
            <a:avLst>
              <a:gd name="adj" fmla="val 8000"/>
            </a:avLst>
          </a:prstGeom>
          <a:solidFill>
            <a:srgbClr val="2A5F5A"/>
          </a:solidFill>
          <a:ln w="12700">
            <a:solidFill>
              <a:srgbClr val="2A5F5A"/>
            </a:solidFill>
            <a:prstDash val="solid"/>
          </a:ln>
        </p:spPr>
      </p:sp>
      <p:sp>
        <p:nvSpPr>
          <p:cNvPr id="7" name="Text 4"/>
          <p:cNvSpPr txBox="1"/>
          <p:nvPr/>
        </p:nvSpPr>
        <p:spPr>
          <a:xfrm>
            <a:off x="777240"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내담자 보호와 자기 보호, 두 축의 책임</a:t>
            </a:r>
            <a:endParaRPr lang="en-US" sz="2000" dirty="0"/>
          </a:p>
        </p:txBody>
      </p:sp>
      <p:sp>
        <p:nvSpPr>
          <p:cNvPr id="8" name="Shape 5"/>
          <p:cNvSpPr/>
          <p:nvPr/>
        </p:nvSpPr>
        <p:spPr>
          <a:xfrm>
            <a:off x="4338218" y="3840480"/>
            <a:ext cx="3515258" cy="1371600"/>
          </a:xfrm>
          <a:prstGeom prst="roundRect">
            <a:avLst>
              <a:gd name="adj" fmla="val 8000"/>
            </a:avLst>
          </a:prstGeom>
          <a:solidFill>
            <a:srgbClr val="2A5F5A"/>
          </a:solidFill>
          <a:ln w="12700">
            <a:solidFill>
              <a:srgbClr val="2A5F5A"/>
            </a:solidFill>
            <a:prstDash val="solid"/>
          </a:ln>
        </p:spPr>
      </p:sp>
      <p:sp>
        <p:nvSpPr>
          <p:cNvPr id="9" name="Text 6"/>
          <p:cNvSpPr txBox="1"/>
          <p:nvPr/>
        </p:nvSpPr>
        <p:spPr>
          <a:xfrm>
            <a:off x="4566818"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실기 40 · 필기 60 — 수험생 안내문 우선</a:t>
            </a:r>
            <a:endParaRPr lang="en-US" sz="2000" dirty="0"/>
          </a:p>
        </p:txBody>
      </p:sp>
      <p:sp>
        <p:nvSpPr>
          <p:cNvPr id="10" name="Shape 7"/>
          <p:cNvSpPr/>
          <p:nvPr/>
        </p:nvSpPr>
        <p:spPr>
          <a:xfrm>
            <a:off x="8127797" y="3840480"/>
            <a:ext cx="3515258" cy="1371600"/>
          </a:xfrm>
          <a:prstGeom prst="roundRect">
            <a:avLst>
              <a:gd name="adj" fmla="val 8000"/>
            </a:avLst>
          </a:prstGeom>
          <a:solidFill>
            <a:srgbClr val="2A5F5A"/>
          </a:solidFill>
          <a:ln w="12700">
            <a:solidFill>
              <a:srgbClr val="2A5F5A"/>
            </a:solidFill>
            <a:prstDash val="solid"/>
          </a:ln>
        </p:spPr>
      </p:sp>
      <p:sp>
        <p:nvSpPr>
          <p:cNvPr id="11" name="Text 8"/>
          <p:cNvSpPr txBox="1"/>
          <p:nvPr/>
        </p:nvSpPr>
        <p:spPr>
          <a:xfrm>
            <a:off x="8356397"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비밀유지 · 자기결정권 · 전문적 역량 · 비차별</a:t>
            </a:r>
            <a:endParaRPr lang="en-US" sz="2000" dirty="0"/>
          </a:p>
        </p:txBody>
      </p:sp>
      <p:sp>
        <p:nvSpPr>
          <p:cNvPr id="12" name="Text 9"/>
          <p:cNvSpPr txBox="1"/>
          <p:nvPr/>
        </p:nvSpPr>
        <p:spPr>
          <a:xfrm>
            <a:off x="548640" y="5623560"/>
            <a:ext cx="11094415" cy="411480"/>
          </a:xfrm>
          <a:prstGeom prst="rect">
            <a:avLst/>
          </a:prstGeom>
          <a:noFill/>
          <a:ln/>
        </p:spPr>
        <p:txBody>
          <a:bodyPr wrap="square" lIns="0" tIns="0" rIns="0" bIns="0" rtlCol="0" anchor="t"/>
          <a:lstStyle/>
          <a:p>
            <a:pPr algn="ctr" indent="0" marL="0">
              <a:buNone/>
            </a:pPr>
            <a:r>
              <a:rPr lang="en-US" sz="1500" dirty="0">
                <a:solidFill>
                  <a:srgbClr val="CFE3DC"/>
                </a:solidFill>
              </a:rPr>
              <a:t>다음  ▸  2교시 — 경계·이해충돌·딜레마</a:t>
            </a:r>
            <a:endParaRPr lang="en-US" sz="15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1737360"/>
            <a:ext cx="5486400" cy="548640"/>
          </a:xfrm>
          <a:prstGeom prst="rect">
            <a:avLst/>
          </a:prstGeom>
          <a:noFill/>
          <a:ln/>
        </p:spPr>
        <p:txBody>
          <a:bodyPr wrap="square" lIns="0" tIns="0" rIns="0" bIns="0" rtlCol="0" anchor="t"/>
          <a:lstStyle/>
          <a:p>
            <a:pPr indent="0" marL="0">
              <a:buNone/>
            </a:pPr>
            <a:r>
              <a:rPr lang="en-US" sz="2200" b="1" dirty="0">
                <a:solidFill>
                  <a:srgbClr val="8FB9A8"/>
                </a:solidFill>
              </a:rPr>
              <a:t>2교시</a:t>
            </a:r>
            <a:endParaRPr lang="en-US" sz="2200" dirty="0"/>
          </a:p>
        </p:txBody>
      </p:sp>
      <p:sp>
        <p:nvSpPr>
          <p:cNvPr id="3" name="Text 0"/>
          <p:cNvSpPr/>
          <p:nvPr>
            <p:ph idx="100" type="title" hasCustomPrompt="1"/>
          </p:nvPr>
        </p:nvSpPr>
        <p:spPr>
          <a:xfrm>
            <a:off x="548640" y="2651760"/>
            <a:ext cx="11094415" cy="1005840"/>
          </a:xfrm>
          <a:prstGeom prst="rect">
            <a:avLst/>
          </a:prstGeom>
          <a:noFill/>
          <a:ln/>
        </p:spPr>
        <p:txBody>
          <a:bodyPr wrap="square" lIns="0" tIns="0" rIns="0" bIns="0" rtlCol="0" anchor="t"/>
          <a:lstStyle/>
          <a:p>
            <a:pPr algn="l" indent="0" marL="0">
              <a:buNone/>
            </a:pPr>
            <a:r>
              <a:rPr lang="en-US" sz="4000" b="1" dirty="0">
                <a:solidFill>
                  <a:srgbClr val="FFFFFF"/>
                </a:solidFill>
              </a:rPr>
              <a:t>경계·이해충돌·딜레마</a:t>
            </a:r>
            <a:endParaRPr lang="en-US" sz="4000" dirty="0"/>
          </a:p>
        </p:txBody>
      </p:sp>
      <p:sp>
        <p:nvSpPr>
          <p:cNvPr id="4" name="Text 2"/>
          <p:cNvSpPr txBox="1"/>
          <p:nvPr/>
        </p:nvSpPr>
        <p:spPr>
          <a:xfrm>
            <a:off x="548640" y="3749040"/>
            <a:ext cx="11094415" cy="548640"/>
          </a:xfrm>
          <a:prstGeom prst="rect">
            <a:avLst/>
          </a:prstGeom>
          <a:noFill/>
          <a:ln/>
        </p:spPr>
        <p:txBody>
          <a:bodyPr wrap="square" lIns="0" tIns="0" rIns="0" bIns="0" rtlCol="0" anchor="t"/>
          <a:lstStyle/>
          <a:p>
            <a:pPr indent="0" marL="0">
              <a:buNone/>
            </a:pPr>
            <a:r>
              <a:rPr lang="en-US" sz="2000" dirty="0">
                <a:solidFill>
                  <a:srgbClr val="CFE3DC"/>
                </a:solidFill>
              </a:rPr>
              <a:t>경계가 곧 신뢰다</a:t>
            </a:r>
            <a:endParaRPr lang="en-US" sz="2000" dirty="0"/>
          </a:p>
        </p:txBody>
      </p:sp>
      <p:sp>
        <p:nvSpPr>
          <p:cNvPr id="5" name="Text 3"/>
          <p:cNvSpPr txBox="1"/>
          <p:nvPr/>
        </p:nvSpPr>
        <p:spPr>
          <a:xfrm>
            <a:off x="548640" y="4480560"/>
            <a:ext cx="11094415" cy="164592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FFFFFF"/>
                </a:solidFill>
              </a:rPr>
              <a:t>영역별 역할경계 · 비차별과 문화적 겸손</a:t>
            </a:r>
            <a:endParaRPr lang="en-US" sz="1900" dirty="0"/>
          </a:p>
          <a:p>
            <a:pPr marL="342900" indent="-342900">
              <a:spcAft>
                <a:spcPts val="600"/>
              </a:spcAft>
              <a:buSzPct val="100000"/>
              <a:buChar char="•"/>
            </a:pPr>
            <a:r>
              <a:rPr lang="en-US" sz="1900" dirty="0">
                <a:solidFill>
                  <a:srgbClr val="FFFFFF"/>
                </a:solidFill>
              </a:rPr>
              <a:t>이해충돌 · 개인정보와 AI · 이중관계</a:t>
            </a:r>
            <a:endParaRPr lang="en-US" sz="1900" dirty="0"/>
          </a:p>
          <a:p>
            <a:pPr marL="342900" indent="-342900">
              <a:spcAft>
                <a:spcPts val="600"/>
              </a:spcAft>
              <a:buSzPct val="100000"/>
              <a:buChar char="•"/>
            </a:pPr>
            <a:r>
              <a:rPr lang="en-US" sz="1900" dirty="0">
                <a:solidFill>
                  <a:srgbClr val="FFFFFF"/>
                </a:solidFill>
              </a:rPr>
              <a:t>딜레마 5단계 · 윤리 사례 · 민원 · 홍보 윤리</a:t>
            </a:r>
            <a:endParaRPr lang="en-US" sz="19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9절 전문적 역량과 역할경계</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WLC가 할 수 있는 일, 넘어서는 안 되는 일</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645920"/>
                <a:gridCol w="4572000"/>
                <a:gridCol w="4846320"/>
              </a:tblGrid>
              <a:tr h="512064">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영역</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WLC가 할 수 있는 일</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넘어서는 안 되는 일</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512064">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법률</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제도·절차 일반정보, 질문목록, 연계</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개별 법률해석, 분쟁대리, 문서 대리작성</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의료</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AD·ACP·호스피스 일반정보, 질문정리</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진단, 예후판단, 투약·처방, 치료 지시</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12064">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심리</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경청·공감, 정상애도 교육, 위험신호 연계</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진단·치료, 심리검사, 자살위기 단독관리</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재무·세무</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재산목록·생활계획 질문, 전문가 연결</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투자추천, 절세자문, 상품판매와 코칭 혼합</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12064">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장례</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e하늘 등 공식정보, 가치·선택 질문</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시신관리·입관 등 무자격 수행</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재난·위기</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PFA 수준의 기본지지·자원연계</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구조·응급처치·전문 트라우마 치료</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5" name="Shape 2"/>
          <p:cNvSpPr/>
          <p:nvPr/>
        </p:nvSpPr>
        <p:spPr>
          <a:xfrm>
            <a:off x="548640" y="5303520"/>
            <a:ext cx="11094415" cy="868680"/>
          </a:xfrm>
          <a:prstGeom prst="roundRect">
            <a:avLst>
              <a:gd name="adj" fmla="val 12632"/>
            </a:avLst>
          </a:prstGeom>
          <a:solidFill>
            <a:srgbClr val="EAF3F0"/>
          </a:solidFill>
          <a:ln w="12700">
            <a:solidFill>
              <a:srgbClr val="EAF3F0"/>
            </a:solidFill>
            <a:prstDash val="solid"/>
          </a:ln>
        </p:spPr>
      </p:sp>
      <p:sp>
        <p:nvSpPr>
          <p:cNvPr id="6" name="Shape 3"/>
          <p:cNvSpPr/>
          <p:nvPr/>
        </p:nvSpPr>
        <p:spPr>
          <a:xfrm>
            <a:off x="777240" y="5509260"/>
            <a:ext cx="457200" cy="457200"/>
          </a:xfrm>
          <a:prstGeom prst="ellipse">
            <a:avLst/>
          </a:prstGeom>
          <a:solidFill>
            <a:srgbClr val="2E7D6B"/>
          </a:solidFill>
          <a:ln w="12700">
            <a:solidFill>
              <a:srgbClr val="2E7D6B"/>
            </a:solidFill>
            <a:prstDash val="solid"/>
          </a:ln>
        </p:spPr>
      </p:sp>
      <p:pic>
        <p:nvPicPr>
          <p:cNvPr id="7"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8" name="Text 4"/>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2E7D6B"/>
                </a:solidFill>
              </a:rPr>
              <a:t>경계가 곧 신뢰   </a:t>
            </a:r>
            <a:pPr indent="0" marL="0">
              <a:buNone/>
            </a:pPr>
            <a:r>
              <a:rPr lang="en-US" sz="1800" dirty="0">
                <a:solidFill>
                  <a:srgbClr val="222222"/>
                </a:solidFill>
              </a:rPr>
              <a:t>“제가 판단할 영역이 아닙니다. 대신 어떤 전문가에게 무엇을 물어야 하는지 함께 정리하겠습니다.”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10절 비차별과 문화적 겸손</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똑같이가 아니라, 동등하게</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10408615" cy="850392"/>
          </a:xfrm>
          <a:prstGeom prst="rect">
            <a:avLst/>
          </a:prstGeom>
          <a:noFill/>
          <a:ln/>
        </p:spPr>
        <p:txBody>
          <a:bodyPr wrap="square" lIns="0" tIns="0" rIns="0" bIns="0" rtlCol="0" anchor="t"/>
          <a:lstStyle/>
          <a:p>
            <a:pPr indent="0" marL="0">
              <a:buNone/>
            </a:pPr>
            <a:r>
              <a:rPr lang="en-US" sz="2200" b="1" dirty="0">
                <a:solidFill>
                  <a:srgbClr val="1F4E4A"/>
                </a:solidFill>
              </a:rPr>
              <a:t>가족의 형태를 “정상/비정상”으로 평가하지 않는다. </a:t>
            </a:r>
            <a:pPr indent="0" marL="0">
              <a:buNone/>
            </a:pPr>
            <a:endParaRPr lang="en-US" sz="2200" dirty="0"/>
          </a:p>
        </p:txBody>
      </p:sp>
      <p:sp>
        <p:nvSpPr>
          <p:cNvPr id="7" name="Shape 5"/>
          <p:cNvSpPr/>
          <p:nvPr/>
        </p:nvSpPr>
        <p:spPr>
          <a:xfrm>
            <a:off x="548640" y="2523744"/>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5237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496312"/>
            <a:ext cx="10408615" cy="850392"/>
          </a:xfrm>
          <a:prstGeom prst="rect">
            <a:avLst/>
          </a:prstGeom>
          <a:noFill/>
          <a:ln/>
        </p:spPr>
        <p:txBody>
          <a:bodyPr wrap="square" lIns="0" tIns="0" rIns="0" bIns="0" rtlCol="0" anchor="t"/>
          <a:lstStyle/>
          <a:p>
            <a:pPr indent="0" marL="0">
              <a:buNone/>
            </a:pPr>
            <a:r>
              <a:rPr lang="en-US" sz="2200" b="1" dirty="0">
                <a:solidFill>
                  <a:srgbClr val="1F4E4A"/>
                </a:solidFill>
              </a:rPr>
              <a:t>종교가 없는 사람에게 종교적 위로를 전제하지 않는다. </a:t>
            </a:r>
            <a:pPr indent="0" marL="0">
              <a:buNone/>
            </a:pPr>
            <a:endParaRPr lang="en-US" sz="2200" dirty="0"/>
          </a:p>
        </p:txBody>
      </p:sp>
      <p:sp>
        <p:nvSpPr>
          <p:cNvPr id="10" name="Shape 8"/>
          <p:cNvSpPr/>
          <p:nvPr/>
        </p:nvSpPr>
        <p:spPr>
          <a:xfrm>
            <a:off x="548640" y="3447288"/>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4472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419856"/>
            <a:ext cx="10408615" cy="850392"/>
          </a:xfrm>
          <a:prstGeom prst="rect">
            <a:avLst/>
          </a:prstGeom>
          <a:noFill/>
          <a:ln/>
        </p:spPr>
        <p:txBody>
          <a:bodyPr wrap="square" lIns="0" tIns="0" rIns="0" bIns="0" rtlCol="0" anchor="t"/>
          <a:lstStyle/>
          <a:p>
            <a:pPr indent="0" marL="0">
              <a:buNone/>
            </a:pPr>
            <a:r>
              <a:rPr lang="en-US" sz="2200" b="1" dirty="0">
                <a:solidFill>
                  <a:srgbClr val="1F4E4A"/>
                </a:solidFill>
              </a:rPr>
              <a:t>장애나 고령을 이유로 의사결정 능력이 없다고 가정하지 않는다. </a:t>
            </a:r>
            <a:pPr indent="0" marL="0">
              <a:buNone/>
            </a:pPr>
            <a:endParaRPr lang="en-US" sz="2200" dirty="0"/>
          </a:p>
        </p:txBody>
      </p:sp>
      <p:sp>
        <p:nvSpPr>
          <p:cNvPr id="13" name="Shape 11"/>
          <p:cNvSpPr/>
          <p:nvPr/>
        </p:nvSpPr>
        <p:spPr>
          <a:xfrm>
            <a:off x="548640" y="4370832"/>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437083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4343400"/>
            <a:ext cx="10408615" cy="850392"/>
          </a:xfrm>
          <a:prstGeom prst="rect">
            <a:avLst/>
          </a:prstGeom>
          <a:noFill/>
          <a:ln/>
        </p:spPr>
        <p:txBody>
          <a:bodyPr wrap="square" lIns="0" tIns="0" rIns="0" bIns="0" rtlCol="0" anchor="t"/>
          <a:lstStyle/>
          <a:p>
            <a:pPr indent="0" marL="0">
              <a:buNone/>
            </a:pPr>
            <a:r>
              <a:rPr lang="en-US" sz="2200" b="1" dirty="0">
                <a:solidFill>
                  <a:srgbClr val="1F4E4A"/>
                </a:solidFill>
              </a:rPr>
              <a:t>형편이 어려운 사람에게 상업서비스만 제시하지 않고 공적 지원도 확인한다. </a:t>
            </a:r>
            <a:pPr indent="0" marL="0">
              <a:buNone/>
            </a:pPr>
            <a:endParaRPr lang="en-US" sz="2200" dirty="0"/>
          </a:p>
        </p:txBody>
      </p:sp>
      <p:sp>
        <p:nvSpPr>
          <p:cNvPr id="16" name="Shape 14"/>
          <p:cNvSpPr/>
          <p:nvPr/>
        </p:nvSpPr>
        <p:spPr>
          <a:xfrm>
            <a:off x="548640" y="5294376"/>
            <a:ext cx="438912" cy="438912"/>
          </a:xfrm>
          <a:prstGeom prst="ellipse">
            <a:avLst/>
          </a:prstGeom>
          <a:solidFill>
            <a:srgbClr val="2E7D6B"/>
          </a:solidFill>
          <a:ln w="12700">
            <a:solidFill>
              <a:srgbClr val="2E7D6B"/>
            </a:solidFill>
            <a:prstDash val="solid"/>
          </a:ln>
        </p:spPr>
      </p:sp>
      <p:sp>
        <p:nvSpPr>
          <p:cNvPr id="17" name="Text 15"/>
          <p:cNvSpPr txBox="1"/>
          <p:nvPr/>
        </p:nvSpPr>
        <p:spPr>
          <a:xfrm>
            <a:off x="548640" y="529437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1170432" y="5266944"/>
            <a:ext cx="10408615" cy="850392"/>
          </a:xfrm>
          <a:prstGeom prst="rect">
            <a:avLst/>
          </a:prstGeom>
          <a:noFill/>
          <a:ln/>
        </p:spPr>
        <p:txBody>
          <a:bodyPr wrap="square" lIns="0" tIns="0" rIns="0" bIns="0" rtlCol="0" anchor="t"/>
          <a:lstStyle/>
          <a:p>
            <a:pPr indent="0" marL="0">
              <a:buNone/>
            </a:pPr>
            <a:r>
              <a:rPr lang="en-US" sz="2200" b="1" dirty="0">
                <a:solidFill>
                  <a:srgbClr val="1F4E4A"/>
                </a:solidFill>
              </a:rPr>
              <a:t>성별·연령·학력·직업으로 죽음 이해 수준을 판단하지 않는다. </a:t>
            </a:r>
            <a:pPr indent="0" marL="0">
              <a:buNone/>
            </a:pP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11절 이해충돌</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코칭과 판매·소개를 구분한다</a:t>
            </a:r>
            <a:endParaRPr lang="en-US" sz="2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4572000"/>
                <a:gridCol w="6492240"/>
              </a:tblGrid>
              <a:tr h="566928">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상황</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윤리적 대응</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566928">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장례업체 소개수수료를 받음</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이해관계를 사전에 공개하고 대안을 함께 제시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자신이 판매하는 엔딩상품을 코칭 중 권유</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교육·코칭과 영업 구분, 구매가 코칭의 조건이 아님을 명시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66928">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가족·지인의 전문서비스를 소개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관계를 공개하고 다른 선택지도 안내</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기관이 특정 상품사용을 요구</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참여자에게 선택권·비용·대안을 투명하게 설명</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66928">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고가의 장기코칭을 권유</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필요성·목표·기간·비용을 명확히, 중단 선택권 보장</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303520"/>
            <a:ext cx="11094415" cy="868680"/>
          </a:xfrm>
          <a:prstGeom prst="roundRect">
            <a:avLst>
              <a:gd name="adj" fmla="val 12632"/>
            </a:avLst>
          </a:prstGeom>
          <a:solidFill>
            <a:srgbClr val="FDF1DC"/>
          </a:solidFill>
          <a:ln w="12700">
            <a:solidFill>
              <a:srgbClr val="FDF1DC"/>
            </a:solidFill>
            <a:prstDash val="solid"/>
          </a:ln>
        </p:spPr>
      </p:sp>
      <p:sp>
        <p:nvSpPr>
          <p:cNvPr id="6" name="Shape 3"/>
          <p:cNvSpPr/>
          <p:nvPr/>
        </p:nvSpPr>
        <p:spPr>
          <a:xfrm>
            <a:off x="777240" y="5509260"/>
            <a:ext cx="457200" cy="457200"/>
          </a:xfrm>
          <a:prstGeom prst="ellipse">
            <a:avLst/>
          </a:prstGeom>
          <a:solidFill>
            <a:srgbClr val="D98E04"/>
          </a:solidFill>
          <a:ln w="12700">
            <a:solidFill>
              <a:srgbClr val="D98E04"/>
            </a:solidFill>
            <a:prstDash val="solid"/>
          </a:ln>
        </p:spPr>
      </p:sp>
      <p:pic>
        <p:nvPicPr>
          <p:cNvPr id="7"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8" name="Text 4"/>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D98E04"/>
                </a:solidFill>
              </a:rPr>
              <a:t>WLC 브랜드의 신뢰   </a:t>
            </a:r>
            <a:pPr indent="0" marL="0">
              <a:buNone/>
            </a:pPr>
            <a:r>
              <a:rPr lang="en-US" sz="1800" dirty="0">
                <a:solidFill>
                  <a:srgbClr val="222222"/>
                </a:solidFill>
              </a:rPr>
              <a:t>판매할 수 있다는 사실과 “중립적인 코칭”은 자동으로 양립하지 않습니다. 이해충돌을 숨기지 않는 것이 가장 중요합니다.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12절 개인정보·사례기록·AI 도구</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민감정보를 다루는 여섯 가지 원칙</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011680"/>
                <a:gridCol w="9052560"/>
              </a:tblGrid>
              <a:tr h="512064">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원칙</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실천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51206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최소수집</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주민번호·상세 금융정보·진단서 등 불필요한 정보 수집 금지</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목적제한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코칭 목적으로 받은 정보를 홍보·연구·사례발표에 임의 사용 금지</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1206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안전보관</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개인기기·공용메신저에 무방비 저장 금지</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익명화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수퍼비전·교육사례는 이름·직장·지역 등 식별정보 제거</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1206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촬영동의</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사진·영상·음성녹음은 별도의 명확한 동의</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AI 사용</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식별 가능한 사례를 공개형 AI에 그대로 입력하지 않음</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5" name="Shape 2"/>
          <p:cNvSpPr/>
          <p:nvPr/>
        </p:nvSpPr>
        <p:spPr>
          <a:xfrm>
            <a:off x="548640" y="5303520"/>
            <a:ext cx="11094415" cy="868680"/>
          </a:xfrm>
          <a:prstGeom prst="roundRect">
            <a:avLst>
              <a:gd name="adj" fmla="val 12632"/>
            </a:avLst>
          </a:prstGeom>
          <a:solidFill>
            <a:srgbClr val="E8EFF8"/>
          </a:solidFill>
          <a:ln w="12700">
            <a:solidFill>
              <a:srgbClr val="E8EFF8"/>
            </a:solidFill>
            <a:prstDash val="solid"/>
          </a:ln>
        </p:spPr>
      </p:sp>
      <p:sp>
        <p:nvSpPr>
          <p:cNvPr id="6" name="Shape 3"/>
          <p:cNvSpPr/>
          <p:nvPr/>
        </p:nvSpPr>
        <p:spPr>
          <a:xfrm>
            <a:off x="777240" y="5509260"/>
            <a:ext cx="457200" cy="457200"/>
          </a:xfrm>
          <a:prstGeom prst="ellipse">
            <a:avLst/>
          </a:prstGeom>
          <a:solidFill>
            <a:srgbClr val="3A6EA5"/>
          </a:solidFill>
          <a:ln w="12700">
            <a:solidFill>
              <a:srgbClr val="3A6EA5"/>
            </a:solidFill>
            <a:prstDash val="solid"/>
          </a:ln>
        </p:spPr>
      </p:sp>
      <p:pic>
        <p:nvPicPr>
          <p:cNvPr id="7"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8" name="Text 4"/>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3A6EA5"/>
                </a:solidFill>
              </a:rPr>
              <a:t>AI 활용 원칙   </a:t>
            </a:r>
            <a:pPr indent="0" marL="0">
              <a:buNone/>
            </a:pPr>
            <a:r>
              <a:rPr lang="en-US" sz="1800" dirty="0">
                <a:solidFill>
                  <a:srgbClr val="222222"/>
                </a:solidFill>
              </a:rPr>
              <a:t>AI는 강의안·질문 아이디어·비식별 자료 정리에 쓸 수 있지만, 실명·연락처·진단·재산·가족갈등 정보는 입력하지 않습니다.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13절 이중관계와 권력차이</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관계가 겹칠 때 살펴야 할 것</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10408615" cy="1081278"/>
          </a:xfrm>
          <a:prstGeom prst="rect">
            <a:avLst/>
          </a:prstGeom>
          <a:noFill/>
          <a:ln/>
        </p:spPr>
        <p:txBody>
          <a:bodyPr wrap="square" lIns="0" tIns="0" rIns="0" bIns="0" rtlCol="0" anchor="t"/>
          <a:lstStyle/>
          <a:p>
            <a:pPr indent="0" marL="0">
              <a:buNone/>
            </a:pPr>
            <a:r>
              <a:rPr lang="en-US" sz="2200" b="1" dirty="0">
                <a:solidFill>
                  <a:srgbClr val="1F4E4A"/>
                </a:solidFill>
              </a:rPr>
              <a:t>친척의 상속갈등 </a:t>
            </a:r>
            <a:pPr indent="0" marL="0">
              <a:buNone/>
            </a:pPr>
            <a:r>
              <a:rPr lang="en-US" sz="2200" dirty="0">
                <a:solidFill>
                  <a:srgbClr val="222222"/>
                </a:solidFill>
              </a:rPr>
              <a:t>  공식 WLC 코칭으로 맡을 때 이해충돌을 검토한다.</a:t>
            </a:r>
            <a:endParaRPr lang="en-US" sz="2200" dirty="0"/>
          </a:p>
        </p:txBody>
      </p:sp>
      <p:sp>
        <p:nvSpPr>
          <p:cNvPr id="7" name="Shape 5"/>
          <p:cNvSpPr/>
          <p:nvPr/>
        </p:nvSpPr>
        <p:spPr>
          <a:xfrm>
            <a:off x="548640" y="2754630"/>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75463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727198"/>
            <a:ext cx="10408615" cy="1081278"/>
          </a:xfrm>
          <a:prstGeom prst="rect">
            <a:avLst/>
          </a:prstGeom>
          <a:noFill/>
          <a:ln/>
        </p:spPr>
        <p:txBody>
          <a:bodyPr wrap="square" lIns="0" tIns="0" rIns="0" bIns="0" rtlCol="0" anchor="t"/>
          <a:lstStyle/>
          <a:p>
            <a:pPr indent="0" marL="0">
              <a:buNone/>
            </a:pPr>
            <a:r>
              <a:rPr lang="en-US" sz="2200" b="1" dirty="0">
                <a:solidFill>
                  <a:srgbClr val="1F4E4A"/>
                </a:solidFill>
              </a:rPr>
              <a:t>금전관계 </a:t>
            </a:r>
            <a:pPr indent="0" marL="0">
              <a:buNone/>
            </a:pPr>
            <a:r>
              <a:rPr lang="en-US" sz="2200" dirty="0">
                <a:solidFill>
                  <a:srgbClr val="222222"/>
                </a:solidFill>
              </a:rPr>
              <a:t>  내담자와 금전거래·투자·보증관계를 만들지 않는다.</a:t>
            </a:r>
            <a:endParaRPr lang="en-US" sz="2200" dirty="0"/>
          </a:p>
        </p:txBody>
      </p:sp>
      <p:sp>
        <p:nvSpPr>
          <p:cNvPr id="10" name="Shape 8"/>
          <p:cNvSpPr/>
          <p:nvPr/>
        </p:nvSpPr>
        <p:spPr>
          <a:xfrm>
            <a:off x="548640" y="3909060"/>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9090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881628"/>
            <a:ext cx="10408615" cy="1081278"/>
          </a:xfrm>
          <a:prstGeom prst="rect">
            <a:avLst/>
          </a:prstGeom>
          <a:noFill/>
          <a:ln/>
        </p:spPr>
        <p:txBody>
          <a:bodyPr wrap="square" lIns="0" tIns="0" rIns="0" bIns="0" rtlCol="0" anchor="t"/>
          <a:lstStyle/>
          <a:p>
            <a:pPr indent="0" marL="0">
              <a:buNone/>
            </a:pPr>
            <a:r>
              <a:rPr lang="en-US" sz="2200" b="1" dirty="0">
                <a:solidFill>
                  <a:srgbClr val="1F4E4A"/>
                </a:solidFill>
              </a:rPr>
              <a:t>교육생과의 관계 </a:t>
            </a:r>
            <a:pPr indent="0" marL="0">
              <a:buNone/>
            </a:pPr>
            <a:r>
              <a:rPr lang="en-US" sz="2200" dirty="0">
                <a:solidFill>
                  <a:srgbClr val="222222"/>
                </a:solidFill>
              </a:rPr>
              <a:t>  사적 관계가 평가·자격판정에 영향을 주지 않도록 기준을 문서화한다.</a:t>
            </a:r>
            <a:endParaRPr lang="en-US" sz="2200" dirty="0"/>
          </a:p>
        </p:txBody>
      </p:sp>
      <p:sp>
        <p:nvSpPr>
          <p:cNvPr id="13" name="Shape 11"/>
          <p:cNvSpPr/>
          <p:nvPr/>
        </p:nvSpPr>
        <p:spPr>
          <a:xfrm>
            <a:off x="548640" y="5063490"/>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506349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5036058"/>
            <a:ext cx="10408615" cy="1081278"/>
          </a:xfrm>
          <a:prstGeom prst="rect">
            <a:avLst/>
          </a:prstGeom>
          <a:noFill/>
          <a:ln/>
        </p:spPr>
        <p:txBody>
          <a:bodyPr wrap="square" lIns="0" tIns="0" rIns="0" bIns="0" rtlCol="0" anchor="t"/>
          <a:lstStyle/>
          <a:p>
            <a:pPr indent="0" marL="0">
              <a:buNone/>
            </a:pPr>
            <a:r>
              <a:rPr lang="en-US" sz="2200" b="1" dirty="0">
                <a:solidFill>
                  <a:srgbClr val="1F4E4A"/>
                </a:solidFill>
              </a:rPr>
              <a:t>권력차이 </a:t>
            </a:r>
            <a:pPr indent="0" marL="0">
              <a:buNone/>
            </a:pPr>
            <a:r>
              <a:rPr lang="en-US" sz="2200" dirty="0">
                <a:solidFill>
                  <a:srgbClr val="222222"/>
                </a:solidFill>
              </a:rPr>
              <a:t>  동의가 실제로 자발적인지 더 신중하게 확인한다.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14절 윤리적 딜레마 대응 5단계</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혼자 판단하지 않는 구조</a:t>
            </a:r>
            <a:endParaRPr lang="en-US" sz="2800" dirty="0"/>
          </a:p>
        </p:txBody>
      </p:sp>
      <p:sp>
        <p:nvSpPr>
          <p:cNvPr id="4" name="Shape 2"/>
          <p:cNvSpPr/>
          <p:nvPr/>
        </p:nvSpPr>
        <p:spPr>
          <a:xfrm>
            <a:off x="548640" y="1828800"/>
            <a:ext cx="1962851" cy="1920240"/>
          </a:xfrm>
          <a:prstGeom prst="roundRect">
            <a:avLst>
              <a:gd name="adj" fmla="val 5714"/>
            </a:avLst>
          </a:prstGeom>
          <a:solidFill>
            <a:srgbClr val="EAF3F0"/>
          </a:solidFill>
          <a:ln w="12700">
            <a:solidFill>
              <a:srgbClr val="EAF3F0"/>
            </a:solidFill>
            <a:prstDash val="solid"/>
          </a:ln>
        </p:spPr>
      </p:sp>
      <p:sp>
        <p:nvSpPr>
          <p:cNvPr id="5" name="Shape 3"/>
          <p:cNvSpPr/>
          <p:nvPr/>
        </p:nvSpPr>
        <p:spPr>
          <a:xfrm>
            <a:off x="1301466" y="2011680"/>
            <a:ext cx="457200" cy="457200"/>
          </a:xfrm>
          <a:prstGeom prst="ellipse">
            <a:avLst/>
          </a:prstGeom>
          <a:solidFill>
            <a:srgbClr val="2E7D6B"/>
          </a:solidFill>
          <a:ln w="12700">
            <a:solidFill>
              <a:srgbClr val="2E7D6B"/>
            </a:solidFill>
            <a:prstDash val="solid"/>
          </a:ln>
        </p:spPr>
      </p:sp>
      <p:sp>
        <p:nvSpPr>
          <p:cNvPr id="6" name="Text 4"/>
          <p:cNvSpPr txBox="1"/>
          <p:nvPr/>
        </p:nvSpPr>
        <p:spPr>
          <a:xfrm>
            <a:off x="1301466" y="2011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685800" y="2606040"/>
            <a:ext cx="1688531" cy="1051560"/>
          </a:xfrm>
          <a:prstGeom prst="rect">
            <a:avLst/>
          </a:prstGeom>
          <a:noFill/>
          <a:ln/>
        </p:spPr>
        <p:txBody>
          <a:bodyPr wrap="square" lIns="0" tIns="0" rIns="0" bIns="0" rtlCol="0" anchor="t"/>
          <a:lstStyle/>
          <a:p>
            <a:pPr algn="ctr" indent="0" marL="0">
              <a:spcAft>
                <a:spcPts val="400"/>
              </a:spcAft>
              <a:buNone/>
            </a:pPr>
            <a:r>
              <a:rPr lang="en-US" sz="2000" b="1" dirty="0">
                <a:solidFill>
                  <a:srgbClr val="1F4E4A"/>
                </a:solidFill>
              </a:rPr>
              <a:t>사실 확인</a:t>
            </a:r>
            <a:endParaRPr lang="en-US" sz="2000" dirty="0"/>
          </a:p>
          <a:p>
            <a:pPr algn="ctr" indent="0" marL="0">
              <a:buNone/>
            </a:pPr>
            <a:r>
              <a:rPr lang="en-US" sz="1800" dirty="0">
                <a:solidFill>
                  <a:srgbClr val="222222"/>
                </a:solidFill>
              </a:rPr>
              <a:t>추정과 사실을 구분</a:t>
            </a:r>
            <a:endParaRPr lang="en-US" sz="2000" dirty="0"/>
          </a:p>
        </p:txBody>
      </p:sp>
      <p:sp>
        <p:nvSpPr>
          <p:cNvPr id="8" name="Shape 6"/>
          <p:cNvSpPr/>
          <p:nvPr/>
        </p:nvSpPr>
        <p:spPr>
          <a:xfrm rot="5400000">
            <a:off x="2584643" y="2670048"/>
            <a:ext cx="182880" cy="237744"/>
          </a:xfrm>
          <a:prstGeom prst="triangle">
            <a:avLst/>
          </a:prstGeom>
          <a:solidFill>
            <a:srgbClr val="8FB9A8"/>
          </a:solidFill>
          <a:ln w="12700">
            <a:solidFill>
              <a:srgbClr val="8FB9A8"/>
            </a:solidFill>
            <a:prstDash val="solid"/>
          </a:ln>
        </p:spPr>
      </p:sp>
      <p:sp>
        <p:nvSpPr>
          <p:cNvPr id="9" name="Shape 7"/>
          <p:cNvSpPr/>
          <p:nvPr/>
        </p:nvSpPr>
        <p:spPr>
          <a:xfrm>
            <a:off x="2831531" y="1828800"/>
            <a:ext cx="1962851" cy="1920240"/>
          </a:xfrm>
          <a:prstGeom prst="roundRect">
            <a:avLst>
              <a:gd name="adj" fmla="val 5714"/>
            </a:avLst>
          </a:prstGeom>
          <a:solidFill>
            <a:srgbClr val="EAF3F0"/>
          </a:solidFill>
          <a:ln w="12700">
            <a:solidFill>
              <a:srgbClr val="EAF3F0"/>
            </a:solidFill>
            <a:prstDash val="solid"/>
          </a:ln>
        </p:spPr>
      </p:sp>
      <p:sp>
        <p:nvSpPr>
          <p:cNvPr id="10" name="Shape 8"/>
          <p:cNvSpPr/>
          <p:nvPr/>
        </p:nvSpPr>
        <p:spPr>
          <a:xfrm>
            <a:off x="3584357" y="2011680"/>
            <a:ext cx="457200" cy="457200"/>
          </a:xfrm>
          <a:prstGeom prst="ellipse">
            <a:avLst/>
          </a:prstGeom>
          <a:solidFill>
            <a:srgbClr val="2E7D6B"/>
          </a:solidFill>
          <a:ln w="12700">
            <a:solidFill>
              <a:srgbClr val="2E7D6B"/>
            </a:solidFill>
            <a:prstDash val="solid"/>
          </a:ln>
        </p:spPr>
      </p:sp>
      <p:sp>
        <p:nvSpPr>
          <p:cNvPr id="11" name="Text 9"/>
          <p:cNvSpPr txBox="1"/>
          <p:nvPr/>
        </p:nvSpPr>
        <p:spPr>
          <a:xfrm>
            <a:off x="3584357" y="2011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2968691" y="2606040"/>
            <a:ext cx="1688531" cy="1051560"/>
          </a:xfrm>
          <a:prstGeom prst="rect">
            <a:avLst/>
          </a:prstGeom>
          <a:noFill/>
          <a:ln/>
        </p:spPr>
        <p:txBody>
          <a:bodyPr wrap="square" lIns="0" tIns="0" rIns="0" bIns="0" rtlCol="0" anchor="t"/>
          <a:lstStyle/>
          <a:p>
            <a:pPr algn="ctr" indent="0" marL="0">
              <a:spcAft>
                <a:spcPts val="400"/>
              </a:spcAft>
              <a:buNone/>
            </a:pPr>
            <a:r>
              <a:rPr lang="en-US" sz="2000" b="1" dirty="0">
                <a:solidFill>
                  <a:srgbClr val="1F4E4A"/>
                </a:solidFill>
              </a:rPr>
              <a:t>윤리원칙</a:t>
            </a:r>
            <a:endParaRPr lang="en-US" sz="2000" dirty="0"/>
          </a:p>
          <a:p>
            <a:pPr algn="ctr" indent="0" marL="0">
              <a:buNone/>
            </a:pPr>
            <a:r>
              <a:rPr lang="en-US" sz="1800" dirty="0">
                <a:solidFill>
                  <a:srgbClr val="222222"/>
                </a:solidFill>
              </a:rPr>
              <a:t>어떤 원칙이 충돌하는가</a:t>
            </a:r>
            <a:endParaRPr lang="en-US" sz="2000" dirty="0"/>
          </a:p>
        </p:txBody>
      </p:sp>
      <p:sp>
        <p:nvSpPr>
          <p:cNvPr id="13" name="Shape 11"/>
          <p:cNvSpPr/>
          <p:nvPr/>
        </p:nvSpPr>
        <p:spPr>
          <a:xfrm rot="5400000">
            <a:off x="4867534" y="2670048"/>
            <a:ext cx="182880" cy="237744"/>
          </a:xfrm>
          <a:prstGeom prst="triangle">
            <a:avLst/>
          </a:prstGeom>
          <a:solidFill>
            <a:srgbClr val="8FB9A8"/>
          </a:solidFill>
          <a:ln w="12700">
            <a:solidFill>
              <a:srgbClr val="8FB9A8"/>
            </a:solidFill>
            <a:prstDash val="solid"/>
          </a:ln>
        </p:spPr>
      </p:sp>
      <p:sp>
        <p:nvSpPr>
          <p:cNvPr id="14" name="Shape 12"/>
          <p:cNvSpPr/>
          <p:nvPr/>
        </p:nvSpPr>
        <p:spPr>
          <a:xfrm>
            <a:off x="5114422" y="1828800"/>
            <a:ext cx="1962851" cy="1920240"/>
          </a:xfrm>
          <a:prstGeom prst="roundRect">
            <a:avLst>
              <a:gd name="adj" fmla="val 5714"/>
            </a:avLst>
          </a:prstGeom>
          <a:solidFill>
            <a:srgbClr val="EAF3F0"/>
          </a:solidFill>
          <a:ln w="12700">
            <a:solidFill>
              <a:srgbClr val="EAF3F0"/>
            </a:solidFill>
            <a:prstDash val="solid"/>
          </a:ln>
        </p:spPr>
      </p:sp>
      <p:sp>
        <p:nvSpPr>
          <p:cNvPr id="15" name="Shape 13"/>
          <p:cNvSpPr/>
          <p:nvPr/>
        </p:nvSpPr>
        <p:spPr>
          <a:xfrm>
            <a:off x="5867248" y="2011680"/>
            <a:ext cx="457200" cy="457200"/>
          </a:xfrm>
          <a:prstGeom prst="ellipse">
            <a:avLst/>
          </a:prstGeom>
          <a:solidFill>
            <a:srgbClr val="2E7D6B"/>
          </a:solidFill>
          <a:ln w="12700">
            <a:solidFill>
              <a:srgbClr val="2E7D6B"/>
            </a:solidFill>
            <a:prstDash val="solid"/>
          </a:ln>
        </p:spPr>
      </p:sp>
      <p:sp>
        <p:nvSpPr>
          <p:cNvPr id="16" name="Text 14"/>
          <p:cNvSpPr txBox="1"/>
          <p:nvPr/>
        </p:nvSpPr>
        <p:spPr>
          <a:xfrm>
            <a:off x="5867248" y="2011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7" name="Text 15"/>
          <p:cNvSpPr txBox="1"/>
          <p:nvPr/>
        </p:nvSpPr>
        <p:spPr>
          <a:xfrm>
            <a:off x="5251582" y="2606040"/>
            <a:ext cx="1688531" cy="1051560"/>
          </a:xfrm>
          <a:prstGeom prst="rect">
            <a:avLst/>
          </a:prstGeom>
          <a:noFill/>
          <a:ln/>
        </p:spPr>
        <p:txBody>
          <a:bodyPr wrap="square" lIns="0" tIns="0" rIns="0" bIns="0" rtlCol="0" anchor="t"/>
          <a:lstStyle/>
          <a:p>
            <a:pPr algn="ctr" indent="0" marL="0">
              <a:spcAft>
                <a:spcPts val="400"/>
              </a:spcAft>
              <a:buNone/>
            </a:pPr>
            <a:r>
              <a:rPr lang="en-US" sz="2000" b="1" dirty="0">
                <a:solidFill>
                  <a:srgbClr val="1F4E4A"/>
                </a:solidFill>
              </a:rPr>
              <a:t>역할·규정</a:t>
            </a:r>
            <a:endParaRPr lang="en-US" sz="2000" dirty="0"/>
          </a:p>
          <a:p>
            <a:pPr algn="ctr" indent="0" marL="0">
              <a:buNone/>
            </a:pPr>
            <a:r>
              <a:rPr lang="en-US" sz="1800" dirty="0">
                <a:solidFill>
                  <a:srgbClr val="222222"/>
                </a:solidFill>
              </a:rPr>
              <a:t>직무범위·기관규정·법령</a:t>
            </a:r>
            <a:endParaRPr lang="en-US" sz="2000" dirty="0"/>
          </a:p>
        </p:txBody>
      </p:sp>
      <p:sp>
        <p:nvSpPr>
          <p:cNvPr id="18" name="Shape 16"/>
          <p:cNvSpPr/>
          <p:nvPr/>
        </p:nvSpPr>
        <p:spPr>
          <a:xfrm rot="5400000">
            <a:off x="7150425" y="2670048"/>
            <a:ext cx="182880" cy="237744"/>
          </a:xfrm>
          <a:prstGeom prst="triangle">
            <a:avLst/>
          </a:prstGeom>
          <a:solidFill>
            <a:srgbClr val="8FB9A8"/>
          </a:solidFill>
          <a:ln w="12700">
            <a:solidFill>
              <a:srgbClr val="8FB9A8"/>
            </a:solidFill>
            <a:prstDash val="solid"/>
          </a:ln>
        </p:spPr>
      </p:sp>
      <p:sp>
        <p:nvSpPr>
          <p:cNvPr id="19" name="Shape 17"/>
          <p:cNvSpPr/>
          <p:nvPr/>
        </p:nvSpPr>
        <p:spPr>
          <a:xfrm>
            <a:off x="7397313" y="1828800"/>
            <a:ext cx="1962851" cy="1920240"/>
          </a:xfrm>
          <a:prstGeom prst="roundRect">
            <a:avLst>
              <a:gd name="adj" fmla="val 5714"/>
            </a:avLst>
          </a:prstGeom>
          <a:solidFill>
            <a:srgbClr val="EAF3F0"/>
          </a:solidFill>
          <a:ln w="12700">
            <a:solidFill>
              <a:srgbClr val="EAF3F0"/>
            </a:solidFill>
            <a:prstDash val="solid"/>
          </a:ln>
        </p:spPr>
      </p:sp>
      <p:sp>
        <p:nvSpPr>
          <p:cNvPr id="20" name="Shape 18"/>
          <p:cNvSpPr/>
          <p:nvPr/>
        </p:nvSpPr>
        <p:spPr>
          <a:xfrm>
            <a:off x="8150139" y="2011680"/>
            <a:ext cx="457200" cy="457200"/>
          </a:xfrm>
          <a:prstGeom prst="ellipse">
            <a:avLst/>
          </a:prstGeom>
          <a:solidFill>
            <a:srgbClr val="2E7D6B"/>
          </a:solidFill>
          <a:ln w="12700">
            <a:solidFill>
              <a:srgbClr val="2E7D6B"/>
            </a:solidFill>
            <a:prstDash val="solid"/>
          </a:ln>
        </p:spPr>
      </p:sp>
      <p:sp>
        <p:nvSpPr>
          <p:cNvPr id="21" name="Text 19"/>
          <p:cNvSpPr txBox="1"/>
          <p:nvPr/>
        </p:nvSpPr>
        <p:spPr>
          <a:xfrm>
            <a:off x="8150139" y="2011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2" name="Text 20"/>
          <p:cNvSpPr txBox="1"/>
          <p:nvPr/>
        </p:nvSpPr>
        <p:spPr>
          <a:xfrm>
            <a:off x="7534473" y="2606040"/>
            <a:ext cx="1688531" cy="1051560"/>
          </a:xfrm>
          <a:prstGeom prst="rect">
            <a:avLst/>
          </a:prstGeom>
          <a:noFill/>
          <a:ln/>
        </p:spPr>
        <p:txBody>
          <a:bodyPr wrap="square" lIns="0" tIns="0" rIns="0" bIns="0" rtlCol="0" anchor="t"/>
          <a:lstStyle/>
          <a:p>
            <a:pPr algn="ctr" indent="0" marL="0">
              <a:spcAft>
                <a:spcPts val="400"/>
              </a:spcAft>
              <a:buNone/>
            </a:pPr>
            <a:r>
              <a:rPr lang="en-US" sz="2000" b="1" dirty="0">
                <a:solidFill>
                  <a:srgbClr val="1F4E4A"/>
                </a:solidFill>
              </a:rPr>
              <a:t>자문·연계</a:t>
            </a:r>
            <a:endParaRPr lang="en-US" sz="2000" dirty="0"/>
          </a:p>
          <a:p>
            <a:pPr algn="ctr" indent="0" marL="0">
              <a:buNone/>
            </a:pPr>
            <a:r>
              <a:rPr lang="en-US" sz="1800" dirty="0">
                <a:solidFill>
                  <a:srgbClr val="222222"/>
                </a:solidFill>
              </a:rPr>
              <a:t>수퍼바이저·책임자·전문가</a:t>
            </a:r>
            <a:endParaRPr lang="en-US" sz="2000" dirty="0"/>
          </a:p>
        </p:txBody>
      </p:sp>
      <p:sp>
        <p:nvSpPr>
          <p:cNvPr id="23" name="Shape 21"/>
          <p:cNvSpPr/>
          <p:nvPr/>
        </p:nvSpPr>
        <p:spPr>
          <a:xfrm rot="5400000">
            <a:off x="9433316" y="2670048"/>
            <a:ext cx="182880" cy="237744"/>
          </a:xfrm>
          <a:prstGeom prst="triangle">
            <a:avLst/>
          </a:prstGeom>
          <a:solidFill>
            <a:srgbClr val="8FB9A8"/>
          </a:solidFill>
          <a:ln w="12700">
            <a:solidFill>
              <a:srgbClr val="8FB9A8"/>
            </a:solidFill>
            <a:prstDash val="solid"/>
          </a:ln>
        </p:spPr>
      </p:sp>
      <p:sp>
        <p:nvSpPr>
          <p:cNvPr id="24" name="Shape 22"/>
          <p:cNvSpPr/>
          <p:nvPr/>
        </p:nvSpPr>
        <p:spPr>
          <a:xfrm>
            <a:off x="9680204" y="1828800"/>
            <a:ext cx="1962851" cy="1920240"/>
          </a:xfrm>
          <a:prstGeom prst="roundRect">
            <a:avLst>
              <a:gd name="adj" fmla="val 5714"/>
            </a:avLst>
          </a:prstGeom>
          <a:solidFill>
            <a:srgbClr val="2E7D6B"/>
          </a:solidFill>
          <a:ln w="12700">
            <a:solidFill>
              <a:srgbClr val="2E7D6B"/>
            </a:solidFill>
            <a:prstDash val="solid"/>
          </a:ln>
        </p:spPr>
      </p:sp>
      <p:sp>
        <p:nvSpPr>
          <p:cNvPr id="25" name="Shape 23"/>
          <p:cNvSpPr/>
          <p:nvPr/>
        </p:nvSpPr>
        <p:spPr>
          <a:xfrm>
            <a:off x="10433030" y="2011680"/>
            <a:ext cx="457200" cy="457200"/>
          </a:xfrm>
          <a:prstGeom prst="ellipse">
            <a:avLst/>
          </a:prstGeom>
          <a:solidFill>
            <a:srgbClr val="1F4E4A"/>
          </a:solidFill>
          <a:ln w="12700">
            <a:solidFill>
              <a:srgbClr val="1F4E4A"/>
            </a:solidFill>
            <a:prstDash val="solid"/>
          </a:ln>
        </p:spPr>
      </p:sp>
      <p:sp>
        <p:nvSpPr>
          <p:cNvPr id="26" name="Text 24"/>
          <p:cNvSpPr txBox="1"/>
          <p:nvPr/>
        </p:nvSpPr>
        <p:spPr>
          <a:xfrm>
            <a:off x="10433030" y="2011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7" name="Text 25"/>
          <p:cNvSpPr txBox="1"/>
          <p:nvPr/>
        </p:nvSpPr>
        <p:spPr>
          <a:xfrm>
            <a:off x="9817364" y="2606040"/>
            <a:ext cx="1688531" cy="1051560"/>
          </a:xfrm>
          <a:prstGeom prst="rect">
            <a:avLst/>
          </a:prstGeom>
          <a:noFill/>
          <a:ln/>
        </p:spPr>
        <p:txBody>
          <a:bodyPr wrap="square" lIns="0" tIns="0" rIns="0" bIns="0" rtlCol="0" anchor="t"/>
          <a:lstStyle/>
          <a:p>
            <a:pPr algn="ctr" indent="0" marL="0">
              <a:spcAft>
                <a:spcPts val="400"/>
              </a:spcAft>
              <a:buNone/>
            </a:pPr>
            <a:r>
              <a:rPr lang="en-US" sz="2000" b="1" dirty="0">
                <a:solidFill>
                  <a:srgbClr val="FFFFFF"/>
                </a:solidFill>
              </a:rPr>
              <a:t>결정·기록</a:t>
            </a:r>
            <a:endParaRPr lang="en-US" sz="2000" dirty="0"/>
          </a:p>
          <a:p>
            <a:pPr algn="ctr" indent="0" marL="0">
              <a:buNone/>
            </a:pPr>
            <a:r>
              <a:rPr lang="en-US" sz="1800" dirty="0">
                <a:solidFill>
                  <a:srgbClr val="FFFFFF"/>
                </a:solidFill>
              </a:rPr>
              <a:t>최소 조치, 이유와 과정 기록</a:t>
            </a:r>
            <a:endParaRPr lang="en-US" sz="2000" dirty="0"/>
          </a:p>
        </p:txBody>
      </p:sp>
      <p:sp>
        <p:nvSpPr>
          <p:cNvPr id="28" name="Shape 26"/>
          <p:cNvSpPr/>
          <p:nvPr/>
        </p:nvSpPr>
        <p:spPr>
          <a:xfrm>
            <a:off x="548640" y="4114800"/>
            <a:ext cx="11094415" cy="2057400"/>
          </a:xfrm>
          <a:prstGeom prst="roundRect">
            <a:avLst>
              <a:gd name="adj" fmla="val 5333"/>
            </a:avLst>
          </a:prstGeom>
          <a:solidFill>
            <a:srgbClr val="F3F4F3"/>
          </a:solidFill>
          <a:ln w="12700">
            <a:solidFill>
              <a:srgbClr val="F3F4F3"/>
            </a:solidFill>
            <a:prstDash val="solid"/>
          </a:ln>
        </p:spPr>
      </p:sp>
      <p:sp>
        <p:nvSpPr>
          <p:cNvPr id="29" name="Text 27"/>
          <p:cNvSpPr txBox="1"/>
          <p:nvPr/>
        </p:nvSpPr>
        <p:spPr>
          <a:xfrm>
            <a:off x="822960" y="4279392"/>
            <a:ext cx="10545775" cy="178308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rgbClr val="222222"/>
                </a:solidFill>
              </a:rPr>
              <a:t>윤리문제는 정답이 하나인 O/X 문제가 아닐 수 있습니다.</a:t>
            </a:r>
            <a:endParaRPr lang="en-US" sz="2000" dirty="0"/>
          </a:p>
          <a:p>
            <a:pPr marL="342900" indent="-342900">
              <a:spcAft>
                <a:spcPts val="600"/>
              </a:spcAft>
              <a:buSzPct val="100000"/>
              <a:buChar char="•"/>
            </a:pPr>
            <a:r>
              <a:rPr lang="en-US" sz="2000" dirty="0">
                <a:solidFill>
                  <a:srgbClr val="222222"/>
                </a:solidFill>
              </a:rPr>
              <a:t>안전 · 자기결정 · 역할경계를 우선순위로 삼고, 혼자 판단하지 않는 구조를 갖추면 위험을 줄일 수 있습니다.</a:t>
            </a:r>
            <a:endParaRPr lang="en-US" sz="2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15절 윤리 사례 1</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가족이 몰래 재산정보를 묻는다</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194560"/>
                <a:gridCol w="8869680"/>
              </a:tblGrid>
              <a:tr h="566928">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검토</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대응</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566928">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비밀유지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내담자의 동의 없이 코칭내용을 가족에게 전달하지 않음</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자기결정</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재산대화가 필요하다면 내담자가 원하는 범위와 방식을 먼저 확인</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66928">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역할경계</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재산분배의 법적 타당성은 전문가 영역</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66928">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기록</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요청 사실과 WLC의 대응을 최소한으로 기록</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5" name="Shape 2"/>
          <p:cNvSpPr/>
          <p:nvPr/>
        </p:nvSpPr>
        <p:spPr>
          <a:xfrm>
            <a:off x="548640" y="5303520"/>
            <a:ext cx="11094415" cy="868680"/>
          </a:xfrm>
          <a:prstGeom prst="roundRect">
            <a:avLst>
              <a:gd name="adj" fmla="val 12632"/>
            </a:avLst>
          </a:prstGeom>
          <a:solidFill>
            <a:srgbClr val="EAF3F0"/>
          </a:solidFill>
          <a:ln w="12700">
            <a:solidFill>
              <a:srgbClr val="EAF3F0"/>
            </a:solidFill>
            <a:prstDash val="solid"/>
          </a:ln>
        </p:spPr>
      </p:sp>
      <p:sp>
        <p:nvSpPr>
          <p:cNvPr id="6" name="Shape 3"/>
          <p:cNvSpPr/>
          <p:nvPr/>
        </p:nvSpPr>
        <p:spPr>
          <a:xfrm>
            <a:off x="777240" y="5509260"/>
            <a:ext cx="457200" cy="457200"/>
          </a:xfrm>
          <a:prstGeom prst="ellipse">
            <a:avLst/>
          </a:prstGeom>
          <a:solidFill>
            <a:srgbClr val="2E7D6B"/>
          </a:solidFill>
          <a:ln w="12700">
            <a:solidFill>
              <a:srgbClr val="2E7D6B"/>
            </a:solidFill>
            <a:prstDash val="solid"/>
          </a:ln>
        </p:spPr>
      </p:sp>
      <p:pic>
        <p:nvPicPr>
          <p:cNvPr id="7"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8" name="Text 4"/>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2E7D6B"/>
                </a:solidFill>
              </a:rPr>
              <a:t>상황   </a:t>
            </a:r>
            <a:pPr indent="0" marL="0">
              <a:buNone/>
            </a:pPr>
            <a:r>
              <a:rPr lang="en-US" sz="1800" dirty="0">
                <a:solidFill>
                  <a:srgbClr val="222222"/>
                </a:solidFill>
              </a:rPr>
              <a:t>내담자의 자녀가 전화해 “어머니가 재산을 누구에게 주겠다고 했는지 알려 달라”고 묻습니다.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16절 윤리 사례 2</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“이제 다 끝내고 싶어요”라는 메시지가 왔다</a:t>
            </a:r>
            <a:endParaRPr lang="en-US" sz="2800" dirty="0"/>
          </a:p>
        </p:txBody>
      </p:sp>
      <p:sp>
        <p:nvSpPr>
          <p:cNvPr id="4" name="Shape 2"/>
          <p:cNvSpPr/>
          <p:nvPr/>
        </p:nvSpPr>
        <p:spPr>
          <a:xfrm>
            <a:off x="548640" y="1600200"/>
            <a:ext cx="11094415" cy="2011680"/>
          </a:xfrm>
          <a:prstGeom prst="roundRect">
            <a:avLst>
              <a:gd name="adj" fmla="val 5455"/>
            </a:avLst>
          </a:prstGeom>
          <a:solidFill>
            <a:srgbClr val="FDF1DC"/>
          </a:solidFill>
          <a:ln w="12700">
            <a:solidFill>
              <a:srgbClr val="FDF1DC"/>
            </a:solidFill>
            <a:prstDash val="solid"/>
          </a:ln>
        </p:spPr>
      </p:sp>
      <p:sp>
        <p:nvSpPr>
          <p:cNvPr id="5" name="Shape 3"/>
          <p:cNvSpPr/>
          <p:nvPr/>
        </p:nvSpPr>
        <p:spPr>
          <a:xfrm>
            <a:off x="868680" y="1965960"/>
            <a:ext cx="822960" cy="822960"/>
          </a:xfrm>
          <a:prstGeom prst="ellipse">
            <a:avLst/>
          </a:prstGeom>
          <a:solidFill>
            <a:srgbClr val="D98E04"/>
          </a:solidFill>
          <a:ln w="12700">
            <a:solidFill>
              <a:srgbClr val="D98E04"/>
            </a:solidFill>
            <a:prstDash val="solid"/>
          </a:ln>
        </p:spPr>
      </p:sp>
      <p:pic>
        <p:nvPicPr>
          <p:cNvPr id="6" name="Image 0" descr="preencoded.png">    </p:cNvPr>
          <p:cNvPicPr>
            <a:picLocks noChangeAspect="1"/>
          </p:cNvPicPr>
          <p:nvPr/>
        </p:nvPicPr>
        <p:blipFill>
          <a:blip r:embed="rId1"/>
          <a:stretch>
            <a:fillRect/>
          </a:stretch>
        </p:blipFill>
        <p:spPr>
          <a:xfrm>
            <a:off x="1082650" y="2179930"/>
            <a:ext cx="395021" cy="395021"/>
          </a:xfrm>
          <a:prstGeom prst="rect">
            <a:avLst/>
          </a:prstGeom>
        </p:spPr>
      </p:pic>
      <p:sp>
        <p:nvSpPr>
          <p:cNvPr id="7" name="Text 4"/>
          <p:cNvSpPr txBox="1"/>
          <p:nvPr/>
        </p:nvSpPr>
        <p:spPr>
          <a:xfrm>
            <a:off x="1965960" y="1783080"/>
            <a:ext cx="9357055" cy="1645920"/>
          </a:xfrm>
          <a:prstGeom prst="rect">
            <a:avLst/>
          </a:prstGeom>
          <a:noFill/>
          <a:ln/>
        </p:spPr>
        <p:txBody>
          <a:bodyPr wrap="square" lIns="0" tIns="0" rIns="0" bIns="0" rtlCol="0" anchor="ctr"/>
          <a:lstStyle/>
          <a:p>
            <a:pPr indent="0" marL="0">
              <a:buNone/>
            </a:pPr>
            <a:r>
              <a:rPr lang="en-US" sz="2800" b="1" dirty="0">
                <a:solidFill>
                  <a:srgbClr val="1F4E4A"/>
                </a:solidFill>
              </a:rPr>
              <a:t>비밀유지를 이유로 혼자 대응하지 않습니다.</a:t>
            </a:r>
            <a:endParaRPr lang="en-US" sz="2800" dirty="0"/>
          </a:p>
          <a:p>
            <a:pPr indent="0" marL="0">
              <a:buNone/>
            </a:pPr>
            <a:r>
              <a:rPr lang="en-US" sz="2800" b="1" dirty="0">
                <a:solidFill>
                  <a:srgbClr val="1F4E4A"/>
                </a:solidFill>
              </a:rPr>
              <a:t>즉각적 안전위험을 확인하고, 기관 위기대응 절차와 정신건강·응급체계에 연결합니다.</a:t>
            </a:r>
            <a:endParaRPr lang="en-US" sz="2800" dirty="0"/>
          </a:p>
        </p:txBody>
      </p:sp>
      <p:sp>
        <p:nvSpPr>
          <p:cNvPr id="8" name="Shape 5"/>
          <p:cNvSpPr/>
          <p:nvPr/>
        </p:nvSpPr>
        <p:spPr>
          <a:xfrm>
            <a:off x="548640" y="3886200"/>
            <a:ext cx="3515258" cy="2240280"/>
          </a:xfrm>
          <a:prstGeom prst="roundRect">
            <a:avLst>
              <a:gd name="adj" fmla="val 4898"/>
            </a:avLst>
          </a:prstGeom>
          <a:solidFill>
            <a:srgbClr val="F3F4F3"/>
          </a:solidFill>
          <a:ln w="12700">
            <a:solidFill>
              <a:srgbClr val="F3F4F3"/>
            </a:solidFill>
            <a:prstDash val="solid"/>
          </a:ln>
        </p:spPr>
      </p:sp>
      <p:sp>
        <p:nvSpPr>
          <p:cNvPr id="9" name="Text 6"/>
          <p:cNvSpPr txBox="1"/>
          <p:nvPr/>
        </p:nvSpPr>
        <p:spPr>
          <a:xfrm>
            <a:off x="777240"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핵심</a:t>
            </a:r>
            <a:endParaRPr lang="en-US" sz="2100" dirty="0"/>
          </a:p>
          <a:p>
            <a:pPr indent="0" marL="0">
              <a:buNone/>
            </a:pPr>
            <a:r>
              <a:rPr lang="en-US" sz="2000" dirty="0">
                <a:solidFill>
                  <a:srgbClr val="222222"/>
                </a:solidFill>
              </a:rPr>
              <a:t>비밀유지는 안전을 외면하기 위한 원칙이 아닙니다.</a:t>
            </a:r>
            <a:endParaRPr lang="en-US" sz="2100" dirty="0"/>
          </a:p>
        </p:txBody>
      </p:sp>
      <p:sp>
        <p:nvSpPr>
          <p:cNvPr id="10" name="Shape 7"/>
          <p:cNvSpPr/>
          <p:nvPr/>
        </p:nvSpPr>
        <p:spPr>
          <a:xfrm>
            <a:off x="4338218" y="3886200"/>
            <a:ext cx="3515258" cy="2240280"/>
          </a:xfrm>
          <a:prstGeom prst="roundRect">
            <a:avLst>
              <a:gd name="adj" fmla="val 4898"/>
            </a:avLst>
          </a:prstGeom>
          <a:solidFill>
            <a:srgbClr val="F3F4F3"/>
          </a:solidFill>
          <a:ln w="12700">
            <a:solidFill>
              <a:srgbClr val="F3F4F3"/>
            </a:solidFill>
            <a:prstDash val="solid"/>
          </a:ln>
        </p:spPr>
      </p:sp>
      <p:sp>
        <p:nvSpPr>
          <p:cNvPr id="11" name="Text 8"/>
          <p:cNvSpPr txBox="1"/>
          <p:nvPr/>
        </p:nvSpPr>
        <p:spPr>
          <a:xfrm>
            <a:off x="4566818"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연결처</a:t>
            </a:r>
            <a:endParaRPr lang="en-US" sz="2100" dirty="0"/>
          </a:p>
          <a:p>
            <a:pPr indent="0" marL="0">
              <a:buNone/>
            </a:pPr>
            <a:r>
              <a:rPr lang="en-US" sz="2000" dirty="0">
                <a:solidFill>
                  <a:srgbClr val="222222"/>
                </a:solidFill>
              </a:rPr>
              <a:t>자살예방상담전화 109, 정신건강복지센터, 응급 시 112·119</a:t>
            </a:r>
            <a:endParaRPr lang="en-US" sz="2100" dirty="0"/>
          </a:p>
        </p:txBody>
      </p:sp>
      <p:sp>
        <p:nvSpPr>
          <p:cNvPr id="12" name="Shape 9"/>
          <p:cNvSpPr/>
          <p:nvPr/>
        </p:nvSpPr>
        <p:spPr>
          <a:xfrm>
            <a:off x="8127797" y="3886200"/>
            <a:ext cx="3515258" cy="2240280"/>
          </a:xfrm>
          <a:prstGeom prst="roundRect">
            <a:avLst>
              <a:gd name="adj" fmla="val 4898"/>
            </a:avLst>
          </a:prstGeom>
          <a:solidFill>
            <a:srgbClr val="F3F4F3"/>
          </a:solidFill>
          <a:ln w="12700">
            <a:solidFill>
              <a:srgbClr val="F3F4F3"/>
            </a:solidFill>
            <a:prstDash val="solid"/>
          </a:ln>
        </p:spPr>
      </p:sp>
      <p:sp>
        <p:nvSpPr>
          <p:cNvPr id="13" name="Text 10"/>
          <p:cNvSpPr txBox="1"/>
          <p:nvPr/>
        </p:nvSpPr>
        <p:spPr>
          <a:xfrm>
            <a:off x="8356397"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최소 정보</a:t>
            </a:r>
            <a:endParaRPr lang="en-US" sz="2100" dirty="0"/>
          </a:p>
          <a:p>
            <a:pPr indent="0" marL="0">
              <a:buNone/>
            </a:pPr>
            <a:r>
              <a:rPr lang="en-US" sz="2000" dirty="0">
                <a:solidFill>
                  <a:srgbClr val="222222"/>
                </a:solidFill>
              </a:rPr>
              <a:t>필요한 최소한의 정보로 공식 전문체계와 협력</a:t>
            </a:r>
            <a:endParaRPr lang="en-US" sz="21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17절 윤리 사례 3</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특정 장례서비스를 판매하고 싶다</a:t>
            </a:r>
            <a:endParaRPr lang="en-US" sz="2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377440"/>
                <a:gridCol w="8686800"/>
              </a:tblGrid>
              <a:tr h="475488">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위험</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필요한 기준</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475488">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중립성 훼손</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특정 업체 선택을 정답처럼 제시하지 않음</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이해충돌 은폐</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금전적 관계를 사전에 명확히 공개</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75488">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과장광고</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WLC 자격이 상품을 보증하는 것처럼 표현하지 않음</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75488">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선택권 제한</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비제휴 업체·공공정보 등 다른 경로도 안내</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75488">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기록·분리</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코칭 계약과 상품판매 계약을 구분</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18절 불만·민원·사고</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문제가 생겼을 때 드러나는 윤리</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4724248" cy="1466088"/>
          </a:xfrm>
          <a:prstGeom prst="rect">
            <a:avLst/>
          </a:prstGeom>
          <a:noFill/>
          <a:ln/>
        </p:spPr>
        <p:txBody>
          <a:bodyPr wrap="square" lIns="0" tIns="0" rIns="0" bIns="0" rtlCol="0" anchor="t"/>
          <a:lstStyle/>
          <a:p>
            <a:pPr indent="0" marL="0">
              <a:buNone/>
            </a:pPr>
            <a:r>
              <a:rPr lang="en-US" sz="2200" dirty="0">
                <a:solidFill>
                  <a:srgbClr val="222222"/>
                </a:solidFill>
              </a:rPr>
              <a:t>방어적으로 반박하기 전에 사실 확인</a:t>
            </a:r>
            <a:endParaRPr lang="en-US" sz="2200" dirty="0"/>
          </a:p>
        </p:txBody>
      </p:sp>
      <p:sp>
        <p:nvSpPr>
          <p:cNvPr id="7" name="Shape 5"/>
          <p:cNvSpPr/>
          <p:nvPr/>
        </p:nvSpPr>
        <p:spPr>
          <a:xfrm>
            <a:off x="548640" y="3139440"/>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31394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3112008"/>
            <a:ext cx="4724248" cy="1466088"/>
          </a:xfrm>
          <a:prstGeom prst="rect">
            <a:avLst/>
          </a:prstGeom>
          <a:noFill/>
          <a:ln/>
        </p:spPr>
        <p:txBody>
          <a:bodyPr wrap="square" lIns="0" tIns="0" rIns="0" bIns="0" rtlCol="0" anchor="t"/>
          <a:lstStyle/>
          <a:p>
            <a:pPr indent="0" marL="0">
              <a:buNone/>
            </a:pPr>
            <a:r>
              <a:rPr lang="en-US" sz="2200" dirty="0">
                <a:solidFill>
                  <a:srgbClr val="222222"/>
                </a:solidFill>
              </a:rPr>
              <a:t>기관의 민원·사고보고 절차를 즉시 따름</a:t>
            </a:r>
            <a:endParaRPr lang="en-US" sz="2200" dirty="0"/>
          </a:p>
        </p:txBody>
      </p:sp>
      <p:sp>
        <p:nvSpPr>
          <p:cNvPr id="10" name="Shape 8"/>
          <p:cNvSpPr/>
          <p:nvPr/>
        </p:nvSpPr>
        <p:spPr>
          <a:xfrm>
            <a:off x="548640" y="4678680"/>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4678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4651248"/>
            <a:ext cx="4724248" cy="1466088"/>
          </a:xfrm>
          <a:prstGeom prst="rect">
            <a:avLst/>
          </a:prstGeom>
          <a:noFill/>
          <a:ln/>
        </p:spPr>
        <p:txBody>
          <a:bodyPr wrap="square" lIns="0" tIns="0" rIns="0" bIns="0" rtlCol="0" anchor="t"/>
          <a:lstStyle/>
          <a:p>
            <a:pPr indent="0" marL="0">
              <a:buNone/>
            </a:pPr>
            <a:r>
              <a:rPr lang="en-US" sz="2200" dirty="0">
                <a:solidFill>
                  <a:srgbClr val="222222"/>
                </a:solidFill>
              </a:rPr>
              <a:t>기록을 사후에 임의로 수정·삭제하지 않음</a:t>
            </a:r>
            <a:endParaRPr lang="en-US" sz="2200" dirty="0"/>
          </a:p>
        </p:txBody>
      </p:sp>
      <p:sp>
        <p:nvSpPr>
          <p:cNvPr id="13" name="Shape 11"/>
          <p:cNvSpPr/>
          <p:nvPr/>
        </p:nvSpPr>
        <p:spPr>
          <a:xfrm>
            <a:off x="6233008" y="1600200"/>
            <a:ext cx="438912" cy="438912"/>
          </a:xfrm>
          <a:prstGeom prst="ellipse">
            <a:avLst/>
          </a:prstGeom>
          <a:solidFill>
            <a:srgbClr val="2E7D6B"/>
          </a:solidFill>
          <a:ln w="12700">
            <a:solidFill>
              <a:srgbClr val="2E7D6B"/>
            </a:solidFill>
            <a:prstDash val="solid"/>
          </a:ln>
        </p:spPr>
      </p:sp>
      <p:sp>
        <p:nvSpPr>
          <p:cNvPr id="14" name="Text 12"/>
          <p:cNvSpPr txBox="1"/>
          <p:nvPr/>
        </p:nvSpPr>
        <p:spPr>
          <a:xfrm>
            <a:off x="6233008"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6854800" y="1572768"/>
            <a:ext cx="4724248" cy="1466088"/>
          </a:xfrm>
          <a:prstGeom prst="rect">
            <a:avLst/>
          </a:prstGeom>
          <a:noFill/>
          <a:ln/>
        </p:spPr>
        <p:txBody>
          <a:bodyPr wrap="square" lIns="0" tIns="0" rIns="0" bIns="0" rtlCol="0" anchor="t"/>
          <a:lstStyle/>
          <a:p>
            <a:pPr indent="0" marL="0">
              <a:buNone/>
            </a:pPr>
            <a:r>
              <a:rPr lang="en-US" sz="2200" dirty="0">
                <a:solidFill>
                  <a:srgbClr val="222222"/>
                </a:solidFill>
              </a:rPr>
              <a:t>경계 위반·정보 유출·안전사고는 신속히 보고</a:t>
            </a:r>
            <a:endParaRPr lang="en-US" sz="2200" dirty="0"/>
          </a:p>
        </p:txBody>
      </p:sp>
      <p:sp>
        <p:nvSpPr>
          <p:cNvPr id="16" name="Shape 14"/>
          <p:cNvSpPr/>
          <p:nvPr/>
        </p:nvSpPr>
        <p:spPr>
          <a:xfrm>
            <a:off x="6233008" y="3139440"/>
            <a:ext cx="438912" cy="438912"/>
          </a:xfrm>
          <a:prstGeom prst="ellipse">
            <a:avLst/>
          </a:prstGeom>
          <a:solidFill>
            <a:srgbClr val="2E7D6B"/>
          </a:solidFill>
          <a:ln w="12700">
            <a:solidFill>
              <a:srgbClr val="2E7D6B"/>
            </a:solidFill>
            <a:prstDash val="solid"/>
          </a:ln>
        </p:spPr>
      </p:sp>
      <p:sp>
        <p:nvSpPr>
          <p:cNvPr id="17" name="Text 15"/>
          <p:cNvSpPr txBox="1"/>
          <p:nvPr/>
        </p:nvSpPr>
        <p:spPr>
          <a:xfrm>
            <a:off x="6233008" y="31394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6854800" y="3112008"/>
            <a:ext cx="4724248" cy="1466088"/>
          </a:xfrm>
          <a:prstGeom prst="rect">
            <a:avLst/>
          </a:prstGeom>
          <a:noFill/>
          <a:ln/>
        </p:spPr>
        <p:txBody>
          <a:bodyPr wrap="square" lIns="0" tIns="0" rIns="0" bIns="0" rtlCol="0" anchor="t"/>
          <a:lstStyle/>
          <a:p>
            <a:pPr indent="0" marL="0">
              <a:buNone/>
            </a:pPr>
            <a:r>
              <a:rPr lang="en-US" sz="2200" dirty="0">
                <a:solidFill>
                  <a:srgbClr val="222222"/>
                </a:solidFill>
              </a:rPr>
              <a:t>서비스 중단·담당 변경·전문기관 연계 검토</a:t>
            </a:r>
            <a:endParaRPr lang="en-US" sz="2200" dirty="0"/>
          </a:p>
        </p:txBody>
      </p:sp>
      <p:sp>
        <p:nvSpPr>
          <p:cNvPr id="19" name="Shape 17"/>
          <p:cNvSpPr/>
          <p:nvPr/>
        </p:nvSpPr>
        <p:spPr>
          <a:xfrm>
            <a:off x="6233008" y="4678680"/>
            <a:ext cx="438912" cy="438912"/>
          </a:xfrm>
          <a:prstGeom prst="ellipse">
            <a:avLst/>
          </a:prstGeom>
          <a:solidFill>
            <a:srgbClr val="2E7D6B"/>
          </a:solidFill>
          <a:ln w="12700">
            <a:solidFill>
              <a:srgbClr val="2E7D6B"/>
            </a:solidFill>
            <a:prstDash val="solid"/>
          </a:ln>
        </p:spPr>
      </p:sp>
      <p:sp>
        <p:nvSpPr>
          <p:cNvPr id="20" name="Text 18"/>
          <p:cNvSpPr txBox="1"/>
          <p:nvPr/>
        </p:nvSpPr>
        <p:spPr>
          <a:xfrm>
            <a:off x="6233008" y="4678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6854800" y="4651248"/>
            <a:ext cx="4724248" cy="1466088"/>
          </a:xfrm>
          <a:prstGeom prst="rect">
            <a:avLst/>
          </a:prstGeom>
          <a:noFill/>
          <a:ln/>
        </p:spPr>
        <p:txBody>
          <a:bodyPr wrap="square" lIns="0" tIns="0" rIns="0" bIns="0" rtlCol="0" anchor="t"/>
          <a:lstStyle/>
          <a:p>
            <a:pPr indent="0" marL="0">
              <a:buNone/>
            </a:pPr>
            <a:r>
              <a:rPr lang="en-US" sz="2200" dirty="0">
                <a:solidFill>
                  <a:srgbClr val="222222"/>
                </a:solidFill>
              </a:rPr>
              <a:t>재발방지 교육과 규정개선으로 연결</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22절 WLC라는 이름으로 홍보할 때</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이 표현, 써도 될까요?</a:t>
            </a:r>
            <a:endParaRPr lang="en-US" sz="28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4754880"/>
                <a:gridCol w="1463040"/>
                <a:gridCol w="4846320"/>
              </a:tblGrid>
              <a:tr h="530352">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표현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판단</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이유</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530352">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“WLC 2급 자격 보유”</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가능</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실제 보유자격을 정확히 표시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“웰다잉 교육·엔딩노트 코칭·가족대화 지원”</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가능</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활동범위를 정확히 설명</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30352">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“의료·법률 문제를 해결해 드립니다”</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부적절</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전문자격 영역 오인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“죽음불안 치료 전문”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부적절</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치료·임상 전문성 암시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30352">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“상속·절세·연명의료 결정까지 원스톱”</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부적절</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무자격 업무로 오해</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전문가 협업·연계 체계 명시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권장</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다학제 협력형 역할을 투명하게</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24.2 실습 2 · 토론</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윤리적 경계 O / X / △</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400" b="1" dirty="0">
                <a:solidFill>
                  <a:srgbClr val="1F4E4A"/>
                </a:solidFill>
              </a:rPr>
              <a:t>다음 장의 다섯 상황을 보고 O·X·△로 판단하고 이유를 말합니다.</a:t>
            </a:r>
            <a:endParaRPr lang="en-US" sz="24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990600"/>
          </a:xfrm>
          <a:prstGeom prst="rect">
            <a:avLst/>
          </a:prstGeom>
          <a:noFill/>
          <a:ln/>
        </p:spPr>
        <p:txBody>
          <a:bodyPr wrap="square" lIns="0" tIns="0" rIns="0" bIns="0" rtlCol="0" anchor="t"/>
          <a:lstStyle/>
          <a:p>
            <a:pPr indent="0" marL="0">
              <a:buNone/>
            </a:pPr>
            <a:r>
              <a:rPr lang="en-US" sz="2100" dirty="0">
                <a:solidFill>
                  <a:srgbClr val="222222"/>
                </a:solidFill>
              </a:rPr>
              <a:t>조별로 다섯 상황에 대한 판단을 정합니다(3분).</a:t>
            </a:r>
            <a:endParaRPr lang="en-US" sz="2100" dirty="0"/>
          </a:p>
        </p:txBody>
      </p:sp>
      <p:sp>
        <p:nvSpPr>
          <p:cNvPr id="9" name="Shape 7"/>
          <p:cNvSpPr/>
          <p:nvPr/>
        </p:nvSpPr>
        <p:spPr>
          <a:xfrm>
            <a:off x="822960" y="388924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38892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3870960"/>
            <a:ext cx="6309360" cy="990600"/>
          </a:xfrm>
          <a:prstGeom prst="rect">
            <a:avLst/>
          </a:prstGeom>
          <a:noFill/>
          <a:ln/>
        </p:spPr>
        <p:txBody>
          <a:bodyPr wrap="square" lIns="0" tIns="0" rIns="0" bIns="0" rtlCol="0" anchor="t"/>
          <a:lstStyle/>
          <a:p>
            <a:pPr indent="0" marL="0">
              <a:buNone/>
            </a:pPr>
            <a:r>
              <a:rPr lang="en-US" sz="2100" dirty="0">
                <a:solidFill>
                  <a:srgbClr val="222222"/>
                </a:solidFill>
              </a:rPr>
              <a:t>의견이 갈린 상황 하나를 골라 이유를 발표합니다.</a:t>
            </a:r>
            <a:endParaRPr lang="en-US" sz="2100" dirty="0"/>
          </a:p>
        </p:txBody>
      </p:sp>
      <p:sp>
        <p:nvSpPr>
          <p:cNvPr id="12" name="Shape 10"/>
          <p:cNvSpPr/>
          <p:nvPr/>
        </p:nvSpPr>
        <p:spPr>
          <a:xfrm>
            <a:off x="822960" y="4925568"/>
            <a:ext cx="384048" cy="384048"/>
          </a:xfrm>
          <a:prstGeom prst="ellipse">
            <a:avLst/>
          </a:prstGeom>
          <a:solidFill>
            <a:srgbClr val="2E7D6B"/>
          </a:solidFill>
          <a:ln w="12700">
            <a:solidFill>
              <a:srgbClr val="2E7D6B"/>
            </a:solidFill>
            <a:prstDash val="solid"/>
          </a:ln>
        </p:spPr>
      </p:sp>
      <p:sp>
        <p:nvSpPr>
          <p:cNvPr id="13" name="Text 11"/>
          <p:cNvSpPr txBox="1"/>
          <p:nvPr/>
        </p:nvSpPr>
        <p:spPr>
          <a:xfrm>
            <a:off x="822960" y="4925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371600" y="4907280"/>
            <a:ext cx="6309360" cy="990600"/>
          </a:xfrm>
          <a:prstGeom prst="rect">
            <a:avLst/>
          </a:prstGeom>
          <a:noFill/>
          <a:ln/>
        </p:spPr>
        <p:txBody>
          <a:bodyPr wrap="square" lIns="0" tIns="0" rIns="0" bIns="0" rtlCol="0" anchor="t"/>
          <a:lstStyle/>
          <a:p>
            <a:pPr indent="0" marL="0">
              <a:buNone/>
            </a:pPr>
            <a:r>
              <a:rPr lang="en-US" sz="2100" dirty="0">
                <a:solidFill>
                  <a:srgbClr val="222222"/>
                </a:solidFill>
              </a:rPr>
              <a:t>정답 슬라이드로 확인합니다.</a:t>
            </a:r>
            <a:endParaRPr lang="en-US" sz="2100" dirty="0"/>
          </a:p>
        </p:txBody>
      </p:sp>
      <p:sp>
        <p:nvSpPr>
          <p:cNvPr id="15" name="Shape 13"/>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6" name="Shape 14"/>
          <p:cNvSpPr/>
          <p:nvPr/>
        </p:nvSpPr>
        <p:spPr>
          <a:xfrm>
            <a:off x="8430768" y="1755648"/>
            <a:ext cx="457200" cy="457200"/>
          </a:xfrm>
          <a:prstGeom prst="ellipse">
            <a:avLst/>
          </a:prstGeom>
          <a:solidFill>
            <a:srgbClr val="D98E04"/>
          </a:solidFill>
          <a:ln w="12700">
            <a:solidFill>
              <a:srgbClr val="D98E04"/>
            </a:solidFill>
            <a:prstDash val="solid"/>
          </a:ln>
        </p:spPr>
      </p:sp>
      <p:pic>
        <p:nvPicPr>
          <p:cNvPr id="17"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18" name="Text 15"/>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19" name="Text 16"/>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6분</a:t>
            </a:r>
            <a:endParaRPr lang="en-US" sz="2800" dirty="0"/>
          </a:p>
        </p:txBody>
      </p:sp>
      <p:sp>
        <p:nvSpPr>
          <p:cNvPr id="20" name="Shape 17"/>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Shape 18"/>
          <p:cNvSpPr/>
          <p:nvPr/>
        </p:nvSpPr>
        <p:spPr>
          <a:xfrm>
            <a:off x="8430768" y="3328416"/>
            <a:ext cx="457200" cy="457200"/>
          </a:xfrm>
          <a:prstGeom prst="ellipse">
            <a:avLst/>
          </a:prstGeom>
          <a:solidFill>
            <a:srgbClr val="2E7D6B"/>
          </a:solidFill>
          <a:ln w="12700">
            <a:solidFill>
              <a:srgbClr val="2E7D6B"/>
            </a:solidFill>
            <a:prstDash val="solid"/>
          </a:ln>
        </p:spPr>
      </p:sp>
      <p:pic>
        <p:nvPicPr>
          <p:cNvPr id="22"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3" name="Text 19"/>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4" name="Text 20"/>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4~5인 조별</a:t>
            </a:r>
            <a:endParaRPr lang="en-US" sz="1800" dirty="0"/>
          </a:p>
        </p:txBody>
      </p:sp>
      <p:sp>
        <p:nvSpPr>
          <p:cNvPr id="25" name="Shape 21"/>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6" name="Shape 22"/>
          <p:cNvSpPr/>
          <p:nvPr/>
        </p:nvSpPr>
        <p:spPr>
          <a:xfrm>
            <a:off x="8430768" y="4901184"/>
            <a:ext cx="457200" cy="457200"/>
          </a:xfrm>
          <a:prstGeom prst="ellipse">
            <a:avLst/>
          </a:prstGeom>
          <a:solidFill>
            <a:srgbClr val="2E7D6B"/>
          </a:solidFill>
          <a:ln w="12700">
            <a:solidFill>
              <a:srgbClr val="2E7D6B"/>
            </a:solidFill>
            <a:prstDash val="solid"/>
          </a:ln>
        </p:spPr>
      </p:sp>
      <p:pic>
        <p:nvPicPr>
          <p:cNvPr id="27"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28" name="Text 23"/>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29" name="Text 24"/>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조별 판단표</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24.2 정답</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윤리적 경계 판단</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5852160"/>
                <a:gridCol w="914400"/>
                <a:gridCol w="4297680"/>
              </a:tblGrid>
              <a:tr h="640080">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상황</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판단</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이유</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640080">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상속세 절세를 묻자 구체적 증여시점을 계산해 준다</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X</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세무자문은 전문가 영역</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AD의 법적 효력을 묻자 일반 절차를 설명하고 의료진 확인을 안내</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O</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일반 정보와 전문가 확인은 범위 내</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40080">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반려동물 사별을 “가벼운 슬픔”이라고 평가</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X</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비차별·존엄 원칙 위반</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자살위험이 의심되는데 비밀유지로 아무에게도 알리지 않음</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X</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안전 우선, 공식체계와 협력</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40080">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제휴업체 소개 시 수수료 관계를 밝히고 대안도 안내</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기관규정·투명한 공개·선택권 필수</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547208" y="1005840"/>
            <a:ext cx="1097280" cy="1097280"/>
          </a:xfrm>
          <a:prstGeom prst="ellipse">
            <a:avLst/>
          </a:prstGeom>
          <a:solidFill>
            <a:srgbClr val="2E7D6B"/>
          </a:solidFill>
          <a:ln w="12700">
            <a:solidFill>
              <a:srgbClr val="2E7D6B"/>
            </a:solidFill>
            <a:prstDash val="solid"/>
          </a:ln>
        </p:spPr>
      </p:sp>
      <p:pic>
        <p:nvPicPr>
          <p:cNvPr id="3" name="Image 0" descr="preencoded.png">    </p:cNvPr>
          <p:cNvPicPr>
            <a:picLocks noChangeAspect="1"/>
          </p:cNvPicPr>
          <p:nvPr/>
        </p:nvPicPr>
        <p:blipFill>
          <a:blip r:embed="rId1"/>
          <a:stretch>
            <a:fillRect/>
          </a:stretch>
        </p:blipFill>
        <p:spPr>
          <a:xfrm>
            <a:off x="5832500" y="1291133"/>
            <a:ext cx="526694" cy="526694"/>
          </a:xfrm>
          <a:prstGeom prst="rect">
            <a:avLst/>
          </a:prstGeom>
        </p:spPr>
      </p:pic>
      <p:sp>
        <p:nvSpPr>
          <p:cNvPr id="4" name="Text 1"/>
          <p:cNvSpPr txBox="1"/>
          <p:nvPr/>
        </p:nvSpPr>
        <p:spPr>
          <a:xfrm>
            <a:off x="548640" y="2286000"/>
            <a:ext cx="11094415" cy="822960"/>
          </a:xfrm>
          <a:prstGeom prst="rect">
            <a:avLst/>
          </a:prstGeom>
          <a:noFill/>
          <a:ln/>
        </p:spPr>
        <p:txBody>
          <a:bodyPr wrap="square" lIns="0" tIns="0" rIns="0" bIns="0" rtlCol="0" anchor="t"/>
          <a:lstStyle/>
          <a:p>
            <a:pPr algn="ctr" indent="0" marL="0">
              <a:buNone/>
            </a:pPr>
            <a:r>
              <a:rPr lang="en-US" sz="4000" b="1" dirty="0">
                <a:solidFill>
                  <a:srgbClr val="FFFFFF"/>
                </a:solidFill>
              </a:rPr>
              <a:t>휴식 10분</a:t>
            </a:r>
            <a:endParaRPr lang="en-US" sz="4000" dirty="0"/>
          </a:p>
        </p:txBody>
      </p:sp>
      <p:sp>
        <p:nvSpPr>
          <p:cNvPr id="5" name="Text 2"/>
          <p:cNvSpPr txBox="1"/>
          <p:nvPr/>
        </p:nvSpPr>
        <p:spPr>
          <a:xfrm>
            <a:off x="548640" y="3291840"/>
            <a:ext cx="11094415" cy="411480"/>
          </a:xfrm>
          <a:prstGeom prst="rect">
            <a:avLst/>
          </a:prstGeom>
          <a:noFill/>
          <a:ln/>
        </p:spPr>
        <p:txBody>
          <a:bodyPr wrap="square" lIns="0" tIns="0" rIns="0" bIns="0" rtlCol="0" anchor="t"/>
          <a:lstStyle/>
          <a:p>
            <a:pPr algn="ctr" indent="0" marL="0">
              <a:buNone/>
            </a:pPr>
            <a:r>
              <a:rPr lang="en-US" sz="1600" b="1" dirty="0">
                <a:solidFill>
                  <a:srgbClr val="8FB9A8"/>
                </a:solidFill>
              </a:rPr>
              <a:t>지금까지 기억할 세 가지</a:t>
            </a:r>
            <a:endParaRPr lang="en-US" sz="1600" dirty="0"/>
          </a:p>
        </p:txBody>
      </p:sp>
      <p:sp>
        <p:nvSpPr>
          <p:cNvPr id="6" name="Shape 3"/>
          <p:cNvSpPr/>
          <p:nvPr/>
        </p:nvSpPr>
        <p:spPr>
          <a:xfrm>
            <a:off x="548640" y="3840480"/>
            <a:ext cx="3515258" cy="1371600"/>
          </a:xfrm>
          <a:prstGeom prst="roundRect">
            <a:avLst>
              <a:gd name="adj" fmla="val 8000"/>
            </a:avLst>
          </a:prstGeom>
          <a:solidFill>
            <a:srgbClr val="2A5F5A"/>
          </a:solidFill>
          <a:ln w="12700">
            <a:solidFill>
              <a:srgbClr val="2A5F5A"/>
            </a:solidFill>
            <a:prstDash val="solid"/>
          </a:ln>
        </p:spPr>
      </p:sp>
      <p:sp>
        <p:nvSpPr>
          <p:cNvPr id="7" name="Text 4"/>
          <p:cNvSpPr txBox="1"/>
          <p:nvPr/>
        </p:nvSpPr>
        <p:spPr>
          <a:xfrm>
            <a:off x="777240"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경계가 곧 신뢰 — 판단 대신 질문을 정리한다</a:t>
            </a:r>
            <a:endParaRPr lang="en-US" sz="2000" dirty="0"/>
          </a:p>
        </p:txBody>
      </p:sp>
      <p:sp>
        <p:nvSpPr>
          <p:cNvPr id="8" name="Shape 5"/>
          <p:cNvSpPr/>
          <p:nvPr/>
        </p:nvSpPr>
        <p:spPr>
          <a:xfrm>
            <a:off x="4338218" y="3840480"/>
            <a:ext cx="3515258" cy="1371600"/>
          </a:xfrm>
          <a:prstGeom prst="roundRect">
            <a:avLst>
              <a:gd name="adj" fmla="val 8000"/>
            </a:avLst>
          </a:prstGeom>
          <a:solidFill>
            <a:srgbClr val="2A5F5A"/>
          </a:solidFill>
          <a:ln w="12700">
            <a:solidFill>
              <a:srgbClr val="2A5F5A"/>
            </a:solidFill>
            <a:prstDash val="solid"/>
          </a:ln>
        </p:spPr>
      </p:sp>
      <p:sp>
        <p:nvSpPr>
          <p:cNvPr id="9" name="Text 6"/>
          <p:cNvSpPr txBox="1"/>
          <p:nvPr/>
        </p:nvSpPr>
        <p:spPr>
          <a:xfrm>
            <a:off x="4566818"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이해충돌은 숨기지 않는다</a:t>
            </a:r>
            <a:endParaRPr lang="en-US" sz="2000" dirty="0"/>
          </a:p>
        </p:txBody>
      </p:sp>
      <p:sp>
        <p:nvSpPr>
          <p:cNvPr id="10" name="Shape 7"/>
          <p:cNvSpPr/>
          <p:nvPr/>
        </p:nvSpPr>
        <p:spPr>
          <a:xfrm>
            <a:off x="8127797" y="3840480"/>
            <a:ext cx="3515258" cy="1371600"/>
          </a:xfrm>
          <a:prstGeom prst="roundRect">
            <a:avLst>
              <a:gd name="adj" fmla="val 8000"/>
            </a:avLst>
          </a:prstGeom>
          <a:solidFill>
            <a:srgbClr val="2A5F5A"/>
          </a:solidFill>
          <a:ln w="12700">
            <a:solidFill>
              <a:srgbClr val="2A5F5A"/>
            </a:solidFill>
            <a:prstDash val="solid"/>
          </a:ln>
        </p:spPr>
      </p:sp>
      <p:sp>
        <p:nvSpPr>
          <p:cNvPr id="11" name="Text 8"/>
          <p:cNvSpPr txBox="1"/>
          <p:nvPr/>
        </p:nvSpPr>
        <p:spPr>
          <a:xfrm>
            <a:off x="8356397"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딜레마는 혼자 판단하지 않는다 — 5단계</a:t>
            </a:r>
            <a:endParaRPr lang="en-US" sz="2000" dirty="0"/>
          </a:p>
        </p:txBody>
      </p:sp>
      <p:sp>
        <p:nvSpPr>
          <p:cNvPr id="12" name="Text 9"/>
          <p:cNvSpPr txBox="1"/>
          <p:nvPr/>
        </p:nvSpPr>
        <p:spPr>
          <a:xfrm>
            <a:off x="548640" y="5623560"/>
            <a:ext cx="11094415" cy="411480"/>
          </a:xfrm>
          <a:prstGeom prst="rect">
            <a:avLst/>
          </a:prstGeom>
          <a:noFill/>
          <a:ln/>
        </p:spPr>
        <p:txBody>
          <a:bodyPr wrap="square" lIns="0" tIns="0" rIns="0" bIns="0" rtlCol="0" anchor="t"/>
          <a:lstStyle/>
          <a:p>
            <a:pPr algn="ctr" indent="0" marL="0">
              <a:buNone/>
            </a:pPr>
            <a:r>
              <a:rPr lang="en-US" sz="1500" dirty="0">
                <a:solidFill>
                  <a:srgbClr val="CFE3DC"/>
                </a:solidFill>
              </a:rPr>
              <a:t>다음  ▸  3교시 — 검정 준비와 과정 마무리</a:t>
            </a:r>
            <a:endParaRPr lang="en-US" sz="15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1737360"/>
            <a:ext cx="5486400" cy="548640"/>
          </a:xfrm>
          <a:prstGeom prst="rect">
            <a:avLst/>
          </a:prstGeom>
          <a:noFill/>
          <a:ln/>
        </p:spPr>
        <p:txBody>
          <a:bodyPr wrap="square" lIns="0" tIns="0" rIns="0" bIns="0" rtlCol="0" anchor="t"/>
          <a:lstStyle/>
          <a:p>
            <a:pPr indent="0" marL="0">
              <a:buNone/>
            </a:pPr>
            <a:r>
              <a:rPr lang="en-US" sz="2200" b="1" dirty="0">
                <a:solidFill>
                  <a:srgbClr val="8FB9A8"/>
                </a:solidFill>
              </a:rPr>
              <a:t>3교시</a:t>
            </a:r>
            <a:endParaRPr lang="en-US" sz="2200" dirty="0"/>
          </a:p>
        </p:txBody>
      </p:sp>
      <p:sp>
        <p:nvSpPr>
          <p:cNvPr id="3" name="Text 0"/>
          <p:cNvSpPr/>
          <p:nvPr>
            <p:ph idx="100" type="title" hasCustomPrompt="1"/>
          </p:nvPr>
        </p:nvSpPr>
        <p:spPr>
          <a:xfrm>
            <a:off x="548640" y="2651760"/>
            <a:ext cx="11094415" cy="1005840"/>
          </a:xfrm>
          <a:prstGeom prst="rect">
            <a:avLst/>
          </a:prstGeom>
          <a:noFill/>
          <a:ln/>
        </p:spPr>
        <p:txBody>
          <a:bodyPr wrap="square" lIns="0" tIns="0" rIns="0" bIns="0" rtlCol="0" anchor="t"/>
          <a:lstStyle/>
          <a:p>
            <a:pPr algn="l" indent="0" marL="0">
              <a:buNone/>
            </a:pPr>
            <a:r>
              <a:rPr lang="en-US" sz="4000" b="1" dirty="0">
                <a:solidFill>
                  <a:srgbClr val="FFFFFF"/>
                </a:solidFill>
              </a:rPr>
              <a:t>검정 준비와 지속성장</a:t>
            </a:r>
            <a:endParaRPr lang="en-US" sz="4000" dirty="0"/>
          </a:p>
        </p:txBody>
      </p:sp>
      <p:sp>
        <p:nvSpPr>
          <p:cNvPr id="4" name="Text 2"/>
          <p:cNvSpPr txBox="1"/>
          <p:nvPr/>
        </p:nvSpPr>
        <p:spPr>
          <a:xfrm>
            <a:off x="548640" y="3749040"/>
            <a:ext cx="11094415" cy="548640"/>
          </a:xfrm>
          <a:prstGeom prst="rect">
            <a:avLst/>
          </a:prstGeom>
          <a:noFill/>
          <a:ln/>
        </p:spPr>
        <p:txBody>
          <a:bodyPr wrap="square" lIns="0" tIns="0" rIns="0" bIns="0" rtlCol="0" anchor="t"/>
          <a:lstStyle/>
          <a:p>
            <a:pPr indent="0" marL="0">
              <a:buNone/>
            </a:pPr>
            <a:r>
              <a:rPr lang="en-US" sz="2000" dirty="0">
                <a:solidFill>
                  <a:srgbClr val="CFE3DC"/>
                </a:solidFill>
              </a:rPr>
              <a:t>자격은 시작일 뿐이다</a:t>
            </a:r>
            <a:endParaRPr lang="en-US" sz="2000" dirty="0"/>
          </a:p>
        </p:txBody>
      </p:sp>
      <p:sp>
        <p:nvSpPr>
          <p:cNvPr id="5" name="Text 3"/>
          <p:cNvSpPr txBox="1"/>
          <p:nvPr/>
        </p:nvSpPr>
        <p:spPr>
          <a:xfrm>
            <a:off x="548640" y="4480560"/>
            <a:ext cx="11094415" cy="164592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FFFFFF"/>
                </a:solidFill>
              </a:rPr>
              <a:t>지속성장 · 성장 로드맵 · 자격 유지</a:t>
            </a:r>
            <a:endParaRPr lang="en-US" sz="1900" dirty="0"/>
          </a:p>
          <a:p>
            <a:pPr marL="342900" indent="-342900">
              <a:spcAft>
                <a:spcPts val="600"/>
              </a:spcAft>
              <a:buSzPct val="100000"/>
              <a:buChar char="•"/>
            </a:pPr>
            <a:r>
              <a:rPr lang="en-US" sz="1900" dirty="0">
                <a:solidFill>
                  <a:srgbClr val="FFFFFF"/>
                </a:solidFill>
              </a:rPr>
              <a:t>실기시험 기획서 · 축약 시연</a:t>
            </a:r>
            <a:endParaRPr lang="en-US" sz="1900" dirty="0"/>
          </a:p>
          <a:p>
            <a:pPr marL="342900" indent="-342900">
              <a:spcAft>
                <a:spcPts val="600"/>
              </a:spcAft>
              <a:buSzPct val="100000"/>
              <a:buChar char="•"/>
            </a:pPr>
            <a:r>
              <a:rPr lang="en-US" sz="1900" dirty="0">
                <a:solidFill>
                  <a:srgbClr val="FFFFFF"/>
                </a:solidFill>
              </a:rPr>
              <a:t>윤리 위험지도 · 1년 전문성 개발계획 · 퀴즈</a:t>
            </a:r>
            <a:endParaRPr lang="en-US" sz="19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19절 자격 이후의 지속성장</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수퍼비전과 지속교육</a:t>
            </a:r>
            <a:endParaRPr lang="en-US" sz="28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560320"/>
                <a:gridCol w="8503920"/>
              </a:tblGrid>
              <a:tr h="457200">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성장영역</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실천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법·제도 업데이트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연명의료·장사·상속·개인정보 등 공식자료 정기 확인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사례역량</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정기 사례회의·수퍼비전 참여</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코칭기술</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질문·경청·그룹퍼실리테이션 연습</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전문분야</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애도·노년·생애설계·교육 등 심화학습</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자기성찰</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감정노트·역전이·공감피로 점검</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네트워크</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의료·법률·복지·장례·정신건강 연계망 갱신</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교육품질</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평가자료를 바탕으로 프로그램 개선</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20~21절 성장 로드맵과 자격 유지</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연차가 아니라 축적이 전문성을 만든다</a:t>
            </a:r>
            <a:endParaRPr lang="en-US" sz="2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194560"/>
                <a:gridCol w="4023360"/>
                <a:gridCol w="4846320"/>
              </a:tblGrid>
              <a:tr h="457200">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단계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핵심 목표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권장 경험</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자격취득 직후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표준교재와 역할경계에 충실</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동료 역할극, 보조강사, 소규모 실습</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초기 실무</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안전한 사례경험 축적</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정기 수퍼비전, 사례기록, 공동진행</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숙련</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대상별 프로그램과 지역연계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기관강의, 프로그램 평가, 사례발표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전문화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관심영역 심화와 후배 지원</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심화교육, 교재개발, 멘토링</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리더십</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윤리·품질·교육체계 발전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수퍼비전 역량, 강사양성</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303520"/>
            <a:ext cx="11094415" cy="868680"/>
          </a:xfrm>
          <a:prstGeom prst="roundRect">
            <a:avLst>
              <a:gd name="adj" fmla="val 12632"/>
            </a:avLst>
          </a:prstGeom>
          <a:solidFill>
            <a:srgbClr val="FDF1DC"/>
          </a:solidFill>
          <a:ln w="12700">
            <a:solidFill>
              <a:srgbClr val="FDF1DC"/>
            </a:solidFill>
            <a:prstDash val="solid"/>
          </a:ln>
        </p:spPr>
      </p:sp>
      <p:sp>
        <p:nvSpPr>
          <p:cNvPr id="6" name="Shape 3"/>
          <p:cNvSpPr/>
          <p:nvPr/>
        </p:nvSpPr>
        <p:spPr>
          <a:xfrm>
            <a:off x="777240" y="5509260"/>
            <a:ext cx="457200" cy="457200"/>
          </a:xfrm>
          <a:prstGeom prst="ellipse">
            <a:avLst/>
          </a:prstGeom>
          <a:solidFill>
            <a:srgbClr val="D98E04"/>
          </a:solidFill>
          <a:ln w="12700">
            <a:solidFill>
              <a:srgbClr val="D98E04"/>
            </a:solidFill>
            <a:prstDash val="solid"/>
          </a:ln>
        </p:spPr>
      </p:sp>
      <p:pic>
        <p:nvPicPr>
          <p:cNvPr id="7"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8" name="Text 4"/>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D98E04"/>
                </a:solidFill>
              </a:rPr>
              <a:t>자격 유지   </a:t>
            </a:r>
            <a:pPr indent="0" marL="0">
              <a:buNone/>
            </a:pPr>
            <a:r>
              <a:rPr lang="en-US" sz="1800" dirty="0">
                <a:solidFill>
                  <a:srgbClr val="222222"/>
                </a:solidFill>
              </a:rPr>
              <a:t>유효기간·보수교육·갱신·정지·취소는 삶잇다협동조합 및 자격관리기관의 최신 규정을 우선합니다.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24.1 실습 1</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실기시험 기획서</a:t>
            </a:r>
            <a:endParaRPr lang="en-US" sz="2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3108960"/>
                <a:gridCol w="7955280"/>
              </a:tblGrid>
              <a:tr h="457200">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항목</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작성</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주제 · 대상</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도입 3분 (라포·질문)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핵심 메시지</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전개 7분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실습 3분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마무리 2분 (다음 행동)</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역할경계·연계 포인트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축약 시연</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3분 미니 시연</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400" b="1" dirty="0">
                <a:solidFill>
                  <a:srgbClr val="1F4E4A"/>
                </a:solidFill>
              </a:rPr>
              <a:t>기획서의 “도입 + 핵심 메시지 + 마무리”만 3분으로 줄여 짝 앞에서 시연합니다.</a:t>
            </a:r>
            <a:endParaRPr lang="en-US" sz="24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990600"/>
          </a:xfrm>
          <a:prstGeom prst="rect">
            <a:avLst/>
          </a:prstGeom>
          <a:noFill/>
          <a:ln/>
        </p:spPr>
        <p:txBody>
          <a:bodyPr wrap="square" lIns="0" tIns="0" rIns="0" bIns="0" rtlCol="0" anchor="t"/>
          <a:lstStyle/>
          <a:p>
            <a:pPr indent="0" marL="0">
              <a:buNone/>
            </a:pPr>
            <a:r>
              <a:rPr lang="en-US" sz="2100" dirty="0">
                <a:solidFill>
                  <a:srgbClr val="222222"/>
                </a:solidFill>
              </a:rPr>
              <a:t>A가 3분 시연, B는 실기 관찰 포인트 6가지로 체크합니다.</a:t>
            </a:r>
            <a:endParaRPr lang="en-US" sz="2100" dirty="0"/>
          </a:p>
        </p:txBody>
      </p:sp>
      <p:sp>
        <p:nvSpPr>
          <p:cNvPr id="9" name="Shape 7"/>
          <p:cNvSpPr/>
          <p:nvPr/>
        </p:nvSpPr>
        <p:spPr>
          <a:xfrm>
            <a:off x="822960" y="388924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38892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3870960"/>
            <a:ext cx="6309360" cy="990600"/>
          </a:xfrm>
          <a:prstGeom prst="rect">
            <a:avLst/>
          </a:prstGeom>
          <a:noFill/>
          <a:ln/>
        </p:spPr>
        <p:txBody>
          <a:bodyPr wrap="square" lIns="0" tIns="0" rIns="0" bIns="0" rtlCol="0" anchor="t"/>
          <a:lstStyle/>
          <a:p>
            <a:pPr indent="0" marL="0">
              <a:buNone/>
            </a:pPr>
            <a:r>
              <a:rPr lang="en-US" sz="2100" dirty="0">
                <a:solidFill>
                  <a:srgbClr val="222222"/>
                </a:solidFill>
              </a:rPr>
              <a:t>B가 “잘한 점 1 + 보완할 점 1”을 1분 피드백합니다.</a:t>
            </a:r>
            <a:endParaRPr lang="en-US" sz="2100" dirty="0"/>
          </a:p>
        </p:txBody>
      </p:sp>
      <p:sp>
        <p:nvSpPr>
          <p:cNvPr id="12" name="Shape 10"/>
          <p:cNvSpPr/>
          <p:nvPr/>
        </p:nvSpPr>
        <p:spPr>
          <a:xfrm>
            <a:off x="822960" y="4925568"/>
            <a:ext cx="384048" cy="384048"/>
          </a:xfrm>
          <a:prstGeom prst="ellipse">
            <a:avLst/>
          </a:prstGeom>
          <a:solidFill>
            <a:srgbClr val="2E7D6B"/>
          </a:solidFill>
          <a:ln w="12700">
            <a:solidFill>
              <a:srgbClr val="2E7D6B"/>
            </a:solidFill>
            <a:prstDash val="solid"/>
          </a:ln>
        </p:spPr>
      </p:sp>
      <p:sp>
        <p:nvSpPr>
          <p:cNvPr id="13" name="Text 11"/>
          <p:cNvSpPr txBox="1"/>
          <p:nvPr/>
        </p:nvSpPr>
        <p:spPr>
          <a:xfrm>
            <a:off x="822960" y="4925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371600" y="4907280"/>
            <a:ext cx="6309360" cy="990600"/>
          </a:xfrm>
          <a:prstGeom prst="rect">
            <a:avLst/>
          </a:prstGeom>
          <a:noFill/>
          <a:ln/>
        </p:spPr>
        <p:txBody>
          <a:bodyPr wrap="square" lIns="0" tIns="0" rIns="0" bIns="0" rtlCol="0" anchor="t"/>
          <a:lstStyle/>
          <a:p>
            <a:pPr indent="0" marL="0">
              <a:buNone/>
            </a:pPr>
            <a:r>
              <a:rPr lang="en-US" sz="2100" dirty="0">
                <a:solidFill>
                  <a:srgbClr val="222222"/>
                </a:solidFill>
              </a:rPr>
              <a:t>역할을 바꿉니다.</a:t>
            </a:r>
            <a:endParaRPr lang="en-US" sz="2100" dirty="0"/>
          </a:p>
        </p:txBody>
      </p:sp>
      <p:sp>
        <p:nvSpPr>
          <p:cNvPr id="15" name="Shape 13"/>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6" name="Shape 14"/>
          <p:cNvSpPr/>
          <p:nvPr/>
        </p:nvSpPr>
        <p:spPr>
          <a:xfrm>
            <a:off x="8430768" y="1755648"/>
            <a:ext cx="457200" cy="457200"/>
          </a:xfrm>
          <a:prstGeom prst="ellipse">
            <a:avLst/>
          </a:prstGeom>
          <a:solidFill>
            <a:srgbClr val="D98E04"/>
          </a:solidFill>
          <a:ln w="12700">
            <a:solidFill>
              <a:srgbClr val="D98E04"/>
            </a:solidFill>
            <a:prstDash val="solid"/>
          </a:ln>
        </p:spPr>
      </p:sp>
      <p:pic>
        <p:nvPicPr>
          <p:cNvPr id="17"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18" name="Text 15"/>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19" name="Text 16"/>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10분</a:t>
            </a:r>
            <a:endParaRPr lang="en-US" sz="2800" dirty="0"/>
          </a:p>
        </p:txBody>
      </p:sp>
      <p:sp>
        <p:nvSpPr>
          <p:cNvPr id="20" name="Shape 17"/>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Shape 18"/>
          <p:cNvSpPr/>
          <p:nvPr/>
        </p:nvSpPr>
        <p:spPr>
          <a:xfrm>
            <a:off x="8430768" y="3328416"/>
            <a:ext cx="457200" cy="457200"/>
          </a:xfrm>
          <a:prstGeom prst="ellipse">
            <a:avLst/>
          </a:prstGeom>
          <a:solidFill>
            <a:srgbClr val="2E7D6B"/>
          </a:solidFill>
          <a:ln w="12700">
            <a:solidFill>
              <a:srgbClr val="2E7D6B"/>
            </a:solidFill>
            <a:prstDash val="solid"/>
          </a:ln>
        </p:spPr>
      </p:sp>
      <p:pic>
        <p:nvPicPr>
          <p:cNvPr id="22"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3" name="Text 19"/>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4" name="Text 20"/>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2인 1조</a:t>
            </a:r>
            <a:endParaRPr lang="en-US" sz="1800" dirty="0"/>
          </a:p>
        </p:txBody>
      </p:sp>
      <p:sp>
        <p:nvSpPr>
          <p:cNvPr id="25" name="Shape 21"/>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6" name="Shape 22"/>
          <p:cNvSpPr/>
          <p:nvPr/>
        </p:nvSpPr>
        <p:spPr>
          <a:xfrm>
            <a:off x="8430768" y="4901184"/>
            <a:ext cx="457200" cy="457200"/>
          </a:xfrm>
          <a:prstGeom prst="ellipse">
            <a:avLst/>
          </a:prstGeom>
          <a:solidFill>
            <a:srgbClr val="2E7D6B"/>
          </a:solidFill>
          <a:ln w="12700">
            <a:solidFill>
              <a:srgbClr val="2E7D6B"/>
            </a:solidFill>
            <a:prstDash val="solid"/>
          </a:ln>
        </p:spPr>
      </p:sp>
      <p:pic>
        <p:nvPicPr>
          <p:cNvPr id="27"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28" name="Text 23"/>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29" name="Text 24"/>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보완할 점 1가지</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24.4 실습 4</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나의 윤리 위험지도</a:t>
            </a:r>
            <a:endParaRPr lang="en-US" sz="2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3840480"/>
                <a:gridCol w="3291840"/>
                <a:gridCol w="3931920"/>
              </a:tblGrid>
              <a:tr h="457200">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내가 취약할 수 있는 상황</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위험</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예방방법</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가족·지인 코칭</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장례·상품 추천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나와 비슷한 상실사례</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야간 위기 연락</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개인 메신저 사례기록</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강의 중 실제 사례 공유</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24.5 실습 5</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1년 전문성 개발계획</a:t>
            </a:r>
            <a:endParaRPr lang="en-US" sz="2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011680"/>
                <a:gridCol w="3657600"/>
                <a:gridCol w="3657600"/>
                <a:gridCol w="1737360"/>
              </a:tblGrid>
              <a:tr h="457200">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영역</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목표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실행</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기한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법·제도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코칭기술</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전문분야</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수퍼비전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지역연계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자기돌봄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OX 퀵퀴즈</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맞으면 O, 틀리면 X</a:t>
            </a:r>
            <a:endParaRPr lang="en-US" sz="2800" dirty="0"/>
          </a:p>
        </p:txBody>
      </p:sp>
      <p:sp>
        <p:nvSpPr>
          <p:cNvPr id="4" name="Shape 2"/>
          <p:cNvSpPr/>
          <p:nvPr/>
        </p:nvSpPr>
        <p:spPr>
          <a:xfrm>
            <a:off x="548640" y="1554480"/>
            <a:ext cx="11094415" cy="971550"/>
          </a:xfrm>
          <a:prstGeom prst="roundRect">
            <a:avLst>
              <a:gd name="adj" fmla="val 11294"/>
            </a:avLst>
          </a:prstGeom>
          <a:solidFill>
            <a:srgbClr val="EAF3F0"/>
          </a:solidFill>
          <a:ln w="12700">
            <a:solidFill>
              <a:srgbClr val="EAF3F0"/>
            </a:solidFill>
            <a:prstDash val="solid"/>
          </a:ln>
        </p:spPr>
      </p:sp>
      <p:sp>
        <p:nvSpPr>
          <p:cNvPr id="5" name="Shape 3"/>
          <p:cNvSpPr/>
          <p:nvPr/>
        </p:nvSpPr>
        <p:spPr>
          <a:xfrm>
            <a:off x="777240" y="1811655"/>
            <a:ext cx="457200" cy="457200"/>
          </a:xfrm>
          <a:prstGeom prst="ellipse">
            <a:avLst/>
          </a:prstGeom>
          <a:solidFill>
            <a:srgbClr val="2E7D6B"/>
          </a:solidFill>
          <a:ln w="12700">
            <a:solidFill>
              <a:srgbClr val="2E7D6B"/>
            </a:solidFill>
            <a:prstDash val="solid"/>
          </a:ln>
        </p:spPr>
      </p:sp>
      <p:sp>
        <p:nvSpPr>
          <p:cNvPr id="6" name="Text 4"/>
          <p:cNvSpPr txBox="1"/>
          <p:nvPr/>
        </p:nvSpPr>
        <p:spPr>
          <a:xfrm>
            <a:off x="777240" y="181165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463040" y="1554480"/>
            <a:ext cx="7985455" cy="971550"/>
          </a:xfrm>
          <a:prstGeom prst="rect">
            <a:avLst/>
          </a:prstGeom>
          <a:noFill/>
          <a:ln/>
        </p:spPr>
        <p:txBody>
          <a:bodyPr wrap="square" lIns="0" tIns="0" rIns="0" bIns="0" rtlCol="0" anchor="ctr"/>
          <a:lstStyle/>
          <a:p>
            <a:pPr indent="0" marL="0">
              <a:buNone/>
            </a:pPr>
            <a:r>
              <a:rPr lang="en-US" sz="2200" dirty="0">
                <a:solidFill>
                  <a:srgbClr val="222222"/>
                </a:solidFill>
              </a:rPr>
              <a:t>실기시험은 강의 전달력만 평가하므로 역할경계는 중요하지 않다.</a:t>
            </a:r>
            <a:endParaRPr lang="en-US" sz="2200" dirty="0"/>
          </a:p>
        </p:txBody>
      </p:sp>
      <p:sp>
        <p:nvSpPr>
          <p:cNvPr id="8" name="Shape 6"/>
          <p:cNvSpPr/>
          <p:nvPr/>
        </p:nvSpPr>
        <p:spPr>
          <a:xfrm>
            <a:off x="9722815" y="1720215"/>
            <a:ext cx="640080" cy="640080"/>
          </a:xfrm>
          <a:prstGeom prst="ellipse">
            <a:avLst/>
          </a:prstGeom>
          <a:solidFill>
            <a:srgbClr val="FFFFFF"/>
          </a:solidFill>
          <a:ln w="25400">
            <a:solidFill>
              <a:srgbClr val="3A6EA5"/>
            </a:solidFill>
            <a:prstDash val="solid"/>
          </a:ln>
        </p:spPr>
      </p:sp>
      <p:sp>
        <p:nvSpPr>
          <p:cNvPr id="9" name="Text 7"/>
          <p:cNvSpPr txBox="1"/>
          <p:nvPr/>
        </p:nvSpPr>
        <p:spPr>
          <a:xfrm>
            <a:off x="9722815" y="1720215"/>
            <a:ext cx="640080" cy="640080"/>
          </a:xfrm>
          <a:prstGeom prst="rect">
            <a:avLst/>
          </a:prstGeom>
          <a:noFill/>
          <a:ln/>
        </p:spPr>
        <p:txBody>
          <a:bodyPr wrap="square" lIns="0" tIns="0" rIns="0" bIns="0" rtlCol="0" anchor="ctr"/>
          <a:lstStyle/>
          <a:p>
            <a:pPr algn="ctr" indent="0" marL="0">
              <a:buNone/>
            </a:pPr>
            <a:r>
              <a:rPr lang="en-US" sz="2200" b="1" dirty="0">
                <a:solidFill>
                  <a:srgbClr val="3A6EA5"/>
                </a:solidFill>
              </a:rPr>
              <a:t>O</a:t>
            </a:r>
            <a:endParaRPr lang="en-US" sz="2200" dirty="0"/>
          </a:p>
        </p:txBody>
      </p:sp>
      <p:sp>
        <p:nvSpPr>
          <p:cNvPr id="10" name="Shape 8"/>
          <p:cNvSpPr/>
          <p:nvPr/>
        </p:nvSpPr>
        <p:spPr>
          <a:xfrm>
            <a:off x="10637215" y="1720215"/>
            <a:ext cx="640080" cy="640080"/>
          </a:xfrm>
          <a:prstGeom prst="ellipse">
            <a:avLst/>
          </a:prstGeom>
          <a:solidFill>
            <a:srgbClr val="FFFFFF"/>
          </a:solidFill>
          <a:ln w="25400">
            <a:solidFill>
              <a:srgbClr val="B5452F"/>
            </a:solidFill>
            <a:prstDash val="solid"/>
          </a:ln>
        </p:spPr>
      </p:sp>
      <p:sp>
        <p:nvSpPr>
          <p:cNvPr id="11" name="Text 9"/>
          <p:cNvSpPr txBox="1"/>
          <p:nvPr/>
        </p:nvSpPr>
        <p:spPr>
          <a:xfrm>
            <a:off x="10637215" y="1720215"/>
            <a:ext cx="640080" cy="640080"/>
          </a:xfrm>
          <a:prstGeom prst="rect">
            <a:avLst/>
          </a:prstGeom>
          <a:noFill/>
          <a:ln/>
        </p:spPr>
        <p:txBody>
          <a:bodyPr wrap="square" lIns="0" tIns="0" rIns="0" bIns="0" rtlCol="0" anchor="ctr"/>
          <a:lstStyle/>
          <a:p>
            <a:pPr algn="ctr" indent="0" marL="0">
              <a:buNone/>
            </a:pPr>
            <a:r>
              <a:rPr lang="en-US" sz="2200" b="1" dirty="0">
                <a:solidFill>
                  <a:srgbClr val="B5452F"/>
                </a:solidFill>
              </a:rPr>
              <a:t>X</a:t>
            </a:r>
            <a:endParaRPr lang="en-US" sz="2200" dirty="0"/>
          </a:p>
        </p:txBody>
      </p:sp>
      <p:sp>
        <p:nvSpPr>
          <p:cNvPr id="12" name="Shape 10"/>
          <p:cNvSpPr/>
          <p:nvPr/>
        </p:nvSpPr>
        <p:spPr>
          <a:xfrm>
            <a:off x="548640" y="2708910"/>
            <a:ext cx="11094415" cy="971550"/>
          </a:xfrm>
          <a:prstGeom prst="roundRect">
            <a:avLst>
              <a:gd name="adj" fmla="val 11294"/>
            </a:avLst>
          </a:prstGeom>
          <a:solidFill>
            <a:srgbClr val="FFFFFF"/>
          </a:solidFill>
          <a:ln w="12700">
            <a:solidFill>
              <a:srgbClr val="FFFFFF"/>
            </a:solidFill>
            <a:prstDash val="solid"/>
          </a:ln>
        </p:spPr>
      </p:sp>
      <p:sp>
        <p:nvSpPr>
          <p:cNvPr id="13" name="Shape 11"/>
          <p:cNvSpPr/>
          <p:nvPr/>
        </p:nvSpPr>
        <p:spPr>
          <a:xfrm>
            <a:off x="777240" y="2966085"/>
            <a:ext cx="457200" cy="457200"/>
          </a:xfrm>
          <a:prstGeom prst="ellipse">
            <a:avLst/>
          </a:prstGeom>
          <a:solidFill>
            <a:srgbClr val="2E7D6B"/>
          </a:solidFill>
          <a:ln w="12700">
            <a:solidFill>
              <a:srgbClr val="2E7D6B"/>
            </a:solidFill>
            <a:prstDash val="solid"/>
          </a:ln>
        </p:spPr>
      </p:sp>
      <p:sp>
        <p:nvSpPr>
          <p:cNvPr id="14" name="Text 12"/>
          <p:cNvSpPr txBox="1"/>
          <p:nvPr/>
        </p:nvSpPr>
        <p:spPr>
          <a:xfrm>
            <a:off x="777240" y="296608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5" name="Text 13"/>
          <p:cNvSpPr txBox="1"/>
          <p:nvPr/>
        </p:nvSpPr>
        <p:spPr>
          <a:xfrm>
            <a:off x="1463040" y="2708910"/>
            <a:ext cx="7985455" cy="971550"/>
          </a:xfrm>
          <a:prstGeom prst="rect">
            <a:avLst/>
          </a:prstGeom>
          <a:noFill/>
          <a:ln/>
        </p:spPr>
        <p:txBody>
          <a:bodyPr wrap="square" lIns="0" tIns="0" rIns="0" bIns="0" rtlCol="0" anchor="ctr"/>
          <a:lstStyle/>
          <a:p>
            <a:pPr indent="0" marL="0">
              <a:buNone/>
            </a:pPr>
            <a:r>
              <a:rPr lang="en-US" sz="2200" dirty="0">
                <a:solidFill>
                  <a:srgbClr val="222222"/>
                </a:solidFill>
              </a:rPr>
              <a:t>자살위험이 의심되어도 비밀유지 원칙 때문에 누구에게도 알려서는 안 된다.</a:t>
            </a:r>
            <a:endParaRPr lang="en-US" sz="2200" dirty="0"/>
          </a:p>
        </p:txBody>
      </p:sp>
      <p:sp>
        <p:nvSpPr>
          <p:cNvPr id="16" name="Shape 14"/>
          <p:cNvSpPr/>
          <p:nvPr/>
        </p:nvSpPr>
        <p:spPr>
          <a:xfrm>
            <a:off x="9722815" y="2874645"/>
            <a:ext cx="640080" cy="640080"/>
          </a:xfrm>
          <a:prstGeom prst="ellipse">
            <a:avLst/>
          </a:prstGeom>
          <a:solidFill>
            <a:srgbClr val="FFFFFF"/>
          </a:solidFill>
          <a:ln w="25400">
            <a:solidFill>
              <a:srgbClr val="3A6EA5"/>
            </a:solidFill>
            <a:prstDash val="solid"/>
          </a:ln>
        </p:spPr>
      </p:sp>
      <p:sp>
        <p:nvSpPr>
          <p:cNvPr id="17" name="Text 15"/>
          <p:cNvSpPr txBox="1"/>
          <p:nvPr/>
        </p:nvSpPr>
        <p:spPr>
          <a:xfrm>
            <a:off x="9722815" y="2874645"/>
            <a:ext cx="640080" cy="640080"/>
          </a:xfrm>
          <a:prstGeom prst="rect">
            <a:avLst/>
          </a:prstGeom>
          <a:noFill/>
          <a:ln/>
        </p:spPr>
        <p:txBody>
          <a:bodyPr wrap="square" lIns="0" tIns="0" rIns="0" bIns="0" rtlCol="0" anchor="ctr"/>
          <a:lstStyle/>
          <a:p>
            <a:pPr algn="ctr" indent="0" marL="0">
              <a:buNone/>
            </a:pPr>
            <a:r>
              <a:rPr lang="en-US" sz="2200" b="1" dirty="0">
                <a:solidFill>
                  <a:srgbClr val="3A6EA5"/>
                </a:solidFill>
              </a:rPr>
              <a:t>O</a:t>
            </a:r>
            <a:endParaRPr lang="en-US" sz="2200" dirty="0"/>
          </a:p>
        </p:txBody>
      </p:sp>
      <p:sp>
        <p:nvSpPr>
          <p:cNvPr id="18" name="Shape 16"/>
          <p:cNvSpPr/>
          <p:nvPr/>
        </p:nvSpPr>
        <p:spPr>
          <a:xfrm>
            <a:off x="10637215" y="2874645"/>
            <a:ext cx="640080" cy="640080"/>
          </a:xfrm>
          <a:prstGeom prst="ellipse">
            <a:avLst/>
          </a:prstGeom>
          <a:solidFill>
            <a:srgbClr val="FFFFFF"/>
          </a:solidFill>
          <a:ln w="25400">
            <a:solidFill>
              <a:srgbClr val="B5452F"/>
            </a:solidFill>
            <a:prstDash val="solid"/>
          </a:ln>
        </p:spPr>
      </p:sp>
      <p:sp>
        <p:nvSpPr>
          <p:cNvPr id="19" name="Text 17"/>
          <p:cNvSpPr txBox="1"/>
          <p:nvPr/>
        </p:nvSpPr>
        <p:spPr>
          <a:xfrm>
            <a:off x="10637215" y="2874645"/>
            <a:ext cx="640080" cy="640080"/>
          </a:xfrm>
          <a:prstGeom prst="rect">
            <a:avLst/>
          </a:prstGeom>
          <a:noFill/>
          <a:ln/>
        </p:spPr>
        <p:txBody>
          <a:bodyPr wrap="square" lIns="0" tIns="0" rIns="0" bIns="0" rtlCol="0" anchor="ctr"/>
          <a:lstStyle/>
          <a:p>
            <a:pPr algn="ctr" indent="0" marL="0">
              <a:buNone/>
            </a:pPr>
            <a:r>
              <a:rPr lang="en-US" sz="2200" b="1" dirty="0">
                <a:solidFill>
                  <a:srgbClr val="B5452F"/>
                </a:solidFill>
              </a:rPr>
              <a:t>X</a:t>
            </a:r>
            <a:endParaRPr lang="en-US" sz="2200" dirty="0"/>
          </a:p>
        </p:txBody>
      </p:sp>
      <p:sp>
        <p:nvSpPr>
          <p:cNvPr id="20" name="Shape 18"/>
          <p:cNvSpPr/>
          <p:nvPr/>
        </p:nvSpPr>
        <p:spPr>
          <a:xfrm>
            <a:off x="548640" y="3863340"/>
            <a:ext cx="11094415" cy="971550"/>
          </a:xfrm>
          <a:prstGeom prst="roundRect">
            <a:avLst>
              <a:gd name="adj" fmla="val 11294"/>
            </a:avLst>
          </a:prstGeom>
          <a:solidFill>
            <a:srgbClr val="EAF3F0"/>
          </a:solidFill>
          <a:ln w="12700">
            <a:solidFill>
              <a:srgbClr val="EAF3F0"/>
            </a:solidFill>
            <a:prstDash val="solid"/>
          </a:ln>
        </p:spPr>
      </p:sp>
      <p:sp>
        <p:nvSpPr>
          <p:cNvPr id="21" name="Shape 19"/>
          <p:cNvSpPr/>
          <p:nvPr/>
        </p:nvSpPr>
        <p:spPr>
          <a:xfrm>
            <a:off x="777240" y="4120515"/>
            <a:ext cx="457200" cy="457200"/>
          </a:xfrm>
          <a:prstGeom prst="ellipse">
            <a:avLst/>
          </a:prstGeom>
          <a:solidFill>
            <a:srgbClr val="2E7D6B"/>
          </a:solidFill>
          <a:ln w="12700">
            <a:solidFill>
              <a:srgbClr val="2E7D6B"/>
            </a:solidFill>
            <a:prstDash val="solid"/>
          </a:ln>
        </p:spPr>
      </p:sp>
      <p:sp>
        <p:nvSpPr>
          <p:cNvPr id="22" name="Text 20"/>
          <p:cNvSpPr txBox="1"/>
          <p:nvPr/>
        </p:nvSpPr>
        <p:spPr>
          <a:xfrm>
            <a:off x="777240" y="412051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3" name="Text 21"/>
          <p:cNvSpPr txBox="1"/>
          <p:nvPr/>
        </p:nvSpPr>
        <p:spPr>
          <a:xfrm>
            <a:off x="1463040" y="3863340"/>
            <a:ext cx="7985455" cy="971550"/>
          </a:xfrm>
          <a:prstGeom prst="rect">
            <a:avLst/>
          </a:prstGeom>
          <a:noFill/>
          <a:ln/>
        </p:spPr>
        <p:txBody>
          <a:bodyPr wrap="square" lIns="0" tIns="0" rIns="0" bIns="0" rtlCol="0" anchor="ctr"/>
          <a:lstStyle/>
          <a:p>
            <a:pPr indent="0" marL="0">
              <a:buNone/>
            </a:pPr>
            <a:r>
              <a:rPr lang="en-US" sz="2200" dirty="0">
                <a:solidFill>
                  <a:srgbClr val="222222"/>
                </a:solidFill>
              </a:rPr>
              <a:t>식별 가능한 내담자 사례를 공개형 AI에 그대로 입력하지 않는다.</a:t>
            </a:r>
            <a:endParaRPr lang="en-US" sz="2200" dirty="0"/>
          </a:p>
        </p:txBody>
      </p:sp>
      <p:sp>
        <p:nvSpPr>
          <p:cNvPr id="24" name="Shape 22"/>
          <p:cNvSpPr/>
          <p:nvPr/>
        </p:nvSpPr>
        <p:spPr>
          <a:xfrm>
            <a:off x="9722815" y="4029075"/>
            <a:ext cx="640080" cy="640080"/>
          </a:xfrm>
          <a:prstGeom prst="ellipse">
            <a:avLst/>
          </a:prstGeom>
          <a:solidFill>
            <a:srgbClr val="FFFFFF"/>
          </a:solidFill>
          <a:ln w="25400">
            <a:solidFill>
              <a:srgbClr val="3A6EA5"/>
            </a:solidFill>
            <a:prstDash val="solid"/>
          </a:ln>
        </p:spPr>
      </p:sp>
      <p:sp>
        <p:nvSpPr>
          <p:cNvPr id="25" name="Text 23"/>
          <p:cNvSpPr txBox="1"/>
          <p:nvPr/>
        </p:nvSpPr>
        <p:spPr>
          <a:xfrm>
            <a:off x="9722815" y="4029075"/>
            <a:ext cx="640080" cy="640080"/>
          </a:xfrm>
          <a:prstGeom prst="rect">
            <a:avLst/>
          </a:prstGeom>
          <a:noFill/>
          <a:ln/>
        </p:spPr>
        <p:txBody>
          <a:bodyPr wrap="square" lIns="0" tIns="0" rIns="0" bIns="0" rtlCol="0" anchor="ctr"/>
          <a:lstStyle/>
          <a:p>
            <a:pPr algn="ctr" indent="0" marL="0">
              <a:buNone/>
            </a:pPr>
            <a:r>
              <a:rPr lang="en-US" sz="2200" b="1" dirty="0">
                <a:solidFill>
                  <a:srgbClr val="3A6EA5"/>
                </a:solidFill>
              </a:rPr>
              <a:t>O</a:t>
            </a:r>
            <a:endParaRPr lang="en-US" sz="2200" dirty="0"/>
          </a:p>
        </p:txBody>
      </p:sp>
      <p:sp>
        <p:nvSpPr>
          <p:cNvPr id="26" name="Shape 24"/>
          <p:cNvSpPr/>
          <p:nvPr/>
        </p:nvSpPr>
        <p:spPr>
          <a:xfrm>
            <a:off x="10637215" y="4029075"/>
            <a:ext cx="640080" cy="640080"/>
          </a:xfrm>
          <a:prstGeom prst="ellipse">
            <a:avLst/>
          </a:prstGeom>
          <a:solidFill>
            <a:srgbClr val="FFFFFF"/>
          </a:solidFill>
          <a:ln w="25400">
            <a:solidFill>
              <a:srgbClr val="B5452F"/>
            </a:solidFill>
            <a:prstDash val="solid"/>
          </a:ln>
        </p:spPr>
      </p:sp>
      <p:sp>
        <p:nvSpPr>
          <p:cNvPr id="27" name="Text 25"/>
          <p:cNvSpPr txBox="1"/>
          <p:nvPr/>
        </p:nvSpPr>
        <p:spPr>
          <a:xfrm>
            <a:off x="10637215" y="4029075"/>
            <a:ext cx="640080" cy="640080"/>
          </a:xfrm>
          <a:prstGeom prst="rect">
            <a:avLst/>
          </a:prstGeom>
          <a:noFill/>
          <a:ln/>
        </p:spPr>
        <p:txBody>
          <a:bodyPr wrap="square" lIns="0" tIns="0" rIns="0" bIns="0" rtlCol="0" anchor="ctr"/>
          <a:lstStyle/>
          <a:p>
            <a:pPr algn="ctr" indent="0" marL="0">
              <a:buNone/>
            </a:pPr>
            <a:r>
              <a:rPr lang="en-US" sz="2200" b="1" dirty="0">
                <a:solidFill>
                  <a:srgbClr val="B5452F"/>
                </a:solidFill>
              </a:rPr>
              <a:t>X</a:t>
            </a:r>
            <a:endParaRPr lang="en-US" sz="2200" dirty="0"/>
          </a:p>
        </p:txBody>
      </p:sp>
      <p:sp>
        <p:nvSpPr>
          <p:cNvPr id="28" name="Shape 26"/>
          <p:cNvSpPr/>
          <p:nvPr/>
        </p:nvSpPr>
        <p:spPr>
          <a:xfrm>
            <a:off x="548640" y="5017770"/>
            <a:ext cx="11094415" cy="971550"/>
          </a:xfrm>
          <a:prstGeom prst="roundRect">
            <a:avLst>
              <a:gd name="adj" fmla="val 11294"/>
            </a:avLst>
          </a:prstGeom>
          <a:solidFill>
            <a:srgbClr val="FFFFFF"/>
          </a:solidFill>
          <a:ln w="12700">
            <a:solidFill>
              <a:srgbClr val="FFFFFF"/>
            </a:solidFill>
            <a:prstDash val="solid"/>
          </a:ln>
        </p:spPr>
      </p:sp>
      <p:sp>
        <p:nvSpPr>
          <p:cNvPr id="29" name="Shape 27"/>
          <p:cNvSpPr/>
          <p:nvPr/>
        </p:nvSpPr>
        <p:spPr>
          <a:xfrm>
            <a:off x="777240" y="5274945"/>
            <a:ext cx="457200" cy="457200"/>
          </a:xfrm>
          <a:prstGeom prst="ellipse">
            <a:avLst/>
          </a:prstGeom>
          <a:solidFill>
            <a:srgbClr val="2E7D6B"/>
          </a:solidFill>
          <a:ln w="12700">
            <a:solidFill>
              <a:srgbClr val="2E7D6B"/>
            </a:solidFill>
            <a:prstDash val="solid"/>
          </a:ln>
        </p:spPr>
      </p:sp>
      <p:sp>
        <p:nvSpPr>
          <p:cNvPr id="30" name="Text 28"/>
          <p:cNvSpPr txBox="1"/>
          <p:nvPr/>
        </p:nvSpPr>
        <p:spPr>
          <a:xfrm>
            <a:off x="777240" y="527494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31" name="Text 29"/>
          <p:cNvSpPr txBox="1"/>
          <p:nvPr/>
        </p:nvSpPr>
        <p:spPr>
          <a:xfrm>
            <a:off x="1463040" y="5017770"/>
            <a:ext cx="7985455" cy="971550"/>
          </a:xfrm>
          <a:prstGeom prst="rect">
            <a:avLst/>
          </a:prstGeom>
          <a:noFill/>
          <a:ln/>
        </p:spPr>
        <p:txBody>
          <a:bodyPr wrap="square" lIns="0" tIns="0" rIns="0" bIns="0" rtlCol="0" anchor="ctr"/>
          <a:lstStyle/>
          <a:p>
            <a:pPr indent="0" marL="0">
              <a:buNone/>
            </a:pPr>
            <a:r>
              <a:rPr lang="en-US" sz="2200" dirty="0">
                <a:solidFill>
                  <a:srgbClr val="222222"/>
                </a:solidFill>
              </a:rPr>
              <a:t>상위등급 WLC는 일정 범위에서 법률·세무 자문을 할 수 있다.</a:t>
            </a:r>
            <a:endParaRPr lang="en-US" sz="2200" dirty="0"/>
          </a:p>
        </p:txBody>
      </p:sp>
      <p:sp>
        <p:nvSpPr>
          <p:cNvPr id="32" name="Shape 30"/>
          <p:cNvSpPr/>
          <p:nvPr/>
        </p:nvSpPr>
        <p:spPr>
          <a:xfrm>
            <a:off x="9722815" y="5183505"/>
            <a:ext cx="640080" cy="640080"/>
          </a:xfrm>
          <a:prstGeom prst="ellipse">
            <a:avLst/>
          </a:prstGeom>
          <a:solidFill>
            <a:srgbClr val="FFFFFF"/>
          </a:solidFill>
          <a:ln w="25400">
            <a:solidFill>
              <a:srgbClr val="3A6EA5"/>
            </a:solidFill>
            <a:prstDash val="solid"/>
          </a:ln>
        </p:spPr>
      </p:sp>
      <p:sp>
        <p:nvSpPr>
          <p:cNvPr id="33" name="Text 31"/>
          <p:cNvSpPr txBox="1"/>
          <p:nvPr/>
        </p:nvSpPr>
        <p:spPr>
          <a:xfrm>
            <a:off x="9722815" y="5183505"/>
            <a:ext cx="640080" cy="640080"/>
          </a:xfrm>
          <a:prstGeom prst="rect">
            <a:avLst/>
          </a:prstGeom>
          <a:noFill/>
          <a:ln/>
        </p:spPr>
        <p:txBody>
          <a:bodyPr wrap="square" lIns="0" tIns="0" rIns="0" bIns="0" rtlCol="0" anchor="ctr"/>
          <a:lstStyle/>
          <a:p>
            <a:pPr algn="ctr" indent="0" marL="0">
              <a:buNone/>
            </a:pPr>
            <a:r>
              <a:rPr lang="en-US" sz="2200" b="1" dirty="0">
                <a:solidFill>
                  <a:srgbClr val="3A6EA5"/>
                </a:solidFill>
              </a:rPr>
              <a:t>O</a:t>
            </a:r>
            <a:endParaRPr lang="en-US" sz="2200" dirty="0"/>
          </a:p>
        </p:txBody>
      </p:sp>
      <p:sp>
        <p:nvSpPr>
          <p:cNvPr id="34" name="Shape 32"/>
          <p:cNvSpPr/>
          <p:nvPr/>
        </p:nvSpPr>
        <p:spPr>
          <a:xfrm>
            <a:off x="10637215" y="5183505"/>
            <a:ext cx="640080" cy="640080"/>
          </a:xfrm>
          <a:prstGeom prst="ellipse">
            <a:avLst/>
          </a:prstGeom>
          <a:solidFill>
            <a:srgbClr val="FFFFFF"/>
          </a:solidFill>
          <a:ln w="25400">
            <a:solidFill>
              <a:srgbClr val="B5452F"/>
            </a:solidFill>
            <a:prstDash val="solid"/>
          </a:ln>
        </p:spPr>
      </p:sp>
      <p:sp>
        <p:nvSpPr>
          <p:cNvPr id="35" name="Text 33"/>
          <p:cNvSpPr txBox="1"/>
          <p:nvPr/>
        </p:nvSpPr>
        <p:spPr>
          <a:xfrm>
            <a:off x="10637215" y="5183505"/>
            <a:ext cx="640080" cy="640080"/>
          </a:xfrm>
          <a:prstGeom prst="rect">
            <a:avLst/>
          </a:prstGeom>
          <a:noFill/>
          <a:ln/>
        </p:spPr>
        <p:txBody>
          <a:bodyPr wrap="square" lIns="0" tIns="0" rIns="0" bIns="0" rtlCol="0" anchor="ctr"/>
          <a:lstStyle/>
          <a:p>
            <a:pPr algn="ctr" indent="0" marL="0">
              <a:buNone/>
            </a:pPr>
            <a:r>
              <a:rPr lang="en-US" sz="2200" b="1" dirty="0">
                <a:solidFill>
                  <a:srgbClr val="B5452F"/>
                </a:solidFill>
              </a:rPr>
              <a:t>X</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1</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직무범위</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800" b="1" dirty="0">
                <a:solidFill>
                  <a:srgbClr val="1F4E4A"/>
                </a:solidFill>
              </a:rPr>
              <a:t>WLC 2급의 직무범위로 가장 적절한 것은?</a:t>
            </a:r>
            <a:endParaRPr lang="en-US" sz="28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사례지도와 후배 코치 수퍼비전</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엔딩노트·대화카드 활용, 개인·소규모 코칭, 표준교육</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상속 분쟁의 대리</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연명의료 결정의 지시</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2</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자격검정</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800" b="1" dirty="0">
                <a:solidFill>
                  <a:srgbClr val="1F4E4A"/>
                </a:solidFill>
              </a:rPr>
              <a:t>2026 WLC 2급 자격검정의 기본 배점 구조는?</a:t>
            </a:r>
            <a:endParaRPr lang="en-US" sz="28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실기 60 · 필기 40</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실기 50 · 필기 50</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실기 40 · 필기 60</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필기 100</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3</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4대 윤리원칙</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800" b="1" dirty="0">
                <a:solidFill>
                  <a:srgbClr val="1F4E4A"/>
                </a:solidFill>
              </a:rPr>
              <a:t>WLC 4대 윤리원칙에 해당하지 않는 것은?</a:t>
            </a:r>
            <a:endParaRPr lang="en-US" sz="28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비밀유지</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자기결정권</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전문적 역량</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성과 극대화</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4</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역할경계</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800" b="1" dirty="0">
                <a:solidFill>
                  <a:srgbClr val="1F4E4A"/>
                </a:solidFill>
              </a:rPr>
              <a:t>다음 중 WLC가 할 수 있는 일은?</a:t>
            </a:r>
            <a:endParaRPr lang="en-US" sz="28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정신질환 진단</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투자상품 추천</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호스피스 일반정보 안내와 의료진 질문 정리</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입관 절차 직접 수행</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5</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개인정보</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800" b="1" dirty="0">
                <a:solidFill>
                  <a:srgbClr val="1F4E4A"/>
                </a:solidFill>
              </a:rPr>
              <a:t>사례기록·개인정보 원칙으로 옳지 않은 것은?</a:t>
            </a:r>
            <a:endParaRPr lang="en-US" sz="28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코칭 목적에 필요한 최소 정보만 수집한다</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수퍼비전 사례는 식별정보를 제거한다</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사진·영상은 별도 동의를 받는다</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홍보에 도움이 되면 사례를 자유롭게 공개한다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정답과 해설</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퀴즈 정답 확인</a:t>
            </a:r>
            <a:endParaRPr lang="en-US" sz="2800" dirty="0"/>
          </a:p>
        </p:txBody>
      </p:sp>
      <p:sp>
        <p:nvSpPr>
          <p:cNvPr id="4" name="Shape 2"/>
          <p:cNvSpPr/>
          <p:nvPr/>
        </p:nvSpPr>
        <p:spPr>
          <a:xfrm>
            <a:off x="548640" y="1508760"/>
            <a:ext cx="5410048" cy="1040130"/>
          </a:xfrm>
          <a:prstGeom prst="roundRect">
            <a:avLst>
              <a:gd name="adj" fmla="val 10549"/>
            </a:avLst>
          </a:prstGeom>
          <a:solidFill>
            <a:srgbClr val="EAF3F0"/>
          </a:solidFill>
          <a:ln w="12700">
            <a:solidFill>
              <a:srgbClr val="EAF3F0"/>
            </a:solidFill>
            <a:prstDash val="solid"/>
          </a:ln>
        </p:spPr>
      </p:sp>
      <p:sp>
        <p:nvSpPr>
          <p:cNvPr id="5" name="Text 3"/>
          <p:cNvSpPr txBox="1"/>
          <p:nvPr/>
        </p:nvSpPr>
        <p:spPr>
          <a:xfrm>
            <a:off x="731520" y="150876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OX 1</a:t>
            </a:r>
            <a:endParaRPr lang="en-US" sz="1400" dirty="0"/>
          </a:p>
        </p:txBody>
      </p:sp>
      <p:sp>
        <p:nvSpPr>
          <p:cNvPr id="6" name="Text 4"/>
          <p:cNvSpPr txBox="1"/>
          <p:nvPr/>
        </p:nvSpPr>
        <p:spPr>
          <a:xfrm>
            <a:off x="1508760" y="150876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X</a:t>
            </a:r>
            <a:endParaRPr lang="en-US" sz="2200" dirty="0"/>
          </a:p>
        </p:txBody>
      </p:sp>
      <p:sp>
        <p:nvSpPr>
          <p:cNvPr id="7" name="Text 5"/>
          <p:cNvSpPr txBox="1"/>
          <p:nvPr/>
        </p:nvSpPr>
        <p:spPr>
          <a:xfrm>
            <a:off x="2331720" y="1554480"/>
            <a:ext cx="3444088" cy="948690"/>
          </a:xfrm>
          <a:prstGeom prst="rect">
            <a:avLst/>
          </a:prstGeom>
          <a:noFill/>
          <a:ln/>
        </p:spPr>
        <p:txBody>
          <a:bodyPr wrap="square" lIns="0" tIns="0" rIns="0" bIns="0" rtlCol="0" anchor="ctr"/>
          <a:lstStyle/>
          <a:p>
            <a:pPr indent="0" marL="0">
              <a:buNone/>
            </a:pPr>
            <a:r>
              <a:rPr lang="en-US" sz="1800" dirty="0">
                <a:solidFill>
                  <a:srgbClr val="222222"/>
                </a:solidFill>
              </a:rPr>
              <a:t>안전한 진행과 역할경계를 본다</a:t>
            </a:r>
            <a:endParaRPr lang="en-US" sz="1800" dirty="0"/>
          </a:p>
        </p:txBody>
      </p:sp>
      <p:sp>
        <p:nvSpPr>
          <p:cNvPr id="8" name="Shape 6"/>
          <p:cNvSpPr/>
          <p:nvPr/>
        </p:nvSpPr>
        <p:spPr>
          <a:xfrm>
            <a:off x="548640" y="2686050"/>
            <a:ext cx="5410048" cy="1040130"/>
          </a:xfrm>
          <a:prstGeom prst="roundRect">
            <a:avLst>
              <a:gd name="adj" fmla="val 10549"/>
            </a:avLst>
          </a:prstGeom>
          <a:solidFill>
            <a:srgbClr val="EAF3F0"/>
          </a:solidFill>
          <a:ln w="12700">
            <a:solidFill>
              <a:srgbClr val="EAF3F0"/>
            </a:solidFill>
            <a:prstDash val="solid"/>
          </a:ln>
        </p:spPr>
      </p:sp>
      <p:sp>
        <p:nvSpPr>
          <p:cNvPr id="9" name="Text 7"/>
          <p:cNvSpPr txBox="1"/>
          <p:nvPr/>
        </p:nvSpPr>
        <p:spPr>
          <a:xfrm>
            <a:off x="731520" y="268605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OX 2</a:t>
            </a:r>
            <a:endParaRPr lang="en-US" sz="1400" dirty="0"/>
          </a:p>
        </p:txBody>
      </p:sp>
      <p:sp>
        <p:nvSpPr>
          <p:cNvPr id="10" name="Text 8"/>
          <p:cNvSpPr txBox="1"/>
          <p:nvPr/>
        </p:nvSpPr>
        <p:spPr>
          <a:xfrm>
            <a:off x="1508760" y="268605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X</a:t>
            </a:r>
            <a:endParaRPr lang="en-US" sz="2200" dirty="0"/>
          </a:p>
        </p:txBody>
      </p:sp>
      <p:sp>
        <p:nvSpPr>
          <p:cNvPr id="11" name="Text 9"/>
          <p:cNvSpPr txBox="1"/>
          <p:nvPr/>
        </p:nvSpPr>
        <p:spPr>
          <a:xfrm>
            <a:off x="2331720" y="2731770"/>
            <a:ext cx="3444088" cy="948690"/>
          </a:xfrm>
          <a:prstGeom prst="rect">
            <a:avLst/>
          </a:prstGeom>
          <a:noFill/>
          <a:ln/>
        </p:spPr>
        <p:txBody>
          <a:bodyPr wrap="square" lIns="0" tIns="0" rIns="0" bIns="0" rtlCol="0" anchor="ctr"/>
          <a:lstStyle/>
          <a:p>
            <a:pPr indent="0" marL="0">
              <a:buNone/>
            </a:pPr>
            <a:r>
              <a:rPr lang="en-US" sz="1800" dirty="0">
                <a:solidFill>
                  <a:srgbClr val="222222"/>
                </a:solidFill>
              </a:rPr>
              <a:t>안전 우선, 최소 정보로 협력</a:t>
            </a:r>
            <a:endParaRPr lang="en-US" sz="1800" dirty="0"/>
          </a:p>
        </p:txBody>
      </p:sp>
      <p:sp>
        <p:nvSpPr>
          <p:cNvPr id="12" name="Shape 10"/>
          <p:cNvSpPr/>
          <p:nvPr/>
        </p:nvSpPr>
        <p:spPr>
          <a:xfrm>
            <a:off x="548640" y="3863340"/>
            <a:ext cx="5410048" cy="1040130"/>
          </a:xfrm>
          <a:prstGeom prst="roundRect">
            <a:avLst>
              <a:gd name="adj" fmla="val 10549"/>
            </a:avLst>
          </a:prstGeom>
          <a:solidFill>
            <a:srgbClr val="EAF3F0"/>
          </a:solidFill>
          <a:ln w="12700">
            <a:solidFill>
              <a:srgbClr val="EAF3F0"/>
            </a:solidFill>
            <a:prstDash val="solid"/>
          </a:ln>
        </p:spPr>
      </p:sp>
      <p:sp>
        <p:nvSpPr>
          <p:cNvPr id="13" name="Text 11"/>
          <p:cNvSpPr txBox="1"/>
          <p:nvPr/>
        </p:nvSpPr>
        <p:spPr>
          <a:xfrm>
            <a:off x="731520" y="386334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OX 3</a:t>
            </a:r>
            <a:endParaRPr lang="en-US" sz="1400" dirty="0"/>
          </a:p>
        </p:txBody>
      </p:sp>
      <p:sp>
        <p:nvSpPr>
          <p:cNvPr id="14" name="Text 12"/>
          <p:cNvSpPr txBox="1"/>
          <p:nvPr/>
        </p:nvSpPr>
        <p:spPr>
          <a:xfrm>
            <a:off x="1508760" y="386334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O</a:t>
            </a:r>
            <a:endParaRPr lang="en-US" sz="2200" dirty="0"/>
          </a:p>
        </p:txBody>
      </p:sp>
      <p:sp>
        <p:nvSpPr>
          <p:cNvPr id="15" name="Text 13"/>
          <p:cNvSpPr txBox="1"/>
          <p:nvPr/>
        </p:nvSpPr>
        <p:spPr>
          <a:xfrm>
            <a:off x="2331720" y="3909060"/>
            <a:ext cx="3444088" cy="948690"/>
          </a:xfrm>
          <a:prstGeom prst="rect">
            <a:avLst/>
          </a:prstGeom>
          <a:noFill/>
          <a:ln/>
        </p:spPr>
        <p:txBody>
          <a:bodyPr wrap="square" lIns="0" tIns="0" rIns="0" bIns="0" rtlCol="0" anchor="ctr"/>
          <a:lstStyle/>
          <a:p>
            <a:pPr indent="0" marL="0">
              <a:buNone/>
            </a:pPr>
            <a:r>
              <a:rPr lang="en-US" sz="1800" dirty="0">
                <a:solidFill>
                  <a:srgbClr val="222222"/>
                </a:solidFill>
              </a:rPr>
              <a:t>AI 활용 원칙</a:t>
            </a:r>
            <a:endParaRPr lang="en-US" sz="1800" dirty="0"/>
          </a:p>
        </p:txBody>
      </p:sp>
      <p:sp>
        <p:nvSpPr>
          <p:cNvPr id="16" name="Shape 14"/>
          <p:cNvSpPr/>
          <p:nvPr/>
        </p:nvSpPr>
        <p:spPr>
          <a:xfrm>
            <a:off x="548640" y="5040630"/>
            <a:ext cx="5410048" cy="1040130"/>
          </a:xfrm>
          <a:prstGeom prst="roundRect">
            <a:avLst>
              <a:gd name="adj" fmla="val 10549"/>
            </a:avLst>
          </a:prstGeom>
          <a:solidFill>
            <a:srgbClr val="EAF3F0"/>
          </a:solidFill>
          <a:ln w="12700">
            <a:solidFill>
              <a:srgbClr val="EAF3F0"/>
            </a:solidFill>
            <a:prstDash val="solid"/>
          </a:ln>
        </p:spPr>
      </p:sp>
      <p:sp>
        <p:nvSpPr>
          <p:cNvPr id="17" name="Text 15"/>
          <p:cNvSpPr txBox="1"/>
          <p:nvPr/>
        </p:nvSpPr>
        <p:spPr>
          <a:xfrm>
            <a:off x="731520" y="504063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OX 4</a:t>
            </a:r>
            <a:endParaRPr lang="en-US" sz="1400" dirty="0"/>
          </a:p>
        </p:txBody>
      </p:sp>
      <p:sp>
        <p:nvSpPr>
          <p:cNvPr id="18" name="Text 16"/>
          <p:cNvSpPr txBox="1"/>
          <p:nvPr/>
        </p:nvSpPr>
        <p:spPr>
          <a:xfrm>
            <a:off x="1508760" y="504063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X</a:t>
            </a:r>
            <a:endParaRPr lang="en-US" sz="2200" dirty="0"/>
          </a:p>
        </p:txBody>
      </p:sp>
      <p:sp>
        <p:nvSpPr>
          <p:cNvPr id="19" name="Text 17"/>
          <p:cNvSpPr txBox="1"/>
          <p:nvPr/>
        </p:nvSpPr>
        <p:spPr>
          <a:xfrm>
            <a:off x="2331720" y="5086350"/>
            <a:ext cx="3444088" cy="948690"/>
          </a:xfrm>
          <a:prstGeom prst="rect">
            <a:avLst/>
          </a:prstGeom>
          <a:noFill/>
          <a:ln/>
        </p:spPr>
        <p:txBody>
          <a:bodyPr wrap="square" lIns="0" tIns="0" rIns="0" bIns="0" rtlCol="0" anchor="ctr"/>
          <a:lstStyle/>
          <a:p>
            <a:pPr indent="0" marL="0">
              <a:buNone/>
            </a:pPr>
            <a:r>
              <a:rPr lang="en-US" sz="1800" dirty="0">
                <a:solidFill>
                  <a:srgbClr val="222222"/>
                </a:solidFill>
              </a:rPr>
              <a:t>상위등급도 타 전문자격 대체 불가</a:t>
            </a:r>
            <a:endParaRPr lang="en-US" sz="1800" dirty="0"/>
          </a:p>
        </p:txBody>
      </p:sp>
      <p:sp>
        <p:nvSpPr>
          <p:cNvPr id="20" name="Shape 18"/>
          <p:cNvSpPr/>
          <p:nvPr/>
        </p:nvSpPr>
        <p:spPr>
          <a:xfrm>
            <a:off x="6233008" y="1508760"/>
            <a:ext cx="5410048" cy="1040130"/>
          </a:xfrm>
          <a:prstGeom prst="roundRect">
            <a:avLst>
              <a:gd name="adj" fmla="val 10549"/>
            </a:avLst>
          </a:prstGeom>
          <a:solidFill>
            <a:srgbClr val="EAF3F0"/>
          </a:solidFill>
          <a:ln w="12700">
            <a:solidFill>
              <a:srgbClr val="EAF3F0"/>
            </a:solidFill>
            <a:prstDash val="solid"/>
          </a:ln>
        </p:spPr>
      </p:sp>
      <p:sp>
        <p:nvSpPr>
          <p:cNvPr id="21" name="Text 19"/>
          <p:cNvSpPr txBox="1"/>
          <p:nvPr/>
        </p:nvSpPr>
        <p:spPr>
          <a:xfrm>
            <a:off x="6415888" y="150876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객관식 1</a:t>
            </a:r>
            <a:endParaRPr lang="en-US" sz="1400" dirty="0"/>
          </a:p>
        </p:txBody>
      </p:sp>
      <p:sp>
        <p:nvSpPr>
          <p:cNvPr id="22" name="Text 20"/>
          <p:cNvSpPr txBox="1"/>
          <p:nvPr/>
        </p:nvSpPr>
        <p:spPr>
          <a:xfrm>
            <a:off x="7193128" y="150876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②</a:t>
            </a:r>
            <a:endParaRPr lang="en-US" sz="2200" dirty="0"/>
          </a:p>
        </p:txBody>
      </p:sp>
      <p:sp>
        <p:nvSpPr>
          <p:cNvPr id="23" name="Text 21"/>
          <p:cNvSpPr txBox="1"/>
          <p:nvPr/>
        </p:nvSpPr>
        <p:spPr>
          <a:xfrm>
            <a:off x="8016088" y="1554480"/>
            <a:ext cx="3444088" cy="948690"/>
          </a:xfrm>
          <a:prstGeom prst="rect">
            <a:avLst/>
          </a:prstGeom>
          <a:noFill/>
          <a:ln/>
        </p:spPr>
        <p:txBody>
          <a:bodyPr wrap="square" lIns="0" tIns="0" rIns="0" bIns="0" rtlCol="0" anchor="ctr"/>
          <a:lstStyle/>
          <a:p>
            <a:pPr indent="0" marL="0">
              <a:buNone/>
            </a:pPr>
            <a:r>
              <a:rPr lang="en-US" sz="1800" dirty="0">
                <a:solidFill>
                  <a:srgbClr val="222222"/>
                </a:solidFill>
              </a:rPr>
              <a:t>표준 실무 수행</a:t>
            </a:r>
            <a:endParaRPr lang="en-US" sz="1800" dirty="0"/>
          </a:p>
        </p:txBody>
      </p:sp>
      <p:sp>
        <p:nvSpPr>
          <p:cNvPr id="24" name="Shape 22"/>
          <p:cNvSpPr/>
          <p:nvPr/>
        </p:nvSpPr>
        <p:spPr>
          <a:xfrm>
            <a:off x="6233008" y="2686050"/>
            <a:ext cx="5410048" cy="1040130"/>
          </a:xfrm>
          <a:prstGeom prst="roundRect">
            <a:avLst>
              <a:gd name="adj" fmla="val 10549"/>
            </a:avLst>
          </a:prstGeom>
          <a:solidFill>
            <a:srgbClr val="EAF3F0"/>
          </a:solidFill>
          <a:ln w="12700">
            <a:solidFill>
              <a:srgbClr val="EAF3F0"/>
            </a:solidFill>
            <a:prstDash val="solid"/>
          </a:ln>
        </p:spPr>
      </p:sp>
      <p:sp>
        <p:nvSpPr>
          <p:cNvPr id="25" name="Text 23"/>
          <p:cNvSpPr txBox="1"/>
          <p:nvPr/>
        </p:nvSpPr>
        <p:spPr>
          <a:xfrm>
            <a:off x="6415888" y="268605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객관식 2</a:t>
            </a:r>
            <a:endParaRPr lang="en-US" sz="1400" dirty="0"/>
          </a:p>
        </p:txBody>
      </p:sp>
      <p:sp>
        <p:nvSpPr>
          <p:cNvPr id="26" name="Text 24"/>
          <p:cNvSpPr txBox="1"/>
          <p:nvPr/>
        </p:nvSpPr>
        <p:spPr>
          <a:xfrm>
            <a:off x="7193128" y="268605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③</a:t>
            </a:r>
            <a:endParaRPr lang="en-US" sz="2200" dirty="0"/>
          </a:p>
        </p:txBody>
      </p:sp>
      <p:sp>
        <p:nvSpPr>
          <p:cNvPr id="27" name="Text 25"/>
          <p:cNvSpPr txBox="1"/>
          <p:nvPr/>
        </p:nvSpPr>
        <p:spPr>
          <a:xfrm>
            <a:off x="8016088" y="2731770"/>
            <a:ext cx="3444088" cy="948690"/>
          </a:xfrm>
          <a:prstGeom prst="rect">
            <a:avLst/>
          </a:prstGeom>
          <a:noFill/>
          <a:ln/>
        </p:spPr>
        <p:txBody>
          <a:bodyPr wrap="square" lIns="0" tIns="0" rIns="0" bIns="0" rtlCol="0" anchor="ctr"/>
          <a:lstStyle/>
          <a:p>
            <a:pPr indent="0" marL="0">
              <a:buNone/>
            </a:pPr>
            <a:r>
              <a:rPr lang="en-US" sz="1800" dirty="0">
                <a:solidFill>
                  <a:srgbClr val="222222"/>
                </a:solidFill>
              </a:rPr>
              <a:t>실기 40 · 필기 60</a:t>
            </a:r>
            <a:endParaRPr lang="en-US" sz="1800" dirty="0"/>
          </a:p>
        </p:txBody>
      </p:sp>
      <p:sp>
        <p:nvSpPr>
          <p:cNvPr id="28" name="Shape 26"/>
          <p:cNvSpPr/>
          <p:nvPr/>
        </p:nvSpPr>
        <p:spPr>
          <a:xfrm>
            <a:off x="6233008" y="3863340"/>
            <a:ext cx="5410048" cy="1040130"/>
          </a:xfrm>
          <a:prstGeom prst="roundRect">
            <a:avLst>
              <a:gd name="adj" fmla="val 10549"/>
            </a:avLst>
          </a:prstGeom>
          <a:solidFill>
            <a:srgbClr val="EAF3F0"/>
          </a:solidFill>
          <a:ln w="12700">
            <a:solidFill>
              <a:srgbClr val="EAF3F0"/>
            </a:solidFill>
            <a:prstDash val="solid"/>
          </a:ln>
        </p:spPr>
      </p:sp>
      <p:sp>
        <p:nvSpPr>
          <p:cNvPr id="29" name="Text 27"/>
          <p:cNvSpPr txBox="1"/>
          <p:nvPr/>
        </p:nvSpPr>
        <p:spPr>
          <a:xfrm>
            <a:off x="6415888" y="386334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객관식 3</a:t>
            </a:r>
            <a:endParaRPr lang="en-US" sz="1400" dirty="0"/>
          </a:p>
        </p:txBody>
      </p:sp>
      <p:sp>
        <p:nvSpPr>
          <p:cNvPr id="30" name="Text 28"/>
          <p:cNvSpPr txBox="1"/>
          <p:nvPr/>
        </p:nvSpPr>
        <p:spPr>
          <a:xfrm>
            <a:off x="7193128" y="386334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④</a:t>
            </a:r>
            <a:endParaRPr lang="en-US" sz="2200" dirty="0"/>
          </a:p>
        </p:txBody>
      </p:sp>
      <p:sp>
        <p:nvSpPr>
          <p:cNvPr id="31" name="Text 29"/>
          <p:cNvSpPr txBox="1"/>
          <p:nvPr/>
        </p:nvSpPr>
        <p:spPr>
          <a:xfrm>
            <a:off x="8016088" y="3909060"/>
            <a:ext cx="3444088" cy="948690"/>
          </a:xfrm>
          <a:prstGeom prst="rect">
            <a:avLst/>
          </a:prstGeom>
          <a:noFill/>
          <a:ln/>
        </p:spPr>
        <p:txBody>
          <a:bodyPr wrap="square" lIns="0" tIns="0" rIns="0" bIns="0" rtlCol="0" anchor="ctr"/>
          <a:lstStyle/>
          <a:p>
            <a:pPr indent="0" marL="0">
              <a:buNone/>
            </a:pPr>
            <a:r>
              <a:rPr lang="en-US" sz="1800" dirty="0">
                <a:solidFill>
                  <a:srgbClr val="222222"/>
                </a:solidFill>
              </a:rPr>
              <a:t>비차별·공정성이 넷째</a:t>
            </a:r>
            <a:endParaRPr lang="en-US" sz="1800" dirty="0"/>
          </a:p>
        </p:txBody>
      </p:sp>
      <p:sp>
        <p:nvSpPr>
          <p:cNvPr id="32" name="Shape 30"/>
          <p:cNvSpPr/>
          <p:nvPr/>
        </p:nvSpPr>
        <p:spPr>
          <a:xfrm>
            <a:off x="6233008" y="5040630"/>
            <a:ext cx="5410048" cy="1040130"/>
          </a:xfrm>
          <a:prstGeom prst="roundRect">
            <a:avLst>
              <a:gd name="adj" fmla="val 10549"/>
            </a:avLst>
          </a:prstGeom>
          <a:solidFill>
            <a:srgbClr val="EAF3F0"/>
          </a:solidFill>
          <a:ln w="12700">
            <a:solidFill>
              <a:srgbClr val="EAF3F0"/>
            </a:solidFill>
            <a:prstDash val="solid"/>
          </a:ln>
        </p:spPr>
      </p:sp>
      <p:sp>
        <p:nvSpPr>
          <p:cNvPr id="33" name="Text 31"/>
          <p:cNvSpPr txBox="1"/>
          <p:nvPr/>
        </p:nvSpPr>
        <p:spPr>
          <a:xfrm>
            <a:off x="6415888" y="504063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객관식 4</a:t>
            </a:r>
            <a:endParaRPr lang="en-US" sz="1400" dirty="0"/>
          </a:p>
        </p:txBody>
      </p:sp>
      <p:sp>
        <p:nvSpPr>
          <p:cNvPr id="34" name="Text 32"/>
          <p:cNvSpPr txBox="1"/>
          <p:nvPr/>
        </p:nvSpPr>
        <p:spPr>
          <a:xfrm>
            <a:off x="7193128" y="504063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③</a:t>
            </a:r>
            <a:endParaRPr lang="en-US" sz="2200" dirty="0"/>
          </a:p>
        </p:txBody>
      </p:sp>
      <p:sp>
        <p:nvSpPr>
          <p:cNvPr id="35" name="Text 33"/>
          <p:cNvSpPr txBox="1"/>
          <p:nvPr/>
        </p:nvSpPr>
        <p:spPr>
          <a:xfrm>
            <a:off x="8016088" y="5086350"/>
            <a:ext cx="3444088" cy="948690"/>
          </a:xfrm>
          <a:prstGeom prst="rect">
            <a:avLst/>
          </a:prstGeom>
          <a:noFill/>
          <a:ln/>
        </p:spPr>
        <p:txBody>
          <a:bodyPr wrap="square" lIns="0" tIns="0" rIns="0" bIns="0" rtlCol="0" anchor="ctr"/>
          <a:lstStyle/>
          <a:p>
            <a:pPr indent="0" marL="0">
              <a:buNone/>
            </a:pPr>
            <a:r>
              <a:rPr lang="en-US" sz="1800" dirty="0">
                <a:solidFill>
                  <a:srgbClr val="222222"/>
                </a:solidFill>
              </a:rPr>
              <a:t>일반정보·질문정리</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25절 학습점검 · 복습 과제</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서술형으로 정리해 보세요</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4724248" cy="850392"/>
          </a:xfrm>
          <a:prstGeom prst="rect">
            <a:avLst/>
          </a:prstGeom>
          <a:noFill/>
          <a:ln/>
        </p:spPr>
        <p:txBody>
          <a:bodyPr wrap="square" lIns="0" tIns="0" rIns="0" bIns="0" rtlCol="0" anchor="t"/>
          <a:lstStyle/>
          <a:p>
            <a:pPr indent="0" marL="0">
              <a:buNone/>
            </a:pPr>
            <a:r>
              <a:rPr lang="en-US" sz="2200" dirty="0">
                <a:solidFill>
                  <a:srgbClr val="222222"/>
                </a:solidFill>
              </a:rPr>
              <a:t>내담자 보호와 자기 보호</a:t>
            </a:r>
            <a:endParaRPr lang="en-US" sz="2200" dirty="0"/>
          </a:p>
        </p:txBody>
      </p:sp>
      <p:sp>
        <p:nvSpPr>
          <p:cNvPr id="7" name="Shape 5"/>
          <p:cNvSpPr/>
          <p:nvPr/>
        </p:nvSpPr>
        <p:spPr>
          <a:xfrm>
            <a:off x="548640" y="2523744"/>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5237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496312"/>
            <a:ext cx="4724248" cy="850392"/>
          </a:xfrm>
          <a:prstGeom prst="rect">
            <a:avLst/>
          </a:prstGeom>
          <a:noFill/>
          <a:ln/>
        </p:spPr>
        <p:txBody>
          <a:bodyPr wrap="square" lIns="0" tIns="0" rIns="0" bIns="0" rtlCol="0" anchor="t"/>
          <a:lstStyle/>
          <a:p>
            <a:pPr indent="0" marL="0">
              <a:buNone/>
            </a:pPr>
            <a:r>
              <a:rPr lang="en-US" sz="2200" dirty="0">
                <a:solidFill>
                  <a:srgbClr val="222222"/>
                </a:solidFill>
              </a:rPr>
              <a:t>2급과 상위등급의 직무범위 차이</a:t>
            </a:r>
            <a:endParaRPr lang="en-US" sz="2200" dirty="0"/>
          </a:p>
        </p:txBody>
      </p:sp>
      <p:sp>
        <p:nvSpPr>
          <p:cNvPr id="10" name="Shape 8"/>
          <p:cNvSpPr/>
          <p:nvPr/>
        </p:nvSpPr>
        <p:spPr>
          <a:xfrm>
            <a:off x="548640" y="3447288"/>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4472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419856"/>
            <a:ext cx="4724248" cy="850392"/>
          </a:xfrm>
          <a:prstGeom prst="rect">
            <a:avLst/>
          </a:prstGeom>
          <a:noFill/>
          <a:ln/>
        </p:spPr>
        <p:txBody>
          <a:bodyPr wrap="square" lIns="0" tIns="0" rIns="0" bIns="0" rtlCol="0" anchor="t"/>
          <a:lstStyle/>
          <a:p>
            <a:pPr indent="0" marL="0">
              <a:buNone/>
            </a:pPr>
            <a:r>
              <a:rPr lang="en-US" sz="2200" dirty="0">
                <a:solidFill>
                  <a:srgbClr val="222222"/>
                </a:solidFill>
              </a:rPr>
              <a:t>실기·필기 배점과 우선해야 할 기준</a:t>
            </a:r>
            <a:endParaRPr lang="en-US" sz="2200" dirty="0"/>
          </a:p>
        </p:txBody>
      </p:sp>
      <p:sp>
        <p:nvSpPr>
          <p:cNvPr id="13" name="Shape 11"/>
          <p:cNvSpPr/>
          <p:nvPr/>
        </p:nvSpPr>
        <p:spPr>
          <a:xfrm>
            <a:off x="548640" y="4370832"/>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437083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4343400"/>
            <a:ext cx="4724248" cy="850392"/>
          </a:xfrm>
          <a:prstGeom prst="rect">
            <a:avLst/>
          </a:prstGeom>
          <a:noFill/>
          <a:ln/>
        </p:spPr>
        <p:txBody>
          <a:bodyPr wrap="square" lIns="0" tIns="0" rIns="0" bIns="0" rtlCol="0" anchor="t"/>
          <a:lstStyle/>
          <a:p>
            <a:pPr indent="0" marL="0">
              <a:buNone/>
            </a:pPr>
            <a:r>
              <a:rPr lang="en-US" sz="2200" dirty="0">
                <a:solidFill>
                  <a:srgbClr val="222222"/>
                </a:solidFill>
              </a:rPr>
              <a:t>4대 윤리원칙과 실무적 의미</a:t>
            </a:r>
            <a:endParaRPr lang="en-US" sz="2200" dirty="0"/>
          </a:p>
        </p:txBody>
      </p:sp>
      <p:sp>
        <p:nvSpPr>
          <p:cNvPr id="16" name="Shape 14"/>
          <p:cNvSpPr/>
          <p:nvPr/>
        </p:nvSpPr>
        <p:spPr>
          <a:xfrm>
            <a:off x="548640" y="5294376"/>
            <a:ext cx="438912" cy="438912"/>
          </a:xfrm>
          <a:prstGeom prst="ellipse">
            <a:avLst/>
          </a:prstGeom>
          <a:solidFill>
            <a:srgbClr val="2E7D6B"/>
          </a:solidFill>
          <a:ln w="12700">
            <a:solidFill>
              <a:srgbClr val="2E7D6B"/>
            </a:solidFill>
            <a:prstDash val="solid"/>
          </a:ln>
        </p:spPr>
      </p:sp>
      <p:sp>
        <p:nvSpPr>
          <p:cNvPr id="17" name="Text 15"/>
          <p:cNvSpPr txBox="1"/>
          <p:nvPr/>
        </p:nvSpPr>
        <p:spPr>
          <a:xfrm>
            <a:off x="548640" y="529437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1170432" y="5266944"/>
            <a:ext cx="4724248" cy="850392"/>
          </a:xfrm>
          <a:prstGeom prst="rect">
            <a:avLst/>
          </a:prstGeom>
          <a:noFill/>
          <a:ln/>
        </p:spPr>
        <p:txBody>
          <a:bodyPr wrap="square" lIns="0" tIns="0" rIns="0" bIns="0" rtlCol="0" anchor="t"/>
          <a:lstStyle/>
          <a:p>
            <a:pPr indent="0" marL="0">
              <a:buNone/>
            </a:pPr>
            <a:r>
              <a:rPr lang="en-US" sz="2200" dirty="0">
                <a:solidFill>
                  <a:srgbClr val="222222"/>
                </a:solidFill>
              </a:rPr>
              <a:t>비밀유지와 안전위험 시 정보공유</a:t>
            </a:r>
            <a:endParaRPr lang="en-US" sz="2200" dirty="0"/>
          </a:p>
        </p:txBody>
      </p:sp>
      <p:sp>
        <p:nvSpPr>
          <p:cNvPr id="19" name="Shape 17"/>
          <p:cNvSpPr/>
          <p:nvPr/>
        </p:nvSpPr>
        <p:spPr>
          <a:xfrm>
            <a:off x="6233008" y="1600200"/>
            <a:ext cx="438912" cy="438912"/>
          </a:xfrm>
          <a:prstGeom prst="ellipse">
            <a:avLst/>
          </a:prstGeom>
          <a:solidFill>
            <a:srgbClr val="2E7D6B"/>
          </a:solidFill>
          <a:ln w="12700">
            <a:solidFill>
              <a:srgbClr val="2E7D6B"/>
            </a:solidFill>
            <a:prstDash val="solid"/>
          </a:ln>
        </p:spPr>
      </p:sp>
      <p:sp>
        <p:nvSpPr>
          <p:cNvPr id="20" name="Text 18"/>
          <p:cNvSpPr txBox="1"/>
          <p:nvPr/>
        </p:nvSpPr>
        <p:spPr>
          <a:xfrm>
            <a:off x="6233008"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6854800" y="1572768"/>
            <a:ext cx="4724248" cy="850392"/>
          </a:xfrm>
          <a:prstGeom prst="rect">
            <a:avLst/>
          </a:prstGeom>
          <a:noFill/>
          <a:ln/>
        </p:spPr>
        <p:txBody>
          <a:bodyPr wrap="square" lIns="0" tIns="0" rIns="0" bIns="0" rtlCol="0" anchor="t"/>
          <a:lstStyle/>
          <a:p>
            <a:pPr indent="0" marL="0">
              <a:buNone/>
            </a:pPr>
            <a:r>
              <a:rPr lang="en-US" sz="2200" dirty="0">
                <a:solidFill>
                  <a:srgbClr val="222222"/>
                </a:solidFill>
              </a:rPr>
              <a:t>법률·의료·심리·재무의 경계 각 1가지</a:t>
            </a:r>
            <a:endParaRPr lang="en-US" sz="2200" dirty="0"/>
          </a:p>
        </p:txBody>
      </p:sp>
      <p:sp>
        <p:nvSpPr>
          <p:cNvPr id="22" name="Shape 20"/>
          <p:cNvSpPr/>
          <p:nvPr/>
        </p:nvSpPr>
        <p:spPr>
          <a:xfrm>
            <a:off x="6233008" y="2523744"/>
            <a:ext cx="438912" cy="438912"/>
          </a:xfrm>
          <a:prstGeom prst="ellipse">
            <a:avLst/>
          </a:prstGeom>
          <a:solidFill>
            <a:srgbClr val="2E7D6B"/>
          </a:solidFill>
          <a:ln w="12700">
            <a:solidFill>
              <a:srgbClr val="2E7D6B"/>
            </a:solidFill>
            <a:prstDash val="solid"/>
          </a:ln>
        </p:spPr>
      </p:sp>
      <p:sp>
        <p:nvSpPr>
          <p:cNvPr id="23" name="Text 21"/>
          <p:cNvSpPr txBox="1"/>
          <p:nvPr/>
        </p:nvSpPr>
        <p:spPr>
          <a:xfrm>
            <a:off x="6233008" y="25237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24" name="Text 22"/>
          <p:cNvSpPr txBox="1"/>
          <p:nvPr/>
        </p:nvSpPr>
        <p:spPr>
          <a:xfrm>
            <a:off x="6854800" y="2496312"/>
            <a:ext cx="4724248" cy="850392"/>
          </a:xfrm>
          <a:prstGeom prst="rect">
            <a:avLst/>
          </a:prstGeom>
          <a:noFill/>
          <a:ln/>
        </p:spPr>
        <p:txBody>
          <a:bodyPr wrap="square" lIns="0" tIns="0" rIns="0" bIns="0" rtlCol="0" anchor="t"/>
          <a:lstStyle/>
          <a:p>
            <a:pPr indent="0" marL="0">
              <a:buNone/>
            </a:pPr>
            <a:r>
              <a:rPr lang="en-US" sz="2200" dirty="0">
                <a:solidFill>
                  <a:srgbClr val="222222"/>
                </a:solidFill>
              </a:rPr>
              <a:t>이해충돌 상황 세 가지와 대응</a:t>
            </a:r>
            <a:endParaRPr lang="en-US" sz="2200" dirty="0"/>
          </a:p>
        </p:txBody>
      </p:sp>
      <p:sp>
        <p:nvSpPr>
          <p:cNvPr id="25" name="Shape 23"/>
          <p:cNvSpPr/>
          <p:nvPr/>
        </p:nvSpPr>
        <p:spPr>
          <a:xfrm>
            <a:off x="6233008" y="3447288"/>
            <a:ext cx="438912" cy="438912"/>
          </a:xfrm>
          <a:prstGeom prst="ellipse">
            <a:avLst/>
          </a:prstGeom>
          <a:solidFill>
            <a:srgbClr val="2E7D6B"/>
          </a:solidFill>
          <a:ln w="12700">
            <a:solidFill>
              <a:srgbClr val="2E7D6B"/>
            </a:solidFill>
            <a:prstDash val="solid"/>
          </a:ln>
        </p:spPr>
      </p:sp>
      <p:sp>
        <p:nvSpPr>
          <p:cNvPr id="26" name="Text 24"/>
          <p:cNvSpPr txBox="1"/>
          <p:nvPr/>
        </p:nvSpPr>
        <p:spPr>
          <a:xfrm>
            <a:off x="6233008" y="34472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8</a:t>
            </a:r>
            <a:endParaRPr lang="en-US" sz="1500" dirty="0"/>
          </a:p>
        </p:txBody>
      </p:sp>
      <p:sp>
        <p:nvSpPr>
          <p:cNvPr id="27" name="Text 25"/>
          <p:cNvSpPr txBox="1"/>
          <p:nvPr/>
        </p:nvSpPr>
        <p:spPr>
          <a:xfrm>
            <a:off x="6854800" y="3419856"/>
            <a:ext cx="4724248" cy="850392"/>
          </a:xfrm>
          <a:prstGeom prst="rect">
            <a:avLst/>
          </a:prstGeom>
          <a:noFill/>
          <a:ln/>
        </p:spPr>
        <p:txBody>
          <a:bodyPr wrap="square" lIns="0" tIns="0" rIns="0" bIns="0" rtlCol="0" anchor="t"/>
          <a:lstStyle/>
          <a:p>
            <a:pPr indent="0" marL="0">
              <a:buNone/>
            </a:pPr>
            <a:r>
              <a:rPr lang="en-US" sz="2200" dirty="0">
                <a:solidFill>
                  <a:srgbClr val="222222"/>
                </a:solidFill>
              </a:rPr>
              <a:t>사례기록·AI 사용의 개인정보 원칙</a:t>
            </a:r>
            <a:endParaRPr lang="en-US" sz="2200" dirty="0"/>
          </a:p>
        </p:txBody>
      </p:sp>
      <p:sp>
        <p:nvSpPr>
          <p:cNvPr id="28" name="Shape 26"/>
          <p:cNvSpPr/>
          <p:nvPr/>
        </p:nvSpPr>
        <p:spPr>
          <a:xfrm>
            <a:off x="6233008" y="4370832"/>
            <a:ext cx="438912" cy="438912"/>
          </a:xfrm>
          <a:prstGeom prst="ellipse">
            <a:avLst/>
          </a:prstGeom>
          <a:solidFill>
            <a:srgbClr val="2E7D6B"/>
          </a:solidFill>
          <a:ln w="12700">
            <a:solidFill>
              <a:srgbClr val="2E7D6B"/>
            </a:solidFill>
            <a:prstDash val="solid"/>
          </a:ln>
        </p:spPr>
      </p:sp>
      <p:sp>
        <p:nvSpPr>
          <p:cNvPr id="29" name="Text 27"/>
          <p:cNvSpPr txBox="1"/>
          <p:nvPr/>
        </p:nvSpPr>
        <p:spPr>
          <a:xfrm>
            <a:off x="6233008" y="437083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9</a:t>
            </a:r>
            <a:endParaRPr lang="en-US" sz="1500" dirty="0"/>
          </a:p>
        </p:txBody>
      </p:sp>
      <p:sp>
        <p:nvSpPr>
          <p:cNvPr id="30" name="Text 28"/>
          <p:cNvSpPr txBox="1"/>
          <p:nvPr/>
        </p:nvSpPr>
        <p:spPr>
          <a:xfrm>
            <a:off x="6854800" y="4343400"/>
            <a:ext cx="4724248" cy="850392"/>
          </a:xfrm>
          <a:prstGeom prst="rect">
            <a:avLst/>
          </a:prstGeom>
          <a:noFill/>
          <a:ln/>
        </p:spPr>
        <p:txBody>
          <a:bodyPr wrap="square" lIns="0" tIns="0" rIns="0" bIns="0" rtlCol="0" anchor="t"/>
          <a:lstStyle/>
          <a:p>
            <a:pPr indent="0" marL="0">
              <a:buNone/>
            </a:pPr>
            <a:r>
              <a:rPr lang="en-US" sz="2200" dirty="0">
                <a:solidFill>
                  <a:srgbClr val="222222"/>
                </a:solidFill>
              </a:rPr>
              <a:t>윤리적 딜레마 대응 5단계</a:t>
            </a:r>
            <a:endParaRPr lang="en-US" sz="2200" dirty="0"/>
          </a:p>
        </p:txBody>
      </p:sp>
      <p:sp>
        <p:nvSpPr>
          <p:cNvPr id="31" name="Shape 29"/>
          <p:cNvSpPr/>
          <p:nvPr/>
        </p:nvSpPr>
        <p:spPr>
          <a:xfrm>
            <a:off x="6233008" y="5294376"/>
            <a:ext cx="438912" cy="438912"/>
          </a:xfrm>
          <a:prstGeom prst="ellipse">
            <a:avLst/>
          </a:prstGeom>
          <a:solidFill>
            <a:srgbClr val="2E7D6B"/>
          </a:solidFill>
          <a:ln w="12700">
            <a:solidFill>
              <a:srgbClr val="2E7D6B"/>
            </a:solidFill>
            <a:prstDash val="solid"/>
          </a:ln>
        </p:spPr>
      </p:sp>
      <p:sp>
        <p:nvSpPr>
          <p:cNvPr id="32" name="Text 30"/>
          <p:cNvSpPr txBox="1"/>
          <p:nvPr/>
        </p:nvSpPr>
        <p:spPr>
          <a:xfrm>
            <a:off x="6233008" y="529437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10</a:t>
            </a:r>
            <a:endParaRPr lang="en-US" sz="1500" dirty="0"/>
          </a:p>
        </p:txBody>
      </p:sp>
      <p:sp>
        <p:nvSpPr>
          <p:cNvPr id="33" name="Text 31"/>
          <p:cNvSpPr txBox="1"/>
          <p:nvPr/>
        </p:nvSpPr>
        <p:spPr>
          <a:xfrm>
            <a:off x="6854800" y="5266944"/>
            <a:ext cx="4724248" cy="850392"/>
          </a:xfrm>
          <a:prstGeom prst="rect">
            <a:avLst/>
          </a:prstGeom>
          <a:noFill/>
          <a:ln/>
        </p:spPr>
        <p:txBody>
          <a:bodyPr wrap="square" lIns="0" tIns="0" rIns="0" bIns="0" rtlCol="0" anchor="t"/>
          <a:lstStyle/>
          <a:p>
            <a:pPr indent="0" marL="0">
              <a:buNone/>
            </a:pPr>
            <a:r>
              <a:rPr lang="en-US" sz="2200" dirty="0">
                <a:solidFill>
                  <a:srgbClr val="222222"/>
                </a:solidFill>
              </a:rPr>
              <a:t>자격 이후 전문성 유지 방법 다섯 가지</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26절 핵심정리</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제16강에서 꼭 기억할 여섯 문장</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자격은 시작이다. </a:t>
            </a:r>
            <a:pPr indent="0" marL="0">
              <a:buNone/>
            </a:pPr>
            <a:r>
              <a:rPr lang="en-US" sz="2000" dirty="0">
                <a:solidFill>
                  <a:srgbClr val="222222"/>
                </a:solidFill>
              </a:rPr>
              <a:t> 전문성을 계속 증명해야 하는 출발점.</a:t>
            </a:r>
            <a:endParaRPr lang="en-US" sz="2000" dirty="0"/>
          </a:p>
        </p:txBody>
      </p:sp>
      <p:sp>
        <p:nvSpPr>
          <p:cNvPr id="7" name="Shape 5"/>
          <p:cNvSpPr/>
          <p:nvPr/>
        </p:nvSpPr>
        <p:spPr>
          <a:xfrm>
            <a:off x="548640" y="2369820"/>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3698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34238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경계가 곧 신뢰다. </a:t>
            </a:r>
            <a:pPr indent="0" marL="0">
              <a:buNone/>
            </a:pPr>
            <a:r>
              <a:rPr lang="en-US" sz="2000" dirty="0">
                <a:solidFill>
                  <a:srgbClr val="222222"/>
                </a:solidFill>
              </a:rPr>
              <a:t> 모르는 것을 인정하고 연결하는 것이 전문성.</a:t>
            </a:r>
            <a:endParaRPr lang="en-US" sz="2000" dirty="0"/>
          </a:p>
        </p:txBody>
      </p:sp>
      <p:sp>
        <p:nvSpPr>
          <p:cNvPr id="10" name="Shape 8"/>
          <p:cNvSpPr/>
          <p:nvPr/>
        </p:nvSpPr>
        <p:spPr>
          <a:xfrm>
            <a:off x="548640" y="3139440"/>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1394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11200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윤리는 실무기술이다. </a:t>
            </a:r>
            <a:pPr indent="0" marL="0">
              <a:buNone/>
            </a:pPr>
            <a:r>
              <a:rPr lang="en-US" sz="2000" dirty="0">
                <a:solidFill>
                  <a:srgbClr val="222222"/>
                </a:solidFill>
              </a:rPr>
              <a:t> 모든 세션에서 실행되어야 한다.</a:t>
            </a:r>
            <a:endParaRPr lang="en-US" sz="2000" dirty="0"/>
          </a:p>
        </p:txBody>
      </p:sp>
      <p:sp>
        <p:nvSpPr>
          <p:cNvPr id="13" name="Shape 11"/>
          <p:cNvSpPr/>
          <p:nvPr/>
        </p:nvSpPr>
        <p:spPr>
          <a:xfrm>
            <a:off x="548640" y="3909060"/>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39090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388162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중립성을 지킨다. </a:t>
            </a:r>
            <a:pPr indent="0" marL="0">
              <a:buNone/>
            </a:pPr>
            <a:r>
              <a:rPr lang="en-US" sz="2000" dirty="0">
                <a:solidFill>
                  <a:srgbClr val="222222"/>
                </a:solidFill>
              </a:rPr>
              <a:t> 상품·기관·종교·가족보다 내담자의 선택권.</a:t>
            </a:r>
            <a:endParaRPr lang="en-US" sz="2000" dirty="0"/>
          </a:p>
        </p:txBody>
      </p:sp>
      <p:sp>
        <p:nvSpPr>
          <p:cNvPr id="16" name="Shape 14"/>
          <p:cNvSpPr/>
          <p:nvPr/>
        </p:nvSpPr>
        <p:spPr>
          <a:xfrm>
            <a:off x="548640" y="4678680"/>
            <a:ext cx="438912" cy="438912"/>
          </a:xfrm>
          <a:prstGeom prst="ellipse">
            <a:avLst/>
          </a:prstGeom>
          <a:solidFill>
            <a:srgbClr val="2E7D6B"/>
          </a:solidFill>
          <a:ln w="12700">
            <a:solidFill>
              <a:srgbClr val="2E7D6B"/>
            </a:solidFill>
            <a:prstDash val="solid"/>
          </a:ln>
        </p:spPr>
      </p:sp>
      <p:sp>
        <p:nvSpPr>
          <p:cNvPr id="17" name="Text 15"/>
          <p:cNvSpPr txBox="1"/>
          <p:nvPr/>
        </p:nvSpPr>
        <p:spPr>
          <a:xfrm>
            <a:off x="548640" y="4678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1170432" y="465124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기록과 개인정보를 가볍게 다루지 않는다. </a:t>
            </a:r>
            <a:pPr indent="0" marL="0">
              <a:buNone/>
            </a:pPr>
            <a:r>
              <a:rPr lang="en-US" sz="2000" dirty="0">
                <a:solidFill>
                  <a:srgbClr val="222222"/>
                </a:solidFill>
              </a:rPr>
              <a:t> 최소수집·안전보관·익명화·동의.</a:t>
            </a:r>
            <a:endParaRPr lang="en-US" sz="2000" dirty="0"/>
          </a:p>
        </p:txBody>
      </p:sp>
      <p:sp>
        <p:nvSpPr>
          <p:cNvPr id="19" name="Shape 17"/>
          <p:cNvSpPr/>
          <p:nvPr/>
        </p:nvSpPr>
        <p:spPr>
          <a:xfrm>
            <a:off x="548640" y="5448300"/>
            <a:ext cx="438912" cy="438912"/>
          </a:xfrm>
          <a:prstGeom prst="ellipse">
            <a:avLst/>
          </a:prstGeom>
          <a:solidFill>
            <a:srgbClr val="2E7D6B"/>
          </a:solidFill>
          <a:ln w="12700">
            <a:solidFill>
              <a:srgbClr val="2E7D6B"/>
            </a:solidFill>
            <a:prstDash val="solid"/>
          </a:ln>
        </p:spPr>
      </p:sp>
      <p:sp>
        <p:nvSpPr>
          <p:cNvPr id="20" name="Text 18"/>
          <p:cNvSpPr txBox="1"/>
          <p:nvPr/>
        </p:nvSpPr>
        <p:spPr>
          <a:xfrm>
            <a:off x="548640" y="54483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1170432" y="542086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전문성은 혼자 성장하지 않는다. </a:t>
            </a:r>
            <a:pPr indent="0" marL="0">
              <a:buNone/>
            </a:pPr>
            <a:r>
              <a:rPr lang="en-US" sz="2000" dirty="0">
                <a:solidFill>
                  <a:srgbClr val="222222"/>
                </a:solidFill>
              </a:rPr>
              <a:t> 수퍼비전·지속교육·사례회의·네트워크.</a:t>
            </a:r>
            <a:endParaRPr lang="en-US" sz="2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28절 마지막 WLC 코치 노트</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현장에서 기억할 열 가지</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4724248" cy="850392"/>
          </a:xfrm>
          <a:prstGeom prst="rect">
            <a:avLst/>
          </a:prstGeom>
          <a:noFill/>
          <a:ln/>
        </p:spPr>
        <p:txBody>
          <a:bodyPr wrap="square" lIns="0" tIns="0" rIns="0" bIns="0" rtlCol="0" anchor="t"/>
          <a:lstStyle/>
          <a:p>
            <a:pPr indent="0" marL="0">
              <a:buNone/>
            </a:pPr>
            <a:r>
              <a:rPr lang="en-US" sz="2200" dirty="0">
                <a:solidFill>
                  <a:srgbClr val="222222"/>
                </a:solidFill>
              </a:rPr>
              <a:t>사람을 문제보다 먼저 본다</a:t>
            </a:r>
            <a:endParaRPr lang="en-US" sz="2200" dirty="0"/>
          </a:p>
        </p:txBody>
      </p:sp>
      <p:sp>
        <p:nvSpPr>
          <p:cNvPr id="7" name="Shape 5"/>
          <p:cNvSpPr/>
          <p:nvPr/>
        </p:nvSpPr>
        <p:spPr>
          <a:xfrm>
            <a:off x="548640" y="2523744"/>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5237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496312"/>
            <a:ext cx="4724248" cy="850392"/>
          </a:xfrm>
          <a:prstGeom prst="rect">
            <a:avLst/>
          </a:prstGeom>
          <a:noFill/>
          <a:ln/>
        </p:spPr>
        <p:txBody>
          <a:bodyPr wrap="square" lIns="0" tIns="0" rIns="0" bIns="0" rtlCol="0" anchor="t"/>
          <a:lstStyle/>
          <a:p>
            <a:pPr indent="0" marL="0">
              <a:buNone/>
            </a:pPr>
            <a:r>
              <a:rPr lang="en-US" sz="2200" dirty="0">
                <a:solidFill>
                  <a:srgbClr val="222222"/>
                </a:solidFill>
              </a:rPr>
              <a:t>모르면 확인한다</a:t>
            </a:r>
            <a:endParaRPr lang="en-US" sz="2200" dirty="0"/>
          </a:p>
        </p:txBody>
      </p:sp>
      <p:sp>
        <p:nvSpPr>
          <p:cNvPr id="10" name="Shape 8"/>
          <p:cNvSpPr/>
          <p:nvPr/>
        </p:nvSpPr>
        <p:spPr>
          <a:xfrm>
            <a:off x="548640" y="3447288"/>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4472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419856"/>
            <a:ext cx="4724248" cy="850392"/>
          </a:xfrm>
          <a:prstGeom prst="rect">
            <a:avLst/>
          </a:prstGeom>
          <a:noFill/>
          <a:ln/>
        </p:spPr>
        <p:txBody>
          <a:bodyPr wrap="square" lIns="0" tIns="0" rIns="0" bIns="0" rtlCol="0" anchor="t"/>
          <a:lstStyle/>
          <a:p>
            <a:pPr indent="0" marL="0">
              <a:buNone/>
            </a:pPr>
            <a:r>
              <a:rPr lang="en-US" sz="2200" dirty="0">
                <a:solidFill>
                  <a:srgbClr val="222222"/>
                </a:solidFill>
              </a:rPr>
              <a:t>선택을 대신하지 않는다</a:t>
            </a:r>
            <a:endParaRPr lang="en-US" sz="2200" dirty="0"/>
          </a:p>
        </p:txBody>
      </p:sp>
      <p:sp>
        <p:nvSpPr>
          <p:cNvPr id="13" name="Shape 11"/>
          <p:cNvSpPr/>
          <p:nvPr/>
        </p:nvSpPr>
        <p:spPr>
          <a:xfrm>
            <a:off x="548640" y="4370832"/>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437083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4343400"/>
            <a:ext cx="4724248" cy="850392"/>
          </a:xfrm>
          <a:prstGeom prst="rect">
            <a:avLst/>
          </a:prstGeom>
          <a:noFill/>
          <a:ln/>
        </p:spPr>
        <p:txBody>
          <a:bodyPr wrap="square" lIns="0" tIns="0" rIns="0" bIns="0" rtlCol="0" anchor="t"/>
          <a:lstStyle/>
          <a:p>
            <a:pPr indent="0" marL="0">
              <a:buNone/>
            </a:pPr>
            <a:r>
              <a:rPr lang="en-US" sz="2200" dirty="0">
                <a:solidFill>
                  <a:srgbClr val="222222"/>
                </a:solidFill>
              </a:rPr>
              <a:t>전문영역의 경계를 지킨다</a:t>
            </a:r>
            <a:endParaRPr lang="en-US" sz="2200" dirty="0"/>
          </a:p>
        </p:txBody>
      </p:sp>
      <p:sp>
        <p:nvSpPr>
          <p:cNvPr id="16" name="Shape 14"/>
          <p:cNvSpPr/>
          <p:nvPr/>
        </p:nvSpPr>
        <p:spPr>
          <a:xfrm>
            <a:off x="548640" y="5294376"/>
            <a:ext cx="438912" cy="438912"/>
          </a:xfrm>
          <a:prstGeom prst="ellipse">
            <a:avLst/>
          </a:prstGeom>
          <a:solidFill>
            <a:srgbClr val="2E7D6B"/>
          </a:solidFill>
          <a:ln w="12700">
            <a:solidFill>
              <a:srgbClr val="2E7D6B"/>
            </a:solidFill>
            <a:prstDash val="solid"/>
          </a:ln>
        </p:spPr>
      </p:sp>
      <p:sp>
        <p:nvSpPr>
          <p:cNvPr id="17" name="Text 15"/>
          <p:cNvSpPr txBox="1"/>
          <p:nvPr/>
        </p:nvSpPr>
        <p:spPr>
          <a:xfrm>
            <a:off x="548640" y="529437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1170432" y="5266944"/>
            <a:ext cx="4724248" cy="850392"/>
          </a:xfrm>
          <a:prstGeom prst="rect">
            <a:avLst/>
          </a:prstGeom>
          <a:noFill/>
          <a:ln/>
        </p:spPr>
        <p:txBody>
          <a:bodyPr wrap="square" lIns="0" tIns="0" rIns="0" bIns="0" rtlCol="0" anchor="t"/>
          <a:lstStyle/>
          <a:p>
            <a:pPr indent="0" marL="0">
              <a:buNone/>
            </a:pPr>
            <a:r>
              <a:rPr lang="en-US" sz="2200" dirty="0">
                <a:solidFill>
                  <a:srgbClr val="222222"/>
                </a:solidFill>
              </a:rPr>
              <a:t>비밀을 가볍게 다루지 않는다</a:t>
            </a:r>
            <a:endParaRPr lang="en-US" sz="2200" dirty="0"/>
          </a:p>
        </p:txBody>
      </p:sp>
      <p:sp>
        <p:nvSpPr>
          <p:cNvPr id="19" name="Shape 17"/>
          <p:cNvSpPr/>
          <p:nvPr/>
        </p:nvSpPr>
        <p:spPr>
          <a:xfrm>
            <a:off x="6233008" y="1600200"/>
            <a:ext cx="438912" cy="438912"/>
          </a:xfrm>
          <a:prstGeom prst="ellipse">
            <a:avLst/>
          </a:prstGeom>
          <a:solidFill>
            <a:srgbClr val="2E7D6B"/>
          </a:solidFill>
          <a:ln w="12700">
            <a:solidFill>
              <a:srgbClr val="2E7D6B"/>
            </a:solidFill>
            <a:prstDash val="solid"/>
          </a:ln>
        </p:spPr>
      </p:sp>
      <p:sp>
        <p:nvSpPr>
          <p:cNvPr id="20" name="Text 18"/>
          <p:cNvSpPr txBox="1"/>
          <p:nvPr/>
        </p:nvSpPr>
        <p:spPr>
          <a:xfrm>
            <a:off x="6233008"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6854800" y="1572768"/>
            <a:ext cx="4724248" cy="850392"/>
          </a:xfrm>
          <a:prstGeom prst="rect">
            <a:avLst/>
          </a:prstGeom>
          <a:noFill/>
          <a:ln/>
        </p:spPr>
        <p:txBody>
          <a:bodyPr wrap="square" lIns="0" tIns="0" rIns="0" bIns="0" rtlCol="0" anchor="t"/>
          <a:lstStyle/>
          <a:p>
            <a:pPr indent="0" marL="0">
              <a:buNone/>
            </a:pPr>
            <a:r>
              <a:rPr lang="en-US" sz="2200" dirty="0">
                <a:solidFill>
                  <a:srgbClr val="222222"/>
                </a:solidFill>
              </a:rPr>
              <a:t>이해충돌을 숨기지 않는다</a:t>
            </a:r>
            <a:endParaRPr lang="en-US" sz="2200" dirty="0"/>
          </a:p>
        </p:txBody>
      </p:sp>
      <p:sp>
        <p:nvSpPr>
          <p:cNvPr id="22" name="Shape 20"/>
          <p:cNvSpPr/>
          <p:nvPr/>
        </p:nvSpPr>
        <p:spPr>
          <a:xfrm>
            <a:off x="6233008" y="2523744"/>
            <a:ext cx="438912" cy="438912"/>
          </a:xfrm>
          <a:prstGeom prst="ellipse">
            <a:avLst/>
          </a:prstGeom>
          <a:solidFill>
            <a:srgbClr val="2E7D6B"/>
          </a:solidFill>
          <a:ln w="12700">
            <a:solidFill>
              <a:srgbClr val="2E7D6B"/>
            </a:solidFill>
            <a:prstDash val="solid"/>
          </a:ln>
        </p:spPr>
      </p:sp>
      <p:sp>
        <p:nvSpPr>
          <p:cNvPr id="23" name="Text 21"/>
          <p:cNvSpPr txBox="1"/>
          <p:nvPr/>
        </p:nvSpPr>
        <p:spPr>
          <a:xfrm>
            <a:off x="6233008" y="25237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24" name="Text 22"/>
          <p:cNvSpPr txBox="1"/>
          <p:nvPr/>
        </p:nvSpPr>
        <p:spPr>
          <a:xfrm>
            <a:off x="6854800" y="2496312"/>
            <a:ext cx="4724248" cy="850392"/>
          </a:xfrm>
          <a:prstGeom prst="rect">
            <a:avLst/>
          </a:prstGeom>
          <a:noFill/>
          <a:ln/>
        </p:spPr>
        <p:txBody>
          <a:bodyPr wrap="square" lIns="0" tIns="0" rIns="0" bIns="0" rtlCol="0" anchor="t"/>
          <a:lstStyle/>
          <a:p>
            <a:pPr indent="0" marL="0">
              <a:buNone/>
            </a:pPr>
            <a:r>
              <a:rPr lang="en-US" sz="2200" dirty="0">
                <a:solidFill>
                  <a:srgbClr val="222222"/>
                </a:solidFill>
              </a:rPr>
              <a:t>위기에서는 안전을 우선한다</a:t>
            </a:r>
            <a:endParaRPr lang="en-US" sz="2200" dirty="0"/>
          </a:p>
        </p:txBody>
      </p:sp>
      <p:sp>
        <p:nvSpPr>
          <p:cNvPr id="25" name="Shape 23"/>
          <p:cNvSpPr/>
          <p:nvPr/>
        </p:nvSpPr>
        <p:spPr>
          <a:xfrm>
            <a:off x="6233008" y="3447288"/>
            <a:ext cx="438912" cy="438912"/>
          </a:xfrm>
          <a:prstGeom prst="ellipse">
            <a:avLst/>
          </a:prstGeom>
          <a:solidFill>
            <a:srgbClr val="2E7D6B"/>
          </a:solidFill>
          <a:ln w="12700">
            <a:solidFill>
              <a:srgbClr val="2E7D6B"/>
            </a:solidFill>
            <a:prstDash val="solid"/>
          </a:ln>
        </p:spPr>
      </p:sp>
      <p:sp>
        <p:nvSpPr>
          <p:cNvPr id="26" name="Text 24"/>
          <p:cNvSpPr txBox="1"/>
          <p:nvPr/>
        </p:nvSpPr>
        <p:spPr>
          <a:xfrm>
            <a:off x="6233008" y="34472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8</a:t>
            </a:r>
            <a:endParaRPr lang="en-US" sz="1500" dirty="0"/>
          </a:p>
        </p:txBody>
      </p:sp>
      <p:sp>
        <p:nvSpPr>
          <p:cNvPr id="27" name="Text 25"/>
          <p:cNvSpPr txBox="1"/>
          <p:nvPr/>
        </p:nvSpPr>
        <p:spPr>
          <a:xfrm>
            <a:off x="6854800" y="3419856"/>
            <a:ext cx="4724248" cy="850392"/>
          </a:xfrm>
          <a:prstGeom prst="rect">
            <a:avLst/>
          </a:prstGeom>
          <a:noFill/>
          <a:ln/>
        </p:spPr>
        <p:txBody>
          <a:bodyPr wrap="square" lIns="0" tIns="0" rIns="0" bIns="0" rtlCol="0" anchor="t"/>
          <a:lstStyle/>
          <a:p>
            <a:pPr indent="0" marL="0">
              <a:buNone/>
            </a:pPr>
            <a:r>
              <a:rPr lang="en-US" sz="2200" dirty="0">
                <a:solidFill>
                  <a:srgbClr val="222222"/>
                </a:solidFill>
              </a:rPr>
              <a:t>혼자 성장하려 하지 않는다</a:t>
            </a:r>
            <a:endParaRPr lang="en-US" sz="2200" dirty="0"/>
          </a:p>
        </p:txBody>
      </p:sp>
      <p:sp>
        <p:nvSpPr>
          <p:cNvPr id="28" name="Shape 26"/>
          <p:cNvSpPr/>
          <p:nvPr/>
        </p:nvSpPr>
        <p:spPr>
          <a:xfrm>
            <a:off x="6233008" y="4370832"/>
            <a:ext cx="438912" cy="438912"/>
          </a:xfrm>
          <a:prstGeom prst="ellipse">
            <a:avLst/>
          </a:prstGeom>
          <a:solidFill>
            <a:srgbClr val="2E7D6B"/>
          </a:solidFill>
          <a:ln w="12700">
            <a:solidFill>
              <a:srgbClr val="2E7D6B"/>
            </a:solidFill>
            <a:prstDash val="solid"/>
          </a:ln>
        </p:spPr>
      </p:sp>
      <p:sp>
        <p:nvSpPr>
          <p:cNvPr id="29" name="Text 27"/>
          <p:cNvSpPr txBox="1"/>
          <p:nvPr/>
        </p:nvSpPr>
        <p:spPr>
          <a:xfrm>
            <a:off x="6233008" y="437083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9</a:t>
            </a:r>
            <a:endParaRPr lang="en-US" sz="1500" dirty="0"/>
          </a:p>
        </p:txBody>
      </p:sp>
      <p:sp>
        <p:nvSpPr>
          <p:cNvPr id="30" name="Text 28"/>
          <p:cNvSpPr txBox="1"/>
          <p:nvPr/>
        </p:nvSpPr>
        <p:spPr>
          <a:xfrm>
            <a:off x="6854800" y="4343400"/>
            <a:ext cx="4724248" cy="850392"/>
          </a:xfrm>
          <a:prstGeom prst="rect">
            <a:avLst/>
          </a:prstGeom>
          <a:noFill/>
          <a:ln/>
        </p:spPr>
        <p:txBody>
          <a:bodyPr wrap="square" lIns="0" tIns="0" rIns="0" bIns="0" rtlCol="0" anchor="t"/>
          <a:lstStyle/>
          <a:p>
            <a:pPr indent="0" marL="0">
              <a:buNone/>
            </a:pPr>
            <a:r>
              <a:rPr lang="en-US" sz="2200" dirty="0">
                <a:solidFill>
                  <a:srgbClr val="222222"/>
                </a:solidFill>
              </a:rPr>
              <a:t>자신도 돌본다</a:t>
            </a:r>
            <a:endParaRPr lang="en-US" sz="2200" dirty="0"/>
          </a:p>
        </p:txBody>
      </p:sp>
      <p:sp>
        <p:nvSpPr>
          <p:cNvPr id="31" name="Shape 29"/>
          <p:cNvSpPr/>
          <p:nvPr/>
        </p:nvSpPr>
        <p:spPr>
          <a:xfrm>
            <a:off x="6233008" y="5294376"/>
            <a:ext cx="438912" cy="438912"/>
          </a:xfrm>
          <a:prstGeom prst="ellipse">
            <a:avLst/>
          </a:prstGeom>
          <a:solidFill>
            <a:srgbClr val="2E7D6B"/>
          </a:solidFill>
          <a:ln w="12700">
            <a:solidFill>
              <a:srgbClr val="2E7D6B"/>
            </a:solidFill>
            <a:prstDash val="solid"/>
          </a:ln>
        </p:spPr>
      </p:sp>
      <p:sp>
        <p:nvSpPr>
          <p:cNvPr id="32" name="Text 30"/>
          <p:cNvSpPr txBox="1"/>
          <p:nvPr/>
        </p:nvSpPr>
        <p:spPr>
          <a:xfrm>
            <a:off x="6233008" y="529437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10</a:t>
            </a:r>
            <a:endParaRPr lang="en-US" sz="1500" dirty="0"/>
          </a:p>
        </p:txBody>
      </p:sp>
      <p:sp>
        <p:nvSpPr>
          <p:cNvPr id="33" name="Text 31"/>
          <p:cNvSpPr txBox="1"/>
          <p:nvPr/>
        </p:nvSpPr>
        <p:spPr>
          <a:xfrm>
            <a:off x="6854800" y="5266944"/>
            <a:ext cx="4724248" cy="850392"/>
          </a:xfrm>
          <a:prstGeom prst="rect">
            <a:avLst/>
          </a:prstGeom>
          <a:noFill/>
          <a:ln/>
        </p:spPr>
        <p:txBody>
          <a:bodyPr wrap="square" lIns="0" tIns="0" rIns="0" bIns="0" rtlCol="0" anchor="t"/>
          <a:lstStyle/>
          <a:p>
            <a:pPr indent="0" marL="0">
              <a:buNone/>
            </a:pPr>
            <a:r>
              <a:rPr lang="en-US" sz="2200" dirty="0">
                <a:solidFill>
                  <a:srgbClr val="222222"/>
                </a:solidFill>
              </a:rPr>
              <a:t>웰다잉을 웰빙으로 되돌린다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27절 16강의 여정을 돌아보며</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우리가 함께 걸어온 16강</a:t>
            </a:r>
            <a:endParaRPr lang="en-US" sz="2800" dirty="0"/>
          </a:p>
        </p:txBody>
      </p:sp>
      <p:sp>
        <p:nvSpPr>
          <p:cNvPr id="4" name="Shape 2"/>
          <p:cNvSpPr/>
          <p:nvPr/>
        </p:nvSpPr>
        <p:spPr>
          <a:xfrm>
            <a:off x="548640" y="1508760"/>
            <a:ext cx="2072579" cy="777240"/>
          </a:xfrm>
          <a:prstGeom prst="roundRect">
            <a:avLst>
              <a:gd name="adj" fmla="val 14118"/>
            </a:avLst>
          </a:prstGeom>
          <a:solidFill>
            <a:srgbClr val="1F4E4A"/>
          </a:solidFill>
          <a:ln w="12700">
            <a:solidFill>
              <a:srgbClr val="1F4E4A"/>
            </a:solidFill>
            <a:prstDash val="solid"/>
          </a:ln>
        </p:spPr>
      </p:sp>
      <p:sp>
        <p:nvSpPr>
          <p:cNvPr id="5" name="Text 3"/>
          <p:cNvSpPr txBox="1"/>
          <p:nvPr/>
        </p:nvSpPr>
        <p:spPr>
          <a:xfrm>
            <a:off x="685800"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제1부
</a:t>
            </a:r>
            <a:pPr indent="0" marL="0">
              <a:buNone/>
            </a:pPr>
            <a:r>
              <a:rPr lang="en-US" sz="1500" b="1" dirty="0">
                <a:solidFill>
                  <a:srgbClr val="FFFFFF"/>
                </a:solidFill>
              </a:rPr>
              <a:t>삶과 죽음을 이해하다</a:t>
            </a:r>
            <a:endParaRPr lang="en-US" sz="1300" dirty="0"/>
          </a:p>
        </p:txBody>
      </p:sp>
      <p:sp>
        <p:nvSpPr>
          <p:cNvPr id="6" name="Shape 4"/>
          <p:cNvSpPr/>
          <p:nvPr/>
        </p:nvSpPr>
        <p:spPr>
          <a:xfrm>
            <a:off x="548640" y="2423160"/>
            <a:ext cx="2072579" cy="731520"/>
          </a:xfrm>
          <a:prstGeom prst="roundRect">
            <a:avLst>
              <a:gd name="adj" fmla="val 15000"/>
            </a:avLst>
          </a:prstGeom>
          <a:solidFill>
            <a:srgbClr val="EAF3F0"/>
          </a:solidFill>
          <a:ln w="12700">
            <a:solidFill>
              <a:srgbClr val="EAF3F0"/>
            </a:solidFill>
            <a:prstDash val="solid"/>
          </a:ln>
        </p:spPr>
      </p:sp>
      <p:sp>
        <p:nvSpPr>
          <p:cNvPr id="7" name="Text 5"/>
          <p:cNvSpPr txBox="1"/>
          <p:nvPr/>
        </p:nvSpPr>
        <p:spPr>
          <a:xfrm>
            <a:off x="685800"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1강  </a:t>
            </a:r>
            <a:pPr indent="0" marL="0">
              <a:buNone/>
            </a:pPr>
            <a:r>
              <a:rPr lang="en-US" sz="1300" dirty="0">
                <a:solidFill>
                  <a:srgbClr val="222222"/>
                </a:solidFill>
              </a:rPr>
              <a:t>죽음을 이해하는 통찰</a:t>
            </a:r>
            <a:endParaRPr lang="en-US" sz="1300" dirty="0"/>
          </a:p>
        </p:txBody>
      </p:sp>
      <p:sp>
        <p:nvSpPr>
          <p:cNvPr id="8" name="Shape 6"/>
          <p:cNvSpPr/>
          <p:nvPr/>
        </p:nvSpPr>
        <p:spPr>
          <a:xfrm>
            <a:off x="548640" y="3264408"/>
            <a:ext cx="2072579" cy="731520"/>
          </a:xfrm>
          <a:prstGeom prst="roundRect">
            <a:avLst>
              <a:gd name="adj" fmla="val 15000"/>
            </a:avLst>
          </a:prstGeom>
          <a:solidFill>
            <a:srgbClr val="EAF3F0"/>
          </a:solidFill>
          <a:ln w="12700">
            <a:solidFill>
              <a:srgbClr val="EAF3F0"/>
            </a:solidFill>
            <a:prstDash val="solid"/>
          </a:ln>
        </p:spPr>
      </p:sp>
      <p:sp>
        <p:nvSpPr>
          <p:cNvPr id="9" name="Text 7"/>
          <p:cNvSpPr txBox="1"/>
          <p:nvPr/>
        </p:nvSpPr>
        <p:spPr>
          <a:xfrm>
            <a:off x="685800"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2강  </a:t>
            </a:r>
            <a:pPr indent="0" marL="0">
              <a:buNone/>
            </a:pPr>
            <a:r>
              <a:rPr lang="en-US" sz="1300" dirty="0">
                <a:solidFill>
                  <a:srgbClr val="222222"/>
                </a:solidFill>
              </a:rPr>
              <a:t>초고령사회와 죽음교육</a:t>
            </a:r>
            <a:endParaRPr lang="en-US" sz="1300" dirty="0"/>
          </a:p>
        </p:txBody>
      </p:sp>
      <p:sp>
        <p:nvSpPr>
          <p:cNvPr id="10" name="Shape 8"/>
          <p:cNvSpPr/>
          <p:nvPr/>
        </p:nvSpPr>
        <p:spPr>
          <a:xfrm>
            <a:off x="548640" y="4105656"/>
            <a:ext cx="2072579" cy="731520"/>
          </a:xfrm>
          <a:prstGeom prst="roundRect">
            <a:avLst>
              <a:gd name="adj" fmla="val 15000"/>
            </a:avLst>
          </a:prstGeom>
          <a:solidFill>
            <a:srgbClr val="EAF3F0"/>
          </a:solidFill>
          <a:ln w="12700">
            <a:solidFill>
              <a:srgbClr val="EAF3F0"/>
            </a:solidFill>
            <a:prstDash val="solid"/>
          </a:ln>
        </p:spPr>
      </p:sp>
      <p:sp>
        <p:nvSpPr>
          <p:cNvPr id="11" name="Text 9"/>
          <p:cNvSpPr txBox="1"/>
          <p:nvPr/>
        </p:nvSpPr>
        <p:spPr>
          <a:xfrm>
            <a:off x="685800" y="4151376"/>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3강  </a:t>
            </a:r>
            <a:pPr indent="0" marL="0">
              <a:buNone/>
            </a:pPr>
            <a:r>
              <a:rPr lang="en-US" sz="1300" dirty="0">
                <a:solidFill>
                  <a:srgbClr val="222222"/>
                </a:solidFill>
              </a:rPr>
              <a:t>웰빙·웰다잉·엔딩 통합철학</a:t>
            </a:r>
            <a:endParaRPr lang="en-US" sz="1300" dirty="0"/>
          </a:p>
        </p:txBody>
      </p:sp>
      <p:sp>
        <p:nvSpPr>
          <p:cNvPr id="12" name="Shape 10"/>
          <p:cNvSpPr/>
          <p:nvPr/>
        </p:nvSpPr>
        <p:spPr>
          <a:xfrm>
            <a:off x="2804099" y="1508760"/>
            <a:ext cx="2072579" cy="777240"/>
          </a:xfrm>
          <a:prstGeom prst="roundRect">
            <a:avLst>
              <a:gd name="adj" fmla="val 14118"/>
            </a:avLst>
          </a:prstGeom>
          <a:solidFill>
            <a:srgbClr val="1F4E4A"/>
          </a:solidFill>
          <a:ln w="12700">
            <a:solidFill>
              <a:srgbClr val="1F4E4A"/>
            </a:solidFill>
            <a:prstDash val="solid"/>
          </a:ln>
        </p:spPr>
      </p:sp>
      <p:sp>
        <p:nvSpPr>
          <p:cNvPr id="13" name="Text 11"/>
          <p:cNvSpPr txBox="1"/>
          <p:nvPr/>
        </p:nvSpPr>
        <p:spPr>
          <a:xfrm>
            <a:off x="2941259"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제2부
</a:t>
            </a:r>
            <a:pPr indent="0" marL="0">
              <a:buNone/>
            </a:pPr>
            <a:r>
              <a:rPr lang="en-US" sz="1500" b="1" dirty="0">
                <a:solidFill>
                  <a:srgbClr val="FFFFFF"/>
                </a:solidFill>
              </a:rPr>
              <a:t>변화하는 죽음문화</a:t>
            </a:r>
            <a:endParaRPr lang="en-US" sz="1300" dirty="0"/>
          </a:p>
        </p:txBody>
      </p:sp>
      <p:sp>
        <p:nvSpPr>
          <p:cNvPr id="14" name="Shape 12"/>
          <p:cNvSpPr/>
          <p:nvPr/>
        </p:nvSpPr>
        <p:spPr>
          <a:xfrm>
            <a:off x="2804099" y="2423160"/>
            <a:ext cx="2072579" cy="731520"/>
          </a:xfrm>
          <a:prstGeom prst="roundRect">
            <a:avLst>
              <a:gd name="adj" fmla="val 15000"/>
            </a:avLst>
          </a:prstGeom>
          <a:solidFill>
            <a:srgbClr val="EAF3F0"/>
          </a:solidFill>
          <a:ln w="12700">
            <a:solidFill>
              <a:srgbClr val="EAF3F0"/>
            </a:solidFill>
            <a:prstDash val="solid"/>
          </a:ln>
        </p:spPr>
      </p:sp>
      <p:sp>
        <p:nvSpPr>
          <p:cNvPr id="15" name="Text 13"/>
          <p:cNvSpPr txBox="1"/>
          <p:nvPr/>
        </p:nvSpPr>
        <p:spPr>
          <a:xfrm>
            <a:off x="2941259"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4강  </a:t>
            </a:r>
            <a:pPr indent="0" marL="0">
              <a:buNone/>
            </a:pPr>
            <a:r>
              <a:rPr lang="en-US" sz="1300" dirty="0">
                <a:solidFill>
                  <a:srgbClr val="222222"/>
                </a:solidFill>
              </a:rPr>
              <a:t>웰다잉 문화와 엔딩산업</a:t>
            </a:r>
            <a:endParaRPr lang="en-US" sz="1300" dirty="0"/>
          </a:p>
        </p:txBody>
      </p:sp>
      <p:sp>
        <p:nvSpPr>
          <p:cNvPr id="16" name="Shape 14"/>
          <p:cNvSpPr/>
          <p:nvPr/>
        </p:nvSpPr>
        <p:spPr>
          <a:xfrm>
            <a:off x="2804099" y="3264408"/>
            <a:ext cx="2072579" cy="731520"/>
          </a:xfrm>
          <a:prstGeom prst="roundRect">
            <a:avLst>
              <a:gd name="adj" fmla="val 15000"/>
            </a:avLst>
          </a:prstGeom>
          <a:solidFill>
            <a:srgbClr val="EAF3F0"/>
          </a:solidFill>
          <a:ln w="12700">
            <a:solidFill>
              <a:srgbClr val="EAF3F0"/>
            </a:solidFill>
            <a:prstDash val="solid"/>
          </a:ln>
        </p:spPr>
      </p:sp>
      <p:sp>
        <p:nvSpPr>
          <p:cNvPr id="17" name="Text 15"/>
          <p:cNvSpPr txBox="1"/>
          <p:nvPr/>
        </p:nvSpPr>
        <p:spPr>
          <a:xfrm>
            <a:off x="2941259"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5강  </a:t>
            </a:r>
            <a:pPr indent="0" marL="0">
              <a:buNone/>
            </a:pPr>
            <a:r>
              <a:rPr lang="en-US" sz="1300" dirty="0">
                <a:solidFill>
                  <a:srgbClr val="222222"/>
                </a:solidFill>
              </a:rPr>
              <a:t>일본 슈카츠와 세계 웰다잉</a:t>
            </a:r>
            <a:endParaRPr lang="en-US" sz="1300" dirty="0"/>
          </a:p>
        </p:txBody>
      </p:sp>
      <p:sp>
        <p:nvSpPr>
          <p:cNvPr id="18" name="Shape 16"/>
          <p:cNvSpPr/>
          <p:nvPr/>
        </p:nvSpPr>
        <p:spPr>
          <a:xfrm>
            <a:off x="2804099" y="4105656"/>
            <a:ext cx="2072579" cy="731520"/>
          </a:xfrm>
          <a:prstGeom prst="roundRect">
            <a:avLst>
              <a:gd name="adj" fmla="val 15000"/>
            </a:avLst>
          </a:prstGeom>
          <a:solidFill>
            <a:srgbClr val="EAF3F0"/>
          </a:solidFill>
          <a:ln w="12700">
            <a:solidFill>
              <a:srgbClr val="EAF3F0"/>
            </a:solidFill>
            <a:prstDash val="solid"/>
          </a:ln>
        </p:spPr>
      </p:sp>
      <p:sp>
        <p:nvSpPr>
          <p:cNvPr id="19" name="Text 17"/>
          <p:cNvSpPr txBox="1"/>
          <p:nvPr/>
        </p:nvSpPr>
        <p:spPr>
          <a:xfrm>
            <a:off x="2941259" y="4151376"/>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6강  </a:t>
            </a:r>
            <a:pPr indent="0" marL="0">
              <a:buNone/>
            </a:pPr>
            <a:r>
              <a:rPr lang="en-US" sz="1300" dirty="0">
                <a:solidFill>
                  <a:srgbClr val="222222"/>
                </a:solidFill>
              </a:rPr>
              <a:t>장례·장묘 제도의 변화</a:t>
            </a:r>
            <a:endParaRPr lang="en-US" sz="1300" dirty="0"/>
          </a:p>
        </p:txBody>
      </p:sp>
      <p:sp>
        <p:nvSpPr>
          <p:cNvPr id="20" name="Shape 18"/>
          <p:cNvSpPr/>
          <p:nvPr/>
        </p:nvSpPr>
        <p:spPr>
          <a:xfrm>
            <a:off x="2804099" y="4946904"/>
            <a:ext cx="2072579" cy="731520"/>
          </a:xfrm>
          <a:prstGeom prst="roundRect">
            <a:avLst>
              <a:gd name="adj" fmla="val 15000"/>
            </a:avLst>
          </a:prstGeom>
          <a:solidFill>
            <a:srgbClr val="EAF3F0"/>
          </a:solidFill>
          <a:ln w="12700">
            <a:solidFill>
              <a:srgbClr val="EAF3F0"/>
            </a:solidFill>
            <a:prstDash val="solid"/>
          </a:ln>
        </p:spPr>
      </p:sp>
      <p:sp>
        <p:nvSpPr>
          <p:cNvPr id="21" name="Text 19"/>
          <p:cNvSpPr txBox="1"/>
          <p:nvPr/>
        </p:nvSpPr>
        <p:spPr>
          <a:xfrm>
            <a:off x="2941259" y="4992624"/>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7강  </a:t>
            </a:r>
            <a:pPr indent="0" marL="0">
              <a:buNone/>
            </a:pPr>
            <a:r>
              <a:rPr lang="en-US" sz="1300" dirty="0">
                <a:solidFill>
                  <a:srgbClr val="222222"/>
                </a:solidFill>
              </a:rPr>
              <a:t>생전정리·유품·디지털 유산</a:t>
            </a:r>
            <a:endParaRPr lang="en-US" sz="1300" dirty="0"/>
          </a:p>
        </p:txBody>
      </p:sp>
      <p:sp>
        <p:nvSpPr>
          <p:cNvPr id="22" name="Shape 20"/>
          <p:cNvSpPr/>
          <p:nvPr/>
        </p:nvSpPr>
        <p:spPr>
          <a:xfrm>
            <a:off x="5059558" y="1508760"/>
            <a:ext cx="2072579" cy="777240"/>
          </a:xfrm>
          <a:prstGeom prst="roundRect">
            <a:avLst>
              <a:gd name="adj" fmla="val 14118"/>
            </a:avLst>
          </a:prstGeom>
          <a:solidFill>
            <a:srgbClr val="1F4E4A"/>
          </a:solidFill>
          <a:ln w="12700">
            <a:solidFill>
              <a:srgbClr val="1F4E4A"/>
            </a:solidFill>
            <a:prstDash val="solid"/>
          </a:ln>
        </p:spPr>
      </p:sp>
      <p:sp>
        <p:nvSpPr>
          <p:cNvPr id="23" name="Text 21"/>
          <p:cNvSpPr txBox="1"/>
          <p:nvPr/>
        </p:nvSpPr>
        <p:spPr>
          <a:xfrm>
            <a:off x="5196718"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제3부
</a:t>
            </a:r>
            <a:pPr indent="0" marL="0">
              <a:buNone/>
            </a:pPr>
            <a:r>
              <a:rPr lang="en-US" sz="1500" b="1" dirty="0">
                <a:solidFill>
                  <a:srgbClr val="FFFFFF"/>
                </a:solidFill>
              </a:rPr>
              <a:t>삶의 존엄을 준비하다</a:t>
            </a:r>
            <a:endParaRPr lang="en-US" sz="1300" dirty="0"/>
          </a:p>
        </p:txBody>
      </p:sp>
      <p:sp>
        <p:nvSpPr>
          <p:cNvPr id="24" name="Shape 22"/>
          <p:cNvSpPr/>
          <p:nvPr/>
        </p:nvSpPr>
        <p:spPr>
          <a:xfrm>
            <a:off x="5059558" y="2423160"/>
            <a:ext cx="2072579" cy="731520"/>
          </a:xfrm>
          <a:prstGeom prst="roundRect">
            <a:avLst>
              <a:gd name="adj" fmla="val 15000"/>
            </a:avLst>
          </a:prstGeom>
          <a:solidFill>
            <a:srgbClr val="EAF3F0"/>
          </a:solidFill>
          <a:ln w="12700">
            <a:solidFill>
              <a:srgbClr val="EAF3F0"/>
            </a:solidFill>
            <a:prstDash val="solid"/>
          </a:ln>
        </p:spPr>
      </p:sp>
      <p:sp>
        <p:nvSpPr>
          <p:cNvPr id="25" name="Text 23"/>
          <p:cNvSpPr txBox="1"/>
          <p:nvPr/>
        </p:nvSpPr>
        <p:spPr>
          <a:xfrm>
            <a:off x="5196718"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8강  </a:t>
            </a:r>
            <a:pPr indent="0" marL="0">
              <a:buNone/>
            </a:pPr>
            <a:r>
              <a:rPr lang="en-US" sz="1300" dirty="0">
                <a:solidFill>
                  <a:srgbClr val="222222"/>
                </a:solidFill>
              </a:rPr>
              <a:t>경제적 웰다잉과 재산 보호</a:t>
            </a:r>
            <a:endParaRPr lang="en-US" sz="1300" dirty="0"/>
          </a:p>
        </p:txBody>
      </p:sp>
      <p:sp>
        <p:nvSpPr>
          <p:cNvPr id="26" name="Shape 24"/>
          <p:cNvSpPr/>
          <p:nvPr/>
        </p:nvSpPr>
        <p:spPr>
          <a:xfrm>
            <a:off x="5059558" y="3264408"/>
            <a:ext cx="2072579" cy="731520"/>
          </a:xfrm>
          <a:prstGeom prst="roundRect">
            <a:avLst>
              <a:gd name="adj" fmla="val 15000"/>
            </a:avLst>
          </a:prstGeom>
          <a:solidFill>
            <a:srgbClr val="EAF3F0"/>
          </a:solidFill>
          <a:ln w="12700">
            <a:solidFill>
              <a:srgbClr val="EAF3F0"/>
            </a:solidFill>
            <a:prstDash val="solid"/>
          </a:ln>
        </p:spPr>
      </p:sp>
      <p:sp>
        <p:nvSpPr>
          <p:cNvPr id="27" name="Text 25"/>
          <p:cNvSpPr txBox="1"/>
          <p:nvPr/>
        </p:nvSpPr>
        <p:spPr>
          <a:xfrm>
            <a:off x="5196718"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9강  </a:t>
            </a:r>
            <a:pPr indent="0" marL="0">
              <a:buNone/>
            </a:pPr>
            <a:r>
              <a:rPr lang="en-US" sz="1300" dirty="0">
                <a:solidFill>
                  <a:srgbClr val="222222"/>
                </a:solidFill>
              </a:rPr>
              <a:t>의료결정·사전돌봄·후견</a:t>
            </a:r>
            <a:endParaRPr lang="en-US" sz="1300" dirty="0"/>
          </a:p>
        </p:txBody>
      </p:sp>
      <p:sp>
        <p:nvSpPr>
          <p:cNvPr id="28" name="Shape 26"/>
          <p:cNvSpPr/>
          <p:nvPr/>
        </p:nvSpPr>
        <p:spPr>
          <a:xfrm>
            <a:off x="5059558" y="4105656"/>
            <a:ext cx="2072579" cy="731520"/>
          </a:xfrm>
          <a:prstGeom prst="roundRect">
            <a:avLst>
              <a:gd name="adj" fmla="val 15000"/>
            </a:avLst>
          </a:prstGeom>
          <a:solidFill>
            <a:srgbClr val="EAF3F0"/>
          </a:solidFill>
          <a:ln w="12700">
            <a:solidFill>
              <a:srgbClr val="EAF3F0"/>
            </a:solidFill>
            <a:prstDash val="solid"/>
          </a:ln>
        </p:spPr>
      </p:sp>
      <p:sp>
        <p:nvSpPr>
          <p:cNvPr id="29" name="Text 27"/>
          <p:cNvSpPr txBox="1"/>
          <p:nvPr/>
        </p:nvSpPr>
        <p:spPr>
          <a:xfrm>
            <a:off x="5196718" y="4151376"/>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10강  </a:t>
            </a:r>
            <a:pPr indent="0" marL="0">
              <a:buNone/>
            </a:pPr>
            <a:r>
              <a:rPr lang="en-US" sz="1300" dirty="0">
                <a:solidFill>
                  <a:srgbClr val="222222"/>
                </a:solidFill>
              </a:rPr>
              <a:t>가족소통·생명윤리·갈등중재</a:t>
            </a:r>
            <a:endParaRPr lang="en-US" sz="1300" dirty="0"/>
          </a:p>
        </p:txBody>
      </p:sp>
      <p:sp>
        <p:nvSpPr>
          <p:cNvPr id="30" name="Shape 28"/>
          <p:cNvSpPr/>
          <p:nvPr/>
        </p:nvSpPr>
        <p:spPr>
          <a:xfrm>
            <a:off x="7315017" y="1508760"/>
            <a:ext cx="2072579" cy="777240"/>
          </a:xfrm>
          <a:prstGeom prst="roundRect">
            <a:avLst>
              <a:gd name="adj" fmla="val 14118"/>
            </a:avLst>
          </a:prstGeom>
          <a:solidFill>
            <a:srgbClr val="1F4E4A"/>
          </a:solidFill>
          <a:ln w="12700">
            <a:solidFill>
              <a:srgbClr val="1F4E4A"/>
            </a:solidFill>
            <a:prstDash val="solid"/>
          </a:ln>
        </p:spPr>
      </p:sp>
      <p:sp>
        <p:nvSpPr>
          <p:cNvPr id="31" name="Text 29"/>
          <p:cNvSpPr txBox="1"/>
          <p:nvPr/>
        </p:nvSpPr>
        <p:spPr>
          <a:xfrm>
            <a:off x="7452177"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제4부
</a:t>
            </a:r>
            <a:pPr indent="0" marL="0">
              <a:buNone/>
            </a:pPr>
            <a:r>
              <a:rPr lang="en-US" sz="1500" b="1" dirty="0">
                <a:solidFill>
                  <a:srgbClr val="FFFFFF"/>
                </a:solidFill>
              </a:rPr>
              <a:t>상실과 임종을 동행하다</a:t>
            </a:r>
            <a:endParaRPr lang="en-US" sz="1300" dirty="0"/>
          </a:p>
        </p:txBody>
      </p:sp>
      <p:sp>
        <p:nvSpPr>
          <p:cNvPr id="32" name="Shape 30"/>
          <p:cNvSpPr/>
          <p:nvPr/>
        </p:nvSpPr>
        <p:spPr>
          <a:xfrm>
            <a:off x="7315017" y="2423160"/>
            <a:ext cx="2072579" cy="731520"/>
          </a:xfrm>
          <a:prstGeom prst="roundRect">
            <a:avLst>
              <a:gd name="adj" fmla="val 15000"/>
            </a:avLst>
          </a:prstGeom>
          <a:solidFill>
            <a:srgbClr val="EAF3F0"/>
          </a:solidFill>
          <a:ln w="12700">
            <a:solidFill>
              <a:srgbClr val="EAF3F0"/>
            </a:solidFill>
            <a:prstDash val="solid"/>
          </a:ln>
        </p:spPr>
      </p:sp>
      <p:sp>
        <p:nvSpPr>
          <p:cNvPr id="33" name="Text 31"/>
          <p:cNvSpPr txBox="1"/>
          <p:nvPr/>
        </p:nvSpPr>
        <p:spPr>
          <a:xfrm>
            <a:off x="7452177"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11강  </a:t>
            </a:r>
            <a:pPr indent="0" marL="0">
              <a:buNone/>
            </a:pPr>
            <a:r>
              <a:rPr lang="en-US" sz="1300" dirty="0">
                <a:solidFill>
                  <a:srgbClr val="222222"/>
                </a:solidFill>
              </a:rPr>
              <a:t>상실·애도와 관계회복</a:t>
            </a:r>
            <a:endParaRPr lang="en-US" sz="1300" dirty="0"/>
          </a:p>
        </p:txBody>
      </p:sp>
      <p:sp>
        <p:nvSpPr>
          <p:cNvPr id="34" name="Shape 32"/>
          <p:cNvSpPr/>
          <p:nvPr/>
        </p:nvSpPr>
        <p:spPr>
          <a:xfrm>
            <a:off x="7315017" y="3264408"/>
            <a:ext cx="2072579" cy="731520"/>
          </a:xfrm>
          <a:prstGeom prst="roundRect">
            <a:avLst>
              <a:gd name="adj" fmla="val 15000"/>
            </a:avLst>
          </a:prstGeom>
          <a:solidFill>
            <a:srgbClr val="EAF3F0"/>
          </a:solidFill>
          <a:ln w="12700">
            <a:solidFill>
              <a:srgbClr val="EAF3F0"/>
            </a:solidFill>
            <a:prstDash val="solid"/>
          </a:ln>
        </p:spPr>
      </p:sp>
      <p:sp>
        <p:nvSpPr>
          <p:cNvPr id="35" name="Text 33"/>
          <p:cNvSpPr txBox="1"/>
          <p:nvPr/>
        </p:nvSpPr>
        <p:spPr>
          <a:xfrm>
            <a:off x="7452177"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12강  </a:t>
            </a:r>
            <a:pPr indent="0" marL="0">
              <a:buNone/>
            </a:pPr>
            <a:r>
              <a:rPr lang="en-US" sz="1300" dirty="0">
                <a:solidFill>
                  <a:srgbClr val="222222"/>
                </a:solidFill>
              </a:rPr>
              <a:t>예기치 않은 죽음·재난</a:t>
            </a:r>
            <a:endParaRPr lang="en-US" sz="1300" dirty="0"/>
          </a:p>
        </p:txBody>
      </p:sp>
      <p:sp>
        <p:nvSpPr>
          <p:cNvPr id="36" name="Shape 34"/>
          <p:cNvSpPr/>
          <p:nvPr/>
        </p:nvSpPr>
        <p:spPr>
          <a:xfrm>
            <a:off x="7315017" y="4105656"/>
            <a:ext cx="2072579" cy="731520"/>
          </a:xfrm>
          <a:prstGeom prst="roundRect">
            <a:avLst>
              <a:gd name="adj" fmla="val 15000"/>
            </a:avLst>
          </a:prstGeom>
          <a:solidFill>
            <a:srgbClr val="EAF3F0"/>
          </a:solidFill>
          <a:ln w="12700">
            <a:solidFill>
              <a:srgbClr val="EAF3F0"/>
            </a:solidFill>
            <a:prstDash val="solid"/>
          </a:ln>
        </p:spPr>
      </p:sp>
      <p:sp>
        <p:nvSpPr>
          <p:cNvPr id="37" name="Text 35"/>
          <p:cNvSpPr txBox="1"/>
          <p:nvPr/>
        </p:nvSpPr>
        <p:spPr>
          <a:xfrm>
            <a:off x="7452177" y="4151376"/>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13강  </a:t>
            </a:r>
            <a:pPr indent="0" marL="0">
              <a:buNone/>
            </a:pPr>
            <a:r>
              <a:rPr lang="en-US" sz="1300" dirty="0">
                <a:solidFill>
                  <a:srgbClr val="222222"/>
                </a:solidFill>
              </a:rPr>
              <a:t>임종 단계별 돌봄 실무</a:t>
            </a:r>
            <a:endParaRPr lang="en-US" sz="1300" dirty="0"/>
          </a:p>
        </p:txBody>
      </p:sp>
      <p:sp>
        <p:nvSpPr>
          <p:cNvPr id="38" name="Shape 36"/>
          <p:cNvSpPr/>
          <p:nvPr/>
        </p:nvSpPr>
        <p:spPr>
          <a:xfrm>
            <a:off x="7315017" y="4946904"/>
            <a:ext cx="2072579" cy="731520"/>
          </a:xfrm>
          <a:prstGeom prst="roundRect">
            <a:avLst>
              <a:gd name="adj" fmla="val 15000"/>
            </a:avLst>
          </a:prstGeom>
          <a:solidFill>
            <a:srgbClr val="EAF3F0"/>
          </a:solidFill>
          <a:ln w="12700">
            <a:solidFill>
              <a:srgbClr val="EAF3F0"/>
            </a:solidFill>
            <a:prstDash val="solid"/>
          </a:ln>
        </p:spPr>
      </p:sp>
      <p:sp>
        <p:nvSpPr>
          <p:cNvPr id="39" name="Text 37"/>
          <p:cNvSpPr txBox="1"/>
          <p:nvPr/>
        </p:nvSpPr>
        <p:spPr>
          <a:xfrm>
            <a:off x="7452177" y="4992624"/>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14강  </a:t>
            </a:r>
            <a:pPr indent="0" marL="0">
              <a:buNone/>
            </a:pPr>
            <a:r>
              <a:rPr lang="en-US" sz="1300" dirty="0">
                <a:solidFill>
                  <a:srgbClr val="222222"/>
                </a:solidFill>
              </a:rPr>
              <a:t>사망 직후 초기지원</a:t>
            </a:r>
            <a:endParaRPr lang="en-US" sz="1300" dirty="0"/>
          </a:p>
        </p:txBody>
      </p:sp>
      <p:sp>
        <p:nvSpPr>
          <p:cNvPr id="40" name="Shape 38"/>
          <p:cNvSpPr/>
          <p:nvPr/>
        </p:nvSpPr>
        <p:spPr>
          <a:xfrm>
            <a:off x="9570476" y="1508760"/>
            <a:ext cx="2072579" cy="777240"/>
          </a:xfrm>
          <a:prstGeom prst="roundRect">
            <a:avLst>
              <a:gd name="adj" fmla="val 14118"/>
            </a:avLst>
          </a:prstGeom>
          <a:solidFill>
            <a:srgbClr val="1F4E4A"/>
          </a:solidFill>
          <a:ln w="12700">
            <a:solidFill>
              <a:srgbClr val="1F4E4A"/>
            </a:solidFill>
            <a:prstDash val="solid"/>
          </a:ln>
        </p:spPr>
      </p:sp>
      <p:sp>
        <p:nvSpPr>
          <p:cNvPr id="41" name="Text 39"/>
          <p:cNvSpPr txBox="1"/>
          <p:nvPr/>
        </p:nvSpPr>
        <p:spPr>
          <a:xfrm>
            <a:off x="9707636"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제5부
</a:t>
            </a:r>
            <a:pPr indent="0" marL="0">
              <a:buNone/>
            </a:pPr>
            <a:r>
              <a:rPr lang="en-US" sz="1500" b="1" dirty="0">
                <a:solidFill>
                  <a:srgbClr val="FFFFFF"/>
                </a:solidFill>
              </a:rPr>
              <a:t>WLC로 활동하다</a:t>
            </a:r>
            <a:endParaRPr lang="en-US" sz="1300" dirty="0"/>
          </a:p>
        </p:txBody>
      </p:sp>
      <p:sp>
        <p:nvSpPr>
          <p:cNvPr id="42" name="Shape 40"/>
          <p:cNvSpPr/>
          <p:nvPr/>
        </p:nvSpPr>
        <p:spPr>
          <a:xfrm>
            <a:off x="9570476" y="2423160"/>
            <a:ext cx="2072579" cy="731520"/>
          </a:xfrm>
          <a:prstGeom prst="roundRect">
            <a:avLst>
              <a:gd name="adj" fmla="val 15000"/>
            </a:avLst>
          </a:prstGeom>
          <a:solidFill>
            <a:srgbClr val="EAF3F0"/>
          </a:solidFill>
          <a:ln w="12700">
            <a:solidFill>
              <a:srgbClr val="EAF3F0"/>
            </a:solidFill>
            <a:prstDash val="solid"/>
          </a:ln>
        </p:spPr>
      </p:sp>
      <p:sp>
        <p:nvSpPr>
          <p:cNvPr id="43" name="Text 41"/>
          <p:cNvSpPr txBox="1"/>
          <p:nvPr/>
        </p:nvSpPr>
        <p:spPr>
          <a:xfrm>
            <a:off x="9707636"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15강  </a:t>
            </a:r>
            <a:pPr indent="0" marL="0">
              <a:buNone/>
            </a:pPr>
            <a:r>
              <a:rPr lang="en-US" sz="1300" dirty="0">
                <a:solidFill>
                  <a:srgbClr val="222222"/>
                </a:solidFill>
              </a:rPr>
              <a:t>WLC 코칭 실무·교육 운영</a:t>
            </a:r>
            <a:endParaRPr lang="en-US" sz="1300" dirty="0"/>
          </a:p>
        </p:txBody>
      </p:sp>
      <p:sp>
        <p:nvSpPr>
          <p:cNvPr id="44" name="Shape 42"/>
          <p:cNvSpPr/>
          <p:nvPr/>
        </p:nvSpPr>
        <p:spPr>
          <a:xfrm>
            <a:off x="9570476" y="3264408"/>
            <a:ext cx="2072579" cy="731520"/>
          </a:xfrm>
          <a:prstGeom prst="roundRect">
            <a:avLst>
              <a:gd name="adj" fmla="val 15000"/>
            </a:avLst>
          </a:prstGeom>
          <a:solidFill>
            <a:srgbClr val="2E7D6B"/>
          </a:solidFill>
          <a:ln w="12700">
            <a:solidFill>
              <a:srgbClr val="2E7D6B"/>
            </a:solidFill>
            <a:prstDash val="solid"/>
          </a:ln>
        </p:spPr>
      </p:sp>
      <p:sp>
        <p:nvSpPr>
          <p:cNvPr id="45" name="Text 43"/>
          <p:cNvSpPr txBox="1"/>
          <p:nvPr/>
        </p:nvSpPr>
        <p:spPr>
          <a:xfrm>
            <a:off x="9707636" y="3310128"/>
            <a:ext cx="1798259" cy="640080"/>
          </a:xfrm>
          <a:prstGeom prst="rect">
            <a:avLst/>
          </a:prstGeom>
          <a:noFill/>
          <a:ln/>
        </p:spPr>
        <p:txBody>
          <a:bodyPr wrap="square" lIns="0" tIns="0" rIns="0" bIns="0" rtlCol="0" anchor="ctr"/>
          <a:lstStyle/>
          <a:p>
            <a:pPr indent="0" marL="0">
              <a:buNone/>
            </a:pPr>
            <a:r>
              <a:rPr lang="en-US" sz="1300" b="1" dirty="0">
                <a:solidFill>
                  <a:srgbClr val="FFFFFF"/>
                </a:solidFill>
              </a:rPr>
              <a:t>16강  </a:t>
            </a:r>
            <a:pPr indent="0" marL="0">
              <a:buNone/>
            </a:pPr>
            <a:r>
              <a:rPr lang="en-US" sz="1300" b="1" dirty="0">
                <a:solidFill>
                  <a:srgbClr val="FFFFFF"/>
                </a:solidFill>
              </a:rPr>
              <a:t>전문직 윤리·자격검정</a:t>
            </a:r>
            <a:endParaRPr lang="en-US" sz="13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48640" y="822960"/>
            <a:ext cx="1371600" cy="1280160"/>
          </a:xfrm>
          <a:prstGeom prst="rect">
            <a:avLst/>
          </a:prstGeom>
          <a:noFill/>
          <a:ln/>
        </p:spPr>
        <p:txBody>
          <a:bodyPr wrap="square" lIns="0" tIns="0" rIns="0" bIns="0" rtlCol="0" anchor="t"/>
          <a:lstStyle/>
          <a:p>
            <a:pPr indent="0" marL="0">
              <a:buNone/>
            </a:pPr>
            <a:r>
              <a:rPr lang="en-US" sz="11000" b="1" dirty="0">
                <a:solidFill>
                  <a:srgbClr val="8FB9A8"/>
                </a:solidFill>
              </a:rPr>
              <a:t>“</a:t>
            </a:r>
            <a:endParaRPr lang="en-US" sz="11000" dirty="0"/>
          </a:p>
        </p:txBody>
      </p:sp>
      <p:sp>
        <p:nvSpPr>
          <p:cNvPr id="3" name="Text 1"/>
          <p:cNvSpPr txBox="1"/>
          <p:nvPr/>
        </p:nvSpPr>
        <p:spPr>
          <a:xfrm>
            <a:off x="914400" y="1828800"/>
            <a:ext cx="10362895" cy="1371600"/>
          </a:xfrm>
          <a:prstGeom prst="rect">
            <a:avLst/>
          </a:prstGeom>
          <a:noFill/>
          <a:ln/>
        </p:spPr>
        <p:txBody>
          <a:bodyPr wrap="square" lIns="0" tIns="0" rIns="0" bIns="0" rtlCol="0" anchor="ctr"/>
          <a:lstStyle/>
          <a:p>
            <a:pPr indent="0" marL="0">
              <a:buNone/>
            </a:pPr>
            <a:r>
              <a:rPr lang="en-US" sz="3200" b="1" dirty="0">
                <a:solidFill>
                  <a:srgbClr val="FFFFFF"/>
                </a:solidFill>
              </a:rPr>
              <a:t>엔딩을 준비하는 것은 죽음을 준비하는 일이 아니라,</a:t>
            </a:r>
            <a:endParaRPr lang="en-US" sz="3200" dirty="0"/>
          </a:p>
          <a:p>
            <a:pPr indent="0" marL="0">
              <a:buNone/>
            </a:pPr>
            <a:r>
              <a:rPr lang="en-US" sz="3200" b="1" dirty="0">
                <a:solidFill>
                  <a:srgbClr val="FFFFFF"/>
                </a:solidFill>
              </a:rPr>
              <a:t>남은 삶을 더 잘 살아가기 위한 웰다잉의 실천이며,</a:t>
            </a:r>
            <a:endParaRPr lang="en-US" sz="3200" dirty="0"/>
          </a:p>
          <a:p>
            <a:pPr indent="0" marL="0">
              <a:buNone/>
            </a:pPr>
            <a:r>
              <a:rPr lang="en-US" sz="3200" b="1" dirty="0">
                <a:solidFill>
                  <a:srgbClr val="FFFFFF"/>
                </a:solidFill>
              </a:rPr>
              <a:t>그 과정 자체가 웰빙이다.</a:t>
            </a:r>
            <a:endParaRPr lang="en-US" sz="3200" dirty="0"/>
          </a:p>
        </p:txBody>
      </p:sp>
      <p:sp>
        <p:nvSpPr>
          <p:cNvPr id="4" name="Text 2"/>
          <p:cNvSpPr txBox="1"/>
          <p:nvPr/>
        </p:nvSpPr>
        <p:spPr>
          <a:xfrm>
            <a:off x="914400" y="3246120"/>
            <a:ext cx="10362895" cy="411480"/>
          </a:xfrm>
          <a:prstGeom prst="rect">
            <a:avLst/>
          </a:prstGeom>
          <a:noFill/>
          <a:ln/>
        </p:spPr>
        <p:txBody>
          <a:bodyPr wrap="square" lIns="0" tIns="0" rIns="0" bIns="0" rtlCol="0" anchor="t"/>
          <a:lstStyle/>
          <a:p>
            <a:pPr indent="0" marL="0">
              <a:buNone/>
            </a:pPr>
            <a:r>
              <a:rPr lang="en-US" sz="1500" dirty="0">
                <a:solidFill>
                  <a:srgbClr val="A8C5BC"/>
                </a:solidFill>
              </a:rPr>
              <a:t>— WLC 통합철학</a:t>
            </a:r>
            <a:endParaRPr lang="en-US" sz="1500" dirty="0"/>
          </a:p>
        </p:txBody>
      </p:sp>
      <p:sp>
        <p:nvSpPr>
          <p:cNvPr id="5" name="Shape 3"/>
          <p:cNvSpPr/>
          <p:nvPr/>
        </p:nvSpPr>
        <p:spPr>
          <a:xfrm>
            <a:off x="548640" y="4206240"/>
            <a:ext cx="11094415" cy="1600200"/>
          </a:xfrm>
          <a:prstGeom prst="roundRect">
            <a:avLst>
              <a:gd name="adj" fmla="val 6857"/>
            </a:avLst>
          </a:prstGeom>
          <a:solidFill>
            <a:srgbClr val="2A5F5A"/>
          </a:solidFill>
          <a:ln w="12700">
            <a:solidFill>
              <a:srgbClr val="2A5F5A"/>
            </a:solidFill>
            <a:prstDash val="solid"/>
          </a:ln>
        </p:spPr>
      </p:sp>
      <p:sp>
        <p:nvSpPr>
          <p:cNvPr id="6" name="Text 4"/>
          <p:cNvSpPr txBox="1"/>
          <p:nvPr/>
        </p:nvSpPr>
        <p:spPr>
          <a:xfrm>
            <a:off x="868680" y="4343400"/>
            <a:ext cx="10454335" cy="1371600"/>
          </a:xfrm>
          <a:prstGeom prst="rect">
            <a:avLst/>
          </a:prstGeom>
          <a:noFill/>
          <a:ln/>
        </p:spPr>
        <p:txBody>
          <a:bodyPr wrap="square" lIns="0" tIns="0" rIns="0" bIns="0" rtlCol="0" anchor="ctr"/>
          <a:lstStyle/>
          <a:p>
            <a:pPr indent="0" marL="0">
              <a:spcAft>
                <a:spcPts val="600"/>
              </a:spcAft>
              <a:buNone/>
            </a:pPr>
            <a:r>
              <a:rPr lang="en-US" sz="1500" b="1" dirty="0">
                <a:solidFill>
                  <a:srgbClr val="8FB9A8"/>
                </a:solidFill>
              </a:rPr>
              <a:t>이 강의의 핵심 메시지
</a:t>
            </a:r>
            <a:pPr indent="0" marL="0">
              <a:buNone/>
            </a:pPr>
            <a:r>
              <a:rPr lang="en-US" sz="1800" dirty="0">
                <a:solidFill>
                  <a:srgbClr val="FFFFFF"/>
                </a:solidFill>
              </a:rPr>
              <a:t>WLC의 최종 목적은 사람을 죽음에 익숙하게 만드는 것이 아니라, 유한한 삶을 더 주체적이고 존엄하게 살아가도록 돕는 데 있다.</a:t>
            </a:r>
            <a:endParaRPr lang="en-US" sz="15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23절 WLC 윤리선언문</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함께 읽는 WLC 윤리선언</a:t>
            </a:r>
            <a:endParaRPr lang="en-US" sz="2800" dirty="0"/>
          </a:p>
        </p:txBody>
      </p:sp>
      <p:sp>
        <p:nvSpPr>
          <p:cNvPr id="4" name="Shape 2"/>
          <p:cNvSpPr/>
          <p:nvPr/>
        </p:nvSpPr>
        <p:spPr>
          <a:xfrm>
            <a:off x="548640" y="1600200"/>
            <a:ext cx="11094415" cy="2011680"/>
          </a:xfrm>
          <a:prstGeom prst="roundRect">
            <a:avLst>
              <a:gd name="adj" fmla="val 5455"/>
            </a:avLst>
          </a:prstGeom>
          <a:solidFill>
            <a:srgbClr val="EAF3F0"/>
          </a:solidFill>
          <a:ln w="12700">
            <a:solidFill>
              <a:srgbClr val="EAF3F0"/>
            </a:solidFill>
            <a:prstDash val="solid"/>
          </a:ln>
        </p:spPr>
      </p:sp>
      <p:sp>
        <p:nvSpPr>
          <p:cNvPr id="5" name="Shape 3"/>
          <p:cNvSpPr/>
          <p:nvPr/>
        </p:nvSpPr>
        <p:spPr>
          <a:xfrm>
            <a:off x="868680" y="1965960"/>
            <a:ext cx="822960" cy="822960"/>
          </a:xfrm>
          <a:prstGeom prst="ellipse">
            <a:avLst/>
          </a:prstGeom>
          <a:solidFill>
            <a:srgbClr val="2E7D6B"/>
          </a:solidFill>
          <a:ln w="12700">
            <a:solidFill>
              <a:srgbClr val="2E7D6B"/>
            </a:solidFill>
            <a:prstDash val="solid"/>
          </a:ln>
        </p:spPr>
      </p:sp>
      <p:pic>
        <p:nvPicPr>
          <p:cNvPr id="6" name="Image 0" descr="preencoded.png">    </p:cNvPr>
          <p:cNvPicPr>
            <a:picLocks noChangeAspect="1"/>
          </p:cNvPicPr>
          <p:nvPr/>
        </p:nvPicPr>
        <p:blipFill>
          <a:blip r:embed="rId1"/>
          <a:stretch>
            <a:fillRect/>
          </a:stretch>
        </p:blipFill>
        <p:spPr>
          <a:xfrm>
            <a:off x="1082650" y="2179930"/>
            <a:ext cx="395021" cy="395021"/>
          </a:xfrm>
          <a:prstGeom prst="rect">
            <a:avLst/>
          </a:prstGeom>
        </p:spPr>
      </p:pic>
      <p:sp>
        <p:nvSpPr>
          <p:cNvPr id="7" name="Text 4"/>
          <p:cNvSpPr txBox="1"/>
          <p:nvPr/>
        </p:nvSpPr>
        <p:spPr>
          <a:xfrm>
            <a:off x="1965960" y="1783080"/>
            <a:ext cx="9357055" cy="1645920"/>
          </a:xfrm>
          <a:prstGeom prst="rect">
            <a:avLst/>
          </a:prstGeom>
          <a:noFill/>
          <a:ln/>
        </p:spPr>
        <p:txBody>
          <a:bodyPr wrap="square" lIns="0" tIns="0" rIns="0" bIns="0" rtlCol="0" anchor="ctr"/>
          <a:lstStyle/>
          <a:p>
            <a:pPr indent="0" marL="0">
              <a:buNone/>
            </a:pPr>
            <a:r>
              <a:rPr lang="en-US" sz="2500" b="1" dirty="0">
                <a:solidFill>
                  <a:srgbClr val="1F4E4A"/>
                </a:solidFill>
              </a:rPr>
              <a:t>나는 WLC로서 한 사람의 삶과 죽음을 판단하거나 대신 결정하지 않는다.</a:t>
            </a:r>
            <a:endParaRPr lang="en-US" sz="2500" dirty="0"/>
          </a:p>
          <a:p>
            <a:pPr indent="0" marL="0">
              <a:buNone/>
            </a:pPr>
            <a:r>
              <a:rPr lang="en-US" sz="2500" b="1" dirty="0">
                <a:solidFill>
                  <a:srgbClr val="1F4E4A"/>
                </a:solidFill>
              </a:rPr>
              <a:t>나는 내담자의 존엄과 자기결정권을 존중하고, 사적 정보를 책임 있게 보호한다.</a:t>
            </a:r>
            <a:endParaRPr lang="en-US" sz="2500" dirty="0"/>
          </a:p>
        </p:txBody>
      </p:sp>
      <p:sp>
        <p:nvSpPr>
          <p:cNvPr id="8" name="Shape 5"/>
          <p:cNvSpPr/>
          <p:nvPr/>
        </p:nvSpPr>
        <p:spPr>
          <a:xfrm>
            <a:off x="548640" y="3886200"/>
            <a:ext cx="3515258" cy="2240280"/>
          </a:xfrm>
          <a:prstGeom prst="roundRect">
            <a:avLst>
              <a:gd name="adj" fmla="val 4898"/>
            </a:avLst>
          </a:prstGeom>
          <a:solidFill>
            <a:srgbClr val="F3F4F3"/>
          </a:solidFill>
          <a:ln w="12700">
            <a:solidFill>
              <a:srgbClr val="F3F4F3"/>
            </a:solidFill>
            <a:prstDash val="solid"/>
          </a:ln>
        </p:spPr>
      </p:sp>
      <p:sp>
        <p:nvSpPr>
          <p:cNvPr id="9" name="Text 6"/>
          <p:cNvSpPr txBox="1"/>
          <p:nvPr/>
        </p:nvSpPr>
        <p:spPr>
          <a:xfrm>
            <a:off x="777240"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2E7D6B"/>
                </a:solidFill>
              </a:rPr>
              <a:t>정직</a:t>
            </a:r>
            <a:endParaRPr lang="en-US" sz="2100" dirty="0"/>
          </a:p>
          <a:p>
            <a:pPr indent="0" marL="0">
              <a:buNone/>
            </a:pPr>
            <a:r>
              <a:rPr lang="en-US" sz="2000" dirty="0">
                <a:solidFill>
                  <a:srgbClr val="222222"/>
                </a:solidFill>
              </a:rPr>
              <a:t>나의 전문적 한계를 정직하게 밝힌다.</a:t>
            </a:r>
            <a:endParaRPr lang="en-US" sz="2100" dirty="0"/>
          </a:p>
        </p:txBody>
      </p:sp>
      <p:sp>
        <p:nvSpPr>
          <p:cNvPr id="10" name="Shape 7"/>
          <p:cNvSpPr/>
          <p:nvPr/>
        </p:nvSpPr>
        <p:spPr>
          <a:xfrm>
            <a:off x="4338218" y="3886200"/>
            <a:ext cx="3515258" cy="2240280"/>
          </a:xfrm>
          <a:prstGeom prst="roundRect">
            <a:avLst>
              <a:gd name="adj" fmla="val 4898"/>
            </a:avLst>
          </a:prstGeom>
          <a:solidFill>
            <a:srgbClr val="F3F4F3"/>
          </a:solidFill>
          <a:ln w="12700">
            <a:solidFill>
              <a:srgbClr val="F3F4F3"/>
            </a:solidFill>
            <a:prstDash val="solid"/>
          </a:ln>
        </p:spPr>
      </p:sp>
      <p:sp>
        <p:nvSpPr>
          <p:cNvPr id="11" name="Text 8"/>
          <p:cNvSpPr txBox="1"/>
          <p:nvPr/>
        </p:nvSpPr>
        <p:spPr>
          <a:xfrm>
            <a:off x="4566818"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2E7D6B"/>
                </a:solidFill>
              </a:rPr>
              <a:t>공정·연결</a:t>
            </a:r>
            <a:endParaRPr lang="en-US" sz="2100" dirty="0"/>
          </a:p>
          <a:p>
            <a:pPr indent="0" marL="0">
              <a:buNone/>
            </a:pPr>
            <a:r>
              <a:rPr lang="en-US" sz="2000" dirty="0">
                <a:solidFill>
                  <a:srgbClr val="222222"/>
                </a:solidFill>
              </a:rPr>
              <a:t>차별하지 않고, 이해충돌을 숨기지 않으며, 필요할 때 전문가와 공식지원체계에 연결한다.</a:t>
            </a:r>
            <a:endParaRPr lang="en-US" sz="2100" dirty="0"/>
          </a:p>
        </p:txBody>
      </p:sp>
      <p:sp>
        <p:nvSpPr>
          <p:cNvPr id="12" name="Shape 9"/>
          <p:cNvSpPr/>
          <p:nvPr/>
        </p:nvSpPr>
        <p:spPr>
          <a:xfrm>
            <a:off x="8127797" y="3886200"/>
            <a:ext cx="3515258" cy="2240280"/>
          </a:xfrm>
          <a:prstGeom prst="roundRect">
            <a:avLst>
              <a:gd name="adj" fmla="val 4898"/>
            </a:avLst>
          </a:prstGeom>
          <a:solidFill>
            <a:srgbClr val="F3F4F3"/>
          </a:solidFill>
          <a:ln w="12700">
            <a:solidFill>
              <a:srgbClr val="F3F4F3"/>
            </a:solidFill>
            <a:prstDash val="solid"/>
          </a:ln>
        </p:spPr>
      </p:sp>
      <p:sp>
        <p:nvSpPr>
          <p:cNvPr id="13" name="Text 10"/>
          <p:cNvSpPr txBox="1"/>
          <p:nvPr/>
        </p:nvSpPr>
        <p:spPr>
          <a:xfrm>
            <a:off x="8356397"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2E7D6B"/>
                </a:solidFill>
              </a:rPr>
              <a:t>성장</a:t>
            </a:r>
            <a:endParaRPr lang="en-US" sz="2100" dirty="0"/>
          </a:p>
          <a:p>
            <a:pPr indent="0" marL="0">
              <a:buNone/>
            </a:pPr>
            <a:r>
              <a:rPr lang="en-US" sz="2000" dirty="0">
                <a:solidFill>
                  <a:srgbClr val="222222"/>
                </a:solidFill>
              </a:rPr>
              <a:t>지속적으로 배우고 성찰하며, 나의 말과 행동이 미칠 영향을 책임 있게 점검한다.</a:t>
            </a:r>
            <a:endParaRPr lang="en-US" sz="21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수료 나눔</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나의 WLC 선언</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400" b="1" dirty="0">
                <a:solidFill>
                  <a:srgbClr val="1F4E4A"/>
                </a:solidFill>
              </a:rPr>
              <a:t>오늘 아침 접어 둔 선언 초안을 다듬어, 한 사람씩 한 문장으로 읽습니다.</a:t>
            </a:r>
            <a:endParaRPr lang="en-US" sz="24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990600"/>
          </a:xfrm>
          <a:prstGeom prst="rect">
            <a:avLst/>
          </a:prstGeom>
          <a:noFill/>
          <a:ln/>
        </p:spPr>
        <p:txBody>
          <a:bodyPr wrap="square" lIns="0" tIns="0" rIns="0" bIns="0" rtlCol="0" anchor="t"/>
          <a:lstStyle/>
          <a:p>
            <a:pPr indent="0" marL="0">
              <a:buNone/>
            </a:pPr>
            <a:r>
              <a:rPr lang="en-US" sz="2100" dirty="0">
                <a:solidFill>
                  <a:srgbClr val="222222"/>
                </a:solidFill>
              </a:rPr>
              <a:t>초안 3문장 중 가장 나다운 한 문장을 고릅니다(1분).</a:t>
            </a:r>
            <a:endParaRPr lang="en-US" sz="2100" dirty="0"/>
          </a:p>
        </p:txBody>
      </p:sp>
      <p:sp>
        <p:nvSpPr>
          <p:cNvPr id="9" name="Shape 7"/>
          <p:cNvSpPr/>
          <p:nvPr/>
        </p:nvSpPr>
        <p:spPr>
          <a:xfrm>
            <a:off x="822960" y="388924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38892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3870960"/>
            <a:ext cx="6309360" cy="990600"/>
          </a:xfrm>
          <a:prstGeom prst="rect">
            <a:avLst/>
          </a:prstGeom>
          <a:noFill/>
          <a:ln/>
        </p:spPr>
        <p:txBody>
          <a:bodyPr wrap="square" lIns="0" tIns="0" rIns="0" bIns="0" rtlCol="0" anchor="t"/>
          <a:lstStyle/>
          <a:p>
            <a:pPr indent="0" marL="0">
              <a:buNone/>
            </a:pPr>
            <a:r>
              <a:rPr lang="en-US" sz="2100" dirty="0">
                <a:solidFill>
                  <a:srgbClr val="222222"/>
                </a:solidFill>
              </a:rPr>
              <a:t>원형으로 앉아 돌아가며 “나는 WLC로서 …”를 읽습니다.</a:t>
            </a:r>
            <a:endParaRPr lang="en-US" sz="2100" dirty="0"/>
          </a:p>
        </p:txBody>
      </p:sp>
      <p:sp>
        <p:nvSpPr>
          <p:cNvPr id="12" name="Shape 10"/>
          <p:cNvSpPr/>
          <p:nvPr/>
        </p:nvSpPr>
        <p:spPr>
          <a:xfrm>
            <a:off x="822960" y="4925568"/>
            <a:ext cx="384048" cy="384048"/>
          </a:xfrm>
          <a:prstGeom prst="ellipse">
            <a:avLst/>
          </a:prstGeom>
          <a:solidFill>
            <a:srgbClr val="2E7D6B"/>
          </a:solidFill>
          <a:ln w="12700">
            <a:solidFill>
              <a:srgbClr val="2E7D6B"/>
            </a:solidFill>
            <a:prstDash val="solid"/>
          </a:ln>
        </p:spPr>
      </p:sp>
      <p:sp>
        <p:nvSpPr>
          <p:cNvPr id="13" name="Text 11"/>
          <p:cNvSpPr txBox="1"/>
          <p:nvPr/>
        </p:nvSpPr>
        <p:spPr>
          <a:xfrm>
            <a:off x="822960" y="4925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371600" y="4907280"/>
            <a:ext cx="6309360" cy="990600"/>
          </a:xfrm>
          <a:prstGeom prst="rect">
            <a:avLst/>
          </a:prstGeom>
          <a:noFill/>
          <a:ln/>
        </p:spPr>
        <p:txBody>
          <a:bodyPr wrap="square" lIns="0" tIns="0" rIns="0" bIns="0" rtlCol="0" anchor="t"/>
          <a:lstStyle/>
          <a:p>
            <a:pPr indent="0" marL="0">
              <a:buNone/>
            </a:pPr>
            <a:r>
              <a:rPr lang="en-US" sz="2100" dirty="0">
                <a:solidFill>
                  <a:srgbClr val="222222"/>
                </a:solidFill>
              </a:rPr>
              <a:t>읽은 사람에게 모두 짧은 박수로 응답합니다.</a:t>
            </a:r>
            <a:endParaRPr lang="en-US" sz="2100" dirty="0"/>
          </a:p>
        </p:txBody>
      </p:sp>
      <p:sp>
        <p:nvSpPr>
          <p:cNvPr id="15" name="Shape 13"/>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6" name="Shape 14"/>
          <p:cNvSpPr/>
          <p:nvPr/>
        </p:nvSpPr>
        <p:spPr>
          <a:xfrm>
            <a:off x="8430768" y="1755648"/>
            <a:ext cx="457200" cy="457200"/>
          </a:xfrm>
          <a:prstGeom prst="ellipse">
            <a:avLst/>
          </a:prstGeom>
          <a:solidFill>
            <a:srgbClr val="D98E04"/>
          </a:solidFill>
          <a:ln w="12700">
            <a:solidFill>
              <a:srgbClr val="D98E04"/>
            </a:solidFill>
            <a:prstDash val="solid"/>
          </a:ln>
        </p:spPr>
      </p:sp>
      <p:pic>
        <p:nvPicPr>
          <p:cNvPr id="17"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18" name="Text 15"/>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19" name="Text 16"/>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7분</a:t>
            </a:r>
            <a:endParaRPr lang="en-US" sz="2800" dirty="0"/>
          </a:p>
        </p:txBody>
      </p:sp>
      <p:sp>
        <p:nvSpPr>
          <p:cNvPr id="20" name="Shape 17"/>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Shape 18"/>
          <p:cNvSpPr/>
          <p:nvPr/>
        </p:nvSpPr>
        <p:spPr>
          <a:xfrm>
            <a:off x="8430768" y="3328416"/>
            <a:ext cx="457200" cy="457200"/>
          </a:xfrm>
          <a:prstGeom prst="ellipse">
            <a:avLst/>
          </a:prstGeom>
          <a:solidFill>
            <a:srgbClr val="2E7D6B"/>
          </a:solidFill>
          <a:ln w="12700">
            <a:solidFill>
              <a:srgbClr val="2E7D6B"/>
            </a:solidFill>
            <a:prstDash val="solid"/>
          </a:ln>
        </p:spPr>
      </p:sp>
      <p:pic>
        <p:nvPicPr>
          <p:cNvPr id="22"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3" name="Text 19"/>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4" name="Text 20"/>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전체 원형</a:t>
            </a:r>
            <a:endParaRPr lang="en-US" sz="1800" dirty="0"/>
          </a:p>
        </p:txBody>
      </p:sp>
      <p:sp>
        <p:nvSpPr>
          <p:cNvPr id="25" name="Shape 21"/>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6" name="Shape 22"/>
          <p:cNvSpPr/>
          <p:nvPr/>
        </p:nvSpPr>
        <p:spPr>
          <a:xfrm>
            <a:off x="8430768" y="4901184"/>
            <a:ext cx="457200" cy="457200"/>
          </a:xfrm>
          <a:prstGeom prst="ellipse">
            <a:avLst/>
          </a:prstGeom>
          <a:solidFill>
            <a:srgbClr val="2E7D6B"/>
          </a:solidFill>
          <a:ln w="12700">
            <a:solidFill>
              <a:srgbClr val="2E7D6B"/>
            </a:solidFill>
            <a:prstDash val="solid"/>
          </a:ln>
        </p:spPr>
      </p:sp>
      <p:pic>
        <p:nvPicPr>
          <p:cNvPr id="27"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28" name="Text 23"/>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29" name="Text 24"/>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나의 WLC 선언 1문장</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수료 이후 첫 실천</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내일부터 시작할 세 가지</a:t>
            </a:r>
            <a:endParaRPr lang="en-US" sz="2800" dirty="0"/>
          </a:p>
        </p:txBody>
      </p:sp>
      <p:sp>
        <p:nvSpPr>
          <p:cNvPr id="4" name="Shape 2"/>
          <p:cNvSpPr/>
          <p:nvPr/>
        </p:nvSpPr>
        <p:spPr>
          <a:xfrm>
            <a:off x="548640" y="1554480"/>
            <a:ext cx="3515258" cy="4617720"/>
          </a:xfrm>
          <a:prstGeom prst="roundRect">
            <a:avLst>
              <a:gd name="adj" fmla="val 3121"/>
            </a:avLst>
          </a:prstGeom>
          <a:solidFill>
            <a:srgbClr val="EAF3F0"/>
          </a:solidFill>
          <a:ln w="12700">
            <a:solidFill>
              <a:srgbClr val="EAF3F0"/>
            </a:solidFill>
            <a:prstDash val="solid"/>
          </a:ln>
        </p:spPr>
      </p:sp>
      <p:sp>
        <p:nvSpPr>
          <p:cNvPr id="5" name="Shape 3"/>
          <p:cNvSpPr/>
          <p:nvPr/>
        </p:nvSpPr>
        <p:spPr>
          <a:xfrm>
            <a:off x="777240" y="1783080"/>
            <a:ext cx="548640" cy="548640"/>
          </a:xfrm>
          <a:prstGeom prst="ellipse">
            <a:avLst/>
          </a:prstGeom>
          <a:solidFill>
            <a:srgbClr val="2E7D6B"/>
          </a:solidFill>
          <a:ln w="12700">
            <a:solidFill>
              <a:srgbClr val="2E7D6B"/>
            </a:solidFill>
            <a:prstDash val="solid"/>
          </a:ln>
        </p:spPr>
      </p:sp>
      <p:pic>
        <p:nvPicPr>
          <p:cNvPr id="6" name="Image 0" descr="preencoded.png">    </p:cNvPr>
          <p:cNvPicPr>
            <a:picLocks noChangeAspect="1"/>
          </p:cNvPicPr>
          <p:nvPr/>
        </p:nvPicPr>
        <p:blipFill>
          <a:blip r:embed="rId1"/>
          <a:stretch>
            <a:fillRect/>
          </a:stretch>
        </p:blipFill>
        <p:spPr>
          <a:xfrm>
            <a:off x="919886" y="1925726"/>
            <a:ext cx="263347" cy="263347"/>
          </a:xfrm>
          <a:prstGeom prst="rect">
            <a:avLst/>
          </a:prstGeom>
        </p:spPr>
      </p:pic>
      <p:sp>
        <p:nvSpPr>
          <p:cNvPr id="7" name="Text 4"/>
          <p:cNvSpPr txBox="1"/>
          <p:nvPr/>
        </p:nvSpPr>
        <p:spPr>
          <a:xfrm>
            <a:off x="777240" y="2468880"/>
            <a:ext cx="3058058" cy="356616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필기 복습</a:t>
            </a:r>
            <a:endParaRPr lang="en-US" sz="2200" dirty="0"/>
          </a:p>
          <a:p>
            <a:pPr indent="0" marL="0">
              <a:buNone/>
            </a:pPr>
            <a:r>
              <a:rPr lang="en-US" sz="2200" dirty="0">
                <a:solidFill>
                  <a:srgbClr val="222222"/>
                </a:solidFill>
              </a:rPr>
              <a:t>1~16강 학습점검 문항과 핵심정리를 다시 읽습니다.</a:t>
            </a:r>
            <a:endParaRPr lang="en-US" sz="2200" dirty="0"/>
          </a:p>
        </p:txBody>
      </p:sp>
      <p:sp>
        <p:nvSpPr>
          <p:cNvPr id="8" name="Shape 5"/>
          <p:cNvSpPr/>
          <p:nvPr/>
        </p:nvSpPr>
        <p:spPr>
          <a:xfrm>
            <a:off x="4338218" y="1554480"/>
            <a:ext cx="3515258" cy="4617720"/>
          </a:xfrm>
          <a:prstGeom prst="roundRect">
            <a:avLst>
              <a:gd name="adj" fmla="val 3121"/>
            </a:avLst>
          </a:prstGeom>
          <a:solidFill>
            <a:srgbClr val="EAF3F0"/>
          </a:solidFill>
          <a:ln w="12700">
            <a:solidFill>
              <a:srgbClr val="EAF3F0"/>
            </a:solidFill>
            <a:prstDash val="solid"/>
          </a:ln>
        </p:spPr>
      </p:sp>
      <p:sp>
        <p:nvSpPr>
          <p:cNvPr id="9" name="Shape 6"/>
          <p:cNvSpPr/>
          <p:nvPr/>
        </p:nvSpPr>
        <p:spPr>
          <a:xfrm>
            <a:off x="4566818" y="1783080"/>
            <a:ext cx="548640" cy="548640"/>
          </a:xfrm>
          <a:prstGeom prst="ellipse">
            <a:avLst/>
          </a:prstGeom>
          <a:solidFill>
            <a:srgbClr val="2E7D6B"/>
          </a:solidFill>
          <a:ln w="12700">
            <a:solidFill>
              <a:srgbClr val="2E7D6B"/>
            </a:solidFill>
            <a:prstDash val="solid"/>
          </a:ln>
        </p:spPr>
      </p:sp>
      <p:pic>
        <p:nvPicPr>
          <p:cNvPr id="10" name="Image 1" descr="preencoded.png">    </p:cNvPr>
          <p:cNvPicPr>
            <a:picLocks noChangeAspect="1"/>
          </p:cNvPicPr>
          <p:nvPr/>
        </p:nvPicPr>
        <p:blipFill>
          <a:blip r:embed="rId2"/>
          <a:stretch>
            <a:fillRect/>
          </a:stretch>
        </p:blipFill>
        <p:spPr>
          <a:xfrm>
            <a:off x="4709465" y="1925726"/>
            <a:ext cx="263347" cy="263347"/>
          </a:xfrm>
          <a:prstGeom prst="rect">
            <a:avLst/>
          </a:prstGeom>
        </p:spPr>
      </p:pic>
      <p:sp>
        <p:nvSpPr>
          <p:cNvPr id="11" name="Text 7"/>
          <p:cNvSpPr txBox="1"/>
          <p:nvPr/>
        </p:nvSpPr>
        <p:spPr>
          <a:xfrm>
            <a:off x="4566818" y="2468880"/>
            <a:ext cx="3058058" cy="356616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동료와 연결</a:t>
            </a:r>
            <a:endParaRPr lang="en-US" sz="2200" dirty="0"/>
          </a:p>
          <a:p>
            <a:pPr indent="0" marL="0">
              <a:buNone/>
            </a:pPr>
            <a:r>
              <a:rPr lang="en-US" sz="2200" dirty="0">
                <a:solidFill>
                  <a:srgbClr val="222222"/>
                </a:solidFill>
              </a:rPr>
              <a:t>오늘의 짝과 연락처를 나누고 첫 사례회의 날짜를 정합니다.</a:t>
            </a:r>
            <a:endParaRPr lang="en-US" sz="2200" dirty="0"/>
          </a:p>
        </p:txBody>
      </p:sp>
      <p:sp>
        <p:nvSpPr>
          <p:cNvPr id="12" name="Shape 8"/>
          <p:cNvSpPr/>
          <p:nvPr/>
        </p:nvSpPr>
        <p:spPr>
          <a:xfrm>
            <a:off x="8127797" y="1554480"/>
            <a:ext cx="3515258" cy="4617720"/>
          </a:xfrm>
          <a:prstGeom prst="roundRect">
            <a:avLst>
              <a:gd name="adj" fmla="val 3121"/>
            </a:avLst>
          </a:prstGeom>
          <a:solidFill>
            <a:srgbClr val="E8EFF8"/>
          </a:solidFill>
          <a:ln w="12700">
            <a:solidFill>
              <a:srgbClr val="E8EFF8"/>
            </a:solidFill>
            <a:prstDash val="solid"/>
          </a:ln>
        </p:spPr>
      </p:sp>
      <p:sp>
        <p:nvSpPr>
          <p:cNvPr id="13" name="Shape 9"/>
          <p:cNvSpPr/>
          <p:nvPr/>
        </p:nvSpPr>
        <p:spPr>
          <a:xfrm>
            <a:off x="8356397" y="1783080"/>
            <a:ext cx="548640" cy="548640"/>
          </a:xfrm>
          <a:prstGeom prst="ellipse">
            <a:avLst/>
          </a:prstGeom>
          <a:solidFill>
            <a:srgbClr val="3A6EA5"/>
          </a:solidFill>
          <a:ln w="12700">
            <a:solidFill>
              <a:srgbClr val="3A6EA5"/>
            </a:solidFill>
            <a:prstDash val="solid"/>
          </a:ln>
        </p:spPr>
      </p:sp>
      <p:pic>
        <p:nvPicPr>
          <p:cNvPr id="14" name="Image 2" descr="preencoded.png">    </p:cNvPr>
          <p:cNvPicPr>
            <a:picLocks noChangeAspect="1"/>
          </p:cNvPicPr>
          <p:nvPr/>
        </p:nvPicPr>
        <p:blipFill>
          <a:blip r:embed="rId3"/>
          <a:stretch>
            <a:fillRect/>
          </a:stretch>
        </p:blipFill>
        <p:spPr>
          <a:xfrm>
            <a:off x="8499043" y="1925726"/>
            <a:ext cx="263347" cy="263347"/>
          </a:xfrm>
          <a:prstGeom prst="rect">
            <a:avLst/>
          </a:prstGeom>
        </p:spPr>
      </p:pic>
      <p:sp>
        <p:nvSpPr>
          <p:cNvPr id="15" name="Text 10"/>
          <p:cNvSpPr txBox="1"/>
          <p:nvPr/>
        </p:nvSpPr>
        <p:spPr>
          <a:xfrm>
            <a:off x="8356397" y="2468880"/>
            <a:ext cx="3058058" cy="3566160"/>
          </a:xfrm>
          <a:prstGeom prst="rect">
            <a:avLst/>
          </a:prstGeom>
          <a:noFill/>
          <a:ln/>
        </p:spPr>
        <p:txBody>
          <a:bodyPr wrap="square" lIns="0" tIns="0" rIns="0" bIns="0" rtlCol="0" anchor="t"/>
          <a:lstStyle/>
          <a:p>
            <a:pPr indent="0" marL="0">
              <a:spcAft>
                <a:spcPts val="600"/>
              </a:spcAft>
              <a:buNone/>
            </a:pPr>
            <a:r>
              <a:rPr lang="en-US" sz="2200" b="1" dirty="0">
                <a:solidFill>
                  <a:srgbClr val="3A6EA5"/>
                </a:solidFill>
              </a:rPr>
              <a:t>나의 엔딩노트</a:t>
            </a:r>
            <a:endParaRPr lang="en-US" sz="2200" dirty="0"/>
          </a:p>
          <a:p>
            <a:pPr indent="0" marL="0">
              <a:buNone/>
            </a:pPr>
            <a:r>
              <a:rPr lang="en-US" sz="2200" dirty="0">
                <a:solidFill>
                  <a:srgbClr val="222222"/>
                </a:solidFill>
              </a:rPr>
              <a:t>내 엔딩노트의 한 칸을 이번 주 안에 업데이트합니다.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48640" y="1463040"/>
            <a:ext cx="11094415" cy="457200"/>
          </a:xfrm>
          <a:prstGeom prst="rect">
            <a:avLst/>
          </a:prstGeom>
          <a:noFill/>
          <a:ln/>
        </p:spPr>
        <p:txBody>
          <a:bodyPr wrap="square" lIns="0" tIns="0" rIns="0" bIns="0" rtlCol="0" anchor="t"/>
          <a:lstStyle/>
          <a:p>
            <a:pPr algn="ctr" indent="0" marL="0">
              <a:buNone/>
            </a:pPr>
            <a:r>
              <a:rPr lang="en-US" sz="1800" b="1" dirty="0">
                <a:solidFill>
                  <a:srgbClr val="8FB9A8"/>
                </a:solidFill>
              </a:rPr>
              <a:t>WLC 2급 16강 과정을 마치며</a:t>
            </a:r>
            <a:endParaRPr lang="en-US" sz="1800" dirty="0"/>
          </a:p>
        </p:txBody>
      </p:sp>
      <p:sp>
        <p:nvSpPr>
          <p:cNvPr id="3" name="Text 1"/>
          <p:cNvSpPr txBox="1"/>
          <p:nvPr/>
        </p:nvSpPr>
        <p:spPr>
          <a:xfrm>
            <a:off x="1005840" y="2103120"/>
            <a:ext cx="10180015" cy="2011680"/>
          </a:xfrm>
          <a:prstGeom prst="rect">
            <a:avLst/>
          </a:prstGeom>
          <a:noFill/>
          <a:ln/>
        </p:spPr>
        <p:txBody>
          <a:bodyPr wrap="square" lIns="0" tIns="0" rIns="0" bIns="0" rtlCol="0" anchor="ctr"/>
          <a:lstStyle/>
          <a:p>
            <a:pPr algn="ctr" indent="0" marL="0">
              <a:buNone/>
            </a:pPr>
            <a:r>
              <a:rPr lang="en-US" sz="4000" b="1" dirty="0">
                <a:solidFill>
                  <a:srgbClr val="FFFFFF"/>
                </a:solidFill>
              </a:rPr>
              <a:t>“죽음에 관한 모든 대화의 마지막은</a:t>
            </a:r>
            <a:endParaRPr lang="en-US" sz="4000" dirty="0"/>
          </a:p>
          <a:p>
            <a:pPr algn="ctr" indent="0" marL="0">
              <a:buNone/>
            </a:pPr>
            <a:r>
              <a:rPr lang="en-US" sz="4000" b="1" dirty="0">
                <a:solidFill>
                  <a:srgbClr val="FFFFFF"/>
                </a:solidFill>
              </a:rPr>
              <a:t>지금 어떻게 살 것인가로</a:t>
            </a:r>
            <a:endParaRPr lang="en-US" sz="4000" dirty="0"/>
          </a:p>
          <a:p>
            <a:pPr algn="ctr" indent="0" marL="0">
              <a:buNone/>
            </a:pPr>
            <a:r>
              <a:rPr lang="en-US" sz="4000" b="1" dirty="0">
                <a:solidFill>
                  <a:srgbClr val="FFFFFF"/>
                </a:solidFill>
              </a:rPr>
              <a:t>이어집니다.”</a:t>
            </a:r>
            <a:endParaRPr lang="en-US" sz="4000" dirty="0"/>
          </a:p>
        </p:txBody>
      </p:sp>
      <p:sp>
        <p:nvSpPr>
          <p:cNvPr id="4" name="Text 2"/>
          <p:cNvSpPr txBox="1"/>
          <p:nvPr/>
        </p:nvSpPr>
        <p:spPr>
          <a:xfrm>
            <a:off x="548640" y="4480560"/>
            <a:ext cx="11094415" cy="548640"/>
          </a:xfrm>
          <a:prstGeom prst="rect">
            <a:avLst/>
          </a:prstGeom>
          <a:noFill/>
          <a:ln/>
        </p:spPr>
        <p:txBody>
          <a:bodyPr wrap="square" lIns="0" tIns="0" rIns="0" bIns="0" rtlCol="0" anchor="t"/>
          <a:lstStyle/>
          <a:p>
            <a:pPr algn="ctr" indent="0" marL="0">
              <a:buNone/>
            </a:pPr>
            <a:r>
              <a:rPr lang="en-US" sz="1800" dirty="0">
                <a:solidFill>
                  <a:srgbClr val="CFE3DC"/>
                </a:solidFill>
              </a:rPr>
              <a:t>16강을 함께해 주셔서 고맙습니다 — 웰다잉을 웰빙으로</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57</a:t>
            </a:fld>
            <a:endParaRPr lang="en-US"/>
          </a:p>
        </p:txBody>
      </p:sp>
    </p:spTree>
  </p:cSld>
  <p:clrMapOvr>
    <a:masterClrMapping/>
  </p:clrMapOvr>
</p:sld>
</file>

<file path=ppt/theme/theme1.xml><?xml version="1.0" encoding="utf-8"?>
<a:theme xmlns:a="http://schemas.openxmlformats.org/drawingml/2006/main" name="WLC Teal">
  <a:themeElements>
    <a:clrScheme name="WLC Teal">
      <a:dk1>
        <a:srgbClr val="222222"/>
      </a:dk1>
      <a:lt1>
        <a:srgbClr val="FFFFFF"/>
      </a:lt1>
      <a:dk2>
        <a:srgbClr val="1F4E4A"/>
      </a:dk2>
      <a:lt2>
        <a:srgbClr val="EAF3F0"/>
      </a:lt2>
      <a:accent1>
        <a:srgbClr val="2E7D6B"/>
      </a:accent1>
      <a:accent2>
        <a:srgbClr val="D98E04"/>
      </a:accent2>
      <a:accent3>
        <a:srgbClr val="3A6EA5"/>
      </a:accent3>
      <a:accent4>
        <a:srgbClr val="B5452F"/>
      </a:accent4>
      <a:accent5>
        <a:srgbClr val="8FB9A8"/>
      </a:accent5>
      <a:accent6>
        <a:srgbClr val="6B6B6B"/>
      </a:accent6>
      <a:hlink>
        <a:srgbClr val="3A6EA5"/>
      </a:hlink>
      <a:folHlink>
        <a:srgbClr val="1F4E4A"/>
      </a:folHlink>
    </a:clrScheme>
    <a:fontScheme name="WLC Teal">
      <a:majorFont>
        <a:latin typeface="Noto Serif KR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erif KR Blac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WLC 2급 제16강 WLC 전문직 윤리·자격검정과 지속성장</dc:title>
  <dc:subject>PptxGenJS Presentation</dc:subject>
  <dc:creator>삶잇다협동조합</dc:creator>
  <cp:lastModifiedBy>삶잇다협동조합</cp:lastModifiedBy>
  <cp:revision>1</cp:revision>
  <dcterms:created xsi:type="dcterms:W3CDTF">2026-10-29T23:51:02Z</dcterms:created>
  <dcterms:modified xsi:type="dcterms:W3CDTF">2026-10-29T23:51:02Z</dcterms:modified>
</cp:coreProperties>
</file>