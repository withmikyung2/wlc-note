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2d759087-1961-3205-b94b-3633e373dd3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일본 슈카츠" id="{21e47211-a0b6-96af-ec37-3a1838c3d18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2교시 세계의 웰다잉 문화" id="{4ba14f1e-1bf1-d49e-f854-1750488ad408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3교시 원리를 배워 내 프로그램으로" id="{ece5b651-206c-d783-9753-da24bfc2da14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정리와 예고" id="{2f64afb1-8cdf-7a00-be70-b46632397d7c}">
          <p14:sldIdLst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"지난 시간 한국 엔딩산업의 지도를 보았습니다. 오늘은 국경을 넘어, 다른 나라는 삶의 마무리를 어떻게 준비하는지 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제2부 두 번째 시간. 다음 시간(6강)은 다시 한국의 장례·장묘 제도로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슈카츠 7영역 자기점검표, 조별 국제사례 변용표.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4강 과제
계약서를 가져온 경우 개인정보가 가려져 있는지 확인. 좋은 대화질문 2~3개를 칠판에 적어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4장 핵심정리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1절
예상: 일본 종활, 멕시코 죽은 자의 날(영화 "코코"), 발리 화장 의례, 서양의 추도식 등.
이유를 들으면 "우리가 부러워한 것은 방식이 아니라 그 안의 원리"임을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5장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5장 학습목표 1~8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5장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 · WLC 비교 원칙
오늘 3교시 "국제사례 변용표"가 이 세 질문 그대로다.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0:21–0:24 (3분)
📖 교재: 2절
장수 자체는 성과지만, 혼자 사는 고령자 증가·돌봄과 의료의 장기화·재산·주거·묘지 관리 문제가 함께 커졌다.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0:24–0:28 (4분)
📖 교재: 2절 · 표
서술형 Q2. 2강의 한국 초고령사회 수치와 비교해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0:28–0:31 (3분)
📖 교재: 3절
서술형 Q1. 코치노트 1: 슈카츠를 체크리스트 경쟁으로 만들지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0:31–0:35 (4분)
📖 교재: 3절 · 표
3교시 실습 1(슈카츠 7영역 자기점검)의 기준. 3강 엔딩노트 6영역과 비교: "사후사무"가 추가된 점에 주목.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0:35–0:38 (3분)
📖 교재: 4절
서술형 Q3. 3강 과제(엔딩노트 "나의 삶")의 어려웠던 점과 연결해 이야기.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5.1~5.2절
서술형 Q4: 개인 엔딩노트는 작성에 그치지만, 요코스카는 공공이 의사전달의 공백을 보완한다. 종활지원센터 운영. 핵심정리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0:42–0:46 (4분)
📖 교재: 5절 · 코치노트 2
"아는 사람: 없음"이 대부분일 것이다. 그것이 요코스카가 해결하려던 문제임을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0:46–0:48 (2분)
📖 교재: 6절 · 한국과의 연결
서술형 Q5. 코치노트 3: 묘지문제는 가족관계 문제일 수 있다 — 관리자·거리·비용·종교·가족감정을 함께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7절 · 표
실무는 7강에서 독립적으로 심화. 코치노트 4: 생전정리를 폐기작업으로 만들지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1:05–1:07 (2분)
📖 교재: 8절 · WLC 원칙
OX 2번(간소한 장례가 더 좋은 장례 → 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1:07–1:11 (4분)
📖 교재: 9절 · 표
4강의 한국 엔딩산업 지도와 비교. "보증·사후사무"는 한국에서 아직 제도화가 덜 된 영역.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1:11–1:15 (4분)
📖 교재: 10절 · 표
일본 파트 정리. 여섯 줄 모두 "~에서 ~로"의 구조임을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1:15–1:19 (4분)
📖 교재: 11절
“dö”(죽음)+“städning”(정리). 마르가레타 망누손(2017) The Gentle Art of Swedish Death Cleaning. 서술형 Q6.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1:19–1:24 (5분)
📖 교재: 11절 · 3강 13절 비움과 나눔
휴대폰 사진첩에서 물건 사진을 찾아 보여 줘도 좋다. 7강 생전정리 실습의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1:24–1:28 (4분)
📖 교재: 12절
Agency for Integrated Care(AIC). 서술형 Q7. 9강(의료결정·ACP)에서 한국 제도와 함께 심화. 해외 ACP는 한국과 법적 효력이 다르다(코치노트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1:28–1:32 (4분)
📖 교재: 13절 · NHPCO(2024)
서술형 Q8. 웰다잉이 임종 순간에 끝나지 않는다는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1:32–1:35 (3분)
📖 교재: 14절 · WLC 적용
Día de Muertos. 추모를 "잊기 위한 과정"으로만 설명하지 않는다. OX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1:35–1:39 (4분)
📖 교재: 15절 · 표
서술형 Q10(네 대화 방향의 코칭 질문). 13강(임종 돌봄)에서 다시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1:39–1:43 (4분)
📖 교재: 16절 · 표
서술형 Q9(문화적 상대성 원칙 3가지). 코치노트 6: "일본인은", "서양인은"이라고 단정하지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1:43–1:49 (6분)
📖 교재: 17절 · 표
3교시 변용표 실습의 출발점. 조별로 한 줄씩 맡게 된다고 미리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조 편성(6개 사례 중 하나씩 배정).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18절 · 표
상황: 67세 내담자가 일본 슈카츠 프로그램을 본 뒤 불안해하며 질문.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2:04–2:14 (10분)
📖 교재: 18절
내담자 역할은 자신의 실제 고민(실습 1 결과)을 써도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2:14–2:22 (8분)
📖 교재: 19.1절 · 실습지
점수 비교는 하지 않는다. 가장 낮은 영역 하나의 "다음 행동"만 구체적으로 쓰게 한다.
이 표는 이후 강의 순서와 겹친다: 의료(9강)·재산(8강)·장례(6·14강)·정리·디지털(7강).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2:22–2:34 (12분)
📖 교재: 19.2절 · 실습지
조마다 한 줄씩 맡는다. "어려운 점"에는 법·제도·가족문화·종교·시장환경 중 무엇이 다른지 쓰게 한다.
예) 요코스카 종활 등록 → 한국에는 같은 제도가 없음 → "복지관 엔딩노트 보관함 + 비상연락 카드" 프로그램.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2:34–2:40 (6분)
📖 교재: 19.2절 · 1절 비교 원칙
발표된 변용안 중 좋은 것은 15강(교육프로그램 운영)에서 다시 쓴다고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2:40–2:44 (4분)
📖 교재: 19.3절
세 질문이 슈카츠(의사전달)·데스클리닝(보존)·장례의 의미(6강 예고)와 각각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1·8·14절 · 문화적·법적 고지
정답: 1 O / 2 X / 3 X / 4 O
※ 5강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2절
정답 ③. 3,624만 명. ①은 한국(2025)의 수치.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3절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5절
정답 ②. 긴급연락처·보관장소 등을 시에 등록해 의사표현이 어려울 때 전달.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11절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12절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5장 본문 (강사 제작 문항)
객관식 5번 정답 ②(지속적 대화)는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20절 학습점검 Q1~Q10
채점 기준(문항당 10점): 핵심요소 3개 10점 / 2개 7점 / 1개 4점 / 없음 0점, 역할경계 이탈 -3점.
※ 5장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21절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22절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19.3절 · 5절 · 11절
다음 시간 첫 5분에 가족 대화 경험을 나눈다.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21절 · 제5장의 마지막 질문
10초 침묵 후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23절 제6장으로의 연결
제5장에서 세계의 웰다잉 문화를 보았다면, 제6장은 한국의 장례·장묘 제도 자체를 최신 법령에 따라 깊이 다룬다.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제5강 일본 슈카츠와 세계의 웰다잉 문화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제5강 일본 슈카츠와 세계의 웰다잉 문화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제2부 변화하는 죽음문화와 엔딩사회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제5강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일본 슈카츠와 세계의 웰다잉 문화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Japanese Shūkatsu &amp; Global Well-dying Cultures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일본 슈카츠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초고령 일본과 슈카츠 7영역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엔딩노트·요코스카 지원·묘지 계승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세계의 웰다잉 문화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생전정리·일본에서 배울 것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스웨덴·싱가포르·미국·멕시코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네 가지 욕구·문화적 역량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원리를 배워 내 프로그램으로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슈카츠 자기점검·국제사례 변용표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퀴즈·정리·다음 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지역에서 찾은 것, 우리 집에서 나눈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4강 과제 — e하늘 장사시설 확인, 우리 집 상조 계약 점검 또는 장례 바람 나누기, 대화질문 다듬기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과제 경험을 나눕니다.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e하늘에서 새로 알게 된 정보 하나를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다듬어 온 대화질문 중 가장 마음에 드는 것 하나를 읽어 줍니다.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새로 알게 된 공공정보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지난 시간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제4강에서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엔딩산업은 생태계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돌봄부터 애도·교육까지 연결됩니다.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1,131만 명 ≠ 상조 가입자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통계는 해석해서 씁니다.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WLC는 안내자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판매하지 않고, 선택을 돕고, 연결합니다.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오늘은 다른 나라의 사례에서 “따라 할 것”이 아니라 “배울 원리”를 찾습니다.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“다른 나라의 장례나 죽음 준비 문화 중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기억에 남는 것이 있나요?”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영화·여행·뉴스·책에서 본 장면도 좋습니다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짝과 2분씩 나눕니다. 그 문화가 왜 인상 깊었는지 이유도 함께 말합니다.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문화가 다르면 죽음의 방식도 다르지만,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존엄·관계·의미를 지키고 싶은 마음은 닮아 있다.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일본의 슈카츠는 장례 준비를 넘어 삶의 후반기·의료·재산·관계·물건·묘지·사후사무를 스스로 정리하는 사회문화로 확장되었다. 세계의 사례를 배우는 목적은 그대로 따라 하기 위해서가 아니라, 원리를 배워 한국의 현실에 맞게 바꾸기 위해서다.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일본 배경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초고령 일본에서 슈카츠가 확산된 맥락을 설명한다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통합 준비문화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슈카츠를 장례를 넘어선 통합 준비로 이해한다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공공의 역할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지자체의 종활정보 등록·사후지원을 설명한다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묘지와 장묘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묘지계승·개장과 한국 장묘의 공통점과 차이를 본다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해외 철학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데스클리닝·ACP·호스피스의 핵심을 설명한다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문화적 상대성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우열 없이 개인의 가치관을 존중해 코칭한다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변용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해외사례를 한국의 법·문화에 맞게 바꾼다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교육모델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국제사례를 통합 교육모델로 재구성한다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77340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5773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슈카츠(終活)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27148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27148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엔딩노트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5052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5052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생전정리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362956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62956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유품정리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80860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80860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사후사무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9876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876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묘지계승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16668" y="1691640"/>
            <a:ext cx="136245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16668" y="1691640"/>
            <a:ext cx="1362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개장(改葬)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87168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무연묘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851660" y="2487168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51660" y="2487168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데스클리닝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84448" y="2487168"/>
            <a:ext cx="81381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84448" y="2487168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99432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99432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호스피스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17336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17336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애도지원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35240" y="2487168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35240" y="24871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문화적 상대성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701784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01784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문화적 역량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의미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636776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36776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용서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724912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24912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사랑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13048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13048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작별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일본 고령화율 29.3%, 요코스카 종활 등록, “데스클리닝 = 선택하기”, “ACP = 지속적 대화”를 기억하세요.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일본 슈카츠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“마지막 준비”에서 “삶의 후반기 설계”로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왜 다른 나라를 배우는가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초고령 일본과 슈카츠 7영역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엔딩노트·요코스카의 공공지원·묘지 계승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왜 배우는가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사례를 모방하지 말고 원리를 배운다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62429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62429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그 나라에서 왜 필요했는가?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사회·가족·제도의 배경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4106570" y="27614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3458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7248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672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0618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어떤 문제를 해결했는가?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그 사례의 핵심 원리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911389" y="27614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8277" y="1828800"/>
            <a:ext cx="3484778" cy="2103120"/>
          </a:xfrm>
          <a:prstGeom prst="roundRect">
            <a:avLst>
              <a:gd name="adj" fmla="val 5217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2066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7206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2606040"/>
            <a:ext cx="32104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한국에서는 무엇을 바꿔야 하는가?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법·제도·가족문화·시장에 맞게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 비교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목적은 “어느 나라가 더 잘 죽는가”를 평가하는 것이 아닙니다. 고령화·가족변화·의료·장례 변화에 대응한 원리를 배웁니다.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초고령 일본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숫자로 보는 일본의 장수사회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29.3%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C"/>
                </a:solidFill>
              </a:rPr>
              <a:t>65세 이상 인구 비중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2024.10.1 기준 3,624만 명 (한국 2025년 20.3%)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1098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16.8%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75세 이상 인구 비중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65~74세 인구 비중보다 높습니다.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1600200"/>
            <a:ext cx="3515258" cy="406908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0677" y="187452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107,677명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10677" y="292608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100세 이상 인구 (2026.9)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10677" y="3703320"/>
            <a:ext cx="31494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처음으로 10만 명을 넘었습니다.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출처: 일본 내각부 「2025년판 고령사회백서」 · 후생노동성 발표(2026.9.15.)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고령사회 변화와 슈카츠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장수사회가 만든 새로운 과제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29768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 고령사회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슈카츠와의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65세 이상 29.3%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고령기가 예외가 아니라 긴 생애단계가 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은퇴 이후 삶·의료·재산·관계의 장기설계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75세 이상 비중 확대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후기고령기의 돌봄·사별·기능변화 증가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 선호와 가족대화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100세 이상 10만 명 돌파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“장수 이후의 삶”이 현실화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전 준비보다 삶의 후반기 관리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고령 1인가구 증가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 의사전달과 사무 대행의 공백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종활정보 등록·사후지원 공공서비스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슈카츠(終活)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“삶의 마무리를 위한 활동”의 변화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초기의 이미지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장례·묘지·상속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사후 준비 중심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“죽기 전에 다 끝낸다”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현재의 슈카츠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엔딩노트·의료·돌봄·재산·물건·디지털·사후사무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삶의 후반기 설계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스스로 정리하고 전달하는 문화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의사표현을 할 수 있을 때 바람과 정보의 위치를 정리해, 위기 때 다른 사람이 “추측해야 하는 부담”을 줄이는 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슈카츠 7영역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슈카츠가 묻는 일곱 가지 질문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9611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대표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삶·관계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누구와 무엇을 정리하고 어떤 말을 남길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의사표현이 어려워졌을 때 무엇을 중요하게 여기는가?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재산·계약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중요한 문서와 계약은 어디에 있고 누가 알아야 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장례·묘지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의례와 안치방식을 원하는가? 묘지는 누가 관리할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물건·유품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남기고 무엇을 나누거나 처분할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계정·사진·데이터·구독은 어떻게 처리할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사후사무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가족이 없거나 도움받기 어려울 때 누가 신고·장례·정리를 맡을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엔딩노트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지자체가 만드는 엔딩노트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요코하마시 도쓰카구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2025년 개정 “라이프디자인 노트” — 지금까지의 삶을 돌아보고 마지막까지 자신답게 살기 위한 도움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요코하마시 미도리구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2025년 엔딩노트 “My Life” — 앞으로의 삶을 생각하는 노트로 소개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한국 WLC에 주는 시사점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“작성 완료”보다 “가족에게 무엇을 말할 수 있게 되었는가, 오늘 무엇이 달라졌는가”를 교육성과로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요코스카시의 종활지원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노트를 넘어, 정보가 전달되는 구조로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나의 종활 등록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긴급연락처·주치의·엔딩노트와 유언의 보관장소·생전 계약한 장례·유품정리 업체·묘지 소재지 등을 시에 등록. 본인이 의사표현을 못 할 때 전달됩니다.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엔딩플랜·서포트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생활 여유가 없고 의지할 가족이 적은 시민에게 장례·납골 생전계약, 안부확인, 사망 후 관계기관 연락과 화장·납골 지원을 연계합니다.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시사점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가장 중요한 것은 노트 작성이 아니라 “정보가 실제로 전달되는 구조”입니다. 보관장소·가족 공유·비상연락·전문가 연결까지.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미니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내 엔딩노트, 누가 알고 있나요?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3강에서 쓰기 시작한 엔딩노트의 “전달 구조”를 점검합니다.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노트를 어디에 보관하고 있는지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위치를 아는 사람은 누구인지 적습니다(없으면 “없음”).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내가 갑자기 의사표현을 못 하게 되면, 누가 가장 먼저 그 노트를 찾아야 하는지 정합니다.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보관장소·아는 사람·찾을 사람 3칸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묘지계승과 하카지마이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“누가 묘를 관리할 것인가”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일본에서 일어난 일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선대의 묘를 관리하던 가족구조가 약해짐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묘를 정리하고 유골을 옮기는 “하카지마이(墓じまい)”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법적으로는 개장(改葬) 절차, 무연묘 문제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한국과의 연결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“어디에 모실 것인가”와 함께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“누가 관리할 것인가, 가족에게 어떤 부담을 남길 것인가”를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장례설계에 포함합니다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사례를 모방하지 말고 원리를 배운다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슈카츠는 스스로 정리하고 전달하는 문화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노트보다 “전달되는 구조”가 중요하다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세계의 웰다잉 문화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세계의 웰다잉 문화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비움의 철학, 지속적 대화, 사후의 돌봄, 기억의 의례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생전정리와 일본 장례의 변화 · 일본에서 배울 것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스웨덴·싱가포르·미국·멕시코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네 가지 인간적 욕구와 WLC의 문화적 역량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생전정리와 유품정리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물건을 넘어 삶의 정보를 정리한다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47548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 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 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 고려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생활물품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남길 것·나눌 것·처분할 것 분류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유족의 감정과 기억을 고려한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사진·기록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 사진 선별, 이름·사연 기록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아카이브·추모자료로 보존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보험·계약·통장·부동산·연락처 위치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법률·세무·행정절차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귀중품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목록·소유의사·보관장소 기록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상속분쟁 방지를 위해 전문가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계정목록·처리 희망·백업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플랫폼 정책·개인정보·저작권 검토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일본 장례문화의 변화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규모보다 선택의 다양화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장례의 크기·가격·형식을 “좋은 죽음”의 지표로 삼지 않습니다.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간소한 장례가 더 좋은 장례라는 뜻도 아닙니다.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일본의 변화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 중심 소규모 장례, 간소화된 의례, 화장 중심 진행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배경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 축소·지역공동체 약화·경제적 부담·종교관 변화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WLC의 기준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고인의 가치·유족의 애도·경제적 현실·문화의 조화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슈카츠 생태계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산업과 공공서비스가 결합된 슈카츠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463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서비스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주의할 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상담·교육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종활 세미나, 엔딩노트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교육과 상품판매의 이해충돌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법률·재산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유언·상속·후견·신탁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개별 자문은 전문가 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보증·사후사무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입원·시설 보증, 사망 후 행정·장례 대행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계약범위·비용·지속가능성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장례·묘지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장례·납골·묘지정리·개장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가족문화·비용·관리주체 고려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생전정리·유품정리·청소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개인정보·귀중품·폐기 문제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계정정리·온라인 추모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동의·보안·저작권·심리적 영향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시장규모 표현 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확인되지 않은 “몇 조 엔 시장” 표현보다 개별 서비스와 공식 통계를 중심으로 이해합니다.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일본에서 배울 것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일본의 변화를 한국 WLC에 적용하면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일본에서 보이는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한국 WLC 적용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노트에서 정보등록으로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 작성 후 보관·공유·비상연락 체계를 함께 설계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가족의 책임에서 사회적 지원으로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1인가구·무연고·취약계층을 공공지원과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장례에서 삶 전체로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의료·돌봄·재산·관계·정리·레거시를 통합 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묘의 계승에서 관리가능성으로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장묘 선택 시 관리주체·비용·접근성을 함께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사후정리에서 생전정리로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유품이 되기 전에 물건·문서·디지털을 정리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서비스 확대와 정보비대칭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업체 추천보다 비교질문·공식정보 확인 역량 강화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스웨덴 데스클리닝(Döstädning)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버리기가 아니라, 선택하기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오해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죽기 직전에 집을 비우는 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가능한 한 많이 버리기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남은 가족이 대신 정리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데스클리닝의 핵심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나이 들며 내 물건을 스스로 정리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무엇이 정말 중요한지 선택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중요한 물건은 사연을 기록하고 미리 나눔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남겨질 사람의 부담을 줄임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한국 적용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“이 물건을 남기고 싶은 이유는?” “누가 이 사연을 알았으면 하나요?” “이야기와 사진으로 남겨도 되는 것은?”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물건 하나, 이야기 하나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지금 내 집에 있는 물건 중 “사연을 남기고 싶은 것” 하나를 떠올립니다.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물건과 사연을 두세 줄로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사연을 꼭 알았으면 하는 사람은 누구인지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나눕니다. 듣는 사람은 앞 슬라이드의 질문 하나를 던집니다.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물건 1개의 사연 기록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싱가포르 ACP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사전돌봄계획은 서류가 아니라 대화다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서류로만 보면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한 번 작성하면 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작성 여부만 확인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가족은 내용을 모름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지속적 대화로 보면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신념·가치·의료 선호를 사랑하는 사람·의료팀과 공유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건강과 가치관이 바뀌면 다시 이야기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가족이 “왜 그런 선택인지” 설명할 수 있음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시사점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사전연명의료의향서를 썼는지 묻는 데서 끝나지 않고, “가족이 그 뜻을 알고 이유를 설명할 수 있는가”를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미국 호스피스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엔딩은 사망으로 끝나지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미국 호스피스는 환자만이 아니라 가족과 돌봄자를 지원하며,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사망 후에도 가족에게 최소 1년 동안 애도지원을 제공하도록 구성되어 있습니다.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제도 배경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Medicare와 결합해 생애말기 돌봄의 대표 모델로 발전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돌봄의 대상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환자 + 가족 + 돌봄자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WLC 시사점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남겨진 사람의 삶 회복까지 포함 — 제11강 애도코칭으로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멕시코 죽은 자의 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기억과 의례로 관계를 이어 가는 문화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제단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고인을 위한 자리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고인의 얼굴을 기억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꽃과 음식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함께 나누는 의례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기억 이야기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가족과 공동체가 나눔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 적용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“죽음을 즐기는 문화”로 단순화하지 않습니다. 고인과의 관계가 새로운 형태로 지속될 수 있다는 “지속적 유대”(제11강)와 연결합니다.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반복되는 인간적 욕구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문화가 달라도 반복되는 네 가지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463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욕구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대화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삶은 무엇이었는가?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“가장 소중하게 지켜 온 가치는 무엇인가요?”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용서·화해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미해결 관계가 남아 있는가?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“마음에 남아 있는 관계가 있나요?”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사랑·감사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누구에게 마음을 전하고 싶은가?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“고맙다고 말하고 싶은 사람은 누구인가요?”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작별·전달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말하고 남기고 싶은가?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“마지막으로 꼭 전하고 싶은 말이 있나요?”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모든 사람에게 똑같이 나타나는 법칙이 아닙니다. 내담자의 언어·문화·관계를 이해하기 위한 대화의 방향입니다.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WLC의 문화적 역량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많이 아는 것보다, 존중하며 묻는 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자기 인식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나의 죽음관·종교관·가족규범이 “정상”이라고 가정하지 않기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문화 지식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종교·장례·가족문화의 기본 차이 학습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질문 기술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추정하지 않고 “당신에게는 어떤 의미인가요?”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71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중립성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전통과 새로운 방식에 우열을 두지 않기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7174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제도 번역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해외 개념을 한국 법·제도와 혼동하지 않기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8127797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56397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7174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87917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전문 연계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종교·법률·의료·장례의 세부 판단은 전문가에게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국제사례 비교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여섯 사례의 원리와 한국 적용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국가·사례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원리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한국 WLC에 적용할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 슈카츠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후반기 정보를 미리 정리하고 전달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 + 가족공유 + 정보전달 구조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 지자체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공백을 공공이 일부 보완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1인가구·무연고 위험군의 공공자원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스웨덴 데스클리닝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선택적 비움과 남겨질 사람에 대한 배려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생전정리·기록·나눔 프로그램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싱가포르 ACP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의료결정은 문서보다 지속적 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 중심 가족대화와 의료진 소통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미국 호스피스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환자와 가족, 사후 애도까지 연속적 돌봄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가족지원·애도 연계를 웰다잉에 포함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멕시코 추모문화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기억과 의례로 관계를 지속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추모·기억 아카이빙·레거시 활동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데스클리닝은 버리기가 아니라 선택하기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ACP는 서류가 아니라 지속적 대화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문화를 우열로 보지 않고 직접 묻는다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원리를 배워 내 프로그램으로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원리를 배워 내 프로그램으로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국제사례는 “해야 할 목록”이 아니라 우선순위를 비추는 거울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“일본처럼 미리 다 준비해야 하나요?”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 슈카츠 7영역 자기점검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2 국제사례 변용표 · 실습 3 가족에게 물어볼 세 가지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코칭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“일본처럼 미리 다 준비해야 하나요?”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불안 확인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“그 프로그램에서 가장 필요하다고 느낀 것과 부담스러웠던 것은요?”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가치 확인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“미리 정리하고 싶은 이유가 가족 부담 때문인가요, 자신의 뜻을 지키기 위해서인가요?”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우선순위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“한 번에 다 정하지 않아도 됩니다. 가장 먼저 정리하면 편해질 한 가지는요?”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문화 번역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“일본의 제도는 한국과 다릅니다. 원리는 참고하되 한국에서 가능한 방법을 찾아보죠.”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행동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“이번 달엔 가족과 돌봄·장례 이야기를 한 번 하고, 중요한 문서 위치를 정리해 볼까요?”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코칭 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67세 내담자: “장례·묘지·재산을 지금 전부 정해야 하나요?” — 국제사례는 해야 할 목록을 늘리는 자료가 아니라, 우선순위를 발견하는 거울입니다.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“다 준비해야 하나요?” 코칭하기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“TV에서 일본 종활을 봤는데, 나도 장례랑 묘지, 재산을 전부 지금 정해야 하나요?”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다섯 단계로 4분간 대화합니다.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“문화 번역” 단계가 있었는지, “할 일 목록”을 늘리지 않았는지 체크합니다.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한 번 더 진행합니다.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내담자가 정한 “이번 달 한 가지”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슈카츠 7영역 자기점검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3949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 준비도 (1~5)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다음 행동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삶·관계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재산·문서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장례·묘지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생전정리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디지털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사후사무·연락망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19.2 실습 2 · 조별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국제사례 변용표 — 원리를 한국 프로그램으로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92608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선택한 해외사례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원리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한국에서 그대로 쓰기 어려운 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프로그램으로 바꾸는 방법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 슈카츠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일본 지자체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스웨덴 데스클리닝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싱가포르 ACP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미국 호스피스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멕시코 추모문화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조별 발표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조가 바꾼 국제사례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한 조당 1분 — 원리 한 줄, 어려운 점 한 줄, 우리 프로그램 이름과 핵심 활동 하나.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선택한 사례와 핵심 원리를 말합니다.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한국에서 바꿔야 했던 점을 설명합니다.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다른 조는 “문화적 상대성을 잘 지킨 점”을 하나 말해 줍니다.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조별 1분 발표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6개 국제사례 변용안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가족에게 물어볼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이번 주에 가족이나 신뢰하는 사람에게 물어볼 질문입니다. 내 말로 바꿔 적어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“내가 의사표현을 못 하게 될 때, 가족이 꼭 알고 있었으면 하는 것은 무엇일까?”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“내가 남긴 물건·사진·기록 중 꼭 보존하고 싶은 것은 무엇일까?”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“내가 원하는 장례방식보다 더 중요한 ‘장례의 의미’는 무엇일까?”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 말로 바꾼 질문 3개 (과제)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국제사례는 모방하기보다 원리를 배워 한국에 맞게 변용한다.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간소한 장례가 더 좋은 장례이다.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해외의 ACP·사후사무 제도는 한국에서도 같은 법적 효력을 갖는다.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멕시코 죽은 자의 날은 고인과의 관계가 기억과 의례로 이어지는 사례로 볼 수 있다.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일본의 고령화율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일본 「2025년판 고령사회백서」(2024.10.1 기준) 65세 이상 인구 비중은?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20.3%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25.1%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29.3%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35.0%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슈카츠의 의미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슈카츠(終活)에 대한 설명으로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장례식 준비만을 뜻한다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의사표현이 가능할 때 바람과 정보의 위치를 정리해 남이 추측하는 부담을 줄이는 활동이다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작성하면 법적 유언과 같은 효력이 있다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죽기 전에 모든 것을 끝내야 하는 의무다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요코스카시 종활 등록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4A"/>
                </a:solidFill>
              </a:rPr>
              <a:t>요코스카시 “나의 종활 등록”이 개인 엔딩노트와 다른 핵심은?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엔딩노트를 판매한다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정보가 실제로 전달되는 구조를 공공이 보완한다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장례비를 전액 지원한다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유언을 공증해 준다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데스클리닝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4A"/>
                </a:solidFill>
              </a:rPr>
              <a:t>스웨덴 데스클리닝을 WLC가 적용하는 태도로 가장 적절한 것은?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가능한 한 많이 버리게 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죽기 직전에 집을 비우도록 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버리기보다 선택하기 — 사연을 기록하고 미리 나눈다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 대신 정리하도록 맡긴다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싱가포르 ACP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싱가포르 ACP 사례가 WLC에게 주는 시사점으로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 번 작성하면 다시 이야기할 필요가 없다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가치·의료 선호를 가족·의료팀과 반복해서 공유하는 지속적 과정이다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의료진이 대신 작성하는 문서다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한국에서도 같은 법적 효력을 갖는다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왜 필요 → 무엇을 해결 → 한국에선 무엇을 바꿀까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크기·가격·형식은 좋은 죽음의 지표가 아님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국가마다 법적 효력이 다름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지속적 유대와 연결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29.3% (①은 한국 2025)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정리하고 전달하는 활동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전달 구조를 공공이 보완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버리기가 아니라 선택하기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슈카츠와 단순한 장례준비의 구분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일본 초고령사회와 슈카츠 확대의 관계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엔딩노트가 법적 문서보다 넓은 이유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요코스카 종활지원과 개인 엔딩노트의 차이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묘지계승·개장과 가족구조 변화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데스클리닝을 “버리기”와 구분해 설명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싱가포르 ACP가 지속적 대화를 강조하는 이유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미국 호스피스 사후 애도지원의 의미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국제사례 적용 시 문화적 상대성 원칙 세 가지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의미·용서·사랑·작별의 코칭 질문 각 하나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제5강에서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슈카츠는 스스로 정리하고 전달하는 문화다.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의료·재산·관계·정리·사후사무까지.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일본의 종활은 공공정책으로도 확장된다.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지자체가 정보등록·사후지원을 시도한다.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국제사례는 원리를 배운다.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제도가 다르므로 그대로 적용하지 않는다.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비움은 삶의 의미를 선별하는 과정이다.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남겨질 가족과 나의 현재를 함께 본다.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의료결정은 서류보다 대화가 먼저다.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가치와 선호를 반복해서 공유한다.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WLC의 핵심은 문화적 번역이다.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우열 없이 내담자의 가치와 한국 현실에 맞게.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일곱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슈카츠를 체크리스트 경쟁으로 만들지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엔딩노트보다 전달구조를 확인한다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묘지문제는 가족관계 문제일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생전정리를 폐기작업으로 만들지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해외 제도를 한국 법으로 오해하지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문화적 일반화를 피한다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국제사례를 다시 웰빙으로 연결한다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가족에게 세 가지 묻기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실습 3의 질문 중 하나 이상을 가족이나 신뢰하는 사람에게 물어봅니다.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엔딩노트 전달 구조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노트의 보관장소를 한 사람에게 알려 줍니다.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물건 하나의 사연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짝 활동의 물건 사진과 사연을 정리해, 알았으면 하는 사람에게 보냅니다.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제5강의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“다른 문화의 죽음 준비를 보며,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나는 무엇을 따라 할지가 아니라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무엇을 더 잘 살아낼지를 발견했는가?”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세계를 돌아, 다시 나의 삶으로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제6강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장례·장묘 제도의 변화와 새로운 장사문화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“선택지가 빠르게 변하는 한국에서, WLC는 법과 문화의 변화를 어떻게 정확하게 안내할 것인가?”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「장사 등에 관한 법률」과 장례 절차의 기본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매장·화장·봉안·자연장·산분의 차이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공영장례와 무연고 사망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장사시설과 새로운 추모문화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정확한 정보 안내와 WLC의 역할 경계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제6장  ·  가져올 것: 엔딩서비스 자원지도, 실습 3 가족 대화 메모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제5강 일본 슈카츠와 세계의 웰다잉 문화</dc:title>
  <dc:subject>PptxGenJS Presentation</dc:subject>
  <dc:creator>삶잇다협동조합</dc:creator>
  <cp:lastModifiedBy>삶잇다협동조합</cp:lastModifiedBy>
  <cp:revision>1</cp:revision>
  <dcterms:created xsi:type="dcterms:W3CDTF">2026-10-29T23:51:29Z</dcterms:created>
  <dcterms:modified xsi:type="dcterms:W3CDTF">2026-10-29T23:51:29Z</dcterms:modified>
</cp:coreProperties>
</file>