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76bf28d6-4d86-c1e5-dcb9-ac2d9674c4e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위기 직후의 인간적 지원" id="{469c01da-df85-eabe-4468-017b4133be23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교시 학교·조직·지역사회의 애도" id="{2788779b-24d8-604a-9ffc-170ef1482511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3교시 위기·재난 애도교육 워크숍" id="{9e7ecd6e-a042-cdc6-593d-39c35e224bb1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정리와 예고" id="{d6498bea-c93e-2e9c-5c41-ce9ef3f76431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제4부 두 번째 시간.
"죽음은 언제나 예고하고 오지 않습니다. 오늘은 준비할 시간 없이 찾아온 죽음 앞에서 서로를 어떻게 안전하게 지지할지 배웁니다."
수업 시작 전 안전 안내: 재난·사고·자살로 사별한 수강생이 있을 수 있다. 사건 영상·사진은 일절 사용하지 않는다. 국가트라우마센터·정신건강복지센터·자살예방상담전화(109) 연락처를 수업 당일 확인해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11강(개인의 애도) → 12강(갑작스럽고 집단적인 죽음) → 13강(임종 돌봄) → 14강(사망 직후 지원).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PFA 롤플레이 경험, 조별 학교 애도 공지문, 72시간 지원계획.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0:03–0:05 (2분)
📖 교재: 13절 교육자료 보호
"학생·수강생에게 사건 영상 시청을 학습의 필수조건으로 만들지 않는다"(13절)는 원칙을 강사가 먼저 실천.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0:05–0:09 (4분)
📖 교재: 11강 과제
무거운 이야기가 나오면 판단 없이 듣고, 필요하면 수업 후 개별로 이야기하자고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0:09–0:13 (4분)
📖 교재: 21절 마지막 질문 · 4절
대부분 "곁에 있어 주기, 물 한 잔, 연락 대신 받아 주기"를 적는다. → "오늘 배울 PFA의 핵심이 바로 그것입니다."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0:13–0:14 (1분)
📖 교재: 12장 표제 · 핵심 메시지
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0:14–0:16 (2분)
📖 교재: 12장 학습목표 1~10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0:16–0:19 (3분)
📖 교재: 1절
마지막 순간을 함께하지 못한 죄책감, 사건현장과 보도의 반복노출이 겹친다. 2강 9절(예기치 않은 죽음)의 심화.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0:19–0:24 (5분)
📖 교재: 2절 · 표
서술형 Q1. "지원의 방향" 열이 이후 PFA의 원리와 그대로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0:24–0:29 (5분)
📖 교재: 3절 · 표 / 중요
11강 연계 신호와 같은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0:29–0:32 (3분)
📖 교재: 4절 · 쉬운 기억법
서술형 Q2. 객관식 1번. OX 1번.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0:32–0:37 (5분)
📖 교재: 5절 · 표
서술형 Q3. 3교시 롤플레이의 뼈대. "제가 해결할 수 없는 부분은 연결할 수 있는 곳을 찾아보겠습니다."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0:37–0:41 (4분)
📖 교재: 5절
"무슨 일이 있었어요?"로 시작하지 않는 연습. 3교시 본 롤플레이의 예행연습.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0:41–0:45 (4분)
📖 교재: 6절 · 표
WHO PFA 지침: 압박해 이야기하게 하지 않고, 필요를 파악하고, 실질적 필요와 사회적 지지를 돕고, 추가 위해로부터 보호.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0:45–0:48 (3분)
📖 교재: 7절 · 집단교육 원칙
서술형 Q4. OX 2번. 2강 사례 1(고등학생)과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1:00–1:06 (6분)
📖 교재: 8절 · 표
서술형 Q5(다섯 가지). 국가트라우마센터 "PFA 학교편" 별도 자료. 2강 학교 죽음교육과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1:06–1:11 (5분)
📖 교재: 9절 · 표
서술형 Q6. 객관식 2번. 11강 아이에게 말하기 연습의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1:11–1:15 (4분)
📖 교재: 10절 · 표
직장 동료의 사망·산업재해는 개인적 상실이면서 조직적 사건.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1:15–1:19 (4분)
📖 교재: 11.1~11.2절
11강 모호한 상실(Pauline Boss)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1:19–1:26 (7분)
📖 교재: 12절 · 표
서술형 Q7. 객관식 3번. 한국생명존중희망재단 자살유족 원스톱 서비스(2026 전국 확대 안내) — 수업 시점 확인. OX 3번.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1:26–1:30 (4분)
📖 교재: 13절 · 표
서술형 Q8. 2강 미디어 시대의 죽음교육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1:30–1:34 (4분)
📖 교재: 13절
내담자·학생에게도 쓸 수 있는 도구임을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1:34–1:40 (6분)
📖 교재: 14절
코치노트 6: 추모 참여를 의무화하지 않는다. 6강 "장례의 기능"과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1:40–1:44 (4분)
📖 교재: 15절 · 표
서술형 Q9: 기념일 반응은 회복 실패가 아니라 예상 가능한 반응. 객관식 4번. OX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1:44–1:49 (5분)
📖 교재: 16절 · 표
서술형 Q10. 객관식 5번. 코치노트 9. 국가트라우마센터는 지원인력을 교육수준과 자격에 따라 구분한다.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4~5명 조 편성.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2:00–2:05 (5분)
📖 교재: 17절 · 표
"아무렇지 않은 듯한" 반응도 정상 반응일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2:05–2:08 (3분)
📖 교재: 18절 · 표
다음 롤플레이에서 이 사례를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2:08–2:21 (13분)
📖 교재: 19.1절 · 5절
실습지 19.1(보고·듣고·연결 관찰표)을 관찰자가 사용. 실기시험의 위기 상황 시연과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2:21–2:31 (10분)
📖 교재: 19.2절
고인의 실명·사진·사망 경위 세부를 넣지 않는 것이 핵심. 조별 결과는 2강 60분 프로그램 설계안에 보완 자료로 붙인다.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2:31–2:32 (1분)
📖 교재: 19.2절
공지문 작성 중 화면에 띄워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2:32–2:40 (8분)
📖 교재: 19.3절 · 실습지
"담당/연계" 칸에 2강·4강 지역자원지도의 실제 기관을 적게 한다. 14강(사망 직후 72시간 체크)과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2:40–2:46 (6분)
📖 교재: 19.4절 · 실습지
자신의 실제 기념일(기일·생일)로 써도 되고, 내담자용 도구로 연습해도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4·7·12·15절
정답: 1 X / 2 X / 3 O / 4 X
※ 12강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4절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9절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12절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15절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2:51–2:52 (1분)
📖 교재: 16절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2:52–2:54 (2분)
📖 교재: 12장 본문 (강사 제작 문항)
객관식 5번 정답 ③은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20절 학습점검 Q1~Q10
채점 기준(문항당 10점): 핵심요소 3개 10점 / 2개 7점 / 1개 4점 / 없음 0점, 역할경계 이탈 -3점.
※ 12장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21절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22절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16절 · 5절 · 17절(11장)
13강 준비: 엔딩노트 "건강·의료·돌봄"과 9강 의료 가치 질문을 다시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21절 · 제12장의 마지막 질문
10초 침묵. 오늘 함께해 준 수강생들에게 감사를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23절 제13장으로의 연결
12장이 갑작스럽고 집단적인 죽음을 다뤘다면, 13장은 생애말기의 시간이 실제로 가까워졌을 때의 변화와 가족 돌봄을 다룬다.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제12강 예기치 않은 죽음·재난·사고와 애도교육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제12강 예기치 않은 죽음·재난·사고와 애도교육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제4부 상실과 임종을 동행하다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제12강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예기치 않은 죽음·재난·사고와 애도교육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Sudden Death, Disaster, Crisis &amp; Grief Education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위기 직후의 인간적 지원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흔들리는 다섯 가지·위기 반응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심리적 응급처치(PFA)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보고–듣고–연결하기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학교·조직·지역사회의 애도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학교 대응·아이에게 말하기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자살사별 사후개입·미디어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추모·기념일·역할 경계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위기·재난 애도교육 워크숍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사례·PFA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학교 애도 공지문 쓰기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72시간 계획·기념일 대비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안전한 배움을 위한 약속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수업의 약속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사건 영상 없음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 수업에는 실제 사건 영상·사진을 쓰지 않습니다.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말하지 않을 권리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 경험은 발표하지 않아도 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쉬어도 괜찮음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마음이 힘들면 언제든 자리를 비워도 됩니다.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도움 요청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수업 후에도 연결처를 안내합니다.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강사 안내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실제로 재난·사고·자살로 사별한 분이 계실 수 있습니다. 사례는 모두 교육용 가상 상황입니다.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작은 유대의 의례, 해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11강 과제 — 작은 유대의 의례, 상실·회복 균형표 실천, 나를 위한 자기돌봄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해 본 의례나 자기돌봄을 나눕니다(원하는 만큼만).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균형표에서 “회복의 행동”이 쉬웠는지 어려웠는지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이번 주 회복의 행동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“큰 사건을 겪은 사람 곁에서,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나는 무엇을 말해야 할지 몰라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망설인 적이 있나요?”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그때 정말 필요했던 것은 “말”이었을까요?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1분 동안 떠올려 봅니다. 그때 내가 할 수 있었던 “말이 아닌 도움” 하나를 적습니다.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위기 직후의 도움은 사람을 말하게 만드는 일이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안전과 선택감·연결감을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되찾게 하는 일이다.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웰다잉 교육은 예측 가능한 노년의 죽음만 다뤄서는 충분하지 않다. 사고·재난·범죄·자살·학교와 직장의 갑작스러운 사망처럼 준비되지 않은 죽음은 개인과 공동체의 안전감·통제감·세계관을 함께 흔든다.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갑작스러운 상실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안전감·통제감·세계관이 함께 흔들림을 설명한다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위기 반응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신체·정서·인지·행동 반응을 병리화하지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PFA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보고–듣고–연결하기의 흐름을 설명한다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강요 금지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사건을 말하게 하거나 감정표출을 의무화하지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학교·직장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정보·추모·일상회복·고위험군 연계 원칙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아이에게 말하기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연령에 맞게 정확하고 안전하게 설명한다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자살사별·미디어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낙인·모방위험·반복노출을 줄인다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장기 회복과 경계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 반응을 이해하고 전문체계와 협업한다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위기 직후의 인간적 지원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치료가 아니라, 안전과 연결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왜 WLC가 예기치 않은 죽음을 배우는가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흔들리는 다섯 가지 · 위기 직후의 반응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심리적 응급처치(PFA) · 보고–듣고–연결하기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왜 배워야 하는가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작별을 준비할 시간을 빼앗는 죽음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사고·재해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교통사고, 산업재해, 화재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재난·감염병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자연재난, 대형참사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범죄·자살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충격과 죄책감·낙인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학교·직장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공동체 전체가 흔들림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교육의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“잘 죽기”를 준비하는 교육뿐 아니라 “예기치 않은 죽음을 만났을 때 서로를 어떻게 안전하게 지지할 것인가”를 가르칩니다.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흔들리는 다섯 가지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갑작스러운 상실은 무엇을 흔드는가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4805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흔들리는 경험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지원의 방향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“또 무슨 일이 생길 것 같다.”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현재의 실제 안전과 보호체계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통제감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“내가 할 수 있는 게 아무것도 없다.”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작은 선택권과 가능한 행동을 돌려줌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이해가능성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이런 일이 일어났는지 믿을 수 없다.”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확인된 사실과 모르는 것을 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관계·신뢰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기관·사회·타인에 대한 분노와 불신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정확한 정보, 일관된 접촉, 존중받는 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미래감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“앞으로 어떻게 살아야 할지 모르겠다.”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오늘·이번 주 단위의 작은 계획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위기 직후의 반응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비정상적 사건에 대한 정상적 반응일 수 있다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634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태도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두근거림·떨림·피로·두통·위장불편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안전·수면·식사·의료 필요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충격·슬픔·공포·분노·죄책감·무감각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감정의 “정상 여부”를 평가하지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인지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멍함·집중곤란·기억혼란·반복생각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짧고 명확한 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회피·과도한 정보검색·사람 붙잡기·과민반응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선택권·일상 리듬·사회적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갈등·고립·의존·기관 불신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신뢰할 사람과 공식 지원체계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초기 반응을 곧바로 PTSD·우울증으로 이름 붙이지 않습니다. 심각한 증상·기능저하가 지속되거나 자살·자해 위험이 있으면 전문평가로 연결합니다.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심리적 응급처치(PFA)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치료가 아니라 초기의 인간적 지원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WHO: 심각한 위기사건을 겪은 사람에게 존엄·문화·능력을 존중하며 제공하는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인간적이고 지지적이며 실질적인 도움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PFA가 아닌 것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심리치료가 아니고, 사건을 자세히 말하게 하는 면담도 아닙니다.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PFA가 하는 일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안전과 필요 확인, 압박 없이 듣기, 실질적 도움·연결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쉬운 기억법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보고(Look) → 듣고(Listen) → 연결하기(Link) — 국가트라우마센터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보고–듣고–연결하기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익혀야 할 PFA의 기본 흐름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6344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하는가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하지 않는가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현장 안전, 긴급한 신체 필요, 극심한 불안·혼란, 보호가 필요한 사람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현장에 무리하게 접근하거나 전문구조를 방해하지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듣고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자기소개, 필요한 도움 질문, 말하고 싶은 만큼 듣기, 감정 인정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세부를 캐묻거나 울도록·말하도록 강요하지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가족·친구·공식정보·의료·정신건강·복지·행정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해결할 수 없는 문제를 약속하지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기본문장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“지금 가장 필요한 게 무엇인지 함께 확인해도 될까요?” “말하고 싶지 않은 내용은 말하지 않으셔도 됩니다.”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PFA 첫 1분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“화재 대피소에 앉아 멍하니 휴대폰만 보고 있는 중년 여성에게 다가갑니다.”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A는 WLC로 자기소개와 함께 “지금 필요한 것”을 묻는 첫 문장을 말합니다.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B는 짧게만 답합니다(“…모르겠어요”).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A는 캐묻지 않고 물·쉴 곳·연락할 사람 중 하나를 제안합니다.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바꿉니다.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PFA 첫 문장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해야 할 것과 피해야 할 것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위기 직후의 도움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피해야 할 행동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“다 털어놔야 회복된다”며 자세히 말하게 함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확인되지 않은 원인·책임·생존정보 전달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동의 없이 사진·사연·감정 공개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“강해져야 한다”, “운명이었다” 강요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비전문가의 트라우마 치료기법 시도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도움이 되는 행동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안전·물·휴식·연락·의료 등 현실적 필요 확인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확인된 정보와 모르는 정보 구분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선택 가능한 작은 행동 제시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가족·친구·지원기관 연결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아이·노인·장애인 등 추가 지원 필요자 확인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집단 디브리핑의 주의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“모두 모여 자세히 말하자”가 늘 도움이 되지는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위기 초기에는 말할 준비가 안 된 사람도 많습니다.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WLC의 집단은 “트라우마 디브리핑”이 아니라 정보제공·반응교육·자기돌봄·지원기관 안내입니다.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자발적 참여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참여는 선택입니다.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공개 요구 금지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사건 장면을 말하게 하지 않습니다.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듣기만 해도 참여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언제든 나갈 권리를 안내합니다.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위기 반응은 비정상적 사건에 대한 정상적 반응일 수 있다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PFA는 치료가 아니라 보고–듣고–연결하기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말을 강요하지 않는다 — 침묵도 정당한 반응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학교·조직·지역사회의 애도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학교·조직·지역사회의 애도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정확한 정보, 일상, 선택권, 그리고 보호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학교의 대응과 아이에게 죽음을 설명하는 언어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직장·지역사회의 집단애도 · 재난과 모호한 상실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자살사별 사후개입 · 미디어 · 추모 · 기념일 · 역할 경계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학교의 예기치 않은 죽음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학교가 지켜야 할 일곱 가지 기본과제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기본과제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 원칙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사실 전달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확인된 사실만, 발달수준에 맞는 명확한 언어로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등교·수업·귀가·SNS에서의 불안과 실제 안전 구분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추모·상담 참여를 강제하지 않고 대안 제공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일상 회복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가능한 범위에서 수업·급식·일과 등 익숙한 구조 유지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고위험군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매우 가까운 학생, 과거 상실·정신건강 위험, 직접 목격자 → 전문지원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보호자 소통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전달한 정보·관찰할 반응·도움받을 경로 공유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원인·가족사·사진·메시지의 과도한 공개 방지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아이에게 죽음을 설명하는 언어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모호한 말 대신 정직하고 안전한 말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피해야 할 표현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“○○가 잠들어서 못 일어나.”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“○○의 몸이 더 이상 움직이거나 숨 쉬지 않게 되었고, 다시 살아 돌아오지는 않아.”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“울면 ○○가 슬퍼해.”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“울어도 되고 울지 않아도 돼. 사람마다 슬픔을 표현하는 방식은 달라.”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“네가 말 안 들어서 이런 일이 생겼어.”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“이 일은 네 잘못이 아니야.”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“빨리 잊고 공부해야지.”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“생각나서 힘든 날이 있을 수 있어. 학교생활을 조금씩 다시 이어가도록 도울게.”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자세한 사망 장면이나 자살방법을 설명할 필요는 없습니다. 필요한 사실과 안전정보만 전하고, 질문엔 솔직하되 과도한 세부묘사는 피합니다.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직장·기관·지역사회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조직이 해야 할 여섯 가지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조직이 해야 할 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구체적 실행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단일한 공식정보 창구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확인된 사실·지원정보를 일관되게 전달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 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직접 피해자·유가족·목격자에게 휴식과 업무조정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추모의 선택권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묵념·추모공간·메시지 참여를 강제하지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심리지원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재난정신건강·정신건강복지센터·의료기관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리더 보호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관리자·교사·지원인력의 소진과 대리외상 관리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장기 추적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복귀·기념일·조사결과 발표 시점에도 반응 점검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재난의 애도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재난의 애도는 사망자만의 문제가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동시에 잃는 것들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집·직장·지역공동체·일상의 안전·미래계획. 직접 피해자·유가족·목격자·지원인력 모두 영향을 받습니다.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실종과 모호한 상실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생사가 확인되지 않으면 애도를 시작할지 기다릴지 정하기 어렵습니다. “받아들여야 한다”, “반드시 돌아온다” 어느 쪽도 강요하지 않습니다.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반복되는 행정·법적 과정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신원확인·수사·재판·보상·보도가 사건을 다시 떠올리게 합니다. WLC는 대신 처리하지 않고 정보 정리를 돕습니다.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자살사별과 사후개입(Postvention)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자살사별에서 해야 할 것과 피해야 할 것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해야 할 것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피해야 할 것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복합적 원인이 작용할 수 있음을 인정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사망을 하나의 사건·관계·갈등 탓으로 단순화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유족의 죄책감과 분노를 판단 없이 듣기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막지 못했나요?”처럼 책임을 암시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도움요청·회복 가능성·지원자원 안내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자살을 해결책·용기·로맨스로 묘사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취약한 또래·가족의 안전상태 점검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사망방법·장소·유서 내용을 상세히 공유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 자살유족 서비스와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추모공간이 자살을 미화·영웅화하도록 운영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미디어·SNS 원칙 (WHO)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방법의 상세묘사, 선정성·미화·단순 원인화를 피하고, 도움받을 곳과 회복·도움요청의 메시지를 함께 제공합니다.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미디어·SNS 시대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“계속 보는 것”도 상처가 될 수 있다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사실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공식기관의 확인된 정보와 추측을 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반복노출 줄이기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사건 영상·사진을 계속 재생하거나 공유하지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사생활 존중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유가족·피해자의 사진·이름·사연을 동의 없이 교육자료에 쓰지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자극적 표현 자제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충격적 제목, 상세한 신체·사망 장면을 피함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도움정보 제공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정신건강·의료·행정지원 경로를 함께 안내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교육자료 보호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사건 영상 시청을 학습의 필수조건으로 만들지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셀프 점검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미디어 습관 점검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큰 사건 뉴스를 접했을 때 나의 습관을 돌아봅니다.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사건 영상을 반복해서 본 적이 있는지 ○/× 표시합니다.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확인되지 않은 정보를 공유한 적이 있는지 ○/× 표시합니다.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다음에 바꿀 습관 하나를 적습니다.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점검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바꿀 미디어 습관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추모와 집단애도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기억하되, 상처를 강요하지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참여하지 않을 권리를 보장한다.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특정 종교·정치적 해석을 애도의 정답으로 강요하지 않는다.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미성년자와 유가족의 개인정보·사진을 보호한다.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사건의 충격적 장면보다 고인의 삶·가치·관계를 기억한다.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자살사망의 경우 방법·장소를 상징화하거나 미화하지 않는다.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추모가 끝난 뒤에도 상담·지원 경로를 안내한다. 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기념일 반응과 장기회복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그날이 다가오면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미리 준비할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사건 1주기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행사 참여 여부·미디어 노출·휴식계획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생일·기일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혼자 보낼지 가족과 보낼지, 추모방식 선택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학교·직장 복귀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업무·학업량과 휴식·지원자 지정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재판·조사 발표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정보를 누구와 함께 확인할지, 이후 일정 비워 두기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명절·가족행사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빈자리를 어떻게 언급하고 기억할지 가족과 합의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“그날이 다가오면 무엇이 가장 걱정되나요?” “그날 혼자 있지 않도록 누구와 어떻게 연결되어 있으면 좋을까요?”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재난·사고 현장의 역할 경계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할 수 있는 일, 전문체계에 맡길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전문체계에 맡길 일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의학적 응급처치·구조·현장통제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PTSD·급성스트레스장애·우울증 진단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자살·자해 고위험군 전문위기개입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트라우마 노출치료 등 전문심리치료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사건조사·법률판단·언론대변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할 수 있는 일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안전·기본욕구 확인과 PFA 수준의 지지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강요하지 않고 듣고 정보 정리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가족·친구·공식지원기관 연결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애도교육·기념일 준비·일상회복 지원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지원자 자신의 자기돌봄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현장 투입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선의보다 공식 대응체계가 우선입니다. 공인된 지휘·지원체계 밖에서 임의로 접근하거나 개인정보를 수집하지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아이에게는 정직하고 단순한 말 — “네 잘못이 아니야”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자살사별: 단순 원인화·방법 묘사·미화 금지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재난 현장은 선의보다 공식 체계가 먼저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위기·재난 애도교육 워크숍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위기·재난 애도교육 워크숍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무엇을 말할까보다, 안전하고 연결되어 있는가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— 학교의 사고사, 재난 유가족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PFA 롤플레이 · 학교 애도 공지문 쓰기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72시간 지원계획 · 기념일 대비 계획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코칭 사례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학교에서 친구가 사고로 사망했다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과제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WLC·학교 지원 방향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사실·정보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확인된 사실만 전달하고 사고영상 공유를 멈추도록 안내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다양한 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울음·무감각·분노 등 반응이 서로 다를 수 있음을 교육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선택권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추모글 작성·추모행사 참여를 강제하지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수업과 일상을 유지하되 조정공간 제공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고위험군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직접 목격자·매우 가까운 친구·정신건강 위험 학생은 상담전문가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가정연계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보호자에게 수면·식사·등교·불안·자해위험 관찰 포인트 안내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중학생이 교통사고로 사망한 뒤, 같은 반 학생들이 SNS에 사고현장 사진을 공유하고, 일부는 계속 울고 일부는 아무렇지 않은 듯 행동합니다.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코칭 사례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재난 유가족이 언론과 SNS에 지쳤다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안전·필요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“지금 연락을 대신 받아 줄 사람이 필요하신가요?”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정보노출 줄이기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SNS 알림·검색을 잠시 줄이고, 신뢰하는 한 사람이 공식정보를 전달하도록 제안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경계 설정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언론·지인에게 답하지 않을 권리와 개인정보 보호를 확인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실무지원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장례·행정·법률·심리지원 중 가장 긴급한 것부터 하나씩 연결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회복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식사·수면·동행자·휴식공간 등 오늘 하루의 기본 필요부터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“사건 영상이 계속 올라오고 모르는 사람들에게 연락이 와서, 휴대폰을 보는 것 자체가 무서워요.”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19.1 실습 1 · 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PFA “보고·듣고·연결하기” 시뮬레이션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사례 2의 유가족, 또는 화재 대피소의 생존자 중 하나를 골라 진행합니다.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당사자·WLC·관찰자를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WLC는 보고(안전·긴급 필요) → 듣고(필요·연락할 사람) → 연결(가족·의료·정신건강·행정) 순으로 5분간 진행합니다.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관찰자는 “사건을 캐물었는지”, “해결을 약속했는지”, “연결처를 제시했는지” 체크합니다.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한 번 더 진행하고, 끝나면 역할에서 나와 1분씩 소감을 나눕니다.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연결한 지원처 목록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19.2 실습 2 · 조별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 애도 공지문 쓰고 점검하기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사례 1의 학교가 학부모·학생에게 보낼 짧은 공지문(5~6문장)을 조별로 씁니다.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확인된 사실, 학교의 지원 내용, 다양한 반응 안내, 상담 요청 방법을 담습니다.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다음 장의 체크리스트 7문항으로 서로의 공지문을 점검합니다.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빠진 항목을 보완해 한 조씩 핵심 문장 하나를 발표합니다.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4~5인 조별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점검을 마친 공지문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19.2 체크리스트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 애도 공지문 점검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문항 (해당하면 ☑)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확인된 사실만 포함했는가?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충격적 세부묘사와 추측을 제외했는가?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학생·유가족의 개인정보를 보호했는가?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다양한 감정반응이 가능하다고 안내했는가?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상담·지원 요청 방법을 명확히 제시했는가?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추모 참여를 강제하지 않았는가?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자살사망이라면 방법·장소·유서 내용을 상세히 다루지 않았는가?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72시간 지원계획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3200400"/>
              </a:tblGrid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우선과제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 /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0~6시간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안전·의료·기본욕구·연락체계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6~24시간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공식정보·가족/조직 소통·고위험자 선별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24~72시간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수면·식사·일상·행정지원·애도공간·전문기관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19.4 실습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기념일 대비 계획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계획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다가오는 의미 있는 날짜는?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그날 가장 걱정되는 것은?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함께 있을 사람은?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원하는 추모방식은?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피하고 싶은 미디어·장소·행사는?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힘들 때 연락할 기관·사람은?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심리적 응급처치(PFA)는 사건을 자세히 말하게 하는 심리치료이다.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위기 직후 집단에서 모든 사람이 사건 경험을 말하도록 하는 것이 항상 도움이 된다.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자살사망을 하나의 원인으로 단순화하거나 방법을 상세히 묘사하는 것은 피해야 한다.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기념일에 감정이 다시 강해지는 것은 회복에 실패했다는 뜻이다.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PFA의 흐름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국가트라우마센터의 쉬운 PFA 기억법으로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묻고–기록하고–보고하기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보고–듣고–연결하기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진단–치료–추적하기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설명–설득–마무리하기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아이에게 말하기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아이에게 죽음을 설명하는 말로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“할머니는 잠들어서 못 일어나.”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“할머니는 멀리 여행 가셨어.”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“할머니 몸이 더 이상 움직이지 않아 다시 돌아오지 않아. 네 잘못이 아니야.”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“울면 할머니가 슬퍼해.”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자살사별 사후개입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자살사별 사후개입에서 해야 할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원인을 하나의 갈등 탓으로 설명한다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유서 내용을 공유해 이해를 돕는다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취약한 또래·가족의 안전상태를 점검하고 전문 서비스와 연결한다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추모공간에서 고인의 용기를 강조한다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기념일 반응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기념일 반응에 대한 WLC의 이해로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회복 실패의 신호이므로 바로 치료로 의뢰한다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시간이 지난 뒤에도 의미 있는 날 반응이 다시 강해질 수 있음을 예상하고 함께 준비한다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 행사 참여를 모두에게 권한다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기념일은 언급하지 않는 것이 좋다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재난 현장의 WLC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재난·사고 현장에서 WLC의 역할로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피해자를 직접 찾아가 개인정보를 수집한다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PTSD 여부를 판단한다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 대응체계 안에서 PFA 수준의 지지와 연결을 제공한다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트라우마 노출치료를 진행한다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PFA는 치료가 아닌 초기 인간적 지원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참여는 자발적, 공개 요구 금지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낙인·모방위험을 줄인다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예상 가능한 반응, 함께 준비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보고–듣고–연결하기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정직·단순·“네 잘못 아니야”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안전 점검과 전문 연결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예상하고 준비한다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예기치 않은 죽음이 안전감·통제감·미래감에 주는 영향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PFA와 심리치료가 다른 이유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보고–듣고–연결하기 각 단계의 핵심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사건 경험을 말하도록 강요하면 안 되는 이유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학교 사망사건 시 기본 원칙 다섯 가지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아이에게 피할 표현과 대안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자살사별에서 방법·단일원인·영웅화를 피하는 이유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미디어 노출을 줄이는 행동 네 가지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 반응이 회복 실패가 아닌 이유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 재난정신건강 체계로 넘길 영역 네 가지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제12강에서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웰다잉 교육은 갑작스러운 죽음도 다룬다.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죽음은 늘 계획된 노년으로만 오지 않는다.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초기의 목표는 치료가 아니라 안전과 연결이다.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PFA: 보고·듣고·연결하기.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말을 강요하지 않는다.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원하는 만큼만 말하게 한다.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학교와 조직은 일상과 선택권을 함께 지킨다.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정보·일상·고위험군·개인정보.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자살사별은 특별한 주의가 필요하다.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낙인·죄책감·모방위험을 줄인다.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재난치료자가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공식 체계 안에서 지지하고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열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현장의 안전이 먼저다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말하도록 강요하지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확인된 사실만 전달한다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작은 선택권을 돌려준다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아이에게는 명확한 언어를 쓴다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추모 참여를 의무화하지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자살사망은 선정적으로 다루지 않는다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기념일과 장기반응을 예상한다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 체계 안에서 움직인다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 자신도 보호한다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위기 연결처 확인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우리 지역 정신건강복지센터·국가트라우마센터·자살유족 지원기관 연락처를 자원지도에 적습니다.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PFA 문장 카드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 쓴 PFA 기본문장 세 개를 작은 카드에 적어 지갑에 넣습니다.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나를 지키는 시간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무거운 수업을 마친 나를 위해 휴식이나 산책 한 번.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제12강의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“이 사람이 지금 안전하고,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필요한 사람과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연결되어 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“무엇을 말할까?”보다 먼저 확인하는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제13강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임종 단계별 돌봄 실무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“임종이 가까워질 때 몸과 의식에는 어떤 변화가 나타나며, 가족과 WLC는 어떻게 곁에 있어야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임종 단계별 신체·정서적 변화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가족과의 의사소통과 마지막 대화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편안함을 위한 비의료적 돌봄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돌봄자의 소진과 교대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사망 직후의 기본 대응과 의료진 연계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제13장  ·  가져올 것: 9강 의료 가치 질문, 가족대화 스크립트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제12강 예기치 않은 죽음·재난·사고와 애도교육</dc:title>
  <dc:subject>PptxGenJS Presentation</dc:subject>
  <dc:creator>삶잇다협동조합</dc:creator>
  <cp:lastModifiedBy>삶잇다협동조합</cp:lastModifiedBy>
  <cp:revision>1</cp:revision>
  <dcterms:created xsi:type="dcterms:W3CDTF">2026-10-29T23:37:13Z</dcterms:created>
  <dcterms:modified xsi:type="dcterms:W3CDTF">2026-10-29T23:37:13Z</dcterms:modified>
</cp:coreProperties>
</file>