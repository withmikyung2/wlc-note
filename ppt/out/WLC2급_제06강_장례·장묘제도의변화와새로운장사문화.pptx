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열기" id="{1ae67617-0f55-4849-7576-c37de7e187ef}">
          <p14:sldIdLst>
            <p14:sldId id="256"/>
            <p14:sldId id="257"/>
            <p14:sldId id="258"/>
            <p14:sldId id="259"/>
            <p14:sldId id="260"/>
            <p14:sldId id="261"/>
            <p14:sldId id="262"/>
            <p14:sldId id="263"/>
            <p14:sldId id="264"/>
          </p14:sldIdLst>
        </p14:section>
        <p14:section name="1교시 장사법의 언어와 장례의 흐름" id="{0702bda2-a6cf-5fce-20c0-fd59db943e10}">
          <p14:sldIdLst>
            <p14:sldId id="265"/>
            <p14:sldId id="266"/>
            <p14:sldId id="267"/>
            <p14:sldId id="268"/>
            <p14:sldId id="269"/>
            <p14:sldId id="270"/>
            <p14:sldId id="271"/>
            <p14:sldId id="272"/>
            <p14:sldId id="273"/>
            <p14:sldId id="274"/>
            <p14:sldId id="275"/>
          </p14:sldIdLst>
        </p14:section>
        <p14:section name="2교시 화장 이후의 선택과 공공의 장례" id="{d706b7c9-acb3-3852-23fc-742575ba651e}">
          <p14:sldIdLst>
            <p14:sldId id="276"/>
            <p14:sldId id="277"/>
            <p14:sldId id="278"/>
            <p14:sldId id="279"/>
            <p14:sldId id="280"/>
            <p14:sldId id="281"/>
            <p14:sldId id="282"/>
            <p14:sldId id="283"/>
            <p14:sldId id="284"/>
            <p14:sldId id="285"/>
            <p14:sldId id="286"/>
            <p14:sldId id="287"/>
            <p14:sldId id="288"/>
            <p14:sldId id="289"/>
            <p14:sldId id="290"/>
          </p14:sldIdLst>
        </p14:section>
        <p14:section name="3교시 나의 장례를 설계하다" id="{37cdb03f-ac69-b788-0705-f7a36c47096c}">
          <p14:sldIdLst>
            <p14:sldId id="291"/>
            <p14:sldId id="292"/>
            <p14:sldId id="293"/>
            <p14:sldId id="294"/>
            <p14:sldId id="295"/>
            <p14:sldId id="296"/>
            <p14:sldId id="297"/>
            <p14:sldId id="298"/>
            <p14:sldId id="299"/>
            <p14:sldId id="300"/>
            <p14:sldId id="301"/>
            <p14:sldId id="302"/>
            <p14:sldId id="303"/>
            <p14:sldId id="304"/>
          </p14:sldIdLst>
        </p14:section>
        <p14:section name="정리와 예고" id="{0544b395-2d66-c185-1241-dd0f382dc619}">
          <p14:sldIdLst>
            <p14:sldId id="305"/>
            <p14:sldId id="306"/>
            <p14:sldId id="307"/>
            <p14:sldId id="308"/>
            <p14:sldId id="309"/>
            <p14:sldId id="31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0:00–0:01 (1분)
인사. "지난 시간 세계를 둘러보았습니다. 오늘은 다시 한국으로 돌아와, 장례와 장묘를 법과 문화의 언어로 정확하게 배웁니다."
법령 수치가 많은 회차이므로 수업 직전 국가법령정보센터·e하늘에서 최신 기준을 재확인한다.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0:01–0:02 (1분)
📖 교재: 교재 목차
제2부 세 번째 시간. 14강(사망 직후 초기지원·장례 준비)에서 실무를 다시 다룬다.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0:02–0:03 (1분)
오늘의 결과물: 장묘 방식 비교표, 사전 장례설계 8영역, 가족대화 시작 문장.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0:03–0:08 (5분)
📖 교재: 5강 과제 · 5장 19.3절
"장례의 의미" 답을 2~3개 칠판에 적어 두고, 2교시 "장례의 기능"(12절)과 연결한다.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0:08–0:10 (2분)
📖 교재: 5장 핵심정리
짧게 복습.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0:10–0:14 (4분)
📖 교재: 12절 장례의 기능
대부분 "규모"보다 "작별의 순간", "함께해 준 사람", "고인다운 무엇"을 말한다.
→ "장례의 크기보다 의미가 중요하다"(핵심정리 5)로 연결. 최근 장례를 치른 수강생을 배려한다.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0:14–0:15 (1분)
📖 교재: 6장 표제 · 핵심 메시지
핵심 메시지를 천천히 읽는다.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0:15–0:17 (2분)
📖 교재: 6장 학습목표 1~8
굵은 키워드만 짚는다.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0:17–0:18 (1분)
📖 교재: 6장 핵심 키워드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전환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0:18–0:21 (3분)
📖 교재: 1절 · WLC 관점
장례는 가족구조·종교·주거·토지·경제·기술·환경의식을 함께 반영한다.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0:21–0:23 (2분)
📖 교재: 1절
4강에서 본 화장률을 다시 짚는다. 서술형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0:23–0:28 (5분)
📖 교재: 2절 · 표 / 장사법 제2조
서술형 Q1(다섯 용어). 5강의 일본 "개장(改葬)"과 같은 개념.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0:28–0:31 (3분)
📖 교재: 2절 용어 교정
서술형 Q3. OX 1번(산분장은 법정 용어 →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0:31–0:36 (5분)
📖 교재: 3절 · 표
WLC가 모든 절차를 대행할 필요는 없지만 큰 흐름은 이해해야 한다. 실무 세부는 14강.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0:36–0:38 (2분)
📖 교재: 3절 법적 기본 · 장사법 제6조
코치노트 1. OX 2번(3일장은 법적 의무 → X). 객관식 3번.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0:38–0:42 (4분)
📖 교재: 2절 · 표
정답: 1 개장 / 2 자연장 / 3 봉안 / 4 매장. 추가 문제: "골분을 해양 허용구역에 뿌렸다" → 자연장(골분을 뿌리는 방식).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0:42–0:45 (3분)
📖 교재: 4절 · WLC 질문
5강 하카지마이와 연결: "어디에"와 함께 "누가 관리할 것인가".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0:45–0:48 (3분)
📖 교재: 5절 · 표
장사법은 원칙적으로 화장시설 외 장소에서의 화장을 금지한다. 화장 예약과 시설 현황은 e하늘.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0:48–1:00 (12분)
1교시 정리 2분 + 휴식 10분.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전환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1:00–1:04 (4분)
📖 교재: 6절 · e하늘 활용
봉안당·봉안묘·봉안탑·봉안담. 처음 비용만 보지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1:04–1:07 (3분)
📖 교재: 7절 · 중요
서술형 Q5. OX 3번(O). 객관식 1번.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1:07–1:11 (4분)
📖 교재: 8절 · 시행령 제2조·제8조
흔히 "산분장"이라 부르는 영역이 제도적으로 명확해졌다. 서술형 Q4.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1:11–1:15 (4분)
📖 교재: 8.1~8.2절 · WLC 필수 주의
시행령 [시행 2026.3.24.] 기준. 객관식 2번. 코치노트 2: 산분장을 단순하게 안내하지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1:15–1:19 (4분)
📖 교재: 9절 · 표
서술형 Q7. 객관식 5번.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1:19–1:23 (4분)
📖 교재: 8~9절
1 해안선 5km 이상 등 기준 확인 / 2 법정 자연장·수목장림 시설인지 확인 / 3 무빈소·가족장은 운영형태이지 법정 장사방법이 아님.
실제 업체 광고를 비난하는 시간이 아님을 미리 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1:23–1:28 (5분)
📖 교재: 10절 · 시행령 제26조의3
서술형 Q6. 객관식 4번. OX 4번. 지역별 조례·지원수준이 다르므로 e하늘·지자체 확인. 코치노트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1:28–1:30 (2분)
📖 교재: 11절 · 공식 확인 경로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1:30–1:34 (4분)
📖 교재: 12절 · 표
열기 시간에 적은 "가족이 말한 장례의 의미"를 이 다섯 기능에 분류해 본다.
간소화해도 애도의 과정까지 축소할 필요는 없고, 크다고 더 존엄한 것도 아니다. 11강(애도)과 연결.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1:34–1:37 (3분)
📖 교재: 13절 · WLC 질문
코치노트 3: 장례의 크기로 존엄을 판단하지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1:37–1:42 (5분)
📖 교재: 15절 · 표
서술형 Q9. 4강 상조 확인 질문과 연결. 코치노트 6: 가격보다 구조를 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1:42–1:46 (4분)
📖 교재: 16절 · 표
보건복지부·한국장례문화진흥원 운영. 서술형 Q8(기능 4가지 이상). 가능하면 강의실 화면으로 e하늘을 직접 열어 시연한다(영상·화면 시연 추가 위치).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1:46–1:49 (3분)
📖 교재: 17절 · 표 / 핵심 원칙
서술형 Q10.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1:49–2:00 (11분)
2교시 정리 1분 + 휴식 10분.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전환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2:00–2:04 (4분)
📖 교재: 18절 · 표
"자연으로 돌아가는 느낌"인지 "묘지관리 부담을 줄이고 싶은 마음"인지 의미를 먼저 확인하는 것이 핵심.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2:04–2:14 (10분)
📖 교재: 18절
"장례는 아예 하지 말라"는 바람에도 의미(가족 부담·종교관·관계)가 있다. 장례의 기능(현실 확인·작별·지지)을 가족 입장에서 함께 보게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2:14–2:20 (6분)
📖 교재: 19.1절
5분 개인 작성 + 1분 짝 공유. 우선순위가 실습 2(장묘 방식 비교)의 기준이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2:20–2:28 (8분)
📖 교재: 19.2절 · 실습지
실습 1의 다섯 가지 기준으로 비교. "추가 확인할 정보"는 e하늘에서 찾을 것으로 적게 한다(과제).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2:28–2:34 (6분)
📖 교재: 19.3절 · 실습지
3강 가족대화 시작 문장(장례 편)과 비교하면 좋다.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2:34–2:44 (10분)
📖 교재: 14절 · 표 / 중요
중요: 사전 장례설계는 법적 구속력을 자동으로 갖는 계약서가 아니다. 계약·법적 효력이 필요한 부분은 전문가·사업자와 별도로 확인.
실습 1~3의 결과를 모아 완성한다. 엔딩노트 "장례·추모" 영역에 옮겨 적게 한다(3강 연결).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2:44–2:46 (2분)
📖 교재: 2·3·7·10절
정답: 1 X / 2 X / 3 O / 4 O
※ 6강 퀴즈는 강사용 해설서에 문제은행이 없어 교재 본문을 근거로 새로 작성한 문항입니다.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2:46–2:47 (1분)
📖 교재: 2절 · 7절
정답 ②. ①매장 ③봉안 ④부정확한 안내.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2:47–2:48 (1분)
📖 교재: 8.1절
정답 ②. 항행·어업·양식 방해 금지, 골분과 생화 외 배출 금지.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2:48–2:49 (1분)
📖 교재: 3절 법적 기본
정답 ①. 법령이 정한 예외가 있다. 3일장은 관행.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2:49–2:50 (1분)
📖 교재: 10절 · 장사법 제12조
정답 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2:50–2:51 (1분)
📖 교재: 9절 · 13절
정답 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2:51–2:54 (3분)
📖 교재: 6장 본문 (강사 제작 문항)
객관식 5번 정답 ②(운영형태 표현)는 구두로 확인.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2:54–2:55 (1분)
📖 교재: 20절 학습점검 Q1~Q10
채점 기준(문항당 10점): 핵심요소 3개 10점 / 2개 7점 / 1개 4점 / 없음 0점, 역할경계 이탈 -3점.
※ 6장 모범답안은 강사용 해설서(제1~4장)에 없으므로 교재 핵심정리·본문을 기준으로 채점.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2:55–2:56 (1분)
📖 교재: 21절 핵심정리
굵은 부분을 함께 읽는다.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2:56–2:57 (1분)
📖 교재: 22절 코치 노트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2:57–2:58 (1분)
📖 교재: 19절 · 14절
다음 시간 첫 5분에 가족대화 경험을 나눈다. 7강 준비: 휴대폰(계정 목록 작성용).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2:58–2:59 (1분)
📖 교재: 21절 · 제6장의 마지막 질문
10초 침묵 후 마무리.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2:59–3:00 (1분)
📖 교재: 23절 제7장으로의 연결
장례·장묘 방식이 다양해질수록 사망 이후 남겨지는 물건·문서·계정·사진·기억의 정리도 중요해진다. 제2부의 마지막 시간.
마무리 인사.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F4E4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F4E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1094415" cy="10058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F4E4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6B6B6B"/>
                </a:solidFill>
              </a:rPr>
              <a:t>WLC 2급 자격과정  ·  제6강 장례·장묘 제도의 변화와 새로운 장사문화</a:t>
            </a:r>
            <a:endParaRPr lang="en-US" sz="1000" dirty="0"/>
          </a:p>
        </p:txBody>
      </p:sp>
      <p:sp>
        <p:nvSpPr>
          <p:cNvPr id="3" name="Text 1"/>
          <p:cNvSpPr/>
          <p:nvPr>
            <p:ph idx="101" type="body" hasCustomPrompt="1"/>
          </p:nvPr>
        </p:nvSpPr>
        <p:spPr>
          <a:xfrm>
            <a:off x="548640" y="292608"/>
            <a:ext cx="11094415" cy="292608"/>
          </a:xfrm>
          <a:prstGeom prst="rect">
            <a:avLst/>
          </a:prstGeom>
          <a:noFill/>
          <a:ln/>
        </p:spPr>
        <p:txBody>
          <a:bodyPr wrap="square" rtlCol="0"/>
          <a:lstStyle>
            <a:lvl1pPr indent="0" marL="0">
              <a:buNone/>
              <a:defRPr lang="en-US" sz="1300" b="1" dirty="0">
                <a:solidFill>
                  <a:srgbClr val="2E7D6B"/>
                </a:solidFill>
              </a:defRPr>
            </a:lvl1pPr>
          </a:lstStyle>
          <a:p>
            <a:pPr indent="0" marL="0">
              <a:buNone/>
            </a:pPr>
            <a:endParaRPr lang="en-US" sz="1300" dirty="0"/>
          </a:p>
        </p:txBody>
      </p:sp>
      <p:sp>
        <p:nvSpPr>
          <p:cNvPr id="4" name="Text 1"/>
          <p:cNvSpPr/>
          <p:nvPr>
            <p:ph idx="102" type="title" hasCustomPrompt="1"/>
          </p:nvPr>
        </p:nvSpPr>
        <p:spPr>
          <a:xfrm>
            <a:off x="548640" y="603504"/>
            <a:ext cx="11094415" cy="658368"/>
          </a:xfrm>
          <a:prstGeom prst="rect">
            <a:avLst/>
          </a:prstGeom>
          <a:noFill/>
          <a:ln/>
        </p:spPr>
        <p:txBody>
          <a:bodyPr wrap="square" rtlCol="0"/>
          <a:lstStyle>
            <a:lvl1pPr algn="l" indent="0" marL="0">
              <a:buNone/>
              <a:defRPr lang="en-US" sz="2800" b="1" dirty="0">
                <a:solidFill>
                  <a:srgbClr val="1F4E4A"/>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CTIVITY">
    <p:bg>
      <p:bgPr>
        <a:solidFill>
          <a:srgbClr val="EAF3F0"/>
        </a:solidFill>
      </p:bgPr>
    </p:bg>
    <p:spTree>
      <p:nvGrpSpPr>
        <p:cNvPr id="1" name=""/>
        <p:cNvGrpSpPr/>
        <p:nvPr/>
      </p:nvGrpSpPr>
      <p:grpSpPr>
        <a:xfrm>
          <a:off x="0" y="0"/>
          <a:ext cx="0" cy="0"/>
          <a:chOff x="0" y="0"/>
          <a:chExt cx="0" cy="0"/>
        </a:xfrm>
      </p:grpSpPr>
      <p:sp>
        <p:nvSpPr>
          <p:cNvPr id="2" name="Text 0"/>
          <p:cNvSpPr/>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6B6B6B"/>
                </a:solidFill>
              </a:rPr>
              <a:t>WLC 2급 자격과정  ·  제6강 장례·장묘 제도의 변화와 새로운 장사문화</a:t>
            </a:r>
            <a:endParaRPr lang="en-US" sz="1000" dirty="0"/>
          </a:p>
        </p:txBody>
      </p:sp>
      <p:sp>
        <p:nvSpPr>
          <p:cNvPr id="3" name="Text 1"/>
          <p:cNvSpPr/>
          <p:nvPr>
            <p:ph idx="101" type="body" hasCustomPrompt="1"/>
          </p:nvPr>
        </p:nvSpPr>
        <p:spPr>
          <a:xfrm>
            <a:off x="548640" y="292608"/>
            <a:ext cx="11094415" cy="292608"/>
          </a:xfrm>
          <a:prstGeom prst="rect">
            <a:avLst/>
          </a:prstGeom>
          <a:noFill/>
          <a:ln/>
        </p:spPr>
        <p:txBody>
          <a:bodyPr wrap="square" rtlCol="0"/>
          <a:lstStyle>
            <a:lvl1pPr indent="0" marL="0">
              <a:buNone/>
              <a:defRPr lang="en-US" sz="1300" b="1" dirty="0">
                <a:solidFill>
                  <a:srgbClr val="2E7D6B"/>
                </a:solidFill>
              </a:defRPr>
            </a:lvl1pPr>
          </a:lstStyle>
          <a:p>
            <a:pPr indent="0" marL="0">
              <a:buNone/>
            </a:pPr>
            <a:endParaRPr lang="en-US" sz="1300" dirty="0"/>
          </a:p>
        </p:txBody>
      </p:sp>
      <p:sp>
        <p:nvSpPr>
          <p:cNvPr id="4" name="Text 1"/>
          <p:cNvSpPr/>
          <p:nvPr>
            <p:ph idx="102" type="title" hasCustomPrompt="1"/>
          </p:nvPr>
        </p:nvSpPr>
        <p:spPr>
          <a:xfrm>
            <a:off x="548640" y="603504"/>
            <a:ext cx="11094415" cy="658368"/>
          </a:xfrm>
          <a:prstGeom prst="rect">
            <a:avLst/>
          </a:prstGeom>
          <a:noFill/>
          <a:ln/>
        </p:spPr>
        <p:txBody>
          <a:bodyPr wrap="square" rtlCol="0"/>
          <a:lstStyle>
            <a:lvl1pPr algn="l" indent="0" marL="0">
              <a:buNone/>
              <a:defRPr lang="en-US" sz="2800" b="1" dirty="0">
                <a:solidFill>
                  <a:srgbClr val="1F4E4A"/>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6.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5.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5.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5.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6.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5.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5.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5.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6.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5.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5.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5.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5.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5.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5.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6.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5.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6.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slideLayout" Target="../slideLayouts/slideLayout5.xml"/><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5.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2E7D6B">
              <a:alpha val="45000"/>
            </a:srgbClr>
          </a:solidFill>
          <a:ln w="12700">
            <a:solidFill>
              <a:srgbClr val="2E7D6B"/>
            </a:solidFill>
            <a:prstDash val="solid"/>
          </a:ln>
        </p:spPr>
      </p:sp>
      <p:sp>
        <p:nvSpPr>
          <p:cNvPr id="3" name="Shape 1"/>
          <p:cNvSpPr/>
          <p:nvPr/>
        </p:nvSpPr>
        <p:spPr>
          <a:xfrm>
            <a:off x="9509760" y="3566160"/>
            <a:ext cx="3840480" cy="3840480"/>
          </a:xfrm>
          <a:prstGeom prst="ellipse">
            <a:avLst/>
          </a:prstGeom>
          <a:solidFill>
            <a:srgbClr val="8FB9A8">
              <a:alpha val="30000"/>
            </a:srgbClr>
          </a:solidFill>
          <a:ln w="12700">
            <a:solidFill>
              <a:srgbClr val="8FB9A8"/>
            </a:solidFill>
            <a:prstDash val="solid"/>
          </a:ln>
        </p:spPr>
      </p:sp>
      <p:sp>
        <p:nvSpPr>
          <p:cNvPr id="4" name="Text 2"/>
          <p:cNvSpPr txBox="1"/>
          <p:nvPr/>
        </p:nvSpPr>
        <p:spPr>
          <a:xfrm>
            <a:off x="548640" y="1188720"/>
            <a:ext cx="8229600" cy="365760"/>
          </a:xfrm>
          <a:prstGeom prst="rect">
            <a:avLst/>
          </a:prstGeom>
          <a:noFill/>
          <a:ln/>
        </p:spPr>
        <p:txBody>
          <a:bodyPr wrap="square" lIns="0" tIns="0" rIns="0" bIns="0" rtlCol="0" anchor="t"/>
          <a:lstStyle/>
          <a:p>
            <a:pPr indent="0" marL="0">
              <a:buNone/>
            </a:pPr>
            <a:r>
              <a:rPr lang="en-US" sz="1600" b="1" dirty="0">
                <a:solidFill>
                  <a:srgbClr val="A8C5BC"/>
                </a:solidFill>
              </a:rPr>
              <a:t>WLC 2급 자격과정  ·  제2부 변화하는 죽음문화와 엔딩사회</a:t>
            </a:r>
            <a:endParaRPr lang="en-US" sz="1600" dirty="0"/>
          </a:p>
        </p:txBody>
      </p:sp>
      <p:sp>
        <p:nvSpPr>
          <p:cNvPr id="5" name="Text 3"/>
          <p:cNvSpPr txBox="1"/>
          <p:nvPr/>
        </p:nvSpPr>
        <p:spPr>
          <a:xfrm>
            <a:off x="548640" y="1828800"/>
            <a:ext cx="8229600" cy="731520"/>
          </a:xfrm>
          <a:prstGeom prst="rect">
            <a:avLst/>
          </a:prstGeom>
          <a:noFill/>
          <a:ln/>
        </p:spPr>
        <p:txBody>
          <a:bodyPr wrap="square" lIns="0" tIns="0" rIns="0" bIns="0" rtlCol="0" anchor="t"/>
          <a:lstStyle/>
          <a:p>
            <a:pPr indent="0" marL="0">
              <a:buNone/>
            </a:pPr>
            <a:r>
              <a:rPr lang="en-US" sz="3200" b="1" dirty="0">
                <a:solidFill>
                  <a:srgbClr val="FFFFFF"/>
                </a:solidFill>
              </a:rPr>
              <a:t>제6강</a:t>
            </a:r>
            <a:endParaRPr lang="en-US" sz="3200" dirty="0"/>
          </a:p>
        </p:txBody>
      </p:sp>
      <p:sp>
        <p:nvSpPr>
          <p:cNvPr id="6" name="Text 4"/>
          <p:cNvSpPr txBox="1"/>
          <p:nvPr/>
        </p:nvSpPr>
        <p:spPr>
          <a:xfrm>
            <a:off x="548640" y="2514600"/>
            <a:ext cx="10607040" cy="1828800"/>
          </a:xfrm>
          <a:prstGeom prst="rect">
            <a:avLst/>
          </a:prstGeom>
          <a:noFill/>
          <a:ln/>
        </p:spPr>
        <p:txBody>
          <a:bodyPr wrap="square" lIns="0" tIns="0" rIns="0" bIns="0" rtlCol="0" anchor="t"/>
          <a:lstStyle/>
          <a:p>
            <a:pPr indent="0" marL="0">
              <a:buNone/>
            </a:pPr>
            <a:r>
              <a:rPr lang="en-US" sz="4800" b="1" dirty="0">
                <a:solidFill>
                  <a:srgbClr val="FFFFFF"/>
                </a:solidFill>
                <a:latin typeface="Noto Serif KR Black" pitchFamily="34" charset="0"/>
                <a:ea typeface="Noto Serif KR Black" pitchFamily="34" charset="-122"/>
                <a:cs typeface="Noto Serif KR Black" pitchFamily="34" charset="-120"/>
              </a:rPr>
              <a:t>장례·장묘 제도의 변화와 새로운 장사문화</a:t>
            </a:r>
            <a:endParaRPr lang="en-US" sz="4800" dirty="0"/>
          </a:p>
        </p:txBody>
      </p:sp>
      <p:sp>
        <p:nvSpPr>
          <p:cNvPr id="7" name="Text 5"/>
          <p:cNvSpPr txBox="1"/>
          <p:nvPr/>
        </p:nvSpPr>
        <p:spPr>
          <a:xfrm>
            <a:off x="548640" y="4434840"/>
            <a:ext cx="8229600" cy="411480"/>
          </a:xfrm>
          <a:prstGeom prst="rect">
            <a:avLst/>
          </a:prstGeom>
          <a:noFill/>
          <a:ln/>
        </p:spPr>
        <p:txBody>
          <a:bodyPr wrap="square" lIns="0" tIns="0" rIns="0" bIns="0" rtlCol="0" anchor="t"/>
          <a:lstStyle/>
          <a:p>
            <a:pPr indent="0" marL="0">
              <a:buNone/>
            </a:pPr>
            <a:r>
              <a:rPr lang="en-US" sz="1800" i="1" dirty="0">
                <a:solidFill>
                  <a:srgbClr val="CFE3DC"/>
                </a:solidFill>
              </a:rPr>
              <a:t>Changing Funeral &amp; Burial Systems and New Memorial Culture</a:t>
            </a:r>
            <a:endParaRPr lang="en-US" sz="1800" dirty="0"/>
          </a:p>
        </p:txBody>
      </p:sp>
      <p:sp>
        <p:nvSpPr>
          <p:cNvPr id="8" name="Text 6"/>
          <p:cNvSpPr txBox="1"/>
          <p:nvPr/>
        </p:nvSpPr>
        <p:spPr>
          <a:xfrm>
            <a:off x="548640" y="4983480"/>
            <a:ext cx="8229600" cy="365760"/>
          </a:xfrm>
          <a:prstGeom prst="rect">
            <a:avLst/>
          </a:prstGeom>
          <a:noFill/>
          <a:ln/>
        </p:spPr>
        <p:txBody>
          <a:bodyPr wrap="square" lIns="0" tIns="0" rIns="0" bIns="0" rtlCol="0" anchor="t"/>
          <a:lstStyle/>
          <a:p>
            <a:pPr indent="0" marL="0">
              <a:buNone/>
            </a:pPr>
            <a:r>
              <a:rPr lang="en-US" sz="1500" dirty="0">
                <a:solidFill>
                  <a:srgbClr val="CFE3DC"/>
                </a:solidFill>
              </a:rPr>
              <a:t>3시간 과정  ·  1교시 50분 · 2교시 50분 · 3교시 60분</a:t>
            </a:r>
            <a:endParaRPr lang="en-US" sz="1500" dirty="0"/>
          </a:p>
        </p:txBody>
      </p:sp>
      <p:sp>
        <p:nvSpPr>
          <p:cNvPr id="9" name="Text 7"/>
          <p:cNvSpPr txBox="1"/>
          <p:nvPr/>
        </p:nvSpPr>
        <p:spPr>
          <a:xfrm>
            <a:off x="548640" y="5669280"/>
            <a:ext cx="5486400" cy="411480"/>
          </a:xfrm>
          <a:prstGeom prst="rect">
            <a:avLst/>
          </a:prstGeom>
          <a:noFill/>
          <a:ln/>
        </p:spPr>
        <p:txBody>
          <a:bodyPr wrap="square" lIns="0" tIns="0" rIns="0" bIns="0" rtlCol="0" anchor="t"/>
          <a:lstStyle/>
          <a:p>
            <a:pPr indent="0" marL="0">
              <a:buNone/>
            </a:pPr>
            <a:r>
              <a:rPr lang="en-US" sz="1800" b="1" dirty="0">
                <a:solidFill>
                  <a:srgbClr val="FFFFFF"/>
                </a:solidFill>
              </a:rPr>
              <a:t>삶잇다협동조합</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과정 안내</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WLC 2급 16강 로드맵</a:t>
            </a:r>
            <a:endParaRPr lang="en-US" sz="2800" dirty="0"/>
          </a:p>
        </p:txBody>
      </p:sp>
      <p:sp>
        <p:nvSpPr>
          <p:cNvPr id="4" name="Shape 2"/>
          <p:cNvSpPr/>
          <p:nvPr/>
        </p:nvSpPr>
        <p:spPr>
          <a:xfrm>
            <a:off x="548640" y="1508760"/>
            <a:ext cx="2072579" cy="777240"/>
          </a:xfrm>
          <a:prstGeom prst="roundRect">
            <a:avLst>
              <a:gd name="adj" fmla="val 14118"/>
            </a:avLst>
          </a:prstGeom>
          <a:solidFill>
            <a:srgbClr val="1F4E4A"/>
          </a:solidFill>
          <a:ln w="12700">
            <a:solidFill>
              <a:srgbClr val="1F4E4A"/>
            </a:solidFill>
            <a:prstDash val="solid"/>
          </a:ln>
        </p:spPr>
      </p:sp>
      <p:sp>
        <p:nvSpPr>
          <p:cNvPr id="5" name="Text 3"/>
          <p:cNvSpPr txBox="1"/>
          <p:nvPr/>
        </p:nvSpPr>
        <p:spPr>
          <a:xfrm>
            <a:off x="685800" y="1581912"/>
            <a:ext cx="1798259" cy="658368"/>
          </a:xfrm>
          <a:prstGeom prst="rect">
            <a:avLst/>
          </a:prstGeom>
          <a:noFill/>
          <a:ln/>
        </p:spPr>
        <p:txBody>
          <a:bodyPr wrap="square" lIns="0" tIns="0" rIns="0" bIns="0" rtlCol="0" anchor="ctr"/>
          <a:lstStyle/>
          <a:p>
            <a:pPr indent="0" marL="0">
              <a:buNone/>
            </a:pPr>
            <a:r>
              <a:rPr lang="en-US" sz="1300" b="1" dirty="0">
                <a:solidFill>
                  <a:srgbClr val="A8C5BC"/>
                </a:solidFill>
              </a:rPr>
              <a:t>제1부
</a:t>
            </a:r>
            <a:pPr indent="0" marL="0">
              <a:buNone/>
            </a:pPr>
            <a:r>
              <a:rPr lang="en-US" sz="1500" b="1" dirty="0">
                <a:solidFill>
                  <a:srgbClr val="FFFFFF"/>
                </a:solidFill>
              </a:rPr>
              <a:t>삶과 죽음을 이해하다</a:t>
            </a:r>
            <a:endParaRPr lang="en-US" sz="1300" dirty="0"/>
          </a:p>
        </p:txBody>
      </p:sp>
      <p:sp>
        <p:nvSpPr>
          <p:cNvPr id="6" name="Shape 4"/>
          <p:cNvSpPr/>
          <p:nvPr/>
        </p:nvSpPr>
        <p:spPr>
          <a:xfrm>
            <a:off x="548640" y="2423160"/>
            <a:ext cx="2072579" cy="731520"/>
          </a:xfrm>
          <a:prstGeom prst="roundRect">
            <a:avLst>
              <a:gd name="adj" fmla="val 15000"/>
            </a:avLst>
          </a:prstGeom>
          <a:solidFill>
            <a:srgbClr val="EAF3F0"/>
          </a:solidFill>
          <a:ln w="12700">
            <a:solidFill>
              <a:srgbClr val="EAF3F0"/>
            </a:solidFill>
            <a:prstDash val="solid"/>
          </a:ln>
        </p:spPr>
      </p:sp>
      <p:sp>
        <p:nvSpPr>
          <p:cNvPr id="7" name="Text 5"/>
          <p:cNvSpPr txBox="1"/>
          <p:nvPr/>
        </p:nvSpPr>
        <p:spPr>
          <a:xfrm>
            <a:off x="685800" y="2468880"/>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1강  </a:t>
            </a:r>
            <a:pPr indent="0" marL="0">
              <a:buNone/>
            </a:pPr>
            <a:r>
              <a:rPr lang="en-US" sz="1300" dirty="0">
                <a:solidFill>
                  <a:srgbClr val="222222"/>
                </a:solidFill>
              </a:rPr>
              <a:t>죽음을 이해하는 통찰</a:t>
            </a:r>
            <a:endParaRPr lang="en-US" sz="1300" dirty="0"/>
          </a:p>
        </p:txBody>
      </p:sp>
      <p:sp>
        <p:nvSpPr>
          <p:cNvPr id="8" name="Shape 6"/>
          <p:cNvSpPr/>
          <p:nvPr/>
        </p:nvSpPr>
        <p:spPr>
          <a:xfrm>
            <a:off x="548640" y="3264408"/>
            <a:ext cx="2072579" cy="731520"/>
          </a:xfrm>
          <a:prstGeom prst="roundRect">
            <a:avLst>
              <a:gd name="adj" fmla="val 15000"/>
            </a:avLst>
          </a:prstGeom>
          <a:solidFill>
            <a:srgbClr val="EAF3F0"/>
          </a:solidFill>
          <a:ln w="12700">
            <a:solidFill>
              <a:srgbClr val="EAF3F0"/>
            </a:solidFill>
            <a:prstDash val="solid"/>
          </a:ln>
        </p:spPr>
      </p:sp>
      <p:sp>
        <p:nvSpPr>
          <p:cNvPr id="9" name="Text 7"/>
          <p:cNvSpPr txBox="1"/>
          <p:nvPr/>
        </p:nvSpPr>
        <p:spPr>
          <a:xfrm>
            <a:off x="685800" y="3310128"/>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2강  </a:t>
            </a:r>
            <a:pPr indent="0" marL="0">
              <a:buNone/>
            </a:pPr>
            <a:r>
              <a:rPr lang="en-US" sz="1300" dirty="0">
                <a:solidFill>
                  <a:srgbClr val="222222"/>
                </a:solidFill>
              </a:rPr>
              <a:t>초고령사회와 죽음교육</a:t>
            </a:r>
            <a:endParaRPr lang="en-US" sz="1300" dirty="0"/>
          </a:p>
        </p:txBody>
      </p:sp>
      <p:sp>
        <p:nvSpPr>
          <p:cNvPr id="10" name="Shape 8"/>
          <p:cNvSpPr/>
          <p:nvPr/>
        </p:nvSpPr>
        <p:spPr>
          <a:xfrm>
            <a:off x="548640" y="4105656"/>
            <a:ext cx="2072579" cy="731520"/>
          </a:xfrm>
          <a:prstGeom prst="roundRect">
            <a:avLst>
              <a:gd name="adj" fmla="val 15000"/>
            </a:avLst>
          </a:prstGeom>
          <a:solidFill>
            <a:srgbClr val="EAF3F0"/>
          </a:solidFill>
          <a:ln w="12700">
            <a:solidFill>
              <a:srgbClr val="EAF3F0"/>
            </a:solidFill>
            <a:prstDash val="solid"/>
          </a:ln>
        </p:spPr>
      </p:sp>
      <p:sp>
        <p:nvSpPr>
          <p:cNvPr id="11" name="Text 9"/>
          <p:cNvSpPr txBox="1"/>
          <p:nvPr/>
        </p:nvSpPr>
        <p:spPr>
          <a:xfrm>
            <a:off x="685800" y="4151376"/>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3강  </a:t>
            </a:r>
            <a:pPr indent="0" marL="0">
              <a:buNone/>
            </a:pPr>
            <a:r>
              <a:rPr lang="en-US" sz="1300" dirty="0">
                <a:solidFill>
                  <a:srgbClr val="222222"/>
                </a:solidFill>
              </a:rPr>
              <a:t>웰빙·웰다잉·엔딩 통합철학</a:t>
            </a:r>
            <a:endParaRPr lang="en-US" sz="1300" dirty="0"/>
          </a:p>
        </p:txBody>
      </p:sp>
      <p:sp>
        <p:nvSpPr>
          <p:cNvPr id="12" name="Shape 10"/>
          <p:cNvSpPr/>
          <p:nvPr/>
        </p:nvSpPr>
        <p:spPr>
          <a:xfrm>
            <a:off x="2804099" y="1508760"/>
            <a:ext cx="2072579" cy="777240"/>
          </a:xfrm>
          <a:prstGeom prst="roundRect">
            <a:avLst>
              <a:gd name="adj" fmla="val 14118"/>
            </a:avLst>
          </a:prstGeom>
          <a:solidFill>
            <a:srgbClr val="1F4E4A"/>
          </a:solidFill>
          <a:ln w="12700">
            <a:solidFill>
              <a:srgbClr val="1F4E4A"/>
            </a:solidFill>
            <a:prstDash val="solid"/>
          </a:ln>
        </p:spPr>
      </p:sp>
      <p:sp>
        <p:nvSpPr>
          <p:cNvPr id="13" name="Text 11"/>
          <p:cNvSpPr txBox="1"/>
          <p:nvPr/>
        </p:nvSpPr>
        <p:spPr>
          <a:xfrm>
            <a:off x="2941259" y="1581912"/>
            <a:ext cx="1798259" cy="658368"/>
          </a:xfrm>
          <a:prstGeom prst="rect">
            <a:avLst/>
          </a:prstGeom>
          <a:noFill/>
          <a:ln/>
        </p:spPr>
        <p:txBody>
          <a:bodyPr wrap="square" lIns="0" tIns="0" rIns="0" bIns="0" rtlCol="0" anchor="ctr"/>
          <a:lstStyle/>
          <a:p>
            <a:pPr indent="0" marL="0">
              <a:buNone/>
            </a:pPr>
            <a:r>
              <a:rPr lang="en-US" sz="1300" b="1" dirty="0">
                <a:solidFill>
                  <a:srgbClr val="A8C5BC"/>
                </a:solidFill>
              </a:rPr>
              <a:t>제2부
</a:t>
            </a:r>
            <a:pPr indent="0" marL="0">
              <a:buNone/>
            </a:pPr>
            <a:r>
              <a:rPr lang="en-US" sz="1500" b="1" dirty="0">
                <a:solidFill>
                  <a:srgbClr val="FFFFFF"/>
                </a:solidFill>
              </a:rPr>
              <a:t>변화하는 죽음문화</a:t>
            </a:r>
            <a:endParaRPr lang="en-US" sz="1300" dirty="0"/>
          </a:p>
        </p:txBody>
      </p:sp>
      <p:sp>
        <p:nvSpPr>
          <p:cNvPr id="14" name="Shape 12"/>
          <p:cNvSpPr/>
          <p:nvPr/>
        </p:nvSpPr>
        <p:spPr>
          <a:xfrm>
            <a:off x="2804099" y="2423160"/>
            <a:ext cx="2072579" cy="731520"/>
          </a:xfrm>
          <a:prstGeom prst="roundRect">
            <a:avLst>
              <a:gd name="adj" fmla="val 15000"/>
            </a:avLst>
          </a:prstGeom>
          <a:solidFill>
            <a:srgbClr val="EAF3F0"/>
          </a:solidFill>
          <a:ln w="12700">
            <a:solidFill>
              <a:srgbClr val="EAF3F0"/>
            </a:solidFill>
            <a:prstDash val="solid"/>
          </a:ln>
        </p:spPr>
      </p:sp>
      <p:sp>
        <p:nvSpPr>
          <p:cNvPr id="15" name="Text 13"/>
          <p:cNvSpPr txBox="1"/>
          <p:nvPr/>
        </p:nvSpPr>
        <p:spPr>
          <a:xfrm>
            <a:off x="2941259" y="2468880"/>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4강  </a:t>
            </a:r>
            <a:pPr indent="0" marL="0">
              <a:buNone/>
            </a:pPr>
            <a:r>
              <a:rPr lang="en-US" sz="1300" dirty="0">
                <a:solidFill>
                  <a:srgbClr val="222222"/>
                </a:solidFill>
              </a:rPr>
              <a:t>웰다잉 문화와 엔딩산업</a:t>
            </a:r>
            <a:endParaRPr lang="en-US" sz="1300" dirty="0"/>
          </a:p>
        </p:txBody>
      </p:sp>
      <p:sp>
        <p:nvSpPr>
          <p:cNvPr id="16" name="Shape 14"/>
          <p:cNvSpPr/>
          <p:nvPr/>
        </p:nvSpPr>
        <p:spPr>
          <a:xfrm>
            <a:off x="2804099" y="3264408"/>
            <a:ext cx="2072579" cy="731520"/>
          </a:xfrm>
          <a:prstGeom prst="roundRect">
            <a:avLst>
              <a:gd name="adj" fmla="val 15000"/>
            </a:avLst>
          </a:prstGeom>
          <a:solidFill>
            <a:srgbClr val="EAF3F0"/>
          </a:solidFill>
          <a:ln w="12700">
            <a:solidFill>
              <a:srgbClr val="EAF3F0"/>
            </a:solidFill>
            <a:prstDash val="solid"/>
          </a:ln>
        </p:spPr>
      </p:sp>
      <p:sp>
        <p:nvSpPr>
          <p:cNvPr id="17" name="Text 15"/>
          <p:cNvSpPr txBox="1"/>
          <p:nvPr/>
        </p:nvSpPr>
        <p:spPr>
          <a:xfrm>
            <a:off x="2941259" y="3310128"/>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5강  </a:t>
            </a:r>
            <a:pPr indent="0" marL="0">
              <a:buNone/>
            </a:pPr>
            <a:r>
              <a:rPr lang="en-US" sz="1300" dirty="0">
                <a:solidFill>
                  <a:srgbClr val="222222"/>
                </a:solidFill>
              </a:rPr>
              <a:t>일본 슈카츠와 세계 웰다잉</a:t>
            </a:r>
            <a:endParaRPr lang="en-US" sz="1300" dirty="0"/>
          </a:p>
        </p:txBody>
      </p:sp>
      <p:sp>
        <p:nvSpPr>
          <p:cNvPr id="18" name="Shape 16"/>
          <p:cNvSpPr/>
          <p:nvPr/>
        </p:nvSpPr>
        <p:spPr>
          <a:xfrm>
            <a:off x="2804099" y="4105656"/>
            <a:ext cx="2072579" cy="731520"/>
          </a:xfrm>
          <a:prstGeom prst="roundRect">
            <a:avLst>
              <a:gd name="adj" fmla="val 15000"/>
            </a:avLst>
          </a:prstGeom>
          <a:solidFill>
            <a:srgbClr val="2E7D6B"/>
          </a:solidFill>
          <a:ln w="12700">
            <a:solidFill>
              <a:srgbClr val="2E7D6B"/>
            </a:solidFill>
            <a:prstDash val="solid"/>
          </a:ln>
        </p:spPr>
      </p:sp>
      <p:sp>
        <p:nvSpPr>
          <p:cNvPr id="19" name="Text 17"/>
          <p:cNvSpPr txBox="1"/>
          <p:nvPr/>
        </p:nvSpPr>
        <p:spPr>
          <a:xfrm>
            <a:off x="2941259" y="4151376"/>
            <a:ext cx="1798259" cy="640080"/>
          </a:xfrm>
          <a:prstGeom prst="rect">
            <a:avLst/>
          </a:prstGeom>
          <a:noFill/>
          <a:ln/>
        </p:spPr>
        <p:txBody>
          <a:bodyPr wrap="square" lIns="0" tIns="0" rIns="0" bIns="0" rtlCol="0" anchor="ctr"/>
          <a:lstStyle/>
          <a:p>
            <a:pPr indent="0" marL="0">
              <a:buNone/>
            </a:pPr>
            <a:r>
              <a:rPr lang="en-US" sz="1300" b="1" dirty="0">
                <a:solidFill>
                  <a:srgbClr val="FFFFFF"/>
                </a:solidFill>
              </a:rPr>
              <a:t>6강  </a:t>
            </a:r>
            <a:pPr indent="0" marL="0">
              <a:buNone/>
            </a:pPr>
            <a:r>
              <a:rPr lang="en-US" sz="1300" b="1" dirty="0">
                <a:solidFill>
                  <a:srgbClr val="FFFFFF"/>
                </a:solidFill>
              </a:rPr>
              <a:t>장례·장묘 제도의 변화</a:t>
            </a:r>
            <a:endParaRPr lang="en-US" sz="1300" dirty="0"/>
          </a:p>
        </p:txBody>
      </p:sp>
      <p:sp>
        <p:nvSpPr>
          <p:cNvPr id="20" name="Shape 18"/>
          <p:cNvSpPr/>
          <p:nvPr/>
        </p:nvSpPr>
        <p:spPr>
          <a:xfrm>
            <a:off x="2804099" y="4946904"/>
            <a:ext cx="2072579" cy="731520"/>
          </a:xfrm>
          <a:prstGeom prst="roundRect">
            <a:avLst>
              <a:gd name="adj" fmla="val 15000"/>
            </a:avLst>
          </a:prstGeom>
          <a:solidFill>
            <a:srgbClr val="EAF3F0"/>
          </a:solidFill>
          <a:ln w="12700">
            <a:solidFill>
              <a:srgbClr val="EAF3F0"/>
            </a:solidFill>
            <a:prstDash val="solid"/>
          </a:ln>
        </p:spPr>
      </p:sp>
      <p:sp>
        <p:nvSpPr>
          <p:cNvPr id="21" name="Text 19"/>
          <p:cNvSpPr txBox="1"/>
          <p:nvPr/>
        </p:nvSpPr>
        <p:spPr>
          <a:xfrm>
            <a:off x="2941259" y="4992624"/>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7강  </a:t>
            </a:r>
            <a:pPr indent="0" marL="0">
              <a:buNone/>
            </a:pPr>
            <a:r>
              <a:rPr lang="en-US" sz="1300" dirty="0">
                <a:solidFill>
                  <a:srgbClr val="222222"/>
                </a:solidFill>
              </a:rPr>
              <a:t>생전정리·유품·디지털 유산</a:t>
            </a:r>
            <a:endParaRPr lang="en-US" sz="1300" dirty="0"/>
          </a:p>
        </p:txBody>
      </p:sp>
      <p:sp>
        <p:nvSpPr>
          <p:cNvPr id="22" name="Shape 20"/>
          <p:cNvSpPr/>
          <p:nvPr/>
        </p:nvSpPr>
        <p:spPr>
          <a:xfrm>
            <a:off x="5059558" y="1508760"/>
            <a:ext cx="2072579" cy="777240"/>
          </a:xfrm>
          <a:prstGeom prst="roundRect">
            <a:avLst>
              <a:gd name="adj" fmla="val 14118"/>
            </a:avLst>
          </a:prstGeom>
          <a:solidFill>
            <a:srgbClr val="1F4E4A"/>
          </a:solidFill>
          <a:ln w="12700">
            <a:solidFill>
              <a:srgbClr val="1F4E4A"/>
            </a:solidFill>
            <a:prstDash val="solid"/>
          </a:ln>
        </p:spPr>
      </p:sp>
      <p:sp>
        <p:nvSpPr>
          <p:cNvPr id="23" name="Text 21"/>
          <p:cNvSpPr txBox="1"/>
          <p:nvPr/>
        </p:nvSpPr>
        <p:spPr>
          <a:xfrm>
            <a:off x="5196718" y="1581912"/>
            <a:ext cx="1798259" cy="658368"/>
          </a:xfrm>
          <a:prstGeom prst="rect">
            <a:avLst/>
          </a:prstGeom>
          <a:noFill/>
          <a:ln/>
        </p:spPr>
        <p:txBody>
          <a:bodyPr wrap="square" lIns="0" tIns="0" rIns="0" bIns="0" rtlCol="0" anchor="ctr"/>
          <a:lstStyle/>
          <a:p>
            <a:pPr indent="0" marL="0">
              <a:buNone/>
            </a:pPr>
            <a:r>
              <a:rPr lang="en-US" sz="1300" b="1" dirty="0">
                <a:solidFill>
                  <a:srgbClr val="A8C5BC"/>
                </a:solidFill>
              </a:rPr>
              <a:t>제3부
</a:t>
            </a:r>
            <a:pPr indent="0" marL="0">
              <a:buNone/>
            </a:pPr>
            <a:r>
              <a:rPr lang="en-US" sz="1500" b="1" dirty="0">
                <a:solidFill>
                  <a:srgbClr val="FFFFFF"/>
                </a:solidFill>
              </a:rPr>
              <a:t>삶의 존엄을 준비하다</a:t>
            </a:r>
            <a:endParaRPr lang="en-US" sz="1300" dirty="0"/>
          </a:p>
        </p:txBody>
      </p:sp>
      <p:sp>
        <p:nvSpPr>
          <p:cNvPr id="24" name="Shape 22"/>
          <p:cNvSpPr/>
          <p:nvPr/>
        </p:nvSpPr>
        <p:spPr>
          <a:xfrm>
            <a:off x="5059558" y="2423160"/>
            <a:ext cx="2072579" cy="731520"/>
          </a:xfrm>
          <a:prstGeom prst="roundRect">
            <a:avLst>
              <a:gd name="adj" fmla="val 15000"/>
            </a:avLst>
          </a:prstGeom>
          <a:solidFill>
            <a:srgbClr val="EAF3F0"/>
          </a:solidFill>
          <a:ln w="12700">
            <a:solidFill>
              <a:srgbClr val="EAF3F0"/>
            </a:solidFill>
            <a:prstDash val="solid"/>
          </a:ln>
        </p:spPr>
      </p:sp>
      <p:sp>
        <p:nvSpPr>
          <p:cNvPr id="25" name="Text 23"/>
          <p:cNvSpPr txBox="1"/>
          <p:nvPr/>
        </p:nvSpPr>
        <p:spPr>
          <a:xfrm>
            <a:off x="5196718" y="2468880"/>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8강  </a:t>
            </a:r>
            <a:pPr indent="0" marL="0">
              <a:buNone/>
            </a:pPr>
            <a:r>
              <a:rPr lang="en-US" sz="1300" dirty="0">
                <a:solidFill>
                  <a:srgbClr val="222222"/>
                </a:solidFill>
              </a:rPr>
              <a:t>경제적 웰다잉과 재산 보호</a:t>
            </a:r>
            <a:endParaRPr lang="en-US" sz="1300" dirty="0"/>
          </a:p>
        </p:txBody>
      </p:sp>
      <p:sp>
        <p:nvSpPr>
          <p:cNvPr id="26" name="Shape 24"/>
          <p:cNvSpPr/>
          <p:nvPr/>
        </p:nvSpPr>
        <p:spPr>
          <a:xfrm>
            <a:off x="5059558" y="3264408"/>
            <a:ext cx="2072579" cy="731520"/>
          </a:xfrm>
          <a:prstGeom prst="roundRect">
            <a:avLst>
              <a:gd name="adj" fmla="val 15000"/>
            </a:avLst>
          </a:prstGeom>
          <a:solidFill>
            <a:srgbClr val="EAF3F0"/>
          </a:solidFill>
          <a:ln w="12700">
            <a:solidFill>
              <a:srgbClr val="EAF3F0"/>
            </a:solidFill>
            <a:prstDash val="solid"/>
          </a:ln>
        </p:spPr>
      </p:sp>
      <p:sp>
        <p:nvSpPr>
          <p:cNvPr id="27" name="Text 25"/>
          <p:cNvSpPr txBox="1"/>
          <p:nvPr/>
        </p:nvSpPr>
        <p:spPr>
          <a:xfrm>
            <a:off x="5196718" y="3310128"/>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9강  </a:t>
            </a:r>
            <a:pPr indent="0" marL="0">
              <a:buNone/>
            </a:pPr>
            <a:r>
              <a:rPr lang="en-US" sz="1300" dirty="0">
                <a:solidFill>
                  <a:srgbClr val="222222"/>
                </a:solidFill>
              </a:rPr>
              <a:t>의료결정·사전돌봄·후견</a:t>
            </a:r>
            <a:endParaRPr lang="en-US" sz="1300" dirty="0"/>
          </a:p>
        </p:txBody>
      </p:sp>
      <p:sp>
        <p:nvSpPr>
          <p:cNvPr id="28" name="Shape 26"/>
          <p:cNvSpPr/>
          <p:nvPr/>
        </p:nvSpPr>
        <p:spPr>
          <a:xfrm>
            <a:off x="5059558" y="4105656"/>
            <a:ext cx="2072579" cy="731520"/>
          </a:xfrm>
          <a:prstGeom prst="roundRect">
            <a:avLst>
              <a:gd name="adj" fmla="val 15000"/>
            </a:avLst>
          </a:prstGeom>
          <a:solidFill>
            <a:srgbClr val="EAF3F0"/>
          </a:solidFill>
          <a:ln w="12700">
            <a:solidFill>
              <a:srgbClr val="EAF3F0"/>
            </a:solidFill>
            <a:prstDash val="solid"/>
          </a:ln>
        </p:spPr>
      </p:sp>
      <p:sp>
        <p:nvSpPr>
          <p:cNvPr id="29" name="Text 27"/>
          <p:cNvSpPr txBox="1"/>
          <p:nvPr/>
        </p:nvSpPr>
        <p:spPr>
          <a:xfrm>
            <a:off x="5196718" y="4151376"/>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10강  </a:t>
            </a:r>
            <a:pPr indent="0" marL="0">
              <a:buNone/>
            </a:pPr>
            <a:r>
              <a:rPr lang="en-US" sz="1300" dirty="0">
                <a:solidFill>
                  <a:srgbClr val="222222"/>
                </a:solidFill>
              </a:rPr>
              <a:t>가족소통·생명윤리·갈등중재</a:t>
            </a:r>
            <a:endParaRPr lang="en-US" sz="1300" dirty="0"/>
          </a:p>
        </p:txBody>
      </p:sp>
      <p:sp>
        <p:nvSpPr>
          <p:cNvPr id="30" name="Shape 28"/>
          <p:cNvSpPr/>
          <p:nvPr/>
        </p:nvSpPr>
        <p:spPr>
          <a:xfrm>
            <a:off x="7315017" y="1508760"/>
            <a:ext cx="2072579" cy="777240"/>
          </a:xfrm>
          <a:prstGeom prst="roundRect">
            <a:avLst>
              <a:gd name="adj" fmla="val 14118"/>
            </a:avLst>
          </a:prstGeom>
          <a:solidFill>
            <a:srgbClr val="1F4E4A"/>
          </a:solidFill>
          <a:ln w="12700">
            <a:solidFill>
              <a:srgbClr val="1F4E4A"/>
            </a:solidFill>
            <a:prstDash val="solid"/>
          </a:ln>
        </p:spPr>
      </p:sp>
      <p:sp>
        <p:nvSpPr>
          <p:cNvPr id="31" name="Text 29"/>
          <p:cNvSpPr txBox="1"/>
          <p:nvPr/>
        </p:nvSpPr>
        <p:spPr>
          <a:xfrm>
            <a:off x="7452177" y="1581912"/>
            <a:ext cx="1798259" cy="658368"/>
          </a:xfrm>
          <a:prstGeom prst="rect">
            <a:avLst/>
          </a:prstGeom>
          <a:noFill/>
          <a:ln/>
        </p:spPr>
        <p:txBody>
          <a:bodyPr wrap="square" lIns="0" tIns="0" rIns="0" bIns="0" rtlCol="0" anchor="ctr"/>
          <a:lstStyle/>
          <a:p>
            <a:pPr indent="0" marL="0">
              <a:buNone/>
            </a:pPr>
            <a:r>
              <a:rPr lang="en-US" sz="1300" b="1" dirty="0">
                <a:solidFill>
                  <a:srgbClr val="A8C5BC"/>
                </a:solidFill>
              </a:rPr>
              <a:t>제4부
</a:t>
            </a:r>
            <a:pPr indent="0" marL="0">
              <a:buNone/>
            </a:pPr>
            <a:r>
              <a:rPr lang="en-US" sz="1500" b="1" dirty="0">
                <a:solidFill>
                  <a:srgbClr val="FFFFFF"/>
                </a:solidFill>
              </a:rPr>
              <a:t>상실과 임종을 동행하다</a:t>
            </a:r>
            <a:endParaRPr lang="en-US" sz="1300" dirty="0"/>
          </a:p>
        </p:txBody>
      </p:sp>
      <p:sp>
        <p:nvSpPr>
          <p:cNvPr id="32" name="Shape 30"/>
          <p:cNvSpPr/>
          <p:nvPr/>
        </p:nvSpPr>
        <p:spPr>
          <a:xfrm>
            <a:off x="7315017" y="2423160"/>
            <a:ext cx="2072579" cy="731520"/>
          </a:xfrm>
          <a:prstGeom prst="roundRect">
            <a:avLst>
              <a:gd name="adj" fmla="val 15000"/>
            </a:avLst>
          </a:prstGeom>
          <a:solidFill>
            <a:srgbClr val="EAF3F0"/>
          </a:solidFill>
          <a:ln w="12700">
            <a:solidFill>
              <a:srgbClr val="EAF3F0"/>
            </a:solidFill>
            <a:prstDash val="solid"/>
          </a:ln>
        </p:spPr>
      </p:sp>
      <p:sp>
        <p:nvSpPr>
          <p:cNvPr id="33" name="Text 31"/>
          <p:cNvSpPr txBox="1"/>
          <p:nvPr/>
        </p:nvSpPr>
        <p:spPr>
          <a:xfrm>
            <a:off x="7452177" y="2468880"/>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11강  </a:t>
            </a:r>
            <a:pPr indent="0" marL="0">
              <a:buNone/>
            </a:pPr>
            <a:r>
              <a:rPr lang="en-US" sz="1300" dirty="0">
                <a:solidFill>
                  <a:srgbClr val="222222"/>
                </a:solidFill>
              </a:rPr>
              <a:t>상실·애도와 관계회복</a:t>
            </a:r>
            <a:endParaRPr lang="en-US" sz="1300" dirty="0"/>
          </a:p>
        </p:txBody>
      </p:sp>
      <p:sp>
        <p:nvSpPr>
          <p:cNvPr id="34" name="Shape 32"/>
          <p:cNvSpPr/>
          <p:nvPr/>
        </p:nvSpPr>
        <p:spPr>
          <a:xfrm>
            <a:off x="7315017" y="3264408"/>
            <a:ext cx="2072579" cy="731520"/>
          </a:xfrm>
          <a:prstGeom prst="roundRect">
            <a:avLst>
              <a:gd name="adj" fmla="val 15000"/>
            </a:avLst>
          </a:prstGeom>
          <a:solidFill>
            <a:srgbClr val="EAF3F0"/>
          </a:solidFill>
          <a:ln w="12700">
            <a:solidFill>
              <a:srgbClr val="EAF3F0"/>
            </a:solidFill>
            <a:prstDash val="solid"/>
          </a:ln>
        </p:spPr>
      </p:sp>
      <p:sp>
        <p:nvSpPr>
          <p:cNvPr id="35" name="Text 33"/>
          <p:cNvSpPr txBox="1"/>
          <p:nvPr/>
        </p:nvSpPr>
        <p:spPr>
          <a:xfrm>
            <a:off x="7452177" y="3310128"/>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12강  </a:t>
            </a:r>
            <a:pPr indent="0" marL="0">
              <a:buNone/>
            </a:pPr>
            <a:r>
              <a:rPr lang="en-US" sz="1300" dirty="0">
                <a:solidFill>
                  <a:srgbClr val="222222"/>
                </a:solidFill>
              </a:rPr>
              <a:t>예기치 않은 죽음·재난</a:t>
            </a:r>
            <a:endParaRPr lang="en-US" sz="1300" dirty="0"/>
          </a:p>
        </p:txBody>
      </p:sp>
      <p:sp>
        <p:nvSpPr>
          <p:cNvPr id="36" name="Shape 34"/>
          <p:cNvSpPr/>
          <p:nvPr/>
        </p:nvSpPr>
        <p:spPr>
          <a:xfrm>
            <a:off x="7315017" y="4105656"/>
            <a:ext cx="2072579" cy="731520"/>
          </a:xfrm>
          <a:prstGeom prst="roundRect">
            <a:avLst>
              <a:gd name="adj" fmla="val 15000"/>
            </a:avLst>
          </a:prstGeom>
          <a:solidFill>
            <a:srgbClr val="EAF3F0"/>
          </a:solidFill>
          <a:ln w="12700">
            <a:solidFill>
              <a:srgbClr val="EAF3F0"/>
            </a:solidFill>
            <a:prstDash val="solid"/>
          </a:ln>
        </p:spPr>
      </p:sp>
      <p:sp>
        <p:nvSpPr>
          <p:cNvPr id="37" name="Text 35"/>
          <p:cNvSpPr txBox="1"/>
          <p:nvPr/>
        </p:nvSpPr>
        <p:spPr>
          <a:xfrm>
            <a:off x="7452177" y="4151376"/>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13강  </a:t>
            </a:r>
            <a:pPr indent="0" marL="0">
              <a:buNone/>
            </a:pPr>
            <a:r>
              <a:rPr lang="en-US" sz="1300" dirty="0">
                <a:solidFill>
                  <a:srgbClr val="222222"/>
                </a:solidFill>
              </a:rPr>
              <a:t>임종 단계별 돌봄 실무</a:t>
            </a:r>
            <a:endParaRPr lang="en-US" sz="1300" dirty="0"/>
          </a:p>
        </p:txBody>
      </p:sp>
      <p:sp>
        <p:nvSpPr>
          <p:cNvPr id="38" name="Shape 36"/>
          <p:cNvSpPr/>
          <p:nvPr/>
        </p:nvSpPr>
        <p:spPr>
          <a:xfrm>
            <a:off x="7315017" y="4946904"/>
            <a:ext cx="2072579" cy="731520"/>
          </a:xfrm>
          <a:prstGeom prst="roundRect">
            <a:avLst>
              <a:gd name="adj" fmla="val 15000"/>
            </a:avLst>
          </a:prstGeom>
          <a:solidFill>
            <a:srgbClr val="EAF3F0"/>
          </a:solidFill>
          <a:ln w="12700">
            <a:solidFill>
              <a:srgbClr val="EAF3F0"/>
            </a:solidFill>
            <a:prstDash val="solid"/>
          </a:ln>
        </p:spPr>
      </p:sp>
      <p:sp>
        <p:nvSpPr>
          <p:cNvPr id="39" name="Text 37"/>
          <p:cNvSpPr txBox="1"/>
          <p:nvPr/>
        </p:nvSpPr>
        <p:spPr>
          <a:xfrm>
            <a:off x="7452177" y="4992624"/>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14강  </a:t>
            </a:r>
            <a:pPr indent="0" marL="0">
              <a:buNone/>
            </a:pPr>
            <a:r>
              <a:rPr lang="en-US" sz="1300" dirty="0">
                <a:solidFill>
                  <a:srgbClr val="222222"/>
                </a:solidFill>
              </a:rPr>
              <a:t>사망 직후 초기지원</a:t>
            </a:r>
            <a:endParaRPr lang="en-US" sz="1300" dirty="0"/>
          </a:p>
        </p:txBody>
      </p:sp>
      <p:sp>
        <p:nvSpPr>
          <p:cNvPr id="40" name="Shape 38"/>
          <p:cNvSpPr/>
          <p:nvPr/>
        </p:nvSpPr>
        <p:spPr>
          <a:xfrm>
            <a:off x="9570476" y="1508760"/>
            <a:ext cx="2072579" cy="777240"/>
          </a:xfrm>
          <a:prstGeom prst="roundRect">
            <a:avLst>
              <a:gd name="adj" fmla="val 14118"/>
            </a:avLst>
          </a:prstGeom>
          <a:solidFill>
            <a:srgbClr val="1F4E4A"/>
          </a:solidFill>
          <a:ln w="12700">
            <a:solidFill>
              <a:srgbClr val="1F4E4A"/>
            </a:solidFill>
            <a:prstDash val="solid"/>
          </a:ln>
        </p:spPr>
      </p:sp>
      <p:sp>
        <p:nvSpPr>
          <p:cNvPr id="41" name="Text 39"/>
          <p:cNvSpPr txBox="1"/>
          <p:nvPr/>
        </p:nvSpPr>
        <p:spPr>
          <a:xfrm>
            <a:off x="9707636" y="1581912"/>
            <a:ext cx="1798259" cy="658368"/>
          </a:xfrm>
          <a:prstGeom prst="rect">
            <a:avLst/>
          </a:prstGeom>
          <a:noFill/>
          <a:ln/>
        </p:spPr>
        <p:txBody>
          <a:bodyPr wrap="square" lIns="0" tIns="0" rIns="0" bIns="0" rtlCol="0" anchor="ctr"/>
          <a:lstStyle/>
          <a:p>
            <a:pPr indent="0" marL="0">
              <a:buNone/>
            </a:pPr>
            <a:r>
              <a:rPr lang="en-US" sz="1300" b="1" dirty="0">
                <a:solidFill>
                  <a:srgbClr val="A8C5BC"/>
                </a:solidFill>
              </a:rPr>
              <a:t>제5부
</a:t>
            </a:r>
            <a:pPr indent="0" marL="0">
              <a:buNone/>
            </a:pPr>
            <a:r>
              <a:rPr lang="en-US" sz="1500" b="1" dirty="0">
                <a:solidFill>
                  <a:srgbClr val="FFFFFF"/>
                </a:solidFill>
              </a:rPr>
              <a:t>WLC로 활동하다</a:t>
            </a:r>
            <a:endParaRPr lang="en-US" sz="1300" dirty="0"/>
          </a:p>
        </p:txBody>
      </p:sp>
      <p:sp>
        <p:nvSpPr>
          <p:cNvPr id="42" name="Shape 40"/>
          <p:cNvSpPr/>
          <p:nvPr/>
        </p:nvSpPr>
        <p:spPr>
          <a:xfrm>
            <a:off x="9570476" y="2423160"/>
            <a:ext cx="2072579" cy="731520"/>
          </a:xfrm>
          <a:prstGeom prst="roundRect">
            <a:avLst>
              <a:gd name="adj" fmla="val 15000"/>
            </a:avLst>
          </a:prstGeom>
          <a:solidFill>
            <a:srgbClr val="EAF3F0"/>
          </a:solidFill>
          <a:ln w="12700">
            <a:solidFill>
              <a:srgbClr val="EAF3F0"/>
            </a:solidFill>
            <a:prstDash val="solid"/>
          </a:ln>
        </p:spPr>
      </p:sp>
      <p:sp>
        <p:nvSpPr>
          <p:cNvPr id="43" name="Text 41"/>
          <p:cNvSpPr txBox="1"/>
          <p:nvPr/>
        </p:nvSpPr>
        <p:spPr>
          <a:xfrm>
            <a:off x="9707636" y="2468880"/>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15강  </a:t>
            </a:r>
            <a:pPr indent="0" marL="0">
              <a:buNone/>
            </a:pPr>
            <a:r>
              <a:rPr lang="en-US" sz="1300" dirty="0">
                <a:solidFill>
                  <a:srgbClr val="222222"/>
                </a:solidFill>
              </a:rPr>
              <a:t>WLC 코칭 실무·교육 운영</a:t>
            </a:r>
            <a:endParaRPr lang="en-US" sz="1300" dirty="0"/>
          </a:p>
        </p:txBody>
      </p:sp>
      <p:sp>
        <p:nvSpPr>
          <p:cNvPr id="44" name="Shape 42"/>
          <p:cNvSpPr/>
          <p:nvPr/>
        </p:nvSpPr>
        <p:spPr>
          <a:xfrm>
            <a:off x="9570476" y="3264408"/>
            <a:ext cx="2072579" cy="731520"/>
          </a:xfrm>
          <a:prstGeom prst="roundRect">
            <a:avLst>
              <a:gd name="adj" fmla="val 15000"/>
            </a:avLst>
          </a:prstGeom>
          <a:solidFill>
            <a:srgbClr val="EAF3F0"/>
          </a:solidFill>
          <a:ln w="12700">
            <a:solidFill>
              <a:srgbClr val="EAF3F0"/>
            </a:solidFill>
            <a:prstDash val="solid"/>
          </a:ln>
        </p:spPr>
      </p:sp>
      <p:sp>
        <p:nvSpPr>
          <p:cNvPr id="45" name="Text 43"/>
          <p:cNvSpPr txBox="1"/>
          <p:nvPr/>
        </p:nvSpPr>
        <p:spPr>
          <a:xfrm>
            <a:off x="9707636" y="3310128"/>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16강  </a:t>
            </a:r>
            <a:pPr indent="0" marL="0">
              <a:buNone/>
            </a:pPr>
            <a:r>
              <a:rPr lang="en-US" sz="1300" dirty="0">
                <a:solidFill>
                  <a:srgbClr val="222222"/>
                </a:solidFill>
              </a:rPr>
              <a:t>전문직 윤리·자격검정</a:t>
            </a:r>
            <a:endParaRPr lang="en-US" sz="13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오늘의 3시간</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오늘은 이렇게 진행합니다</a:t>
            </a:r>
            <a:endParaRPr lang="en-US" sz="2800" dirty="0"/>
          </a:p>
        </p:txBody>
      </p:sp>
      <p:sp>
        <p:nvSpPr>
          <p:cNvPr id="4" name="Shape 2"/>
          <p:cNvSpPr/>
          <p:nvPr/>
        </p:nvSpPr>
        <p:spPr>
          <a:xfrm>
            <a:off x="548640" y="1737360"/>
            <a:ext cx="3026918" cy="1051560"/>
          </a:xfrm>
          <a:prstGeom prst="roundRect">
            <a:avLst>
              <a:gd name="adj" fmla="val 10435"/>
            </a:avLst>
          </a:prstGeom>
          <a:solidFill>
            <a:srgbClr val="1F4E4A"/>
          </a:solidFill>
          <a:ln w="12700">
            <a:solidFill>
              <a:srgbClr val="1F4E4A"/>
            </a:solidFill>
            <a:prstDash val="solid"/>
          </a:ln>
        </p:spPr>
      </p:sp>
      <p:sp>
        <p:nvSpPr>
          <p:cNvPr id="5" name="Text 3"/>
          <p:cNvSpPr txBox="1"/>
          <p:nvPr/>
        </p:nvSpPr>
        <p:spPr>
          <a:xfrm>
            <a:off x="640080" y="1828800"/>
            <a:ext cx="2844038" cy="868680"/>
          </a:xfrm>
          <a:prstGeom prst="rect">
            <a:avLst/>
          </a:prstGeom>
          <a:noFill/>
          <a:ln/>
        </p:spPr>
        <p:txBody>
          <a:bodyPr wrap="square" lIns="0" tIns="0" rIns="0" bIns="0" rtlCol="0" anchor="ctr"/>
          <a:lstStyle/>
          <a:p>
            <a:pPr algn="ctr" indent="0" marL="0">
              <a:buNone/>
            </a:pPr>
            <a:r>
              <a:rPr lang="en-US" sz="2000" b="1" dirty="0">
                <a:solidFill>
                  <a:srgbClr val="FFFFFF"/>
                </a:solidFill>
              </a:rPr>
              <a:t>1교시</a:t>
            </a:r>
            <a:endParaRPr lang="en-US" sz="2000" dirty="0"/>
          </a:p>
          <a:p>
            <a:pPr algn="ctr" indent="0" marL="0">
              <a:buNone/>
            </a:pPr>
            <a:r>
              <a:rPr lang="en-US" sz="1500" dirty="0">
                <a:solidFill>
                  <a:srgbClr val="CFE3DC"/>
                </a:solidFill>
              </a:rPr>
              <a:t>50분</a:t>
            </a:r>
            <a:endParaRPr lang="en-US" sz="2000" dirty="0"/>
          </a:p>
        </p:txBody>
      </p:sp>
      <p:sp>
        <p:nvSpPr>
          <p:cNvPr id="6" name="Text 4"/>
          <p:cNvSpPr txBox="1"/>
          <p:nvPr/>
        </p:nvSpPr>
        <p:spPr>
          <a:xfrm>
            <a:off x="594360" y="3063240"/>
            <a:ext cx="2935478" cy="2743200"/>
          </a:xfrm>
          <a:prstGeom prst="rect">
            <a:avLst/>
          </a:prstGeom>
          <a:noFill/>
          <a:ln/>
        </p:spPr>
        <p:txBody>
          <a:bodyPr wrap="square" lIns="0" tIns="0" rIns="0" bIns="0" rtlCol="0" anchor="t"/>
          <a:lstStyle/>
          <a:p>
            <a:pPr indent="0" marL="0">
              <a:spcAft>
                <a:spcPts val="800"/>
              </a:spcAft>
              <a:buNone/>
            </a:pPr>
            <a:r>
              <a:rPr lang="en-US" sz="2200" b="1" dirty="0">
                <a:solidFill>
                  <a:srgbClr val="2E7D6B"/>
                </a:solidFill>
              </a:rPr>
              <a:t>장사법의 언어와 장례의 흐름
</a:t>
            </a:r>
            <a:pPr indent="0" marL="0">
              <a:buNone/>
            </a:pPr>
            <a:r>
              <a:rPr lang="en-US" sz="2000" dirty="0">
                <a:solidFill>
                  <a:srgbClr val="222222"/>
                </a:solidFill>
              </a:rPr>
              <a:t>과제 나눔·오프닝 질문</a:t>
            </a:r>
            <a:endParaRPr lang="en-US" sz="2200" dirty="0"/>
          </a:p>
          <a:p>
            <a:pPr indent="0" marL="0">
              <a:buNone/>
            </a:pPr>
            <a:r>
              <a:rPr lang="en-US" sz="2000" dirty="0">
                <a:solidFill>
                  <a:srgbClr val="222222"/>
                </a:solidFill>
              </a:rPr>
              <a:t>매장·화장·봉안·자연장·개장</a:t>
            </a:r>
            <a:endParaRPr lang="en-US" sz="2200" dirty="0"/>
          </a:p>
          <a:p>
            <a:pPr indent="0" marL="0">
              <a:buNone/>
            </a:pPr>
            <a:r>
              <a:rPr lang="en-US" sz="2000" dirty="0">
                <a:solidFill>
                  <a:srgbClr val="222222"/>
                </a:solidFill>
              </a:rPr>
              <a:t>사망 이후 장례의 7단계</a:t>
            </a:r>
            <a:endParaRPr lang="en-US" sz="2200" dirty="0"/>
          </a:p>
        </p:txBody>
      </p:sp>
      <p:sp>
        <p:nvSpPr>
          <p:cNvPr id="7" name="Shape 5"/>
          <p:cNvSpPr/>
          <p:nvPr/>
        </p:nvSpPr>
        <p:spPr>
          <a:xfrm>
            <a:off x="3630422" y="1737360"/>
            <a:ext cx="561492" cy="1051560"/>
          </a:xfrm>
          <a:prstGeom prst="roundRect">
            <a:avLst>
              <a:gd name="adj" fmla="val 19542"/>
            </a:avLst>
          </a:prstGeom>
          <a:solidFill>
            <a:srgbClr val="D9DEDC"/>
          </a:solidFill>
          <a:ln w="12700">
            <a:solidFill>
              <a:srgbClr val="D9DEDC"/>
            </a:solidFill>
            <a:prstDash val="solid"/>
          </a:ln>
        </p:spPr>
      </p:sp>
      <p:sp>
        <p:nvSpPr>
          <p:cNvPr id="8" name="Text 6"/>
          <p:cNvSpPr txBox="1"/>
          <p:nvPr/>
        </p:nvSpPr>
        <p:spPr>
          <a:xfrm>
            <a:off x="3721862" y="1828800"/>
            <a:ext cx="378612" cy="868680"/>
          </a:xfrm>
          <a:prstGeom prst="rect">
            <a:avLst/>
          </a:prstGeom>
          <a:noFill/>
          <a:ln/>
        </p:spPr>
        <p:txBody>
          <a:bodyPr wrap="square" lIns="0" tIns="0" rIns="0" bIns="0" rtlCol="0" anchor="ctr"/>
          <a:lstStyle/>
          <a:p>
            <a:pPr algn="ctr" indent="0" marL="0">
              <a:buNone/>
            </a:pPr>
            <a:r>
              <a:rPr lang="en-US" sz="1300" b="1" dirty="0">
                <a:solidFill>
                  <a:srgbClr val="6B6B6B"/>
                </a:solidFill>
              </a:rPr>
              <a:t>휴식</a:t>
            </a:r>
            <a:endParaRPr lang="en-US" sz="1300" dirty="0"/>
          </a:p>
          <a:p>
            <a:pPr algn="ctr" indent="0" marL="0">
              <a:buNone/>
            </a:pPr>
            <a:r>
              <a:rPr lang="en-US" sz="1200" dirty="0">
                <a:solidFill>
                  <a:srgbClr val="6B6B6B"/>
                </a:solidFill>
              </a:rPr>
              <a:t>10분</a:t>
            </a:r>
            <a:endParaRPr lang="en-US" sz="1300" dirty="0"/>
          </a:p>
        </p:txBody>
      </p:sp>
      <p:sp>
        <p:nvSpPr>
          <p:cNvPr id="9" name="Shape 7"/>
          <p:cNvSpPr/>
          <p:nvPr/>
        </p:nvSpPr>
        <p:spPr>
          <a:xfrm>
            <a:off x="4246778" y="1737360"/>
            <a:ext cx="3026918" cy="1051560"/>
          </a:xfrm>
          <a:prstGeom prst="roundRect">
            <a:avLst>
              <a:gd name="adj" fmla="val 10435"/>
            </a:avLst>
          </a:prstGeom>
          <a:solidFill>
            <a:srgbClr val="1F4E4A"/>
          </a:solidFill>
          <a:ln w="12700">
            <a:solidFill>
              <a:srgbClr val="1F4E4A"/>
            </a:solidFill>
            <a:prstDash val="solid"/>
          </a:ln>
        </p:spPr>
      </p:sp>
      <p:sp>
        <p:nvSpPr>
          <p:cNvPr id="10" name="Text 8"/>
          <p:cNvSpPr txBox="1"/>
          <p:nvPr/>
        </p:nvSpPr>
        <p:spPr>
          <a:xfrm>
            <a:off x="4338218" y="1828800"/>
            <a:ext cx="2844038" cy="868680"/>
          </a:xfrm>
          <a:prstGeom prst="rect">
            <a:avLst/>
          </a:prstGeom>
          <a:noFill/>
          <a:ln/>
        </p:spPr>
        <p:txBody>
          <a:bodyPr wrap="square" lIns="0" tIns="0" rIns="0" bIns="0" rtlCol="0" anchor="ctr"/>
          <a:lstStyle/>
          <a:p>
            <a:pPr algn="ctr" indent="0" marL="0">
              <a:buNone/>
            </a:pPr>
            <a:r>
              <a:rPr lang="en-US" sz="2000" b="1" dirty="0">
                <a:solidFill>
                  <a:srgbClr val="FFFFFF"/>
                </a:solidFill>
              </a:rPr>
              <a:t>2교시</a:t>
            </a:r>
            <a:endParaRPr lang="en-US" sz="2000" dirty="0"/>
          </a:p>
          <a:p>
            <a:pPr algn="ctr" indent="0" marL="0">
              <a:buNone/>
            </a:pPr>
            <a:r>
              <a:rPr lang="en-US" sz="1500" dirty="0">
                <a:solidFill>
                  <a:srgbClr val="CFE3DC"/>
                </a:solidFill>
              </a:rPr>
              <a:t>50분</a:t>
            </a:r>
            <a:endParaRPr lang="en-US" sz="2000" dirty="0"/>
          </a:p>
        </p:txBody>
      </p:sp>
      <p:sp>
        <p:nvSpPr>
          <p:cNvPr id="11" name="Text 9"/>
          <p:cNvSpPr txBox="1"/>
          <p:nvPr/>
        </p:nvSpPr>
        <p:spPr>
          <a:xfrm>
            <a:off x="4292498" y="3063240"/>
            <a:ext cx="2935478" cy="2743200"/>
          </a:xfrm>
          <a:prstGeom prst="rect">
            <a:avLst/>
          </a:prstGeom>
          <a:noFill/>
          <a:ln/>
        </p:spPr>
        <p:txBody>
          <a:bodyPr wrap="square" lIns="0" tIns="0" rIns="0" bIns="0" rtlCol="0" anchor="t"/>
          <a:lstStyle/>
          <a:p>
            <a:pPr indent="0" marL="0">
              <a:spcAft>
                <a:spcPts val="800"/>
              </a:spcAft>
              <a:buNone/>
            </a:pPr>
            <a:r>
              <a:rPr lang="en-US" sz="2200" b="1" dirty="0">
                <a:solidFill>
                  <a:srgbClr val="2E7D6B"/>
                </a:solidFill>
              </a:rPr>
              <a:t>화장 이후의 선택과 공공의 장례
</a:t>
            </a:r>
            <a:pPr indent="0" marL="0">
              <a:buNone/>
            </a:pPr>
            <a:r>
              <a:rPr lang="en-US" sz="2000" dirty="0">
                <a:solidFill>
                  <a:srgbClr val="222222"/>
                </a:solidFill>
              </a:rPr>
              <a:t>봉안·자연장·골분 산분</a:t>
            </a:r>
            <a:endParaRPr lang="en-US" sz="2200" dirty="0"/>
          </a:p>
          <a:p>
            <a:pPr indent="0" marL="0">
              <a:buNone/>
            </a:pPr>
            <a:r>
              <a:rPr lang="en-US" sz="2000" dirty="0">
                <a:solidFill>
                  <a:srgbClr val="222222"/>
                </a:solidFill>
              </a:rPr>
              <a:t>무연고 사망과 공영장례</a:t>
            </a:r>
            <a:endParaRPr lang="en-US" sz="2200" dirty="0"/>
          </a:p>
          <a:p>
            <a:pPr indent="0" marL="0">
              <a:buNone/>
            </a:pPr>
            <a:r>
              <a:rPr lang="en-US" sz="2000" dirty="0">
                <a:solidFill>
                  <a:srgbClr val="222222"/>
                </a:solidFill>
              </a:rPr>
              <a:t>장례의 기능·비용·e하늘</a:t>
            </a:r>
            <a:endParaRPr lang="en-US" sz="2200" dirty="0"/>
          </a:p>
        </p:txBody>
      </p:sp>
      <p:sp>
        <p:nvSpPr>
          <p:cNvPr id="12" name="Shape 10"/>
          <p:cNvSpPr/>
          <p:nvPr/>
        </p:nvSpPr>
        <p:spPr>
          <a:xfrm>
            <a:off x="7328560" y="1737360"/>
            <a:ext cx="561492" cy="1051560"/>
          </a:xfrm>
          <a:prstGeom prst="roundRect">
            <a:avLst>
              <a:gd name="adj" fmla="val 19542"/>
            </a:avLst>
          </a:prstGeom>
          <a:solidFill>
            <a:srgbClr val="D9DEDC"/>
          </a:solidFill>
          <a:ln w="12700">
            <a:solidFill>
              <a:srgbClr val="D9DEDC"/>
            </a:solidFill>
            <a:prstDash val="solid"/>
          </a:ln>
        </p:spPr>
      </p:sp>
      <p:sp>
        <p:nvSpPr>
          <p:cNvPr id="13" name="Text 11"/>
          <p:cNvSpPr txBox="1"/>
          <p:nvPr/>
        </p:nvSpPr>
        <p:spPr>
          <a:xfrm>
            <a:off x="7420000" y="1828800"/>
            <a:ext cx="378612" cy="868680"/>
          </a:xfrm>
          <a:prstGeom prst="rect">
            <a:avLst/>
          </a:prstGeom>
          <a:noFill/>
          <a:ln/>
        </p:spPr>
        <p:txBody>
          <a:bodyPr wrap="square" lIns="0" tIns="0" rIns="0" bIns="0" rtlCol="0" anchor="ctr"/>
          <a:lstStyle/>
          <a:p>
            <a:pPr algn="ctr" indent="0" marL="0">
              <a:buNone/>
            </a:pPr>
            <a:r>
              <a:rPr lang="en-US" sz="1300" b="1" dirty="0">
                <a:solidFill>
                  <a:srgbClr val="6B6B6B"/>
                </a:solidFill>
              </a:rPr>
              <a:t>휴식</a:t>
            </a:r>
            <a:endParaRPr lang="en-US" sz="1300" dirty="0"/>
          </a:p>
          <a:p>
            <a:pPr algn="ctr" indent="0" marL="0">
              <a:buNone/>
            </a:pPr>
            <a:r>
              <a:rPr lang="en-US" sz="1200" dirty="0">
                <a:solidFill>
                  <a:srgbClr val="6B6B6B"/>
                </a:solidFill>
              </a:rPr>
              <a:t>10분</a:t>
            </a:r>
            <a:endParaRPr lang="en-US" sz="1300" dirty="0"/>
          </a:p>
        </p:txBody>
      </p:sp>
      <p:sp>
        <p:nvSpPr>
          <p:cNvPr id="14" name="Shape 12"/>
          <p:cNvSpPr/>
          <p:nvPr/>
        </p:nvSpPr>
        <p:spPr>
          <a:xfrm>
            <a:off x="7944917" y="1737360"/>
            <a:ext cx="3643274" cy="1051560"/>
          </a:xfrm>
          <a:prstGeom prst="roundRect">
            <a:avLst>
              <a:gd name="adj" fmla="val 10435"/>
            </a:avLst>
          </a:prstGeom>
          <a:solidFill>
            <a:srgbClr val="1F4E4A"/>
          </a:solidFill>
          <a:ln w="12700">
            <a:solidFill>
              <a:srgbClr val="1F4E4A"/>
            </a:solidFill>
            <a:prstDash val="solid"/>
          </a:ln>
        </p:spPr>
      </p:sp>
      <p:sp>
        <p:nvSpPr>
          <p:cNvPr id="15" name="Text 13"/>
          <p:cNvSpPr txBox="1"/>
          <p:nvPr/>
        </p:nvSpPr>
        <p:spPr>
          <a:xfrm>
            <a:off x="8036357" y="1828800"/>
            <a:ext cx="3460394" cy="868680"/>
          </a:xfrm>
          <a:prstGeom prst="rect">
            <a:avLst/>
          </a:prstGeom>
          <a:noFill/>
          <a:ln/>
        </p:spPr>
        <p:txBody>
          <a:bodyPr wrap="square" lIns="0" tIns="0" rIns="0" bIns="0" rtlCol="0" anchor="ctr"/>
          <a:lstStyle/>
          <a:p>
            <a:pPr algn="ctr" indent="0" marL="0">
              <a:buNone/>
            </a:pPr>
            <a:r>
              <a:rPr lang="en-US" sz="2000" b="1" dirty="0">
                <a:solidFill>
                  <a:srgbClr val="FFFFFF"/>
                </a:solidFill>
              </a:rPr>
              <a:t>3교시</a:t>
            </a:r>
            <a:endParaRPr lang="en-US" sz="2000" dirty="0"/>
          </a:p>
          <a:p>
            <a:pPr algn="ctr" indent="0" marL="0">
              <a:buNone/>
            </a:pPr>
            <a:r>
              <a:rPr lang="en-US" sz="1500" dirty="0">
                <a:solidFill>
                  <a:srgbClr val="CFE3DC"/>
                </a:solidFill>
              </a:rPr>
              <a:t>60분</a:t>
            </a:r>
            <a:endParaRPr lang="en-US" sz="2000" dirty="0"/>
          </a:p>
        </p:txBody>
      </p:sp>
      <p:sp>
        <p:nvSpPr>
          <p:cNvPr id="16" name="Text 14"/>
          <p:cNvSpPr txBox="1"/>
          <p:nvPr/>
        </p:nvSpPr>
        <p:spPr>
          <a:xfrm>
            <a:off x="7990637" y="3063240"/>
            <a:ext cx="3551834" cy="2743200"/>
          </a:xfrm>
          <a:prstGeom prst="rect">
            <a:avLst/>
          </a:prstGeom>
          <a:noFill/>
          <a:ln/>
        </p:spPr>
        <p:txBody>
          <a:bodyPr wrap="square" lIns="0" tIns="0" rIns="0" bIns="0" rtlCol="0" anchor="t"/>
          <a:lstStyle/>
          <a:p>
            <a:pPr indent="0" marL="0">
              <a:spcAft>
                <a:spcPts val="800"/>
              </a:spcAft>
              <a:buNone/>
            </a:pPr>
            <a:r>
              <a:rPr lang="en-US" sz="2200" b="1" dirty="0">
                <a:solidFill>
                  <a:srgbClr val="2E7D6B"/>
                </a:solidFill>
              </a:rPr>
              <a:t>나의 장례를 설계하다
</a:t>
            </a:r>
            <a:pPr indent="0" marL="0">
              <a:buNone/>
            </a:pPr>
            <a:r>
              <a:rPr lang="en-US" sz="2000" dirty="0">
                <a:solidFill>
                  <a:srgbClr val="222222"/>
                </a:solidFill>
              </a:rPr>
              <a:t>코칭 사례 롤플레이</a:t>
            </a:r>
            <a:endParaRPr lang="en-US" sz="2200" dirty="0"/>
          </a:p>
          <a:p>
            <a:pPr indent="0" marL="0">
              <a:buNone/>
            </a:pPr>
            <a:r>
              <a:rPr lang="en-US" sz="2000" dirty="0">
                <a:solidFill>
                  <a:srgbClr val="222222"/>
                </a:solidFill>
              </a:rPr>
              <a:t>장례 가치·장묘 비교·가족대화</a:t>
            </a:r>
            <a:endParaRPr lang="en-US" sz="2200" dirty="0"/>
          </a:p>
          <a:p>
            <a:pPr indent="0" marL="0">
              <a:buNone/>
            </a:pPr>
            <a:r>
              <a:rPr lang="en-US" sz="2000" dirty="0">
                <a:solidFill>
                  <a:srgbClr val="222222"/>
                </a:solidFill>
              </a:rPr>
              <a:t>사전 장례설계·퀴즈·예고</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과제 나눔</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가족에게 물어보셨나요?</a:t>
            </a:r>
            <a:endParaRPr lang="en-US" sz="2800" dirty="0"/>
          </a:p>
        </p:txBody>
      </p:sp>
      <p:sp>
        <p:nvSpPr>
          <p:cNvPr id="4" name="Shape 2"/>
          <p:cNvSpPr/>
          <p:nvPr/>
        </p:nvSpPr>
        <p:spPr>
          <a:xfrm>
            <a:off x="548640" y="1554480"/>
            <a:ext cx="7406640" cy="4572000"/>
          </a:xfrm>
          <a:prstGeom prst="roundRect">
            <a:avLst>
              <a:gd name="adj" fmla="val 24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737360"/>
            <a:ext cx="6858000" cy="960120"/>
          </a:xfrm>
          <a:prstGeom prst="rect">
            <a:avLst/>
          </a:prstGeom>
          <a:noFill/>
          <a:ln/>
        </p:spPr>
        <p:txBody>
          <a:bodyPr wrap="square" lIns="0" tIns="0" rIns="0" bIns="0" rtlCol="0" anchor="ctr"/>
          <a:lstStyle/>
          <a:p>
            <a:pPr indent="0" marL="0">
              <a:buNone/>
            </a:pPr>
            <a:r>
              <a:rPr lang="en-US" sz="2300" b="1" dirty="0">
                <a:solidFill>
                  <a:srgbClr val="1F4E4A"/>
                </a:solidFill>
              </a:rPr>
              <a:t>5강 과제 — 가족에게 세 가지 묻기, 엔딩노트 보관장소 알리기, 물건 하나의 사연 보내기</a:t>
            </a:r>
            <a:endParaRPr lang="en-US" sz="2300" dirty="0"/>
          </a:p>
        </p:txBody>
      </p:sp>
      <p:sp>
        <p:nvSpPr>
          <p:cNvPr id="6" name="Shape 4"/>
          <p:cNvSpPr/>
          <p:nvPr/>
        </p:nvSpPr>
        <p:spPr>
          <a:xfrm>
            <a:off x="822960" y="2852928"/>
            <a:ext cx="384048" cy="384048"/>
          </a:xfrm>
          <a:prstGeom prst="ellipse">
            <a:avLst/>
          </a:prstGeom>
          <a:solidFill>
            <a:srgbClr val="2E7D6B"/>
          </a:solidFill>
          <a:ln w="12700">
            <a:solidFill>
              <a:srgbClr val="2E7D6B"/>
            </a:solidFill>
            <a:prstDash val="solid"/>
          </a:ln>
        </p:spPr>
      </p:sp>
      <p:sp>
        <p:nvSpPr>
          <p:cNvPr id="7" name="Text 5"/>
          <p:cNvSpPr txBox="1"/>
          <p:nvPr/>
        </p:nvSpPr>
        <p:spPr>
          <a:xfrm>
            <a:off x="822960" y="2852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6"/>
          <p:cNvSpPr txBox="1"/>
          <p:nvPr/>
        </p:nvSpPr>
        <p:spPr>
          <a:xfrm>
            <a:off x="1371600" y="2834640"/>
            <a:ext cx="6309360" cy="990600"/>
          </a:xfrm>
          <a:prstGeom prst="rect">
            <a:avLst/>
          </a:prstGeom>
          <a:noFill/>
          <a:ln/>
        </p:spPr>
        <p:txBody>
          <a:bodyPr wrap="square" lIns="0" tIns="0" rIns="0" bIns="0" rtlCol="0" anchor="t"/>
          <a:lstStyle/>
          <a:p>
            <a:pPr indent="0" marL="0">
              <a:buNone/>
            </a:pPr>
            <a:r>
              <a:rPr lang="en-US" sz="2100" dirty="0">
                <a:solidFill>
                  <a:srgbClr val="222222"/>
                </a:solidFill>
              </a:rPr>
              <a:t>짝과 2분씩 가족 대화 경험을 나눕니다.</a:t>
            </a:r>
            <a:endParaRPr lang="en-US" sz="2100" dirty="0"/>
          </a:p>
        </p:txBody>
      </p:sp>
      <p:sp>
        <p:nvSpPr>
          <p:cNvPr id="9" name="Shape 7"/>
          <p:cNvSpPr/>
          <p:nvPr/>
        </p:nvSpPr>
        <p:spPr>
          <a:xfrm>
            <a:off x="822960" y="3889248"/>
            <a:ext cx="384048" cy="384048"/>
          </a:xfrm>
          <a:prstGeom prst="ellipse">
            <a:avLst/>
          </a:prstGeom>
          <a:solidFill>
            <a:srgbClr val="2E7D6B"/>
          </a:solidFill>
          <a:ln w="12700">
            <a:solidFill>
              <a:srgbClr val="2E7D6B"/>
            </a:solidFill>
            <a:prstDash val="solid"/>
          </a:ln>
        </p:spPr>
      </p:sp>
      <p:sp>
        <p:nvSpPr>
          <p:cNvPr id="10" name="Text 8"/>
          <p:cNvSpPr txBox="1"/>
          <p:nvPr/>
        </p:nvSpPr>
        <p:spPr>
          <a:xfrm>
            <a:off x="822960" y="38892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1371600" y="3870960"/>
            <a:ext cx="6309360" cy="990600"/>
          </a:xfrm>
          <a:prstGeom prst="rect">
            <a:avLst/>
          </a:prstGeom>
          <a:noFill/>
          <a:ln/>
        </p:spPr>
        <p:txBody>
          <a:bodyPr wrap="square" lIns="0" tIns="0" rIns="0" bIns="0" rtlCol="0" anchor="t"/>
          <a:lstStyle/>
          <a:p>
            <a:pPr indent="0" marL="0">
              <a:buNone/>
            </a:pPr>
            <a:r>
              <a:rPr lang="en-US" sz="2100" dirty="0">
                <a:solidFill>
                  <a:srgbClr val="222222"/>
                </a:solidFill>
              </a:rPr>
              <a:t>“장례의 의미”를 물었을 때 들은 답이 있다면 소개합니다.</a:t>
            </a:r>
            <a:endParaRPr lang="en-US" sz="2100" dirty="0"/>
          </a:p>
        </p:txBody>
      </p:sp>
      <p:sp>
        <p:nvSpPr>
          <p:cNvPr id="12" name="Shape 10"/>
          <p:cNvSpPr/>
          <p:nvPr/>
        </p:nvSpPr>
        <p:spPr>
          <a:xfrm>
            <a:off x="822960" y="4925568"/>
            <a:ext cx="384048" cy="384048"/>
          </a:xfrm>
          <a:prstGeom prst="ellipse">
            <a:avLst/>
          </a:prstGeom>
          <a:solidFill>
            <a:srgbClr val="2E7D6B"/>
          </a:solidFill>
          <a:ln w="12700">
            <a:solidFill>
              <a:srgbClr val="2E7D6B"/>
            </a:solidFill>
            <a:prstDash val="solid"/>
          </a:ln>
        </p:spPr>
      </p:sp>
      <p:sp>
        <p:nvSpPr>
          <p:cNvPr id="13" name="Text 11"/>
          <p:cNvSpPr txBox="1"/>
          <p:nvPr/>
        </p:nvSpPr>
        <p:spPr>
          <a:xfrm>
            <a:off x="822960" y="49255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1371600" y="4907280"/>
            <a:ext cx="6309360" cy="990600"/>
          </a:xfrm>
          <a:prstGeom prst="rect">
            <a:avLst/>
          </a:prstGeom>
          <a:noFill/>
          <a:ln/>
        </p:spPr>
        <p:txBody>
          <a:bodyPr wrap="square" lIns="0" tIns="0" rIns="0" bIns="0" rtlCol="0" anchor="t"/>
          <a:lstStyle/>
          <a:p>
            <a:pPr indent="0" marL="0">
              <a:buNone/>
            </a:pPr>
            <a:r>
              <a:rPr lang="en-US" sz="2100" dirty="0">
                <a:solidFill>
                  <a:srgbClr val="222222"/>
                </a:solidFill>
              </a:rPr>
              <a:t>물건의 사연을 보냈을 때 받은 반응을 이야기합니다.</a:t>
            </a:r>
            <a:endParaRPr lang="en-US" sz="2100" dirty="0"/>
          </a:p>
        </p:txBody>
      </p:sp>
      <p:sp>
        <p:nvSpPr>
          <p:cNvPr id="15" name="Shape 13"/>
          <p:cNvSpPr/>
          <p:nvPr/>
        </p:nvSpPr>
        <p:spPr>
          <a:xfrm>
            <a:off x="8229600" y="1554480"/>
            <a:ext cx="3413455" cy="1417320"/>
          </a:xfrm>
          <a:prstGeom prst="roundRect">
            <a:avLst>
              <a:gd name="adj" fmla="val 7742"/>
            </a:avLst>
          </a:prstGeom>
          <a:solidFill>
            <a:srgbClr val="1F4E4A"/>
          </a:solidFill>
          <a:ln w="12700">
            <a:solidFill>
              <a:srgbClr val="1F4E4A"/>
            </a:solidFill>
            <a:prstDash val="solid"/>
          </a:ln>
        </p:spPr>
      </p:sp>
      <p:sp>
        <p:nvSpPr>
          <p:cNvPr id="16" name="Shape 14"/>
          <p:cNvSpPr/>
          <p:nvPr/>
        </p:nvSpPr>
        <p:spPr>
          <a:xfrm>
            <a:off x="8430768" y="1755648"/>
            <a:ext cx="457200" cy="457200"/>
          </a:xfrm>
          <a:prstGeom prst="ellipse">
            <a:avLst/>
          </a:prstGeom>
          <a:solidFill>
            <a:srgbClr val="D98E04"/>
          </a:solidFill>
          <a:ln w="12700">
            <a:solidFill>
              <a:srgbClr val="D98E04"/>
            </a:solidFill>
            <a:prstDash val="solid"/>
          </a:ln>
        </p:spPr>
      </p:sp>
      <p:pic>
        <p:nvPicPr>
          <p:cNvPr id="17" name="Image 0" descr="preencoded.png">    </p:cNvPr>
          <p:cNvPicPr>
            <a:picLocks noChangeAspect="1"/>
          </p:cNvPicPr>
          <p:nvPr/>
        </p:nvPicPr>
        <p:blipFill>
          <a:blip r:embed="rId1"/>
          <a:stretch>
            <a:fillRect/>
          </a:stretch>
        </p:blipFill>
        <p:spPr>
          <a:xfrm>
            <a:off x="8549640" y="1874520"/>
            <a:ext cx="219456" cy="219456"/>
          </a:xfrm>
          <a:prstGeom prst="rect">
            <a:avLst/>
          </a:prstGeom>
        </p:spPr>
      </p:pic>
      <p:sp>
        <p:nvSpPr>
          <p:cNvPr id="18" name="Text 15"/>
          <p:cNvSpPr txBox="1"/>
          <p:nvPr/>
        </p:nvSpPr>
        <p:spPr>
          <a:xfrm>
            <a:off x="9006840" y="1755648"/>
            <a:ext cx="2499055" cy="457200"/>
          </a:xfrm>
          <a:prstGeom prst="rect">
            <a:avLst/>
          </a:prstGeom>
          <a:noFill/>
          <a:ln/>
        </p:spPr>
        <p:txBody>
          <a:bodyPr wrap="square" lIns="0" tIns="0" rIns="0" bIns="0" rtlCol="0" anchor="ctr"/>
          <a:lstStyle/>
          <a:p>
            <a:pPr indent="0" marL="0">
              <a:buNone/>
            </a:pPr>
            <a:r>
              <a:rPr lang="en-US" sz="1400" b="1" dirty="0">
                <a:solidFill>
                  <a:srgbClr val="A8C5BC"/>
                </a:solidFill>
              </a:rPr>
              <a:t>시간</a:t>
            </a:r>
            <a:endParaRPr lang="en-US" sz="1400" dirty="0"/>
          </a:p>
        </p:txBody>
      </p:sp>
      <p:sp>
        <p:nvSpPr>
          <p:cNvPr id="19" name="Text 16"/>
          <p:cNvSpPr txBox="1"/>
          <p:nvPr/>
        </p:nvSpPr>
        <p:spPr>
          <a:xfrm>
            <a:off x="8430768" y="2267712"/>
            <a:ext cx="3001975" cy="640080"/>
          </a:xfrm>
          <a:prstGeom prst="rect">
            <a:avLst/>
          </a:prstGeom>
          <a:noFill/>
          <a:ln/>
        </p:spPr>
        <p:txBody>
          <a:bodyPr wrap="square" lIns="0" tIns="0" rIns="0" bIns="0" rtlCol="0" anchor="t"/>
          <a:lstStyle/>
          <a:p>
            <a:pPr indent="0" marL="0">
              <a:buNone/>
            </a:pPr>
            <a:r>
              <a:rPr lang="en-US" sz="2800" b="1" dirty="0">
                <a:solidFill>
                  <a:srgbClr val="FFFFFF"/>
                </a:solidFill>
              </a:rPr>
              <a:t>5분</a:t>
            </a:r>
            <a:endParaRPr lang="en-US" sz="2800" dirty="0"/>
          </a:p>
        </p:txBody>
      </p:sp>
      <p:sp>
        <p:nvSpPr>
          <p:cNvPr id="20" name="Shape 17"/>
          <p:cNvSpPr/>
          <p:nvPr/>
        </p:nvSpPr>
        <p:spPr>
          <a:xfrm>
            <a:off x="8229600" y="3127248"/>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1" name="Shape 18"/>
          <p:cNvSpPr/>
          <p:nvPr/>
        </p:nvSpPr>
        <p:spPr>
          <a:xfrm>
            <a:off x="8430768" y="3328416"/>
            <a:ext cx="457200" cy="457200"/>
          </a:xfrm>
          <a:prstGeom prst="ellipse">
            <a:avLst/>
          </a:prstGeom>
          <a:solidFill>
            <a:srgbClr val="2E7D6B"/>
          </a:solidFill>
          <a:ln w="12700">
            <a:solidFill>
              <a:srgbClr val="2E7D6B"/>
            </a:solidFill>
            <a:prstDash val="solid"/>
          </a:ln>
        </p:spPr>
      </p:sp>
      <p:pic>
        <p:nvPicPr>
          <p:cNvPr id="22" name="Image 1" descr="preencoded.png">    </p:cNvPr>
          <p:cNvPicPr>
            <a:picLocks noChangeAspect="1"/>
          </p:cNvPicPr>
          <p:nvPr/>
        </p:nvPicPr>
        <p:blipFill>
          <a:blip r:embed="rId2"/>
          <a:stretch>
            <a:fillRect/>
          </a:stretch>
        </p:blipFill>
        <p:spPr>
          <a:xfrm>
            <a:off x="8549640" y="3447288"/>
            <a:ext cx="219456" cy="219456"/>
          </a:xfrm>
          <a:prstGeom prst="rect">
            <a:avLst/>
          </a:prstGeom>
        </p:spPr>
      </p:pic>
      <p:sp>
        <p:nvSpPr>
          <p:cNvPr id="23" name="Text 19"/>
          <p:cNvSpPr txBox="1"/>
          <p:nvPr/>
        </p:nvSpPr>
        <p:spPr>
          <a:xfrm>
            <a:off x="9006840" y="3328416"/>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방식</a:t>
            </a:r>
            <a:endParaRPr lang="en-US" sz="1400" dirty="0"/>
          </a:p>
        </p:txBody>
      </p:sp>
      <p:sp>
        <p:nvSpPr>
          <p:cNvPr id="24" name="Text 20"/>
          <p:cNvSpPr txBox="1"/>
          <p:nvPr/>
        </p:nvSpPr>
        <p:spPr>
          <a:xfrm>
            <a:off x="8430768" y="3840480"/>
            <a:ext cx="3001975" cy="640080"/>
          </a:xfrm>
          <a:prstGeom prst="rect">
            <a:avLst/>
          </a:prstGeom>
          <a:noFill/>
          <a:ln/>
        </p:spPr>
        <p:txBody>
          <a:bodyPr wrap="square" lIns="0" tIns="0" rIns="0" bIns="0" rtlCol="0" anchor="t"/>
          <a:lstStyle/>
          <a:p>
            <a:pPr indent="0" marL="0">
              <a:buNone/>
            </a:pPr>
            <a:r>
              <a:rPr lang="en-US" sz="1800" dirty="0">
                <a:solidFill>
                  <a:srgbClr val="222222"/>
                </a:solidFill>
              </a:rPr>
              <a:t>2인 1조</a:t>
            </a:r>
            <a:endParaRPr lang="en-US" sz="1800" dirty="0"/>
          </a:p>
        </p:txBody>
      </p:sp>
      <p:sp>
        <p:nvSpPr>
          <p:cNvPr id="25" name="Shape 21"/>
          <p:cNvSpPr/>
          <p:nvPr/>
        </p:nvSpPr>
        <p:spPr>
          <a:xfrm>
            <a:off x="8229600" y="4700016"/>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6" name="Shape 22"/>
          <p:cNvSpPr/>
          <p:nvPr/>
        </p:nvSpPr>
        <p:spPr>
          <a:xfrm>
            <a:off x="8430768" y="4901184"/>
            <a:ext cx="457200" cy="457200"/>
          </a:xfrm>
          <a:prstGeom prst="ellipse">
            <a:avLst/>
          </a:prstGeom>
          <a:solidFill>
            <a:srgbClr val="2E7D6B"/>
          </a:solidFill>
          <a:ln w="12700">
            <a:solidFill>
              <a:srgbClr val="2E7D6B"/>
            </a:solidFill>
            <a:prstDash val="solid"/>
          </a:ln>
        </p:spPr>
      </p:sp>
      <p:pic>
        <p:nvPicPr>
          <p:cNvPr id="27" name="Image 2" descr="preencoded.png">    </p:cNvPr>
          <p:cNvPicPr>
            <a:picLocks noChangeAspect="1"/>
          </p:cNvPicPr>
          <p:nvPr/>
        </p:nvPicPr>
        <p:blipFill>
          <a:blip r:embed="rId3"/>
          <a:stretch>
            <a:fillRect/>
          </a:stretch>
        </p:blipFill>
        <p:spPr>
          <a:xfrm>
            <a:off x="8549640" y="5020056"/>
            <a:ext cx="219456" cy="219456"/>
          </a:xfrm>
          <a:prstGeom prst="rect">
            <a:avLst/>
          </a:prstGeom>
        </p:spPr>
      </p:pic>
      <p:sp>
        <p:nvSpPr>
          <p:cNvPr id="28" name="Text 23"/>
          <p:cNvSpPr txBox="1"/>
          <p:nvPr/>
        </p:nvSpPr>
        <p:spPr>
          <a:xfrm>
            <a:off x="9006840" y="4901184"/>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결과물</a:t>
            </a:r>
            <a:endParaRPr lang="en-US" sz="1400" dirty="0"/>
          </a:p>
        </p:txBody>
      </p:sp>
      <p:sp>
        <p:nvSpPr>
          <p:cNvPr id="29" name="Text 24"/>
          <p:cNvSpPr txBox="1"/>
          <p:nvPr/>
        </p:nvSpPr>
        <p:spPr>
          <a:xfrm>
            <a:off x="8430768" y="5413248"/>
            <a:ext cx="3001975" cy="640080"/>
          </a:xfrm>
          <a:prstGeom prst="rect">
            <a:avLst/>
          </a:prstGeom>
          <a:noFill/>
          <a:ln/>
        </p:spPr>
        <p:txBody>
          <a:bodyPr wrap="square" lIns="0" tIns="0" rIns="0" bIns="0" rtlCol="0" anchor="t"/>
          <a:lstStyle/>
          <a:p>
            <a:pPr indent="0" marL="0">
              <a:buNone/>
            </a:pPr>
            <a:r>
              <a:rPr lang="en-US" sz="1800" dirty="0">
                <a:solidFill>
                  <a:srgbClr val="222222"/>
                </a:solidFill>
              </a:rPr>
              <a:t>가족에게 들은 “장례의 의미” 한 마디</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지난 시간 돌아보기</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제5강에서 가져올 세 문장</a:t>
            </a:r>
            <a:endParaRPr lang="en-US" sz="2800" dirty="0"/>
          </a:p>
        </p:txBody>
      </p:sp>
      <p:sp>
        <p:nvSpPr>
          <p:cNvPr id="4" name="Shape 2"/>
          <p:cNvSpPr/>
          <p:nvPr/>
        </p:nvSpPr>
        <p:spPr>
          <a:xfrm>
            <a:off x="548640" y="1554480"/>
            <a:ext cx="3515258" cy="3520440"/>
          </a:xfrm>
          <a:prstGeom prst="roundRect">
            <a:avLst>
              <a:gd name="adj" fmla="val 3121"/>
            </a:avLst>
          </a:prstGeom>
          <a:solidFill>
            <a:srgbClr val="EAF3F0"/>
          </a:solidFill>
          <a:ln w="12700">
            <a:solidFill>
              <a:srgbClr val="EAF3F0"/>
            </a:solidFill>
            <a:prstDash val="solid"/>
          </a:ln>
        </p:spPr>
      </p:sp>
      <p:sp>
        <p:nvSpPr>
          <p:cNvPr id="5" name="Shape 3"/>
          <p:cNvSpPr/>
          <p:nvPr/>
        </p:nvSpPr>
        <p:spPr>
          <a:xfrm>
            <a:off x="777240" y="1783080"/>
            <a:ext cx="548640" cy="548640"/>
          </a:xfrm>
          <a:prstGeom prst="ellipse">
            <a:avLst/>
          </a:prstGeom>
          <a:solidFill>
            <a:srgbClr val="2E7D6B"/>
          </a:solidFill>
          <a:ln w="12700">
            <a:solidFill>
              <a:srgbClr val="2E7D6B"/>
            </a:solidFill>
            <a:prstDash val="solid"/>
          </a:ln>
        </p:spPr>
      </p:sp>
      <p:sp>
        <p:nvSpPr>
          <p:cNvPr id="6" name="Text 4"/>
          <p:cNvSpPr txBox="1"/>
          <p:nvPr/>
        </p:nvSpPr>
        <p:spPr>
          <a:xfrm>
            <a:off x="777240" y="17830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7" name="Text 5"/>
          <p:cNvSpPr txBox="1"/>
          <p:nvPr/>
        </p:nvSpPr>
        <p:spPr>
          <a:xfrm>
            <a:off x="777240" y="2468880"/>
            <a:ext cx="3058058" cy="2468880"/>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원리를 배운다</a:t>
            </a:r>
            <a:endParaRPr lang="en-US" sz="2200" dirty="0"/>
          </a:p>
          <a:p>
            <a:pPr indent="0" marL="0">
              <a:buNone/>
            </a:pPr>
            <a:r>
              <a:rPr lang="en-US" sz="2200" dirty="0">
                <a:solidFill>
                  <a:srgbClr val="222222"/>
                </a:solidFill>
              </a:rPr>
              <a:t>사례를 모방하지 않고 한국에 맞게 바꿉니다.</a:t>
            </a:r>
            <a:endParaRPr lang="en-US" sz="2200" dirty="0"/>
          </a:p>
        </p:txBody>
      </p:sp>
      <p:sp>
        <p:nvSpPr>
          <p:cNvPr id="8" name="Shape 6"/>
          <p:cNvSpPr/>
          <p:nvPr/>
        </p:nvSpPr>
        <p:spPr>
          <a:xfrm>
            <a:off x="4338218" y="1554480"/>
            <a:ext cx="3515258" cy="3520440"/>
          </a:xfrm>
          <a:prstGeom prst="roundRect">
            <a:avLst>
              <a:gd name="adj" fmla="val 3121"/>
            </a:avLst>
          </a:prstGeom>
          <a:solidFill>
            <a:srgbClr val="EAF3F0"/>
          </a:solidFill>
          <a:ln w="12700">
            <a:solidFill>
              <a:srgbClr val="EAF3F0"/>
            </a:solidFill>
            <a:prstDash val="solid"/>
          </a:ln>
        </p:spPr>
      </p:sp>
      <p:sp>
        <p:nvSpPr>
          <p:cNvPr id="9" name="Shape 7"/>
          <p:cNvSpPr/>
          <p:nvPr/>
        </p:nvSpPr>
        <p:spPr>
          <a:xfrm>
            <a:off x="4566818" y="1783080"/>
            <a:ext cx="548640" cy="548640"/>
          </a:xfrm>
          <a:prstGeom prst="ellipse">
            <a:avLst/>
          </a:prstGeom>
          <a:solidFill>
            <a:srgbClr val="2E7D6B"/>
          </a:solidFill>
          <a:ln w="12700">
            <a:solidFill>
              <a:srgbClr val="2E7D6B"/>
            </a:solidFill>
            <a:prstDash val="solid"/>
          </a:ln>
        </p:spPr>
      </p:sp>
      <p:sp>
        <p:nvSpPr>
          <p:cNvPr id="10" name="Text 8"/>
          <p:cNvSpPr txBox="1"/>
          <p:nvPr/>
        </p:nvSpPr>
        <p:spPr>
          <a:xfrm>
            <a:off x="4566818" y="17830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1" name="Text 9"/>
          <p:cNvSpPr txBox="1"/>
          <p:nvPr/>
        </p:nvSpPr>
        <p:spPr>
          <a:xfrm>
            <a:off x="4566818" y="2468880"/>
            <a:ext cx="3058058" cy="2468880"/>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전달되는 구조</a:t>
            </a:r>
            <a:endParaRPr lang="en-US" sz="2200" dirty="0"/>
          </a:p>
          <a:p>
            <a:pPr indent="0" marL="0">
              <a:buNone/>
            </a:pPr>
            <a:r>
              <a:rPr lang="en-US" sz="2200" dirty="0">
                <a:solidFill>
                  <a:srgbClr val="222222"/>
                </a:solidFill>
              </a:rPr>
              <a:t>노트보다 정보가 전달되는 구조가 중요합니다.</a:t>
            </a:r>
            <a:endParaRPr lang="en-US" sz="2200" dirty="0"/>
          </a:p>
        </p:txBody>
      </p:sp>
      <p:sp>
        <p:nvSpPr>
          <p:cNvPr id="12" name="Shape 10"/>
          <p:cNvSpPr/>
          <p:nvPr/>
        </p:nvSpPr>
        <p:spPr>
          <a:xfrm>
            <a:off x="8127797" y="1554480"/>
            <a:ext cx="3515258" cy="3520440"/>
          </a:xfrm>
          <a:prstGeom prst="roundRect">
            <a:avLst>
              <a:gd name="adj" fmla="val 3121"/>
            </a:avLst>
          </a:prstGeom>
          <a:solidFill>
            <a:srgbClr val="EAF3F0"/>
          </a:solidFill>
          <a:ln w="12700">
            <a:solidFill>
              <a:srgbClr val="EAF3F0"/>
            </a:solidFill>
            <a:prstDash val="solid"/>
          </a:ln>
        </p:spPr>
      </p:sp>
      <p:sp>
        <p:nvSpPr>
          <p:cNvPr id="13" name="Shape 11"/>
          <p:cNvSpPr/>
          <p:nvPr/>
        </p:nvSpPr>
        <p:spPr>
          <a:xfrm>
            <a:off x="8356397" y="1783080"/>
            <a:ext cx="548640" cy="548640"/>
          </a:xfrm>
          <a:prstGeom prst="ellipse">
            <a:avLst/>
          </a:prstGeom>
          <a:solidFill>
            <a:srgbClr val="2E7D6B"/>
          </a:solidFill>
          <a:ln w="12700">
            <a:solidFill>
              <a:srgbClr val="2E7D6B"/>
            </a:solidFill>
            <a:prstDash val="solid"/>
          </a:ln>
        </p:spPr>
      </p:sp>
      <p:sp>
        <p:nvSpPr>
          <p:cNvPr id="14" name="Text 12"/>
          <p:cNvSpPr txBox="1"/>
          <p:nvPr/>
        </p:nvSpPr>
        <p:spPr>
          <a:xfrm>
            <a:off x="8356397" y="17830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5" name="Text 13"/>
          <p:cNvSpPr txBox="1"/>
          <p:nvPr/>
        </p:nvSpPr>
        <p:spPr>
          <a:xfrm>
            <a:off x="8356397" y="2468880"/>
            <a:ext cx="3058058" cy="2468880"/>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선택하기</a:t>
            </a:r>
            <a:endParaRPr lang="en-US" sz="2200" dirty="0"/>
          </a:p>
          <a:p>
            <a:pPr indent="0" marL="0">
              <a:buNone/>
            </a:pPr>
            <a:r>
              <a:rPr lang="en-US" sz="2200" dirty="0">
                <a:solidFill>
                  <a:srgbClr val="222222"/>
                </a:solidFill>
              </a:rPr>
              <a:t>데스클리닝은 버리기가 아니라 선택하기입니다.</a:t>
            </a:r>
            <a:endParaRPr lang="en-US" sz="2200" dirty="0"/>
          </a:p>
        </p:txBody>
      </p:sp>
      <p:sp>
        <p:nvSpPr>
          <p:cNvPr id="16" name="Shape 14"/>
          <p:cNvSpPr/>
          <p:nvPr/>
        </p:nvSpPr>
        <p:spPr>
          <a:xfrm>
            <a:off x="548640" y="5303520"/>
            <a:ext cx="11094415" cy="868680"/>
          </a:xfrm>
          <a:prstGeom prst="roundRect">
            <a:avLst>
              <a:gd name="adj" fmla="val 12632"/>
            </a:avLst>
          </a:prstGeom>
          <a:solidFill>
            <a:srgbClr val="E8EFF8"/>
          </a:solidFill>
          <a:ln w="12700">
            <a:solidFill>
              <a:srgbClr val="E8EFF8"/>
            </a:solidFill>
            <a:prstDash val="solid"/>
          </a:ln>
        </p:spPr>
      </p:sp>
      <p:sp>
        <p:nvSpPr>
          <p:cNvPr id="17" name="Shape 15"/>
          <p:cNvSpPr/>
          <p:nvPr/>
        </p:nvSpPr>
        <p:spPr>
          <a:xfrm>
            <a:off x="777240" y="5509260"/>
            <a:ext cx="457200" cy="457200"/>
          </a:xfrm>
          <a:prstGeom prst="ellipse">
            <a:avLst/>
          </a:prstGeom>
          <a:solidFill>
            <a:srgbClr val="3A6EA5"/>
          </a:solidFill>
          <a:ln w="12700">
            <a:solidFill>
              <a:srgbClr val="3A6EA5"/>
            </a:solidFill>
            <a:prstDash val="solid"/>
          </a:ln>
        </p:spPr>
      </p:sp>
      <p:pic>
        <p:nvPicPr>
          <p:cNvPr id="18" name="Image 0" descr="preencoded.png">    </p:cNvPr>
          <p:cNvPicPr>
            <a:picLocks noChangeAspect="1"/>
          </p:cNvPicPr>
          <p:nvPr/>
        </p:nvPicPr>
        <p:blipFill>
          <a:blip r:embed="rId1"/>
          <a:stretch>
            <a:fillRect/>
          </a:stretch>
        </p:blipFill>
        <p:spPr>
          <a:xfrm>
            <a:off x="896112" y="5628132"/>
            <a:ext cx="219456" cy="219456"/>
          </a:xfrm>
          <a:prstGeom prst="rect">
            <a:avLst/>
          </a:prstGeom>
        </p:spPr>
      </p:pic>
      <p:sp>
        <p:nvSpPr>
          <p:cNvPr id="19" name="Text 16"/>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3A6EA5"/>
                </a:solidFill>
              </a:rPr>
              <a:t>오늘의 확장   </a:t>
            </a:r>
            <a:pPr indent="0" marL="0">
              <a:buNone/>
            </a:pPr>
            <a:r>
              <a:rPr lang="en-US" sz="1800" dirty="0">
                <a:solidFill>
                  <a:srgbClr val="222222"/>
                </a:solidFill>
              </a:rPr>
              <a:t>오늘은 한국의 장례·장묘를 “관행”이 아니라 “법과 의미”의 언어로 정확하게 안내하는 법을 배웁니다.</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1097280"/>
            <a:ext cx="822960" cy="822960"/>
          </a:xfrm>
          <a:prstGeom prst="ellipse">
            <a:avLst/>
          </a:prstGeom>
          <a:solidFill>
            <a:srgbClr val="2E7D6B"/>
          </a:solidFill>
          <a:ln w="12700">
            <a:solidFill>
              <a:srgbClr val="2E7D6B"/>
            </a:solidFill>
            <a:prstDash val="solid"/>
          </a:ln>
        </p:spPr>
      </p:sp>
      <p:pic>
        <p:nvPicPr>
          <p:cNvPr id="3" name="Image 0" descr="preencoded.png">    </p:cNvPr>
          <p:cNvPicPr>
            <a:picLocks noChangeAspect="1"/>
          </p:cNvPicPr>
          <p:nvPr/>
        </p:nvPicPr>
        <p:blipFill>
          <a:blip r:embed="rId1"/>
          <a:stretch>
            <a:fillRect/>
          </a:stretch>
        </p:blipFill>
        <p:spPr>
          <a:xfrm>
            <a:off x="762610" y="1311250"/>
            <a:ext cx="395021" cy="395021"/>
          </a:xfrm>
          <a:prstGeom prst="rect">
            <a:avLst/>
          </a:prstGeom>
        </p:spPr>
      </p:pic>
      <p:sp>
        <p:nvSpPr>
          <p:cNvPr id="4" name="Text 1"/>
          <p:cNvSpPr txBox="1"/>
          <p:nvPr/>
        </p:nvSpPr>
        <p:spPr>
          <a:xfrm>
            <a:off x="1600200" y="1234440"/>
            <a:ext cx="7315200" cy="548640"/>
          </a:xfrm>
          <a:prstGeom prst="rect">
            <a:avLst/>
          </a:prstGeom>
          <a:noFill/>
          <a:ln/>
        </p:spPr>
        <p:txBody>
          <a:bodyPr wrap="square" lIns="0" tIns="0" rIns="0" bIns="0" rtlCol="0" anchor="ctr"/>
          <a:lstStyle/>
          <a:p>
            <a:pPr indent="0" marL="0">
              <a:buNone/>
            </a:pPr>
            <a:r>
              <a:rPr lang="en-US" sz="1800" b="1" dirty="0">
                <a:solidFill>
                  <a:srgbClr val="A8C5BC"/>
                </a:solidFill>
              </a:rPr>
              <a:t>오프닝 질문</a:t>
            </a:r>
            <a:endParaRPr lang="en-US" sz="1800" dirty="0"/>
          </a:p>
        </p:txBody>
      </p:sp>
      <p:sp>
        <p:nvSpPr>
          <p:cNvPr id="5" name="Text 2"/>
          <p:cNvSpPr txBox="1"/>
          <p:nvPr/>
        </p:nvSpPr>
        <p:spPr>
          <a:xfrm>
            <a:off x="548640" y="2240280"/>
            <a:ext cx="11094415" cy="1828800"/>
          </a:xfrm>
          <a:prstGeom prst="rect">
            <a:avLst/>
          </a:prstGeom>
          <a:noFill/>
          <a:ln/>
        </p:spPr>
        <p:txBody>
          <a:bodyPr wrap="square" lIns="0" tIns="0" rIns="0" bIns="0" rtlCol="0" anchor="ctr"/>
          <a:lstStyle/>
          <a:p>
            <a:pPr indent="0" marL="0">
              <a:buNone/>
            </a:pPr>
            <a:r>
              <a:rPr lang="en-US" sz="3800" b="1" dirty="0">
                <a:solidFill>
                  <a:srgbClr val="FFFFFF"/>
                </a:solidFill>
              </a:rPr>
              <a:t>“가장 기억에 남는 장례식은</a:t>
            </a:r>
            <a:endParaRPr lang="en-US" sz="3800" dirty="0"/>
          </a:p>
          <a:p>
            <a:pPr indent="0" marL="0">
              <a:buNone/>
            </a:pPr>
            <a:r>
              <a:rPr lang="en-US" sz="3800" b="1" dirty="0">
                <a:solidFill>
                  <a:srgbClr val="FFFFFF"/>
                </a:solidFill>
              </a:rPr>
              <a:t>어떤 장례였나요?”</a:t>
            </a:r>
            <a:endParaRPr lang="en-US" sz="3800" dirty="0"/>
          </a:p>
        </p:txBody>
      </p:sp>
      <p:sp>
        <p:nvSpPr>
          <p:cNvPr id="6" name="Text 3"/>
          <p:cNvSpPr txBox="1"/>
          <p:nvPr/>
        </p:nvSpPr>
        <p:spPr>
          <a:xfrm>
            <a:off x="548640" y="4206240"/>
            <a:ext cx="11094415" cy="548640"/>
          </a:xfrm>
          <a:prstGeom prst="rect">
            <a:avLst/>
          </a:prstGeom>
          <a:noFill/>
          <a:ln/>
        </p:spPr>
        <p:txBody>
          <a:bodyPr wrap="square" lIns="0" tIns="0" rIns="0" bIns="0" rtlCol="0" anchor="t"/>
          <a:lstStyle/>
          <a:p>
            <a:pPr indent="0" marL="0">
              <a:buNone/>
            </a:pPr>
            <a:r>
              <a:rPr lang="en-US" sz="1800" dirty="0">
                <a:solidFill>
                  <a:srgbClr val="CFE3DC"/>
                </a:solidFill>
              </a:rPr>
              <a:t>무엇이 마음에 남았나요 — 규모였나요, 의례였나요, 사람이었나요?</a:t>
            </a:r>
            <a:endParaRPr lang="en-US" sz="1800" dirty="0"/>
          </a:p>
        </p:txBody>
      </p:sp>
      <p:sp>
        <p:nvSpPr>
          <p:cNvPr id="7" name="Shape 4"/>
          <p:cNvSpPr/>
          <p:nvPr/>
        </p:nvSpPr>
        <p:spPr>
          <a:xfrm>
            <a:off x="548640" y="4983480"/>
            <a:ext cx="11094415" cy="1051560"/>
          </a:xfrm>
          <a:prstGeom prst="roundRect">
            <a:avLst>
              <a:gd name="adj" fmla="val 10435"/>
            </a:avLst>
          </a:prstGeom>
          <a:solidFill>
            <a:srgbClr val="2A5F5A"/>
          </a:solidFill>
          <a:ln w="12700">
            <a:solidFill>
              <a:srgbClr val="2A5F5A"/>
            </a:solidFill>
            <a:prstDash val="solid"/>
          </a:ln>
        </p:spPr>
      </p:sp>
      <p:sp>
        <p:nvSpPr>
          <p:cNvPr id="8" name="Shape 5"/>
          <p:cNvSpPr/>
          <p:nvPr/>
        </p:nvSpPr>
        <p:spPr>
          <a:xfrm>
            <a:off x="777240" y="5230368"/>
            <a:ext cx="548640" cy="548640"/>
          </a:xfrm>
          <a:prstGeom prst="ellipse">
            <a:avLst/>
          </a:prstGeom>
          <a:solidFill>
            <a:srgbClr val="D98E04"/>
          </a:solidFill>
          <a:ln w="12700">
            <a:solidFill>
              <a:srgbClr val="D98E04"/>
            </a:solidFill>
            <a:prstDash val="solid"/>
          </a:ln>
        </p:spPr>
      </p:sp>
      <p:pic>
        <p:nvPicPr>
          <p:cNvPr id="9" name="Image 1" descr="preencoded.png">    </p:cNvPr>
          <p:cNvPicPr>
            <a:picLocks noChangeAspect="1"/>
          </p:cNvPicPr>
          <p:nvPr/>
        </p:nvPicPr>
        <p:blipFill>
          <a:blip r:embed="rId2"/>
          <a:stretch>
            <a:fillRect/>
          </a:stretch>
        </p:blipFill>
        <p:spPr>
          <a:xfrm>
            <a:off x="919886" y="5373014"/>
            <a:ext cx="263347" cy="263347"/>
          </a:xfrm>
          <a:prstGeom prst="rect">
            <a:avLst/>
          </a:prstGeom>
        </p:spPr>
      </p:pic>
      <p:sp>
        <p:nvSpPr>
          <p:cNvPr id="10" name="Text 6"/>
          <p:cNvSpPr txBox="1"/>
          <p:nvPr/>
        </p:nvSpPr>
        <p:spPr>
          <a:xfrm>
            <a:off x="1554480" y="5074920"/>
            <a:ext cx="9905695" cy="868680"/>
          </a:xfrm>
          <a:prstGeom prst="rect">
            <a:avLst/>
          </a:prstGeom>
          <a:noFill/>
          <a:ln/>
        </p:spPr>
        <p:txBody>
          <a:bodyPr wrap="square" lIns="0" tIns="0" rIns="0" bIns="0" rtlCol="0" anchor="ctr"/>
          <a:lstStyle/>
          <a:p>
            <a:pPr indent="0" marL="0">
              <a:buNone/>
            </a:pPr>
            <a:r>
              <a:rPr lang="en-US" sz="1900" dirty="0">
                <a:solidFill>
                  <a:srgbClr val="FFFFFF"/>
                </a:solidFill>
              </a:rPr>
              <a:t>짝과 2분씩 나눕니다. 힘든 기억이라면 “마음에 남은 장면 하나”만 말해도 됩니다.</a:t>
            </a:r>
            <a:endParaRPr lang="en-US" sz="19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822960"/>
            <a:ext cx="1371600" cy="1280160"/>
          </a:xfrm>
          <a:prstGeom prst="rect">
            <a:avLst/>
          </a:prstGeom>
          <a:noFill/>
          <a:ln/>
        </p:spPr>
        <p:txBody>
          <a:bodyPr wrap="square" lIns="0" tIns="0" rIns="0" bIns="0" rtlCol="0" anchor="t"/>
          <a:lstStyle/>
          <a:p>
            <a:pPr indent="0" marL="0">
              <a:buNone/>
            </a:pPr>
            <a:r>
              <a:rPr lang="en-US" sz="11000" b="1" dirty="0">
                <a:solidFill>
                  <a:srgbClr val="8FB9A8"/>
                </a:solidFill>
              </a:rPr>
              <a:t>“</a:t>
            </a:r>
            <a:endParaRPr lang="en-US" sz="11000" dirty="0"/>
          </a:p>
        </p:txBody>
      </p:sp>
      <p:sp>
        <p:nvSpPr>
          <p:cNvPr id="3" name="Text 1"/>
          <p:cNvSpPr txBox="1"/>
          <p:nvPr/>
        </p:nvSpPr>
        <p:spPr>
          <a:xfrm>
            <a:off x="914400" y="1828800"/>
            <a:ext cx="10362895" cy="1371600"/>
          </a:xfrm>
          <a:prstGeom prst="rect">
            <a:avLst/>
          </a:prstGeom>
          <a:noFill/>
          <a:ln/>
        </p:spPr>
        <p:txBody>
          <a:bodyPr wrap="square" lIns="0" tIns="0" rIns="0" bIns="0" rtlCol="0" anchor="ctr"/>
          <a:lstStyle/>
          <a:p>
            <a:pPr indent="0" marL="0">
              <a:buNone/>
            </a:pPr>
            <a:r>
              <a:rPr lang="en-US" sz="3200" b="1" dirty="0">
                <a:solidFill>
                  <a:srgbClr val="FFFFFF"/>
                </a:solidFill>
              </a:rPr>
              <a:t>장례의 방식은 달라져도,</a:t>
            </a:r>
            <a:endParaRPr lang="en-US" sz="3200" dirty="0"/>
          </a:p>
          <a:p>
            <a:pPr indent="0" marL="0">
              <a:buNone/>
            </a:pPr>
            <a:r>
              <a:rPr lang="en-US" sz="3200" b="1" dirty="0">
                <a:solidFill>
                  <a:srgbClr val="FFFFFF"/>
                </a:solidFill>
              </a:rPr>
              <a:t>이별을 받아들이도록 돕는 의미는 사라지지 않는다.</a:t>
            </a:r>
            <a:endParaRPr lang="en-US" sz="3200" dirty="0"/>
          </a:p>
        </p:txBody>
      </p:sp>
      <p:sp>
        <p:nvSpPr>
          <p:cNvPr id="4" name="Text 2"/>
          <p:cNvSpPr txBox="1"/>
          <p:nvPr/>
        </p:nvSpPr>
        <p:spPr>
          <a:xfrm>
            <a:off x="914400" y="3246120"/>
            <a:ext cx="10362895" cy="411480"/>
          </a:xfrm>
          <a:prstGeom prst="rect">
            <a:avLst/>
          </a:prstGeom>
          <a:noFill/>
          <a:ln/>
        </p:spPr>
        <p:txBody>
          <a:bodyPr wrap="square" lIns="0" tIns="0" rIns="0" bIns="0" rtlCol="0" anchor="t"/>
          <a:lstStyle/>
          <a:p>
            <a:pPr indent="0" marL="0">
              <a:buNone/>
            </a:pPr>
            <a:r>
              <a:rPr lang="en-US" sz="1500" dirty="0">
                <a:solidFill>
                  <a:srgbClr val="A8C5BC"/>
                </a:solidFill>
              </a:rPr>
              <a:t>— WLC 교육 메시지</a:t>
            </a:r>
            <a:endParaRPr lang="en-US" sz="1500" dirty="0"/>
          </a:p>
        </p:txBody>
      </p:sp>
      <p:sp>
        <p:nvSpPr>
          <p:cNvPr id="5" name="Shape 3"/>
          <p:cNvSpPr/>
          <p:nvPr/>
        </p:nvSpPr>
        <p:spPr>
          <a:xfrm>
            <a:off x="548640" y="4206240"/>
            <a:ext cx="11094415" cy="1600200"/>
          </a:xfrm>
          <a:prstGeom prst="roundRect">
            <a:avLst>
              <a:gd name="adj" fmla="val 6857"/>
            </a:avLst>
          </a:prstGeom>
          <a:solidFill>
            <a:srgbClr val="2A5F5A"/>
          </a:solidFill>
          <a:ln w="12700">
            <a:solidFill>
              <a:srgbClr val="2A5F5A"/>
            </a:solidFill>
            <a:prstDash val="solid"/>
          </a:ln>
        </p:spPr>
      </p:sp>
      <p:sp>
        <p:nvSpPr>
          <p:cNvPr id="6" name="Text 4"/>
          <p:cNvSpPr txBox="1"/>
          <p:nvPr/>
        </p:nvSpPr>
        <p:spPr>
          <a:xfrm>
            <a:off x="868680" y="4343400"/>
            <a:ext cx="10454335" cy="1371600"/>
          </a:xfrm>
          <a:prstGeom prst="rect">
            <a:avLst/>
          </a:prstGeom>
          <a:noFill/>
          <a:ln/>
        </p:spPr>
        <p:txBody>
          <a:bodyPr wrap="square" lIns="0" tIns="0" rIns="0" bIns="0" rtlCol="0" anchor="ctr"/>
          <a:lstStyle/>
          <a:p>
            <a:pPr indent="0" marL="0">
              <a:spcAft>
                <a:spcPts val="600"/>
              </a:spcAft>
              <a:buNone/>
            </a:pPr>
            <a:r>
              <a:rPr lang="en-US" sz="1500" b="1" dirty="0">
                <a:solidFill>
                  <a:srgbClr val="8FB9A8"/>
                </a:solidFill>
              </a:rPr>
              <a:t>이 강의의 핵심 메시지
</a:t>
            </a:r>
            <a:pPr indent="0" marL="0">
              <a:buNone/>
            </a:pPr>
            <a:r>
              <a:rPr lang="en-US" sz="1800" dirty="0">
                <a:solidFill>
                  <a:srgbClr val="FFFFFF"/>
                </a:solidFill>
              </a:rPr>
              <a:t>한국의 장사문화는 매장 중심에서 화장·봉안·자연장, 그리고 골분을 지정된 구역에 뿌리는 방식까지 다양해지고 있다. WLC는 장례방식을 대신 결정하거나 업체를 골라 주지 않고, 법정 용어와 공식정보를 바탕으로 내담자가 자신에게 맞는 장례를 설계하도록 돕는다.</a:t>
            </a:r>
            <a:endParaRPr lang="en-US" sz="15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학습목표</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오늘 수업을 마치면 할 수 있는 것</a:t>
            </a:r>
            <a:endParaRPr lang="en-US" sz="2800" dirty="0"/>
          </a:p>
        </p:txBody>
      </p:sp>
      <p:sp>
        <p:nvSpPr>
          <p:cNvPr id="4" name="Shape 2"/>
          <p:cNvSpPr/>
          <p:nvPr/>
        </p:nvSpPr>
        <p:spPr>
          <a:xfrm>
            <a:off x="548640" y="1600200"/>
            <a:ext cx="438912" cy="438912"/>
          </a:xfrm>
          <a:prstGeom prst="ellipse">
            <a:avLst/>
          </a:prstGeom>
          <a:solidFill>
            <a:srgbClr val="2E7D6B"/>
          </a:solidFill>
          <a:ln w="12700">
            <a:solidFill>
              <a:srgbClr val="2E7D6B"/>
            </a:solidFill>
            <a:prstDash val="solid"/>
          </a:ln>
        </p:spPr>
      </p:sp>
      <p:sp>
        <p:nvSpPr>
          <p:cNvPr id="5" name="Text 3"/>
          <p:cNvSpPr txBox="1"/>
          <p:nvPr/>
        </p:nvSpPr>
        <p:spPr>
          <a:xfrm>
            <a:off x="548640"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170432" y="1572768"/>
            <a:ext cx="4724248" cy="1081278"/>
          </a:xfrm>
          <a:prstGeom prst="rect">
            <a:avLst/>
          </a:prstGeom>
          <a:noFill/>
          <a:ln/>
        </p:spPr>
        <p:txBody>
          <a:bodyPr wrap="square" lIns="0" tIns="0" rIns="0" bIns="0" rtlCol="0" anchor="t"/>
          <a:lstStyle/>
          <a:p>
            <a:pPr indent="0" marL="0">
              <a:buNone/>
            </a:pPr>
            <a:r>
              <a:rPr lang="en-US" sz="2200" b="1" dirty="0">
                <a:solidFill>
                  <a:srgbClr val="1F4E4A"/>
                </a:solidFill>
              </a:rPr>
              <a:t>법정 용어 </a:t>
            </a:r>
            <a:pPr indent="0" marL="0">
              <a:buNone/>
            </a:pPr>
            <a:r>
              <a:rPr lang="en-US" sz="2200" dirty="0">
                <a:solidFill>
                  <a:srgbClr val="222222"/>
                </a:solidFill>
              </a:rPr>
              <a:t>매장·화장·봉안·자연장·개장을 구분해 설명한다</a:t>
            </a:r>
            <a:endParaRPr lang="en-US" sz="2200" dirty="0"/>
          </a:p>
        </p:txBody>
      </p:sp>
      <p:sp>
        <p:nvSpPr>
          <p:cNvPr id="7" name="Shape 5"/>
          <p:cNvSpPr/>
          <p:nvPr/>
        </p:nvSpPr>
        <p:spPr>
          <a:xfrm>
            <a:off x="548640" y="2754630"/>
            <a:ext cx="438912" cy="438912"/>
          </a:xfrm>
          <a:prstGeom prst="ellipse">
            <a:avLst/>
          </a:prstGeom>
          <a:solidFill>
            <a:srgbClr val="2E7D6B"/>
          </a:solidFill>
          <a:ln w="12700">
            <a:solidFill>
              <a:srgbClr val="2E7D6B"/>
            </a:solidFill>
            <a:prstDash val="solid"/>
          </a:ln>
        </p:spPr>
      </p:sp>
      <p:sp>
        <p:nvSpPr>
          <p:cNvPr id="8" name="Text 6"/>
          <p:cNvSpPr txBox="1"/>
          <p:nvPr/>
        </p:nvSpPr>
        <p:spPr>
          <a:xfrm>
            <a:off x="548640" y="275463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1170432" y="2727198"/>
            <a:ext cx="4724248" cy="1081278"/>
          </a:xfrm>
          <a:prstGeom prst="rect">
            <a:avLst/>
          </a:prstGeom>
          <a:noFill/>
          <a:ln/>
        </p:spPr>
        <p:txBody>
          <a:bodyPr wrap="square" lIns="0" tIns="0" rIns="0" bIns="0" rtlCol="0" anchor="t"/>
          <a:lstStyle/>
          <a:p>
            <a:pPr indent="0" marL="0">
              <a:buNone/>
            </a:pPr>
            <a:r>
              <a:rPr lang="en-US" sz="2200" b="1" dirty="0">
                <a:solidFill>
                  <a:srgbClr val="1F4E4A"/>
                </a:solidFill>
              </a:rPr>
              <a:t>변화의 흐름 </a:t>
            </a:r>
            <a:pPr indent="0" marL="0">
              <a:buNone/>
            </a:pPr>
            <a:r>
              <a:rPr lang="en-US" sz="2200" dirty="0">
                <a:solidFill>
                  <a:srgbClr val="222222"/>
                </a:solidFill>
              </a:rPr>
              <a:t>매장에서 화장 중심으로의 변화와 의미를 설명한다</a:t>
            </a:r>
            <a:endParaRPr lang="en-US" sz="2200" dirty="0"/>
          </a:p>
        </p:txBody>
      </p:sp>
      <p:sp>
        <p:nvSpPr>
          <p:cNvPr id="10" name="Shape 8"/>
          <p:cNvSpPr/>
          <p:nvPr/>
        </p:nvSpPr>
        <p:spPr>
          <a:xfrm>
            <a:off x="548640" y="3909060"/>
            <a:ext cx="438912" cy="438912"/>
          </a:xfrm>
          <a:prstGeom prst="ellipse">
            <a:avLst/>
          </a:prstGeom>
          <a:solidFill>
            <a:srgbClr val="2E7D6B"/>
          </a:solidFill>
          <a:ln w="12700">
            <a:solidFill>
              <a:srgbClr val="2E7D6B"/>
            </a:solidFill>
            <a:prstDash val="solid"/>
          </a:ln>
        </p:spPr>
      </p:sp>
      <p:sp>
        <p:nvSpPr>
          <p:cNvPr id="11" name="Text 9"/>
          <p:cNvSpPr txBox="1"/>
          <p:nvPr/>
        </p:nvSpPr>
        <p:spPr>
          <a:xfrm>
            <a:off x="548640" y="39090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10"/>
          <p:cNvSpPr txBox="1"/>
          <p:nvPr/>
        </p:nvSpPr>
        <p:spPr>
          <a:xfrm>
            <a:off x="1170432" y="3881628"/>
            <a:ext cx="4724248" cy="1081278"/>
          </a:xfrm>
          <a:prstGeom prst="rect">
            <a:avLst/>
          </a:prstGeom>
          <a:noFill/>
          <a:ln/>
        </p:spPr>
        <p:txBody>
          <a:bodyPr wrap="square" lIns="0" tIns="0" rIns="0" bIns="0" rtlCol="0" anchor="t"/>
          <a:lstStyle/>
          <a:p>
            <a:pPr indent="0" marL="0">
              <a:buNone/>
            </a:pPr>
            <a:r>
              <a:rPr lang="en-US" sz="2200" b="1" dirty="0">
                <a:solidFill>
                  <a:srgbClr val="1F4E4A"/>
                </a:solidFill>
              </a:rPr>
              <a:t>화장 이후 </a:t>
            </a:r>
            <a:pPr indent="0" marL="0">
              <a:buNone/>
            </a:pPr>
            <a:r>
              <a:rPr lang="en-US" sz="2200" dirty="0">
                <a:solidFill>
                  <a:srgbClr val="222222"/>
                </a:solidFill>
              </a:rPr>
              <a:t>봉안·자연장·골분 산분의 기준과 차이를 안내한다</a:t>
            </a:r>
            <a:endParaRPr lang="en-US" sz="2200" dirty="0"/>
          </a:p>
        </p:txBody>
      </p:sp>
      <p:sp>
        <p:nvSpPr>
          <p:cNvPr id="13" name="Shape 11"/>
          <p:cNvSpPr/>
          <p:nvPr/>
        </p:nvSpPr>
        <p:spPr>
          <a:xfrm>
            <a:off x="548640" y="5063490"/>
            <a:ext cx="438912" cy="438912"/>
          </a:xfrm>
          <a:prstGeom prst="ellipse">
            <a:avLst/>
          </a:prstGeom>
          <a:solidFill>
            <a:srgbClr val="2E7D6B"/>
          </a:solidFill>
          <a:ln w="12700">
            <a:solidFill>
              <a:srgbClr val="2E7D6B"/>
            </a:solidFill>
            <a:prstDash val="solid"/>
          </a:ln>
        </p:spPr>
      </p:sp>
      <p:sp>
        <p:nvSpPr>
          <p:cNvPr id="14" name="Text 12"/>
          <p:cNvSpPr txBox="1"/>
          <p:nvPr/>
        </p:nvSpPr>
        <p:spPr>
          <a:xfrm>
            <a:off x="548640" y="506349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5" name="Text 13"/>
          <p:cNvSpPr txBox="1"/>
          <p:nvPr/>
        </p:nvSpPr>
        <p:spPr>
          <a:xfrm>
            <a:off x="1170432" y="5036058"/>
            <a:ext cx="4724248" cy="1081278"/>
          </a:xfrm>
          <a:prstGeom prst="rect">
            <a:avLst/>
          </a:prstGeom>
          <a:noFill/>
          <a:ln/>
        </p:spPr>
        <p:txBody>
          <a:bodyPr wrap="square" lIns="0" tIns="0" rIns="0" bIns="0" rtlCol="0" anchor="t"/>
          <a:lstStyle/>
          <a:p>
            <a:pPr indent="0" marL="0">
              <a:buNone/>
            </a:pPr>
            <a:r>
              <a:rPr lang="en-US" sz="2200" b="1" dirty="0">
                <a:solidFill>
                  <a:srgbClr val="1F4E4A"/>
                </a:solidFill>
              </a:rPr>
              <a:t>2025년 변화 </a:t>
            </a:r>
            <a:pPr indent="0" marL="0">
              <a:buNone/>
            </a:pPr>
            <a:r>
              <a:rPr lang="en-US" sz="2200" dirty="0">
                <a:solidFill>
                  <a:srgbClr val="222222"/>
                </a:solidFill>
              </a:rPr>
              <a:t>골분 산분 규정을 쉬운 말로, 최신 법령 확인과 함께</a:t>
            </a:r>
            <a:endParaRPr lang="en-US" sz="2200" dirty="0"/>
          </a:p>
        </p:txBody>
      </p:sp>
      <p:sp>
        <p:nvSpPr>
          <p:cNvPr id="16" name="Shape 14"/>
          <p:cNvSpPr/>
          <p:nvPr/>
        </p:nvSpPr>
        <p:spPr>
          <a:xfrm>
            <a:off x="6233008" y="1600200"/>
            <a:ext cx="438912" cy="438912"/>
          </a:xfrm>
          <a:prstGeom prst="ellipse">
            <a:avLst/>
          </a:prstGeom>
          <a:solidFill>
            <a:srgbClr val="2E7D6B"/>
          </a:solidFill>
          <a:ln w="12700">
            <a:solidFill>
              <a:srgbClr val="2E7D6B"/>
            </a:solidFill>
            <a:prstDash val="solid"/>
          </a:ln>
        </p:spPr>
      </p:sp>
      <p:sp>
        <p:nvSpPr>
          <p:cNvPr id="17" name="Text 15"/>
          <p:cNvSpPr txBox="1"/>
          <p:nvPr/>
        </p:nvSpPr>
        <p:spPr>
          <a:xfrm>
            <a:off x="6233008"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8" name="Text 16"/>
          <p:cNvSpPr txBox="1"/>
          <p:nvPr/>
        </p:nvSpPr>
        <p:spPr>
          <a:xfrm>
            <a:off x="6854800" y="1572768"/>
            <a:ext cx="4724248" cy="1081278"/>
          </a:xfrm>
          <a:prstGeom prst="rect">
            <a:avLst/>
          </a:prstGeom>
          <a:noFill/>
          <a:ln/>
        </p:spPr>
        <p:txBody>
          <a:bodyPr wrap="square" lIns="0" tIns="0" rIns="0" bIns="0" rtlCol="0" anchor="t"/>
          <a:lstStyle/>
          <a:p>
            <a:pPr indent="0" marL="0">
              <a:buNone/>
            </a:pPr>
            <a:r>
              <a:rPr lang="en-US" sz="2200" b="1" dirty="0">
                <a:solidFill>
                  <a:srgbClr val="1F4E4A"/>
                </a:solidFill>
              </a:rPr>
              <a:t>공영장례 </a:t>
            </a:r>
            <a:pPr indent="0" marL="0">
              <a:buNone/>
            </a:pPr>
            <a:r>
              <a:rPr lang="en-US" sz="2200" dirty="0">
                <a:solidFill>
                  <a:srgbClr val="222222"/>
                </a:solidFill>
              </a:rPr>
              <a:t>무연고 사망과 존엄한 장례의 공공적 의미를 설명한다</a:t>
            </a:r>
            <a:endParaRPr lang="en-US" sz="2200" dirty="0"/>
          </a:p>
        </p:txBody>
      </p:sp>
      <p:sp>
        <p:nvSpPr>
          <p:cNvPr id="19" name="Shape 17"/>
          <p:cNvSpPr/>
          <p:nvPr/>
        </p:nvSpPr>
        <p:spPr>
          <a:xfrm>
            <a:off x="6233008" y="2754630"/>
            <a:ext cx="438912" cy="438912"/>
          </a:xfrm>
          <a:prstGeom prst="ellipse">
            <a:avLst/>
          </a:prstGeom>
          <a:solidFill>
            <a:srgbClr val="2E7D6B"/>
          </a:solidFill>
          <a:ln w="12700">
            <a:solidFill>
              <a:srgbClr val="2E7D6B"/>
            </a:solidFill>
            <a:prstDash val="solid"/>
          </a:ln>
        </p:spPr>
      </p:sp>
      <p:sp>
        <p:nvSpPr>
          <p:cNvPr id="20" name="Text 18"/>
          <p:cNvSpPr txBox="1"/>
          <p:nvPr/>
        </p:nvSpPr>
        <p:spPr>
          <a:xfrm>
            <a:off x="6233008" y="275463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1" name="Text 19"/>
          <p:cNvSpPr txBox="1"/>
          <p:nvPr/>
        </p:nvSpPr>
        <p:spPr>
          <a:xfrm>
            <a:off x="6854800" y="2727198"/>
            <a:ext cx="4724248" cy="1081278"/>
          </a:xfrm>
          <a:prstGeom prst="rect">
            <a:avLst/>
          </a:prstGeom>
          <a:noFill/>
          <a:ln/>
        </p:spPr>
        <p:txBody>
          <a:bodyPr wrap="square" lIns="0" tIns="0" rIns="0" bIns="0" rtlCol="0" anchor="t"/>
          <a:lstStyle/>
          <a:p>
            <a:pPr indent="0" marL="0">
              <a:buNone/>
            </a:pPr>
            <a:r>
              <a:rPr lang="en-US" sz="2200" b="1" dirty="0">
                <a:solidFill>
                  <a:srgbClr val="1F4E4A"/>
                </a:solidFill>
              </a:rPr>
              <a:t>공식 정보 </a:t>
            </a:r>
            <a:pPr indent="0" marL="0">
              <a:buNone/>
            </a:pPr>
            <a:r>
              <a:rPr lang="en-US" sz="2200" dirty="0">
                <a:solidFill>
                  <a:srgbClr val="222222"/>
                </a:solidFill>
              </a:rPr>
              <a:t>e하늘 등 공식 플랫폼에서 시설·가격을 확인한다</a:t>
            </a:r>
            <a:endParaRPr lang="en-US" sz="2200" dirty="0"/>
          </a:p>
        </p:txBody>
      </p:sp>
      <p:sp>
        <p:nvSpPr>
          <p:cNvPr id="22" name="Shape 20"/>
          <p:cNvSpPr/>
          <p:nvPr/>
        </p:nvSpPr>
        <p:spPr>
          <a:xfrm>
            <a:off x="6233008" y="3909060"/>
            <a:ext cx="438912" cy="438912"/>
          </a:xfrm>
          <a:prstGeom prst="ellipse">
            <a:avLst/>
          </a:prstGeom>
          <a:solidFill>
            <a:srgbClr val="2E7D6B"/>
          </a:solidFill>
          <a:ln w="12700">
            <a:solidFill>
              <a:srgbClr val="2E7D6B"/>
            </a:solidFill>
            <a:prstDash val="solid"/>
          </a:ln>
        </p:spPr>
      </p:sp>
      <p:sp>
        <p:nvSpPr>
          <p:cNvPr id="23" name="Text 21"/>
          <p:cNvSpPr txBox="1"/>
          <p:nvPr/>
        </p:nvSpPr>
        <p:spPr>
          <a:xfrm>
            <a:off x="6233008" y="39090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7</a:t>
            </a:r>
            <a:endParaRPr lang="en-US" sz="1500" dirty="0"/>
          </a:p>
        </p:txBody>
      </p:sp>
      <p:sp>
        <p:nvSpPr>
          <p:cNvPr id="24" name="Text 22"/>
          <p:cNvSpPr txBox="1"/>
          <p:nvPr/>
        </p:nvSpPr>
        <p:spPr>
          <a:xfrm>
            <a:off x="6854800" y="3881628"/>
            <a:ext cx="4724248" cy="1081278"/>
          </a:xfrm>
          <a:prstGeom prst="rect">
            <a:avLst/>
          </a:prstGeom>
          <a:noFill/>
          <a:ln/>
        </p:spPr>
        <p:txBody>
          <a:bodyPr wrap="square" lIns="0" tIns="0" rIns="0" bIns="0" rtlCol="0" anchor="t"/>
          <a:lstStyle/>
          <a:p>
            <a:pPr indent="0" marL="0">
              <a:buNone/>
            </a:pPr>
            <a:r>
              <a:rPr lang="en-US" sz="2200" b="1" dirty="0">
                <a:solidFill>
                  <a:srgbClr val="1F4E4A"/>
                </a:solidFill>
              </a:rPr>
              <a:t>새로운 장례 </a:t>
            </a:r>
            <a:pPr indent="0" marL="0">
              <a:buNone/>
            </a:pPr>
            <a:r>
              <a:rPr lang="en-US" sz="2200" dirty="0">
                <a:solidFill>
                  <a:srgbClr val="222222"/>
                </a:solidFill>
              </a:rPr>
              <a:t>가족장·소규모 장례를 법정 방법과 구분한다</a:t>
            </a:r>
            <a:endParaRPr lang="en-US" sz="2200" dirty="0"/>
          </a:p>
        </p:txBody>
      </p:sp>
      <p:sp>
        <p:nvSpPr>
          <p:cNvPr id="25" name="Shape 23"/>
          <p:cNvSpPr/>
          <p:nvPr/>
        </p:nvSpPr>
        <p:spPr>
          <a:xfrm>
            <a:off x="6233008" y="5063490"/>
            <a:ext cx="438912" cy="438912"/>
          </a:xfrm>
          <a:prstGeom prst="ellipse">
            <a:avLst/>
          </a:prstGeom>
          <a:solidFill>
            <a:srgbClr val="2E7D6B"/>
          </a:solidFill>
          <a:ln w="12700">
            <a:solidFill>
              <a:srgbClr val="2E7D6B"/>
            </a:solidFill>
            <a:prstDash val="solid"/>
          </a:ln>
        </p:spPr>
      </p:sp>
      <p:sp>
        <p:nvSpPr>
          <p:cNvPr id="26" name="Text 24"/>
          <p:cNvSpPr txBox="1"/>
          <p:nvPr/>
        </p:nvSpPr>
        <p:spPr>
          <a:xfrm>
            <a:off x="6233008" y="506349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8</a:t>
            </a:r>
            <a:endParaRPr lang="en-US" sz="1500" dirty="0"/>
          </a:p>
        </p:txBody>
      </p:sp>
      <p:sp>
        <p:nvSpPr>
          <p:cNvPr id="27" name="Text 25"/>
          <p:cNvSpPr txBox="1"/>
          <p:nvPr/>
        </p:nvSpPr>
        <p:spPr>
          <a:xfrm>
            <a:off x="6854800" y="5036058"/>
            <a:ext cx="4724248" cy="1081278"/>
          </a:xfrm>
          <a:prstGeom prst="rect">
            <a:avLst/>
          </a:prstGeom>
          <a:noFill/>
          <a:ln/>
        </p:spPr>
        <p:txBody>
          <a:bodyPr wrap="square" lIns="0" tIns="0" rIns="0" bIns="0" rtlCol="0" anchor="t"/>
          <a:lstStyle/>
          <a:p>
            <a:pPr indent="0" marL="0">
              <a:buNone/>
            </a:pPr>
            <a:r>
              <a:rPr lang="en-US" sz="2200" b="1" dirty="0">
                <a:solidFill>
                  <a:srgbClr val="1F4E4A"/>
                </a:solidFill>
              </a:rPr>
              <a:t>역할 경계 </a:t>
            </a:r>
            <a:pPr indent="0" marL="0">
              <a:buNone/>
            </a:pPr>
            <a:r>
              <a:rPr lang="en-US" sz="2200" dirty="0">
                <a:solidFill>
                  <a:srgbClr val="222222"/>
                </a:solidFill>
              </a:rPr>
              <a:t>소비자 보호·문화적 중립성을 지킨다</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핵심 키워드</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오늘 만날 단어들</a:t>
            </a:r>
            <a:endParaRPr lang="en-US" sz="2800" dirty="0"/>
          </a:p>
        </p:txBody>
      </p:sp>
      <p:sp>
        <p:nvSpPr>
          <p:cNvPr id="4" name="Shape 2"/>
          <p:cNvSpPr/>
          <p:nvPr/>
        </p:nvSpPr>
        <p:spPr>
          <a:xfrm>
            <a:off x="548640" y="1691640"/>
            <a:ext cx="1101852" cy="566928"/>
          </a:xfrm>
          <a:prstGeom prst="roundRect">
            <a:avLst>
              <a:gd name="adj" fmla="val 19355"/>
            </a:avLst>
          </a:prstGeom>
          <a:solidFill>
            <a:srgbClr val="EAF3F0"/>
          </a:solidFill>
          <a:ln w="12700">
            <a:solidFill>
              <a:srgbClr val="EAF3F0"/>
            </a:solidFill>
            <a:prstDash val="solid"/>
          </a:ln>
        </p:spPr>
      </p:sp>
      <p:sp>
        <p:nvSpPr>
          <p:cNvPr id="5" name="Text 3"/>
          <p:cNvSpPr txBox="1"/>
          <p:nvPr/>
        </p:nvSpPr>
        <p:spPr>
          <a:xfrm>
            <a:off x="548640" y="1691640"/>
            <a:ext cx="1101852" cy="566928"/>
          </a:xfrm>
          <a:prstGeom prst="rect">
            <a:avLst/>
          </a:prstGeom>
          <a:noFill/>
          <a:ln/>
        </p:spPr>
        <p:txBody>
          <a:bodyPr wrap="square" lIns="0" tIns="0" rIns="0" bIns="0" rtlCol="0" anchor="ctr"/>
          <a:lstStyle/>
          <a:p>
            <a:pPr algn="ctr" indent="0" marL="0">
              <a:buNone/>
            </a:pPr>
            <a:r>
              <a:rPr lang="en-US" sz="1800" dirty="0">
                <a:solidFill>
                  <a:srgbClr val="1F4E4A"/>
                </a:solidFill>
              </a:rPr>
              <a:t>장사법</a:t>
            </a:r>
            <a:endParaRPr lang="en-US" sz="1800" dirty="0"/>
          </a:p>
        </p:txBody>
      </p:sp>
      <p:sp>
        <p:nvSpPr>
          <p:cNvPr id="6" name="Shape 4"/>
          <p:cNvSpPr/>
          <p:nvPr/>
        </p:nvSpPr>
        <p:spPr>
          <a:xfrm>
            <a:off x="1851660" y="1691640"/>
            <a:ext cx="886968" cy="566928"/>
          </a:xfrm>
          <a:prstGeom prst="roundRect">
            <a:avLst>
              <a:gd name="adj" fmla="val 19355"/>
            </a:avLst>
          </a:prstGeom>
          <a:solidFill>
            <a:srgbClr val="EAF3F0"/>
          </a:solidFill>
          <a:ln w="12700">
            <a:solidFill>
              <a:srgbClr val="EAF3F0"/>
            </a:solidFill>
            <a:prstDash val="solid"/>
          </a:ln>
        </p:spPr>
      </p:sp>
      <p:sp>
        <p:nvSpPr>
          <p:cNvPr id="7" name="Text 5"/>
          <p:cNvSpPr txBox="1"/>
          <p:nvPr/>
        </p:nvSpPr>
        <p:spPr>
          <a:xfrm>
            <a:off x="1851660" y="1691640"/>
            <a:ext cx="886968" cy="566928"/>
          </a:xfrm>
          <a:prstGeom prst="rect">
            <a:avLst/>
          </a:prstGeom>
          <a:noFill/>
          <a:ln/>
        </p:spPr>
        <p:txBody>
          <a:bodyPr wrap="square" lIns="0" tIns="0" rIns="0" bIns="0" rtlCol="0" anchor="ctr"/>
          <a:lstStyle/>
          <a:p>
            <a:pPr algn="ctr" indent="0" marL="0">
              <a:buNone/>
            </a:pPr>
            <a:r>
              <a:rPr lang="en-US" sz="1800" dirty="0">
                <a:solidFill>
                  <a:srgbClr val="1F4E4A"/>
                </a:solidFill>
              </a:rPr>
              <a:t>매장</a:t>
            </a:r>
            <a:endParaRPr lang="en-US" sz="1800" dirty="0"/>
          </a:p>
        </p:txBody>
      </p:sp>
      <p:sp>
        <p:nvSpPr>
          <p:cNvPr id="8" name="Shape 6"/>
          <p:cNvSpPr/>
          <p:nvPr/>
        </p:nvSpPr>
        <p:spPr>
          <a:xfrm>
            <a:off x="2939796" y="1691640"/>
            <a:ext cx="886968" cy="566928"/>
          </a:xfrm>
          <a:prstGeom prst="roundRect">
            <a:avLst>
              <a:gd name="adj" fmla="val 19355"/>
            </a:avLst>
          </a:prstGeom>
          <a:solidFill>
            <a:srgbClr val="EAF3F0"/>
          </a:solidFill>
          <a:ln w="12700">
            <a:solidFill>
              <a:srgbClr val="EAF3F0"/>
            </a:solidFill>
            <a:prstDash val="solid"/>
          </a:ln>
        </p:spPr>
      </p:sp>
      <p:sp>
        <p:nvSpPr>
          <p:cNvPr id="9" name="Text 7"/>
          <p:cNvSpPr txBox="1"/>
          <p:nvPr/>
        </p:nvSpPr>
        <p:spPr>
          <a:xfrm>
            <a:off x="2939796" y="1691640"/>
            <a:ext cx="886968" cy="566928"/>
          </a:xfrm>
          <a:prstGeom prst="rect">
            <a:avLst/>
          </a:prstGeom>
          <a:noFill/>
          <a:ln/>
        </p:spPr>
        <p:txBody>
          <a:bodyPr wrap="square" lIns="0" tIns="0" rIns="0" bIns="0" rtlCol="0" anchor="ctr"/>
          <a:lstStyle/>
          <a:p>
            <a:pPr algn="ctr" indent="0" marL="0">
              <a:buNone/>
            </a:pPr>
            <a:r>
              <a:rPr lang="en-US" sz="1800" dirty="0">
                <a:solidFill>
                  <a:srgbClr val="1F4E4A"/>
                </a:solidFill>
              </a:rPr>
              <a:t>화장</a:t>
            </a:r>
            <a:endParaRPr lang="en-US" sz="1800" dirty="0"/>
          </a:p>
        </p:txBody>
      </p:sp>
      <p:sp>
        <p:nvSpPr>
          <p:cNvPr id="10" name="Shape 8"/>
          <p:cNvSpPr/>
          <p:nvPr/>
        </p:nvSpPr>
        <p:spPr>
          <a:xfrm>
            <a:off x="4027932" y="1691640"/>
            <a:ext cx="886968" cy="566928"/>
          </a:xfrm>
          <a:prstGeom prst="roundRect">
            <a:avLst>
              <a:gd name="adj" fmla="val 19355"/>
            </a:avLst>
          </a:prstGeom>
          <a:solidFill>
            <a:srgbClr val="EAF3F0"/>
          </a:solidFill>
          <a:ln w="12700">
            <a:solidFill>
              <a:srgbClr val="EAF3F0"/>
            </a:solidFill>
            <a:prstDash val="solid"/>
          </a:ln>
        </p:spPr>
      </p:sp>
      <p:sp>
        <p:nvSpPr>
          <p:cNvPr id="11" name="Text 9"/>
          <p:cNvSpPr txBox="1"/>
          <p:nvPr/>
        </p:nvSpPr>
        <p:spPr>
          <a:xfrm>
            <a:off x="4027932" y="1691640"/>
            <a:ext cx="886968" cy="566928"/>
          </a:xfrm>
          <a:prstGeom prst="rect">
            <a:avLst/>
          </a:prstGeom>
          <a:noFill/>
          <a:ln/>
        </p:spPr>
        <p:txBody>
          <a:bodyPr wrap="square" lIns="0" tIns="0" rIns="0" bIns="0" rtlCol="0" anchor="ctr"/>
          <a:lstStyle/>
          <a:p>
            <a:pPr algn="ctr" indent="0" marL="0">
              <a:buNone/>
            </a:pPr>
            <a:r>
              <a:rPr lang="en-US" sz="1800" dirty="0">
                <a:solidFill>
                  <a:srgbClr val="1F4E4A"/>
                </a:solidFill>
              </a:rPr>
              <a:t>봉안</a:t>
            </a:r>
            <a:endParaRPr lang="en-US" sz="1800" dirty="0"/>
          </a:p>
        </p:txBody>
      </p:sp>
      <p:sp>
        <p:nvSpPr>
          <p:cNvPr id="12" name="Shape 10"/>
          <p:cNvSpPr/>
          <p:nvPr/>
        </p:nvSpPr>
        <p:spPr>
          <a:xfrm>
            <a:off x="5116068" y="1691640"/>
            <a:ext cx="1101852" cy="566928"/>
          </a:xfrm>
          <a:prstGeom prst="roundRect">
            <a:avLst>
              <a:gd name="adj" fmla="val 19355"/>
            </a:avLst>
          </a:prstGeom>
          <a:solidFill>
            <a:srgbClr val="EAF3F0"/>
          </a:solidFill>
          <a:ln w="12700">
            <a:solidFill>
              <a:srgbClr val="EAF3F0"/>
            </a:solidFill>
            <a:prstDash val="solid"/>
          </a:ln>
        </p:spPr>
      </p:sp>
      <p:sp>
        <p:nvSpPr>
          <p:cNvPr id="13" name="Text 11"/>
          <p:cNvSpPr txBox="1"/>
          <p:nvPr/>
        </p:nvSpPr>
        <p:spPr>
          <a:xfrm>
            <a:off x="5116068" y="1691640"/>
            <a:ext cx="1101852" cy="566928"/>
          </a:xfrm>
          <a:prstGeom prst="rect">
            <a:avLst/>
          </a:prstGeom>
          <a:noFill/>
          <a:ln/>
        </p:spPr>
        <p:txBody>
          <a:bodyPr wrap="square" lIns="0" tIns="0" rIns="0" bIns="0" rtlCol="0" anchor="ctr"/>
          <a:lstStyle/>
          <a:p>
            <a:pPr algn="ctr" indent="0" marL="0">
              <a:buNone/>
            </a:pPr>
            <a:r>
              <a:rPr lang="en-US" sz="1800" dirty="0">
                <a:solidFill>
                  <a:srgbClr val="1F4E4A"/>
                </a:solidFill>
              </a:rPr>
              <a:t>봉안당</a:t>
            </a:r>
            <a:endParaRPr lang="en-US" sz="1800" dirty="0"/>
          </a:p>
        </p:txBody>
      </p:sp>
      <p:sp>
        <p:nvSpPr>
          <p:cNvPr id="14" name="Shape 12"/>
          <p:cNvSpPr/>
          <p:nvPr/>
        </p:nvSpPr>
        <p:spPr>
          <a:xfrm>
            <a:off x="6419088" y="1691640"/>
            <a:ext cx="1101852" cy="566928"/>
          </a:xfrm>
          <a:prstGeom prst="roundRect">
            <a:avLst>
              <a:gd name="adj" fmla="val 19355"/>
            </a:avLst>
          </a:prstGeom>
          <a:solidFill>
            <a:srgbClr val="2E7D6B"/>
          </a:solidFill>
          <a:ln w="12700">
            <a:solidFill>
              <a:srgbClr val="2E7D6B"/>
            </a:solidFill>
            <a:prstDash val="solid"/>
          </a:ln>
        </p:spPr>
      </p:sp>
      <p:sp>
        <p:nvSpPr>
          <p:cNvPr id="15" name="Text 13"/>
          <p:cNvSpPr txBox="1"/>
          <p:nvPr/>
        </p:nvSpPr>
        <p:spPr>
          <a:xfrm>
            <a:off x="6419088" y="1691640"/>
            <a:ext cx="1101852" cy="566928"/>
          </a:xfrm>
          <a:prstGeom prst="rect">
            <a:avLst/>
          </a:prstGeom>
          <a:noFill/>
          <a:ln/>
        </p:spPr>
        <p:txBody>
          <a:bodyPr wrap="square" lIns="0" tIns="0" rIns="0" bIns="0" rtlCol="0" anchor="ctr"/>
          <a:lstStyle/>
          <a:p>
            <a:pPr algn="ctr" indent="0" marL="0">
              <a:buNone/>
            </a:pPr>
            <a:r>
              <a:rPr lang="en-US" sz="1800" b="1" dirty="0">
                <a:solidFill>
                  <a:srgbClr val="FFFFFF"/>
                </a:solidFill>
              </a:rPr>
              <a:t>자연장</a:t>
            </a:r>
            <a:endParaRPr lang="en-US" sz="1800" dirty="0"/>
          </a:p>
        </p:txBody>
      </p:sp>
      <p:sp>
        <p:nvSpPr>
          <p:cNvPr id="16" name="Shape 14"/>
          <p:cNvSpPr/>
          <p:nvPr/>
        </p:nvSpPr>
        <p:spPr>
          <a:xfrm>
            <a:off x="7722108" y="1691640"/>
            <a:ext cx="1316736" cy="566928"/>
          </a:xfrm>
          <a:prstGeom prst="roundRect">
            <a:avLst>
              <a:gd name="adj" fmla="val 19355"/>
            </a:avLst>
          </a:prstGeom>
          <a:solidFill>
            <a:srgbClr val="EAF3F0"/>
          </a:solidFill>
          <a:ln w="12700">
            <a:solidFill>
              <a:srgbClr val="EAF3F0"/>
            </a:solidFill>
            <a:prstDash val="solid"/>
          </a:ln>
        </p:spPr>
      </p:sp>
      <p:sp>
        <p:nvSpPr>
          <p:cNvPr id="17" name="Text 15"/>
          <p:cNvSpPr txBox="1"/>
          <p:nvPr/>
        </p:nvSpPr>
        <p:spPr>
          <a:xfrm>
            <a:off x="7722108" y="1691640"/>
            <a:ext cx="1316736" cy="566928"/>
          </a:xfrm>
          <a:prstGeom prst="rect">
            <a:avLst/>
          </a:prstGeom>
          <a:noFill/>
          <a:ln/>
        </p:spPr>
        <p:txBody>
          <a:bodyPr wrap="square" lIns="0" tIns="0" rIns="0" bIns="0" rtlCol="0" anchor="ctr"/>
          <a:lstStyle/>
          <a:p>
            <a:pPr algn="ctr" indent="0" marL="0">
              <a:buNone/>
            </a:pPr>
            <a:r>
              <a:rPr lang="en-US" sz="1800" dirty="0">
                <a:solidFill>
                  <a:srgbClr val="1F4E4A"/>
                </a:solidFill>
              </a:rPr>
              <a:t>자연장지</a:t>
            </a:r>
            <a:endParaRPr lang="en-US" sz="1800" dirty="0"/>
          </a:p>
        </p:txBody>
      </p:sp>
      <p:sp>
        <p:nvSpPr>
          <p:cNvPr id="18" name="Shape 16"/>
          <p:cNvSpPr/>
          <p:nvPr/>
        </p:nvSpPr>
        <p:spPr>
          <a:xfrm>
            <a:off x="9240012" y="1691640"/>
            <a:ext cx="1316736" cy="566928"/>
          </a:xfrm>
          <a:prstGeom prst="roundRect">
            <a:avLst>
              <a:gd name="adj" fmla="val 19355"/>
            </a:avLst>
          </a:prstGeom>
          <a:solidFill>
            <a:srgbClr val="EAF3F0"/>
          </a:solidFill>
          <a:ln w="12700">
            <a:solidFill>
              <a:srgbClr val="EAF3F0"/>
            </a:solidFill>
            <a:prstDash val="solid"/>
          </a:ln>
        </p:spPr>
      </p:sp>
      <p:sp>
        <p:nvSpPr>
          <p:cNvPr id="19" name="Text 17"/>
          <p:cNvSpPr txBox="1"/>
          <p:nvPr/>
        </p:nvSpPr>
        <p:spPr>
          <a:xfrm>
            <a:off x="9240012" y="1691640"/>
            <a:ext cx="1316736" cy="566928"/>
          </a:xfrm>
          <a:prstGeom prst="rect">
            <a:avLst/>
          </a:prstGeom>
          <a:noFill/>
          <a:ln/>
        </p:spPr>
        <p:txBody>
          <a:bodyPr wrap="square" lIns="0" tIns="0" rIns="0" bIns="0" rtlCol="0" anchor="ctr"/>
          <a:lstStyle/>
          <a:p>
            <a:pPr algn="ctr" indent="0" marL="0">
              <a:buNone/>
            </a:pPr>
            <a:r>
              <a:rPr lang="en-US" sz="1800" dirty="0">
                <a:solidFill>
                  <a:srgbClr val="1F4E4A"/>
                </a:solidFill>
              </a:rPr>
              <a:t>수목장림</a:t>
            </a:r>
            <a:endParaRPr lang="en-US" sz="1800" dirty="0"/>
          </a:p>
        </p:txBody>
      </p:sp>
      <p:sp>
        <p:nvSpPr>
          <p:cNvPr id="20" name="Shape 18"/>
          <p:cNvSpPr/>
          <p:nvPr/>
        </p:nvSpPr>
        <p:spPr>
          <a:xfrm>
            <a:off x="548640" y="2487168"/>
            <a:ext cx="886968" cy="566928"/>
          </a:xfrm>
          <a:prstGeom prst="roundRect">
            <a:avLst>
              <a:gd name="adj" fmla="val 19355"/>
            </a:avLst>
          </a:prstGeom>
          <a:solidFill>
            <a:srgbClr val="2E7D6B"/>
          </a:solidFill>
          <a:ln w="12700">
            <a:solidFill>
              <a:srgbClr val="2E7D6B"/>
            </a:solidFill>
            <a:prstDash val="solid"/>
          </a:ln>
        </p:spPr>
      </p:sp>
      <p:sp>
        <p:nvSpPr>
          <p:cNvPr id="21" name="Text 19"/>
          <p:cNvSpPr txBox="1"/>
          <p:nvPr/>
        </p:nvSpPr>
        <p:spPr>
          <a:xfrm>
            <a:off x="548640" y="2487168"/>
            <a:ext cx="886968" cy="566928"/>
          </a:xfrm>
          <a:prstGeom prst="rect">
            <a:avLst/>
          </a:prstGeom>
          <a:noFill/>
          <a:ln/>
        </p:spPr>
        <p:txBody>
          <a:bodyPr wrap="square" lIns="0" tIns="0" rIns="0" bIns="0" rtlCol="0" anchor="ctr"/>
          <a:lstStyle/>
          <a:p>
            <a:pPr algn="ctr" indent="0" marL="0">
              <a:buNone/>
            </a:pPr>
            <a:r>
              <a:rPr lang="en-US" sz="1800" b="1" dirty="0">
                <a:solidFill>
                  <a:srgbClr val="FFFFFF"/>
                </a:solidFill>
              </a:rPr>
              <a:t>개장</a:t>
            </a:r>
            <a:endParaRPr lang="en-US" sz="1800" dirty="0"/>
          </a:p>
        </p:txBody>
      </p:sp>
      <p:sp>
        <p:nvSpPr>
          <p:cNvPr id="22" name="Shape 20"/>
          <p:cNvSpPr/>
          <p:nvPr/>
        </p:nvSpPr>
        <p:spPr>
          <a:xfrm>
            <a:off x="1636776" y="2487168"/>
            <a:ext cx="886968" cy="566928"/>
          </a:xfrm>
          <a:prstGeom prst="roundRect">
            <a:avLst>
              <a:gd name="adj" fmla="val 19355"/>
            </a:avLst>
          </a:prstGeom>
          <a:solidFill>
            <a:srgbClr val="EAF3F0"/>
          </a:solidFill>
          <a:ln w="12700">
            <a:solidFill>
              <a:srgbClr val="EAF3F0"/>
            </a:solidFill>
            <a:prstDash val="solid"/>
          </a:ln>
        </p:spPr>
      </p:sp>
      <p:sp>
        <p:nvSpPr>
          <p:cNvPr id="23" name="Text 21"/>
          <p:cNvSpPr txBox="1"/>
          <p:nvPr/>
        </p:nvSpPr>
        <p:spPr>
          <a:xfrm>
            <a:off x="1636776" y="2487168"/>
            <a:ext cx="886968" cy="566928"/>
          </a:xfrm>
          <a:prstGeom prst="rect">
            <a:avLst/>
          </a:prstGeom>
          <a:noFill/>
          <a:ln/>
        </p:spPr>
        <p:txBody>
          <a:bodyPr wrap="square" lIns="0" tIns="0" rIns="0" bIns="0" rtlCol="0" anchor="ctr"/>
          <a:lstStyle/>
          <a:p>
            <a:pPr algn="ctr" indent="0" marL="0">
              <a:buNone/>
            </a:pPr>
            <a:r>
              <a:rPr lang="en-US" sz="1800" dirty="0">
                <a:solidFill>
                  <a:srgbClr val="1F4E4A"/>
                </a:solidFill>
              </a:rPr>
              <a:t>산분</a:t>
            </a:r>
            <a:endParaRPr lang="en-US" sz="1800" dirty="0"/>
          </a:p>
        </p:txBody>
      </p:sp>
      <p:sp>
        <p:nvSpPr>
          <p:cNvPr id="24" name="Shape 22"/>
          <p:cNvSpPr/>
          <p:nvPr/>
        </p:nvSpPr>
        <p:spPr>
          <a:xfrm>
            <a:off x="2724912" y="2487168"/>
            <a:ext cx="1101852" cy="566928"/>
          </a:xfrm>
          <a:prstGeom prst="roundRect">
            <a:avLst>
              <a:gd name="adj" fmla="val 19355"/>
            </a:avLst>
          </a:prstGeom>
          <a:solidFill>
            <a:srgbClr val="EAF3F0"/>
          </a:solidFill>
          <a:ln w="12700">
            <a:solidFill>
              <a:srgbClr val="EAF3F0"/>
            </a:solidFill>
            <a:prstDash val="solid"/>
          </a:ln>
        </p:spPr>
      </p:sp>
      <p:sp>
        <p:nvSpPr>
          <p:cNvPr id="25" name="Text 23"/>
          <p:cNvSpPr txBox="1"/>
          <p:nvPr/>
        </p:nvSpPr>
        <p:spPr>
          <a:xfrm>
            <a:off x="2724912" y="2487168"/>
            <a:ext cx="1101852" cy="566928"/>
          </a:xfrm>
          <a:prstGeom prst="rect">
            <a:avLst/>
          </a:prstGeom>
          <a:noFill/>
          <a:ln/>
        </p:spPr>
        <p:txBody>
          <a:bodyPr wrap="square" lIns="0" tIns="0" rIns="0" bIns="0" rtlCol="0" anchor="ctr"/>
          <a:lstStyle/>
          <a:p>
            <a:pPr algn="ctr" indent="0" marL="0">
              <a:buNone/>
            </a:pPr>
            <a:r>
              <a:rPr lang="en-US" sz="1800" dirty="0">
                <a:solidFill>
                  <a:srgbClr val="1F4E4A"/>
                </a:solidFill>
              </a:rPr>
              <a:t>화장률</a:t>
            </a:r>
            <a:endParaRPr lang="en-US" sz="1800" dirty="0"/>
          </a:p>
        </p:txBody>
      </p:sp>
      <p:sp>
        <p:nvSpPr>
          <p:cNvPr id="26" name="Shape 24"/>
          <p:cNvSpPr/>
          <p:nvPr/>
        </p:nvSpPr>
        <p:spPr>
          <a:xfrm>
            <a:off x="4027932" y="2487168"/>
            <a:ext cx="1316736" cy="566928"/>
          </a:xfrm>
          <a:prstGeom prst="roundRect">
            <a:avLst>
              <a:gd name="adj" fmla="val 19355"/>
            </a:avLst>
          </a:prstGeom>
          <a:solidFill>
            <a:srgbClr val="2E7D6B"/>
          </a:solidFill>
          <a:ln w="12700">
            <a:solidFill>
              <a:srgbClr val="2E7D6B"/>
            </a:solidFill>
            <a:prstDash val="solid"/>
          </a:ln>
        </p:spPr>
      </p:sp>
      <p:sp>
        <p:nvSpPr>
          <p:cNvPr id="27" name="Text 25"/>
          <p:cNvSpPr txBox="1"/>
          <p:nvPr/>
        </p:nvSpPr>
        <p:spPr>
          <a:xfrm>
            <a:off x="4027932" y="2487168"/>
            <a:ext cx="1316736" cy="566928"/>
          </a:xfrm>
          <a:prstGeom prst="rect">
            <a:avLst/>
          </a:prstGeom>
          <a:noFill/>
          <a:ln/>
        </p:spPr>
        <p:txBody>
          <a:bodyPr wrap="square" lIns="0" tIns="0" rIns="0" bIns="0" rtlCol="0" anchor="ctr"/>
          <a:lstStyle/>
          <a:p>
            <a:pPr algn="ctr" indent="0" marL="0">
              <a:buNone/>
            </a:pPr>
            <a:r>
              <a:rPr lang="en-US" sz="1800" b="1" dirty="0">
                <a:solidFill>
                  <a:srgbClr val="FFFFFF"/>
                </a:solidFill>
              </a:rPr>
              <a:t>공영장례</a:t>
            </a:r>
            <a:endParaRPr lang="en-US" sz="1800" dirty="0"/>
          </a:p>
        </p:txBody>
      </p:sp>
      <p:sp>
        <p:nvSpPr>
          <p:cNvPr id="28" name="Shape 26"/>
          <p:cNvSpPr/>
          <p:nvPr/>
        </p:nvSpPr>
        <p:spPr>
          <a:xfrm>
            <a:off x="5545836" y="2487168"/>
            <a:ext cx="1650492" cy="566928"/>
          </a:xfrm>
          <a:prstGeom prst="roundRect">
            <a:avLst>
              <a:gd name="adj" fmla="val 19355"/>
            </a:avLst>
          </a:prstGeom>
          <a:solidFill>
            <a:srgbClr val="EAF3F0"/>
          </a:solidFill>
          <a:ln w="12700">
            <a:solidFill>
              <a:srgbClr val="EAF3F0"/>
            </a:solidFill>
            <a:prstDash val="solid"/>
          </a:ln>
        </p:spPr>
      </p:sp>
      <p:sp>
        <p:nvSpPr>
          <p:cNvPr id="29" name="Text 27"/>
          <p:cNvSpPr txBox="1"/>
          <p:nvPr/>
        </p:nvSpPr>
        <p:spPr>
          <a:xfrm>
            <a:off x="5545836" y="2487168"/>
            <a:ext cx="1650492" cy="566928"/>
          </a:xfrm>
          <a:prstGeom prst="rect">
            <a:avLst/>
          </a:prstGeom>
          <a:noFill/>
          <a:ln/>
        </p:spPr>
        <p:txBody>
          <a:bodyPr wrap="square" lIns="0" tIns="0" rIns="0" bIns="0" rtlCol="0" anchor="ctr"/>
          <a:lstStyle/>
          <a:p>
            <a:pPr algn="ctr" indent="0" marL="0">
              <a:buNone/>
            </a:pPr>
            <a:r>
              <a:rPr lang="en-US" sz="1800" dirty="0">
                <a:solidFill>
                  <a:srgbClr val="1F4E4A"/>
                </a:solidFill>
              </a:rPr>
              <a:t>무연고 시신</a:t>
            </a:r>
            <a:endParaRPr lang="en-US" sz="1800" dirty="0"/>
          </a:p>
        </p:txBody>
      </p:sp>
      <p:sp>
        <p:nvSpPr>
          <p:cNvPr id="30" name="Shape 28"/>
          <p:cNvSpPr/>
          <p:nvPr/>
        </p:nvSpPr>
        <p:spPr>
          <a:xfrm>
            <a:off x="7397496" y="2487168"/>
            <a:ext cx="1316736" cy="566928"/>
          </a:xfrm>
          <a:prstGeom prst="roundRect">
            <a:avLst>
              <a:gd name="adj" fmla="val 19355"/>
            </a:avLst>
          </a:prstGeom>
          <a:solidFill>
            <a:srgbClr val="EAF3F0"/>
          </a:solidFill>
          <a:ln w="12700">
            <a:solidFill>
              <a:srgbClr val="EAF3F0"/>
            </a:solidFill>
            <a:prstDash val="solid"/>
          </a:ln>
        </p:spPr>
      </p:sp>
      <p:sp>
        <p:nvSpPr>
          <p:cNvPr id="31" name="Text 29"/>
          <p:cNvSpPr txBox="1"/>
          <p:nvPr/>
        </p:nvSpPr>
        <p:spPr>
          <a:xfrm>
            <a:off x="7397496" y="2487168"/>
            <a:ext cx="1316736" cy="566928"/>
          </a:xfrm>
          <a:prstGeom prst="rect">
            <a:avLst/>
          </a:prstGeom>
          <a:noFill/>
          <a:ln/>
        </p:spPr>
        <p:txBody>
          <a:bodyPr wrap="square" lIns="0" tIns="0" rIns="0" bIns="0" rtlCol="0" anchor="ctr"/>
          <a:lstStyle/>
          <a:p>
            <a:pPr algn="ctr" indent="0" marL="0">
              <a:buNone/>
            </a:pPr>
            <a:r>
              <a:rPr lang="en-US" sz="1800" dirty="0">
                <a:solidFill>
                  <a:srgbClr val="1F4E4A"/>
                </a:solidFill>
              </a:rPr>
              <a:t>장례식장</a:t>
            </a:r>
            <a:endParaRPr lang="en-US" sz="1800" dirty="0"/>
          </a:p>
        </p:txBody>
      </p:sp>
      <p:sp>
        <p:nvSpPr>
          <p:cNvPr id="32" name="Shape 30"/>
          <p:cNvSpPr/>
          <p:nvPr/>
        </p:nvSpPr>
        <p:spPr>
          <a:xfrm>
            <a:off x="8915400" y="2487168"/>
            <a:ext cx="1005840" cy="566928"/>
          </a:xfrm>
          <a:prstGeom prst="roundRect">
            <a:avLst>
              <a:gd name="adj" fmla="val 19355"/>
            </a:avLst>
          </a:prstGeom>
          <a:solidFill>
            <a:srgbClr val="2E7D6B"/>
          </a:solidFill>
          <a:ln w="12700">
            <a:solidFill>
              <a:srgbClr val="2E7D6B"/>
            </a:solidFill>
            <a:prstDash val="solid"/>
          </a:ln>
        </p:spPr>
      </p:sp>
      <p:sp>
        <p:nvSpPr>
          <p:cNvPr id="33" name="Text 31"/>
          <p:cNvSpPr txBox="1"/>
          <p:nvPr/>
        </p:nvSpPr>
        <p:spPr>
          <a:xfrm>
            <a:off x="8915400" y="2487168"/>
            <a:ext cx="1005840" cy="566928"/>
          </a:xfrm>
          <a:prstGeom prst="rect">
            <a:avLst/>
          </a:prstGeom>
          <a:noFill/>
          <a:ln/>
        </p:spPr>
        <p:txBody>
          <a:bodyPr wrap="square" lIns="0" tIns="0" rIns="0" bIns="0" rtlCol="0" anchor="ctr"/>
          <a:lstStyle/>
          <a:p>
            <a:pPr algn="ctr" indent="0" marL="0">
              <a:buNone/>
            </a:pPr>
            <a:r>
              <a:rPr lang="en-US" sz="1800" b="1" dirty="0">
                <a:solidFill>
                  <a:srgbClr val="FFFFFF"/>
                </a:solidFill>
              </a:rPr>
              <a:t>e하늘</a:t>
            </a:r>
            <a:endParaRPr lang="en-US" sz="1800" dirty="0"/>
          </a:p>
        </p:txBody>
      </p:sp>
      <p:sp>
        <p:nvSpPr>
          <p:cNvPr id="34" name="Shape 32"/>
          <p:cNvSpPr/>
          <p:nvPr/>
        </p:nvSpPr>
        <p:spPr>
          <a:xfrm>
            <a:off x="10122408" y="2487168"/>
            <a:ext cx="1316736" cy="566928"/>
          </a:xfrm>
          <a:prstGeom prst="roundRect">
            <a:avLst>
              <a:gd name="adj" fmla="val 19355"/>
            </a:avLst>
          </a:prstGeom>
          <a:solidFill>
            <a:srgbClr val="EAF3F0"/>
          </a:solidFill>
          <a:ln w="12700">
            <a:solidFill>
              <a:srgbClr val="EAF3F0"/>
            </a:solidFill>
            <a:prstDash val="solid"/>
          </a:ln>
        </p:spPr>
      </p:sp>
      <p:sp>
        <p:nvSpPr>
          <p:cNvPr id="35" name="Text 33"/>
          <p:cNvSpPr txBox="1"/>
          <p:nvPr/>
        </p:nvSpPr>
        <p:spPr>
          <a:xfrm>
            <a:off x="10122408" y="2487168"/>
            <a:ext cx="1316736" cy="566928"/>
          </a:xfrm>
          <a:prstGeom prst="rect">
            <a:avLst/>
          </a:prstGeom>
          <a:noFill/>
          <a:ln/>
        </p:spPr>
        <p:txBody>
          <a:bodyPr wrap="square" lIns="0" tIns="0" rIns="0" bIns="0" rtlCol="0" anchor="ctr"/>
          <a:lstStyle/>
          <a:p>
            <a:pPr algn="ctr" indent="0" marL="0">
              <a:buNone/>
            </a:pPr>
            <a:r>
              <a:rPr lang="en-US" sz="1800" dirty="0">
                <a:solidFill>
                  <a:srgbClr val="1F4E4A"/>
                </a:solidFill>
              </a:rPr>
              <a:t>장례비용</a:t>
            </a:r>
            <a:endParaRPr lang="en-US" sz="1800" dirty="0"/>
          </a:p>
        </p:txBody>
      </p:sp>
      <p:sp>
        <p:nvSpPr>
          <p:cNvPr id="36" name="Shape 34"/>
          <p:cNvSpPr/>
          <p:nvPr/>
        </p:nvSpPr>
        <p:spPr>
          <a:xfrm>
            <a:off x="548640" y="3282696"/>
            <a:ext cx="1101852" cy="566928"/>
          </a:xfrm>
          <a:prstGeom prst="roundRect">
            <a:avLst>
              <a:gd name="adj" fmla="val 19355"/>
            </a:avLst>
          </a:prstGeom>
          <a:solidFill>
            <a:srgbClr val="EAF3F0"/>
          </a:solidFill>
          <a:ln w="12700">
            <a:solidFill>
              <a:srgbClr val="EAF3F0"/>
            </a:solidFill>
            <a:prstDash val="solid"/>
          </a:ln>
        </p:spPr>
      </p:sp>
      <p:sp>
        <p:nvSpPr>
          <p:cNvPr id="37" name="Text 35"/>
          <p:cNvSpPr txBox="1"/>
          <p:nvPr/>
        </p:nvSpPr>
        <p:spPr>
          <a:xfrm>
            <a:off x="548640" y="3282696"/>
            <a:ext cx="1101852" cy="566928"/>
          </a:xfrm>
          <a:prstGeom prst="rect">
            <a:avLst/>
          </a:prstGeom>
          <a:noFill/>
          <a:ln/>
        </p:spPr>
        <p:txBody>
          <a:bodyPr wrap="square" lIns="0" tIns="0" rIns="0" bIns="0" rtlCol="0" anchor="ctr"/>
          <a:lstStyle/>
          <a:p>
            <a:pPr algn="ctr" indent="0" marL="0">
              <a:buNone/>
            </a:pPr>
            <a:r>
              <a:rPr lang="en-US" sz="1800" dirty="0">
                <a:solidFill>
                  <a:srgbClr val="1F4E4A"/>
                </a:solidFill>
              </a:rPr>
              <a:t>가족장</a:t>
            </a:r>
            <a:endParaRPr lang="en-US" sz="1800" dirty="0"/>
          </a:p>
        </p:txBody>
      </p:sp>
      <p:sp>
        <p:nvSpPr>
          <p:cNvPr id="38" name="Shape 36"/>
          <p:cNvSpPr/>
          <p:nvPr/>
        </p:nvSpPr>
        <p:spPr>
          <a:xfrm>
            <a:off x="1851660" y="3282696"/>
            <a:ext cx="1650492" cy="566928"/>
          </a:xfrm>
          <a:prstGeom prst="roundRect">
            <a:avLst>
              <a:gd name="adj" fmla="val 19355"/>
            </a:avLst>
          </a:prstGeom>
          <a:solidFill>
            <a:srgbClr val="EAF3F0"/>
          </a:solidFill>
          <a:ln w="12700">
            <a:solidFill>
              <a:srgbClr val="EAF3F0"/>
            </a:solidFill>
            <a:prstDash val="solid"/>
          </a:ln>
        </p:spPr>
      </p:sp>
      <p:sp>
        <p:nvSpPr>
          <p:cNvPr id="39" name="Text 37"/>
          <p:cNvSpPr txBox="1"/>
          <p:nvPr/>
        </p:nvSpPr>
        <p:spPr>
          <a:xfrm>
            <a:off x="1851660" y="3282696"/>
            <a:ext cx="1650492" cy="566928"/>
          </a:xfrm>
          <a:prstGeom prst="rect">
            <a:avLst/>
          </a:prstGeom>
          <a:noFill/>
          <a:ln/>
        </p:spPr>
        <p:txBody>
          <a:bodyPr wrap="square" lIns="0" tIns="0" rIns="0" bIns="0" rtlCol="0" anchor="ctr"/>
          <a:lstStyle/>
          <a:p>
            <a:pPr algn="ctr" indent="0" marL="0">
              <a:buNone/>
            </a:pPr>
            <a:r>
              <a:rPr lang="en-US" sz="1800" dirty="0">
                <a:solidFill>
                  <a:srgbClr val="1F4E4A"/>
                </a:solidFill>
              </a:rPr>
              <a:t>소규모 장례</a:t>
            </a:r>
            <a:endParaRPr lang="en-US" sz="1800" dirty="0"/>
          </a:p>
        </p:txBody>
      </p:sp>
      <p:sp>
        <p:nvSpPr>
          <p:cNvPr id="40" name="Shape 38"/>
          <p:cNvSpPr/>
          <p:nvPr/>
        </p:nvSpPr>
        <p:spPr>
          <a:xfrm>
            <a:off x="548640" y="5303520"/>
            <a:ext cx="11094415" cy="868680"/>
          </a:xfrm>
          <a:prstGeom prst="roundRect">
            <a:avLst>
              <a:gd name="adj" fmla="val 12632"/>
            </a:avLst>
          </a:prstGeom>
          <a:solidFill>
            <a:srgbClr val="E8EFF8"/>
          </a:solidFill>
          <a:ln w="12700">
            <a:solidFill>
              <a:srgbClr val="E8EFF8"/>
            </a:solidFill>
            <a:prstDash val="solid"/>
          </a:ln>
        </p:spPr>
      </p:sp>
      <p:sp>
        <p:nvSpPr>
          <p:cNvPr id="41" name="Shape 39"/>
          <p:cNvSpPr/>
          <p:nvPr/>
        </p:nvSpPr>
        <p:spPr>
          <a:xfrm>
            <a:off x="777240" y="5509260"/>
            <a:ext cx="457200" cy="457200"/>
          </a:xfrm>
          <a:prstGeom prst="ellipse">
            <a:avLst/>
          </a:prstGeom>
          <a:solidFill>
            <a:srgbClr val="3A6EA5"/>
          </a:solidFill>
          <a:ln w="12700">
            <a:solidFill>
              <a:srgbClr val="3A6EA5"/>
            </a:solidFill>
            <a:prstDash val="solid"/>
          </a:ln>
        </p:spPr>
      </p:sp>
      <p:pic>
        <p:nvPicPr>
          <p:cNvPr id="42" name="Image 0" descr="preencoded.png">    </p:cNvPr>
          <p:cNvPicPr>
            <a:picLocks noChangeAspect="1"/>
          </p:cNvPicPr>
          <p:nvPr/>
        </p:nvPicPr>
        <p:blipFill>
          <a:blip r:embed="rId1"/>
          <a:stretch>
            <a:fillRect/>
          </a:stretch>
        </p:blipFill>
        <p:spPr>
          <a:xfrm>
            <a:off x="896112" y="5628132"/>
            <a:ext cx="219456" cy="219456"/>
          </a:xfrm>
          <a:prstGeom prst="rect">
            <a:avLst/>
          </a:prstGeom>
        </p:spPr>
      </p:pic>
      <p:sp>
        <p:nvSpPr>
          <p:cNvPr id="43" name="Text 40"/>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3A6EA5"/>
                </a:solidFill>
              </a:rPr>
              <a:t>시험 포인트   </a:t>
            </a:r>
            <a:pPr indent="0" marL="0">
              <a:buNone/>
            </a:pPr>
            <a:r>
              <a:rPr lang="en-US" sz="1800" dirty="0">
                <a:solidFill>
                  <a:srgbClr val="222222"/>
                </a:solidFill>
              </a:rPr>
              <a:t>법정 용어 5가지, 24시간 원칙, 해양 산분 5km 기준, 무연고 시신 처리 원칙이 자주 나옵니다.</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1737360"/>
            <a:ext cx="5486400" cy="548640"/>
          </a:xfrm>
          <a:prstGeom prst="rect">
            <a:avLst/>
          </a:prstGeom>
          <a:noFill/>
          <a:ln/>
        </p:spPr>
        <p:txBody>
          <a:bodyPr wrap="square" lIns="0" tIns="0" rIns="0" bIns="0" rtlCol="0" anchor="t"/>
          <a:lstStyle/>
          <a:p>
            <a:pPr indent="0" marL="0">
              <a:buNone/>
            </a:pPr>
            <a:r>
              <a:rPr lang="en-US" sz="2200" b="1" dirty="0">
                <a:solidFill>
                  <a:srgbClr val="8FB9A8"/>
                </a:solidFill>
              </a:rPr>
              <a:t>1교시</a:t>
            </a:r>
            <a:endParaRPr lang="en-US" sz="2200" dirty="0"/>
          </a:p>
        </p:txBody>
      </p:sp>
      <p:sp>
        <p:nvSpPr>
          <p:cNvPr id="3" name="Text 0"/>
          <p:cNvSpPr/>
          <p:nvPr>
            <p:ph idx="100" type="title" hasCustomPrompt="1"/>
          </p:nvPr>
        </p:nvSpPr>
        <p:spPr>
          <a:xfrm>
            <a:off x="548640" y="2651760"/>
            <a:ext cx="11094415" cy="1005840"/>
          </a:xfrm>
          <a:prstGeom prst="rect">
            <a:avLst/>
          </a:prstGeom>
          <a:noFill/>
          <a:ln/>
        </p:spPr>
        <p:txBody>
          <a:bodyPr wrap="square" lIns="0" tIns="0" rIns="0" bIns="0" rtlCol="0" anchor="t"/>
          <a:lstStyle/>
          <a:p>
            <a:pPr algn="l" indent="0" marL="0">
              <a:buNone/>
            </a:pPr>
            <a:r>
              <a:rPr lang="en-US" sz="4000" b="1" dirty="0">
                <a:solidFill>
                  <a:srgbClr val="FFFFFF"/>
                </a:solidFill>
              </a:rPr>
              <a:t>장사법의 언어와 장례의 흐름</a:t>
            </a:r>
            <a:endParaRPr lang="en-US" sz="4000" dirty="0"/>
          </a:p>
        </p:txBody>
      </p:sp>
      <p:sp>
        <p:nvSpPr>
          <p:cNvPr id="4" name="Text 2"/>
          <p:cNvSpPr txBox="1"/>
          <p:nvPr/>
        </p:nvSpPr>
        <p:spPr>
          <a:xfrm>
            <a:off x="548640" y="3749040"/>
            <a:ext cx="11094415" cy="548640"/>
          </a:xfrm>
          <a:prstGeom prst="rect">
            <a:avLst/>
          </a:prstGeom>
          <a:noFill/>
          <a:ln/>
        </p:spPr>
        <p:txBody>
          <a:bodyPr wrap="square" lIns="0" tIns="0" rIns="0" bIns="0" rtlCol="0" anchor="t"/>
          <a:lstStyle/>
          <a:p>
            <a:pPr indent="0" marL="0">
              <a:buNone/>
            </a:pPr>
            <a:r>
              <a:rPr lang="en-US" sz="2000" dirty="0">
                <a:solidFill>
                  <a:srgbClr val="CFE3DC"/>
                </a:solidFill>
              </a:rPr>
              <a:t>관행이 아니라, 정확한 용어와 절차로</a:t>
            </a:r>
            <a:endParaRPr lang="en-US" sz="2000" dirty="0"/>
          </a:p>
        </p:txBody>
      </p:sp>
      <p:sp>
        <p:nvSpPr>
          <p:cNvPr id="5" name="Text 3"/>
          <p:cNvSpPr txBox="1"/>
          <p:nvPr/>
        </p:nvSpPr>
        <p:spPr>
          <a:xfrm>
            <a:off x="548640" y="4480560"/>
            <a:ext cx="11094415" cy="1645920"/>
          </a:xfrm>
          <a:prstGeom prst="rect">
            <a:avLst/>
          </a:prstGeom>
          <a:noFill/>
          <a:ln/>
        </p:spPr>
        <p:txBody>
          <a:bodyPr wrap="square" lIns="0" tIns="0" rIns="0" bIns="0" rtlCol="0" anchor="t"/>
          <a:lstStyle/>
          <a:p>
            <a:pPr marL="342900" indent="-342900">
              <a:spcAft>
                <a:spcPts val="600"/>
              </a:spcAft>
              <a:buSzPct val="100000"/>
              <a:buChar char="•"/>
            </a:pPr>
            <a:r>
              <a:rPr lang="en-US" sz="1900" dirty="0">
                <a:solidFill>
                  <a:srgbClr val="FFFFFF"/>
                </a:solidFill>
              </a:rPr>
              <a:t>장례와 장묘는 왜 빠르게 변하는가</a:t>
            </a:r>
            <a:endParaRPr lang="en-US" sz="1900" dirty="0"/>
          </a:p>
          <a:p>
            <a:pPr marL="342900" indent="-342900">
              <a:spcAft>
                <a:spcPts val="600"/>
              </a:spcAft>
              <a:buSzPct val="100000"/>
              <a:buChar char="•"/>
            </a:pPr>
            <a:r>
              <a:rPr lang="en-US" sz="1900" dirty="0">
                <a:solidFill>
                  <a:srgbClr val="FFFFFF"/>
                </a:solidFill>
              </a:rPr>
              <a:t>장사법의 기본 용어와 “산분장”의 교정</a:t>
            </a:r>
            <a:endParaRPr lang="en-US" sz="1900" dirty="0"/>
          </a:p>
          <a:p>
            <a:pPr marL="342900" indent="-342900">
              <a:spcAft>
                <a:spcPts val="600"/>
              </a:spcAft>
              <a:buSzPct val="100000"/>
              <a:buChar char="•"/>
            </a:pPr>
            <a:r>
              <a:rPr lang="en-US" sz="1900" dirty="0">
                <a:solidFill>
                  <a:srgbClr val="FFFFFF"/>
                </a:solidFill>
              </a:rPr>
              <a:t>사망 이후 장례의 7단계 · 매장과 화장</a:t>
            </a:r>
            <a:endParaRPr lang="en-US" sz="19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1절 왜 빠르게 변하는가</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장례는 사회를 비추는 거울</a:t>
            </a:r>
            <a:endParaRPr lang="en-US" sz="2800" dirty="0"/>
          </a:p>
        </p:txBody>
      </p:sp>
      <p:sp>
        <p:nvSpPr>
          <p:cNvPr id="4" name="Shape 2"/>
          <p:cNvSpPr/>
          <p:nvPr/>
        </p:nvSpPr>
        <p:spPr>
          <a:xfrm>
            <a:off x="548640" y="1554480"/>
            <a:ext cx="2567864" cy="3520440"/>
          </a:xfrm>
          <a:prstGeom prst="roundRect">
            <a:avLst>
              <a:gd name="adj" fmla="val 4273"/>
            </a:avLst>
          </a:prstGeom>
          <a:solidFill>
            <a:srgbClr val="EAF3F0"/>
          </a:solidFill>
          <a:ln w="12700">
            <a:solidFill>
              <a:srgbClr val="EAF3F0"/>
            </a:solidFill>
            <a:prstDash val="solid"/>
          </a:ln>
        </p:spPr>
      </p:sp>
      <p:sp>
        <p:nvSpPr>
          <p:cNvPr id="5" name="Shape 3"/>
          <p:cNvSpPr/>
          <p:nvPr/>
        </p:nvSpPr>
        <p:spPr>
          <a:xfrm>
            <a:off x="777240" y="1783080"/>
            <a:ext cx="548640" cy="548640"/>
          </a:xfrm>
          <a:prstGeom prst="ellipse">
            <a:avLst/>
          </a:prstGeom>
          <a:solidFill>
            <a:srgbClr val="2E7D6B"/>
          </a:solidFill>
          <a:ln w="12700">
            <a:solidFill>
              <a:srgbClr val="2E7D6B"/>
            </a:solidFill>
            <a:prstDash val="solid"/>
          </a:ln>
        </p:spPr>
      </p:sp>
      <p:pic>
        <p:nvPicPr>
          <p:cNvPr id="6" name="Image 0" descr="preencoded.png">    </p:cNvPr>
          <p:cNvPicPr>
            <a:picLocks noChangeAspect="1"/>
          </p:cNvPicPr>
          <p:nvPr/>
        </p:nvPicPr>
        <p:blipFill>
          <a:blip r:embed="rId1"/>
          <a:stretch>
            <a:fillRect/>
          </a:stretch>
        </p:blipFill>
        <p:spPr>
          <a:xfrm>
            <a:off x="919886" y="1925726"/>
            <a:ext cx="263347" cy="263347"/>
          </a:xfrm>
          <a:prstGeom prst="rect">
            <a:avLst/>
          </a:prstGeom>
        </p:spPr>
      </p:pic>
      <p:sp>
        <p:nvSpPr>
          <p:cNvPr id="7" name="Text 4"/>
          <p:cNvSpPr txBox="1"/>
          <p:nvPr/>
        </p:nvSpPr>
        <p:spPr>
          <a:xfrm>
            <a:off x="777240" y="2468880"/>
            <a:ext cx="2110664" cy="2468880"/>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가족과 도시</a:t>
            </a:r>
            <a:endParaRPr lang="en-US" sz="2200" dirty="0"/>
          </a:p>
          <a:p>
            <a:pPr indent="0" marL="0">
              <a:buNone/>
            </a:pPr>
            <a:r>
              <a:rPr lang="en-US" sz="2200" dirty="0">
                <a:solidFill>
                  <a:srgbClr val="222222"/>
                </a:solidFill>
              </a:rPr>
              <a:t>가족 규모 축소와 도시화</a:t>
            </a:r>
            <a:endParaRPr lang="en-US" sz="2200" dirty="0"/>
          </a:p>
        </p:txBody>
      </p:sp>
      <p:sp>
        <p:nvSpPr>
          <p:cNvPr id="8" name="Shape 5"/>
          <p:cNvSpPr/>
          <p:nvPr/>
        </p:nvSpPr>
        <p:spPr>
          <a:xfrm>
            <a:off x="3390824" y="1554480"/>
            <a:ext cx="2567864" cy="3520440"/>
          </a:xfrm>
          <a:prstGeom prst="roundRect">
            <a:avLst>
              <a:gd name="adj" fmla="val 4273"/>
            </a:avLst>
          </a:prstGeom>
          <a:solidFill>
            <a:srgbClr val="EAF3F0"/>
          </a:solidFill>
          <a:ln w="12700">
            <a:solidFill>
              <a:srgbClr val="EAF3F0"/>
            </a:solidFill>
            <a:prstDash val="solid"/>
          </a:ln>
        </p:spPr>
      </p:sp>
      <p:sp>
        <p:nvSpPr>
          <p:cNvPr id="9" name="Shape 6"/>
          <p:cNvSpPr/>
          <p:nvPr/>
        </p:nvSpPr>
        <p:spPr>
          <a:xfrm>
            <a:off x="3619424" y="1783080"/>
            <a:ext cx="548640" cy="548640"/>
          </a:xfrm>
          <a:prstGeom prst="ellipse">
            <a:avLst/>
          </a:prstGeom>
          <a:solidFill>
            <a:srgbClr val="2E7D6B"/>
          </a:solidFill>
          <a:ln w="12700">
            <a:solidFill>
              <a:srgbClr val="2E7D6B"/>
            </a:solidFill>
            <a:prstDash val="solid"/>
          </a:ln>
        </p:spPr>
      </p:sp>
      <p:pic>
        <p:nvPicPr>
          <p:cNvPr id="10" name="Image 1" descr="preencoded.png">    </p:cNvPr>
          <p:cNvPicPr>
            <a:picLocks noChangeAspect="1"/>
          </p:cNvPicPr>
          <p:nvPr/>
        </p:nvPicPr>
        <p:blipFill>
          <a:blip r:embed="rId2"/>
          <a:stretch>
            <a:fillRect/>
          </a:stretch>
        </p:blipFill>
        <p:spPr>
          <a:xfrm>
            <a:off x="3762070" y="1925726"/>
            <a:ext cx="263347" cy="263347"/>
          </a:xfrm>
          <a:prstGeom prst="rect">
            <a:avLst/>
          </a:prstGeom>
        </p:spPr>
      </p:pic>
      <p:sp>
        <p:nvSpPr>
          <p:cNvPr id="11" name="Text 7"/>
          <p:cNvSpPr txBox="1"/>
          <p:nvPr/>
        </p:nvSpPr>
        <p:spPr>
          <a:xfrm>
            <a:off x="3619424" y="2468880"/>
            <a:ext cx="2110664" cy="2468880"/>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화장시설 확충</a:t>
            </a:r>
            <a:endParaRPr lang="en-US" sz="2200" dirty="0"/>
          </a:p>
          <a:p>
            <a:pPr indent="0" marL="0">
              <a:buNone/>
            </a:pPr>
            <a:r>
              <a:rPr lang="en-US" sz="2200" dirty="0">
                <a:solidFill>
                  <a:srgbClr val="222222"/>
                </a:solidFill>
              </a:rPr>
              <a:t>화장이 쉬워졌습니다</a:t>
            </a:r>
            <a:endParaRPr lang="en-US" sz="2200" dirty="0"/>
          </a:p>
        </p:txBody>
      </p:sp>
      <p:sp>
        <p:nvSpPr>
          <p:cNvPr id="12" name="Shape 8"/>
          <p:cNvSpPr/>
          <p:nvPr/>
        </p:nvSpPr>
        <p:spPr>
          <a:xfrm>
            <a:off x="6233008" y="1554480"/>
            <a:ext cx="2567864" cy="3520440"/>
          </a:xfrm>
          <a:prstGeom prst="roundRect">
            <a:avLst>
              <a:gd name="adj" fmla="val 4273"/>
            </a:avLst>
          </a:prstGeom>
          <a:solidFill>
            <a:srgbClr val="EAF3F0"/>
          </a:solidFill>
          <a:ln w="12700">
            <a:solidFill>
              <a:srgbClr val="EAF3F0"/>
            </a:solidFill>
            <a:prstDash val="solid"/>
          </a:ln>
        </p:spPr>
      </p:sp>
      <p:sp>
        <p:nvSpPr>
          <p:cNvPr id="13" name="Shape 9"/>
          <p:cNvSpPr/>
          <p:nvPr/>
        </p:nvSpPr>
        <p:spPr>
          <a:xfrm>
            <a:off x="6461608" y="1783080"/>
            <a:ext cx="548640" cy="548640"/>
          </a:xfrm>
          <a:prstGeom prst="ellipse">
            <a:avLst/>
          </a:prstGeom>
          <a:solidFill>
            <a:srgbClr val="2E7D6B"/>
          </a:solidFill>
          <a:ln w="12700">
            <a:solidFill>
              <a:srgbClr val="2E7D6B"/>
            </a:solidFill>
            <a:prstDash val="solid"/>
          </a:ln>
        </p:spPr>
      </p:sp>
      <p:pic>
        <p:nvPicPr>
          <p:cNvPr id="14" name="Image 2" descr="preencoded.png">    </p:cNvPr>
          <p:cNvPicPr>
            <a:picLocks noChangeAspect="1"/>
          </p:cNvPicPr>
          <p:nvPr/>
        </p:nvPicPr>
        <p:blipFill>
          <a:blip r:embed="rId3"/>
          <a:stretch>
            <a:fillRect/>
          </a:stretch>
        </p:blipFill>
        <p:spPr>
          <a:xfrm>
            <a:off x="6604254" y="1925726"/>
            <a:ext cx="263347" cy="263347"/>
          </a:xfrm>
          <a:prstGeom prst="rect">
            <a:avLst/>
          </a:prstGeom>
        </p:spPr>
      </p:pic>
      <p:sp>
        <p:nvSpPr>
          <p:cNvPr id="15" name="Text 10"/>
          <p:cNvSpPr txBox="1"/>
          <p:nvPr/>
        </p:nvSpPr>
        <p:spPr>
          <a:xfrm>
            <a:off x="6461608" y="2468880"/>
            <a:ext cx="2110664" cy="2468880"/>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묘지 관리 부담</a:t>
            </a:r>
            <a:endParaRPr lang="en-US" sz="2200" dirty="0"/>
          </a:p>
          <a:p>
            <a:pPr indent="0" marL="0">
              <a:buNone/>
            </a:pPr>
            <a:r>
              <a:rPr lang="en-US" sz="2200" dirty="0">
                <a:solidFill>
                  <a:srgbClr val="222222"/>
                </a:solidFill>
              </a:rPr>
              <a:t>누가 오래 돌볼 것인가</a:t>
            </a:r>
            <a:endParaRPr lang="en-US" sz="2200" dirty="0"/>
          </a:p>
        </p:txBody>
      </p:sp>
      <p:sp>
        <p:nvSpPr>
          <p:cNvPr id="16" name="Shape 11"/>
          <p:cNvSpPr/>
          <p:nvPr/>
        </p:nvSpPr>
        <p:spPr>
          <a:xfrm>
            <a:off x="9075191" y="1554480"/>
            <a:ext cx="2567864" cy="3520440"/>
          </a:xfrm>
          <a:prstGeom prst="roundRect">
            <a:avLst>
              <a:gd name="adj" fmla="val 4273"/>
            </a:avLst>
          </a:prstGeom>
          <a:solidFill>
            <a:srgbClr val="EAF3F0"/>
          </a:solidFill>
          <a:ln w="12700">
            <a:solidFill>
              <a:srgbClr val="EAF3F0"/>
            </a:solidFill>
            <a:prstDash val="solid"/>
          </a:ln>
        </p:spPr>
      </p:sp>
      <p:sp>
        <p:nvSpPr>
          <p:cNvPr id="17" name="Shape 12"/>
          <p:cNvSpPr/>
          <p:nvPr/>
        </p:nvSpPr>
        <p:spPr>
          <a:xfrm>
            <a:off x="9303791" y="1783080"/>
            <a:ext cx="548640" cy="548640"/>
          </a:xfrm>
          <a:prstGeom prst="ellipse">
            <a:avLst/>
          </a:prstGeom>
          <a:solidFill>
            <a:srgbClr val="2E7D6B"/>
          </a:solidFill>
          <a:ln w="12700">
            <a:solidFill>
              <a:srgbClr val="2E7D6B"/>
            </a:solidFill>
            <a:prstDash val="solid"/>
          </a:ln>
        </p:spPr>
      </p:sp>
      <p:pic>
        <p:nvPicPr>
          <p:cNvPr id="18" name="Image 3" descr="preencoded.png">    </p:cNvPr>
          <p:cNvPicPr>
            <a:picLocks noChangeAspect="1"/>
          </p:cNvPicPr>
          <p:nvPr/>
        </p:nvPicPr>
        <p:blipFill>
          <a:blip r:embed="rId4"/>
          <a:stretch>
            <a:fillRect/>
          </a:stretch>
        </p:blipFill>
        <p:spPr>
          <a:xfrm>
            <a:off x="9446438" y="1925726"/>
            <a:ext cx="263347" cy="263347"/>
          </a:xfrm>
          <a:prstGeom prst="rect">
            <a:avLst/>
          </a:prstGeom>
        </p:spPr>
      </p:pic>
      <p:sp>
        <p:nvSpPr>
          <p:cNvPr id="19" name="Text 13"/>
          <p:cNvSpPr txBox="1"/>
          <p:nvPr/>
        </p:nvSpPr>
        <p:spPr>
          <a:xfrm>
            <a:off x="9303791" y="2468880"/>
            <a:ext cx="2110664" cy="2468880"/>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환경과 간소화</a:t>
            </a:r>
            <a:endParaRPr lang="en-US" sz="2200" dirty="0"/>
          </a:p>
          <a:p>
            <a:pPr indent="0" marL="0">
              <a:buNone/>
            </a:pPr>
            <a:r>
              <a:rPr lang="en-US" sz="2200" dirty="0">
                <a:solidFill>
                  <a:srgbClr val="222222"/>
                </a:solidFill>
              </a:rPr>
              <a:t>친환경 장사, 간소한 의례</a:t>
            </a:r>
            <a:endParaRPr lang="en-US" sz="2200" dirty="0"/>
          </a:p>
        </p:txBody>
      </p:sp>
      <p:sp>
        <p:nvSpPr>
          <p:cNvPr id="20" name="Shape 14"/>
          <p:cNvSpPr/>
          <p:nvPr/>
        </p:nvSpPr>
        <p:spPr>
          <a:xfrm>
            <a:off x="548640" y="5303520"/>
            <a:ext cx="11094415" cy="868680"/>
          </a:xfrm>
          <a:prstGeom prst="roundRect">
            <a:avLst>
              <a:gd name="adj" fmla="val 12632"/>
            </a:avLst>
          </a:prstGeom>
          <a:solidFill>
            <a:srgbClr val="EAF3F0"/>
          </a:solidFill>
          <a:ln w="12700">
            <a:solidFill>
              <a:srgbClr val="EAF3F0"/>
            </a:solidFill>
            <a:prstDash val="solid"/>
          </a:ln>
        </p:spPr>
      </p:sp>
      <p:sp>
        <p:nvSpPr>
          <p:cNvPr id="21" name="Shape 15"/>
          <p:cNvSpPr/>
          <p:nvPr/>
        </p:nvSpPr>
        <p:spPr>
          <a:xfrm>
            <a:off x="777240" y="5509260"/>
            <a:ext cx="457200" cy="457200"/>
          </a:xfrm>
          <a:prstGeom prst="ellipse">
            <a:avLst/>
          </a:prstGeom>
          <a:solidFill>
            <a:srgbClr val="2E7D6B"/>
          </a:solidFill>
          <a:ln w="12700">
            <a:solidFill>
              <a:srgbClr val="2E7D6B"/>
            </a:solidFill>
            <a:prstDash val="solid"/>
          </a:ln>
        </p:spPr>
      </p:sp>
      <p:pic>
        <p:nvPicPr>
          <p:cNvPr id="22" name="Image 4" descr="preencoded.png">    </p:cNvPr>
          <p:cNvPicPr>
            <a:picLocks noChangeAspect="1"/>
          </p:cNvPicPr>
          <p:nvPr/>
        </p:nvPicPr>
        <p:blipFill>
          <a:blip r:embed="rId5"/>
          <a:stretch>
            <a:fillRect/>
          </a:stretch>
        </p:blipFill>
        <p:spPr>
          <a:xfrm>
            <a:off x="896112" y="5628132"/>
            <a:ext cx="219456" cy="219456"/>
          </a:xfrm>
          <a:prstGeom prst="rect">
            <a:avLst/>
          </a:prstGeom>
        </p:spPr>
      </p:pic>
      <p:sp>
        <p:nvSpPr>
          <p:cNvPr id="23" name="Text 16"/>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2E7D6B"/>
                </a:solidFill>
              </a:rPr>
              <a:t>WLC 관점   </a:t>
            </a:r>
            <a:pPr indent="0" marL="0">
              <a:buNone/>
            </a:pPr>
            <a:r>
              <a:rPr lang="en-US" sz="1800" dirty="0">
                <a:solidFill>
                  <a:srgbClr val="222222"/>
                </a:solidFill>
              </a:rPr>
              <a:t>“전통의 소멸”만이 아니라, 관리할 수 있는 방식·고인의 가치·애도의 필요·환경과 비용을 새롭게 조정하는 과정으로 봅니다.</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1절 질문이 바뀌었다</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“매장이냐 화장이냐”에서 “화장 이후 어떻게”로</a:t>
            </a:r>
            <a:endParaRPr lang="en-US" sz="2800" dirty="0"/>
          </a:p>
        </p:txBody>
      </p:sp>
      <p:sp>
        <p:nvSpPr>
          <p:cNvPr id="4" name="Shape 2"/>
          <p:cNvSpPr/>
          <p:nvPr/>
        </p:nvSpPr>
        <p:spPr>
          <a:xfrm>
            <a:off x="548640" y="1600200"/>
            <a:ext cx="3515258" cy="4069080"/>
          </a:xfrm>
          <a:prstGeom prst="roundRect">
            <a:avLst>
              <a:gd name="adj" fmla="val 3121"/>
            </a:avLst>
          </a:prstGeom>
          <a:solidFill>
            <a:srgbClr val="1F4E4A"/>
          </a:solidFill>
          <a:ln w="12700">
            <a:solidFill>
              <a:srgbClr val="1F4E4A"/>
            </a:solidFill>
            <a:prstDash val="solid"/>
          </a:ln>
        </p:spPr>
      </p:sp>
      <p:sp>
        <p:nvSpPr>
          <p:cNvPr id="5" name="Text 3"/>
          <p:cNvSpPr txBox="1"/>
          <p:nvPr/>
        </p:nvSpPr>
        <p:spPr>
          <a:xfrm>
            <a:off x="731520" y="1874520"/>
            <a:ext cx="3149498" cy="1005840"/>
          </a:xfrm>
          <a:prstGeom prst="rect">
            <a:avLst/>
          </a:prstGeom>
          <a:noFill/>
          <a:ln/>
        </p:spPr>
        <p:txBody>
          <a:bodyPr wrap="square" lIns="0" tIns="0" rIns="0" bIns="0" rtlCol="0" anchor="ctr"/>
          <a:lstStyle/>
          <a:p>
            <a:pPr indent="0" marL="0">
              <a:buNone/>
            </a:pPr>
            <a:r>
              <a:rPr lang="en-US" sz="4400" b="1" dirty="0">
                <a:solidFill>
                  <a:srgbClr val="FFFFFF"/>
                </a:solidFill>
              </a:rPr>
              <a:t>52.6%</a:t>
            </a:r>
            <a:endParaRPr lang="en-US" sz="4400" dirty="0"/>
          </a:p>
        </p:txBody>
      </p:sp>
      <p:sp>
        <p:nvSpPr>
          <p:cNvPr id="6" name="Text 4"/>
          <p:cNvSpPr txBox="1"/>
          <p:nvPr/>
        </p:nvSpPr>
        <p:spPr>
          <a:xfrm>
            <a:off x="731520" y="2926080"/>
            <a:ext cx="3149498" cy="685800"/>
          </a:xfrm>
          <a:prstGeom prst="rect">
            <a:avLst/>
          </a:prstGeom>
          <a:noFill/>
          <a:ln/>
        </p:spPr>
        <p:txBody>
          <a:bodyPr wrap="square" lIns="0" tIns="0" rIns="0" bIns="0" rtlCol="0" anchor="t"/>
          <a:lstStyle/>
          <a:p>
            <a:pPr indent="0" marL="0">
              <a:buNone/>
            </a:pPr>
            <a:r>
              <a:rPr lang="en-US" sz="1800" b="1" dirty="0">
                <a:solidFill>
                  <a:srgbClr val="CFE3DC"/>
                </a:solidFill>
              </a:rPr>
              <a:t>화장률 (2005)</a:t>
            </a:r>
            <a:endParaRPr lang="en-US" sz="1800" dirty="0"/>
          </a:p>
        </p:txBody>
      </p:sp>
      <p:sp>
        <p:nvSpPr>
          <p:cNvPr id="7" name="Text 5"/>
          <p:cNvSpPr txBox="1"/>
          <p:nvPr/>
        </p:nvSpPr>
        <p:spPr>
          <a:xfrm>
            <a:off x="731520" y="3703320"/>
            <a:ext cx="3149498" cy="1828800"/>
          </a:xfrm>
          <a:prstGeom prst="rect">
            <a:avLst/>
          </a:prstGeom>
          <a:noFill/>
          <a:ln/>
        </p:spPr>
        <p:txBody>
          <a:bodyPr wrap="square" lIns="0" tIns="0" rIns="0" bIns="0" rtlCol="0" anchor="t"/>
          <a:lstStyle/>
          <a:p>
            <a:pPr indent="0" marL="0">
              <a:buNone/>
            </a:pPr>
            <a:r>
              <a:rPr lang="en-US" sz="1700" dirty="0">
                <a:solidFill>
                  <a:srgbClr val="FFFFFF"/>
                </a:solidFill>
              </a:rPr>
              <a:t>화장률이 매장률을 처음으로 넘어섰습니다.</a:t>
            </a:r>
            <a:endParaRPr lang="en-US" sz="1700" dirty="0"/>
          </a:p>
        </p:txBody>
      </p:sp>
      <p:sp>
        <p:nvSpPr>
          <p:cNvPr id="8" name="Shape 6"/>
          <p:cNvSpPr/>
          <p:nvPr/>
        </p:nvSpPr>
        <p:spPr>
          <a:xfrm>
            <a:off x="4338218" y="1600200"/>
            <a:ext cx="3515258" cy="4069080"/>
          </a:xfrm>
          <a:prstGeom prst="roundRect">
            <a:avLst>
              <a:gd name="adj" fmla="val 3121"/>
            </a:avLst>
          </a:prstGeom>
          <a:solidFill>
            <a:srgbClr val="EAF3F0"/>
          </a:solidFill>
          <a:ln w="12700">
            <a:solidFill>
              <a:srgbClr val="EAF3F0"/>
            </a:solidFill>
            <a:prstDash val="solid"/>
          </a:ln>
        </p:spPr>
      </p:sp>
      <p:sp>
        <p:nvSpPr>
          <p:cNvPr id="9" name="Text 7"/>
          <p:cNvSpPr txBox="1"/>
          <p:nvPr/>
        </p:nvSpPr>
        <p:spPr>
          <a:xfrm>
            <a:off x="4521098" y="1874520"/>
            <a:ext cx="3149498" cy="1005840"/>
          </a:xfrm>
          <a:prstGeom prst="rect">
            <a:avLst/>
          </a:prstGeom>
          <a:noFill/>
          <a:ln/>
        </p:spPr>
        <p:txBody>
          <a:bodyPr wrap="square" lIns="0" tIns="0" rIns="0" bIns="0" rtlCol="0" anchor="ctr"/>
          <a:lstStyle/>
          <a:p>
            <a:pPr indent="0" marL="0">
              <a:buNone/>
            </a:pPr>
            <a:r>
              <a:rPr lang="en-US" sz="4400" b="1" dirty="0">
                <a:solidFill>
                  <a:srgbClr val="2E7D6B"/>
                </a:solidFill>
              </a:rPr>
              <a:t>92.9%</a:t>
            </a:r>
            <a:endParaRPr lang="en-US" sz="4400" dirty="0"/>
          </a:p>
        </p:txBody>
      </p:sp>
      <p:sp>
        <p:nvSpPr>
          <p:cNvPr id="10" name="Text 8"/>
          <p:cNvSpPr txBox="1"/>
          <p:nvPr/>
        </p:nvSpPr>
        <p:spPr>
          <a:xfrm>
            <a:off x="4521098" y="2926080"/>
            <a:ext cx="3149498" cy="685800"/>
          </a:xfrm>
          <a:prstGeom prst="rect">
            <a:avLst/>
          </a:prstGeom>
          <a:noFill/>
          <a:ln/>
        </p:spPr>
        <p:txBody>
          <a:bodyPr wrap="square" lIns="0" tIns="0" rIns="0" bIns="0" rtlCol="0" anchor="t"/>
          <a:lstStyle/>
          <a:p>
            <a:pPr indent="0" marL="0">
              <a:buNone/>
            </a:pPr>
            <a:r>
              <a:rPr lang="en-US" sz="1800" b="1" dirty="0">
                <a:solidFill>
                  <a:srgbClr val="1F4E4A"/>
                </a:solidFill>
              </a:rPr>
              <a:t>화장률 (2023)</a:t>
            </a:r>
            <a:endParaRPr lang="en-US" sz="1800" dirty="0"/>
          </a:p>
        </p:txBody>
      </p:sp>
      <p:sp>
        <p:nvSpPr>
          <p:cNvPr id="11" name="Text 9"/>
          <p:cNvSpPr txBox="1"/>
          <p:nvPr/>
        </p:nvSpPr>
        <p:spPr>
          <a:xfrm>
            <a:off x="4521098" y="3703320"/>
            <a:ext cx="3149498" cy="1828800"/>
          </a:xfrm>
          <a:prstGeom prst="rect">
            <a:avLst/>
          </a:prstGeom>
          <a:noFill/>
          <a:ln/>
        </p:spPr>
        <p:txBody>
          <a:bodyPr wrap="square" lIns="0" tIns="0" rIns="0" bIns="0" rtlCol="0" anchor="t"/>
          <a:lstStyle/>
          <a:p>
            <a:pPr indent="0" marL="0">
              <a:buNone/>
            </a:pPr>
            <a:r>
              <a:rPr lang="en-US" sz="1700" dirty="0">
                <a:solidFill>
                  <a:srgbClr val="222222"/>
                </a:solidFill>
              </a:rPr>
              <a:t>이제 핵심 질문은 화장 이후의 선택입니다.</a:t>
            </a:r>
            <a:endParaRPr lang="en-US" sz="1700" dirty="0"/>
          </a:p>
        </p:txBody>
      </p:sp>
      <p:sp>
        <p:nvSpPr>
          <p:cNvPr id="12" name="Shape 10"/>
          <p:cNvSpPr/>
          <p:nvPr/>
        </p:nvSpPr>
        <p:spPr>
          <a:xfrm>
            <a:off x="8127797" y="1600200"/>
            <a:ext cx="3515258" cy="4069080"/>
          </a:xfrm>
          <a:prstGeom prst="roundRect">
            <a:avLst>
              <a:gd name="adj" fmla="val 3121"/>
            </a:avLst>
          </a:prstGeom>
          <a:solidFill>
            <a:srgbClr val="EAF3F0"/>
          </a:solidFill>
          <a:ln w="12700">
            <a:solidFill>
              <a:srgbClr val="EAF3F0"/>
            </a:solidFill>
            <a:prstDash val="solid"/>
          </a:ln>
        </p:spPr>
      </p:sp>
      <p:sp>
        <p:nvSpPr>
          <p:cNvPr id="13" name="Text 11"/>
          <p:cNvSpPr txBox="1"/>
          <p:nvPr/>
        </p:nvSpPr>
        <p:spPr>
          <a:xfrm>
            <a:off x="8310677" y="1874520"/>
            <a:ext cx="3149498" cy="1005840"/>
          </a:xfrm>
          <a:prstGeom prst="rect">
            <a:avLst/>
          </a:prstGeom>
          <a:noFill/>
          <a:ln/>
        </p:spPr>
        <p:txBody>
          <a:bodyPr wrap="square" lIns="0" tIns="0" rIns="0" bIns="0" rtlCol="0" anchor="ctr"/>
          <a:lstStyle/>
          <a:p>
            <a:pPr indent="0" marL="0">
              <a:buNone/>
            </a:pPr>
            <a:r>
              <a:rPr lang="en-US" sz="4400" b="1" dirty="0">
                <a:solidFill>
                  <a:srgbClr val="2E7D6B"/>
                </a:solidFill>
              </a:rPr>
              <a:t>?</a:t>
            </a:r>
            <a:endParaRPr lang="en-US" sz="4400" dirty="0"/>
          </a:p>
        </p:txBody>
      </p:sp>
      <p:sp>
        <p:nvSpPr>
          <p:cNvPr id="14" name="Text 12"/>
          <p:cNvSpPr txBox="1"/>
          <p:nvPr/>
        </p:nvSpPr>
        <p:spPr>
          <a:xfrm>
            <a:off x="8310677" y="2926080"/>
            <a:ext cx="3149498" cy="685800"/>
          </a:xfrm>
          <a:prstGeom prst="rect">
            <a:avLst/>
          </a:prstGeom>
          <a:noFill/>
          <a:ln/>
        </p:spPr>
        <p:txBody>
          <a:bodyPr wrap="square" lIns="0" tIns="0" rIns="0" bIns="0" rtlCol="0" anchor="t"/>
          <a:lstStyle/>
          <a:p>
            <a:pPr indent="0" marL="0">
              <a:buNone/>
            </a:pPr>
            <a:r>
              <a:rPr lang="en-US" sz="1800" b="1" dirty="0">
                <a:solidFill>
                  <a:srgbClr val="1F4E4A"/>
                </a:solidFill>
              </a:rPr>
              <a:t>화장 이후</a:t>
            </a:r>
            <a:endParaRPr lang="en-US" sz="1800" dirty="0"/>
          </a:p>
        </p:txBody>
      </p:sp>
      <p:sp>
        <p:nvSpPr>
          <p:cNvPr id="15" name="Text 13"/>
          <p:cNvSpPr txBox="1"/>
          <p:nvPr/>
        </p:nvSpPr>
        <p:spPr>
          <a:xfrm>
            <a:off x="8310677" y="3703320"/>
            <a:ext cx="3149498" cy="1828800"/>
          </a:xfrm>
          <a:prstGeom prst="rect">
            <a:avLst/>
          </a:prstGeom>
          <a:noFill/>
          <a:ln/>
        </p:spPr>
        <p:txBody>
          <a:bodyPr wrap="square" lIns="0" tIns="0" rIns="0" bIns="0" rtlCol="0" anchor="t"/>
          <a:lstStyle/>
          <a:p>
            <a:pPr indent="0" marL="0">
              <a:buNone/>
            </a:pPr>
            <a:r>
              <a:rPr lang="en-US" sz="1700" dirty="0">
                <a:solidFill>
                  <a:srgbClr val="222222"/>
                </a:solidFill>
              </a:rPr>
              <a:t>봉안할까, 자연장할까, 골분을 뿌릴까 — 누가 관리할까?</a:t>
            </a:r>
            <a:endParaRPr lang="en-US" sz="1700" dirty="0"/>
          </a:p>
        </p:txBody>
      </p:sp>
      <p:sp>
        <p:nvSpPr>
          <p:cNvPr id="16" name="Text 14"/>
          <p:cNvSpPr txBox="1"/>
          <p:nvPr/>
        </p:nvSpPr>
        <p:spPr>
          <a:xfrm>
            <a:off x="548640" y="5806440"/>
            <a:ext cx="11094415" cy="365760"/>
          </a:xfrm>
          <a:prstGeom prst="rect">
            <a:avLst/>
          </a:prstGeom>
          <a:noFill/>
          <a:ln/>
        </p:spPr>
        <p:txBody>
          <a:bodyPr wrap="square" lIns="0" tIns="0" rIns="0" bIns="0" rtlCol="0" anchor="ctr"/>
          <a:lstStyle/>
          <a:p>
            <a:pPr indent="0" marL="0">
              <a:buNone/>
            </a:pPr>
            <a:r>
              <a:rPr lang="en-US" sz="1200" dirty="0">
                <a:solidFill>
                  <a:srgbClr val="6B6B6B"/>
                </a:solidFill>
              </a:rPr>
              <a:t>출처: 한국장례문화진흥원 「2025년 장사업무 안내」</a:t>
            </a:r>
            <a:endParaRPr lang="en-US" sz="1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2절 장사법의 기본 언어</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반드시 구분해야 할 다섯 가지 법정 용어</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645920"/>
                <a:gridCol w="4937760"/>
                <a:gridCol w="4480560"/>
              </a:tblGrid>
              <a:tr h="676656">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법정 용어</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기본 의미</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WLC가 구분할 점</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676656">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매장</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시신이나 유골을 땅에 묻어 장사하는 것</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허용된 묘지 외의 구역에 임의로 매장할 수 없다</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676656">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화장</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시신이나 유골을 불에 태워 장사하는 것</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원칙적으로 법정 화장시설에서 이루어진다</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676656">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봉안</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유골을 봉안시설에 안치하는 것</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봉안당·봉안묘·봉안탑·봉안담 등</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676656">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자연장</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골분을 수목·화초·잔디 등 아래·주변에 묻거나, 법이 정한 구역에 뿌려 장사하는 것</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2025년부터 “골분을 뿌리는 방식”도 법정 자연장에 포함</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676656">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개장</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매장한 시신·유골을 다른 분묘·봉안시설로 옮기거나 화장·자연장하는 것</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기존 묘를 정리·이전할 때 절차가 필요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2절 용어 교정</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“산분장”이라고 말할 때</a:t>
            </a:r>
            <a:endParaRPr lang="en-US" sz="2800" dirty="0"/>
          </a:p>
        </p:txBody>
      </p:sp>
      <p:sp>
        <p:nvSpPr>
          <p:cNvPr id="4" name="Shape 2"/>
          <p:cNvSpPr/>
          <p:nvPr/>
        </p:nvSpPr>
        <p:spPr>
          <a:xfrm>
            <a:off x="548640" y="1554480"/>
            <a:ext cx="5364328" cy="4617720"/>
          </a:xfrm>
          <a:prstGeom prst="roundRect">
            <a:avLst>
              <a:gd name="adj" fmla="val 2376"/>
            </a:avLst>
          </a:prstGeom>
          <a:solidFill>
            <a:srgbClr val="FDF1DC"/>
          </a:solidFill>
          <a:ln w="12700">
            <a:solidFill>
              <a:srgbClr val="FDF1DC"/>
            </a:solidFill>
            <a:prstDash val="solid"/>
          </a:ln>
        </p:spPr>
      </p:sp>
      <p:sp>
        <p:nvSpPr>
          <p:cNvPr id="5" name="Shape 3"/>
          <p:cNvSpPr/>
          <p:nvPr/>
        </p:nvSpPr>
        <p:spPr>
          <a:xfrm>
            <a:off x="822960" y="1810512"/>
            <a:ext cx="548640" cy="548640"/>
          </a:xfrm>
          <a:prstGeom prst="ellipse">
            <a:avLst/>
          </a:prstGeom>
          <a:solidFill>
            <a:srgbClr val="D98E04"/>
          </a:solidFill>
          <a:ln w="12700">
            <a:solidFill>
              <a:srgbClr val="D98E04"/>
            </a:solidFill>
            <a:prstDash val="solid"/>
          </a:ln>
        </p:spPr>
      </p:sp>
      <p:pic>
        <p:nvPicPr>
          <p:cNvPr id="6" name="Image 0" descr="preencoded.png">    </p:cNvPr>
          <p:cNvPicPr>
            <a:picLocks noChangeAspect="1"/>
          </p:cNvPicPr>
          <p:nvPr/>
        </p:nvPicPr>
        <p:blipFill>
          <a:blip r:embed="rId1"/>
          <a:stretch>
            <a:fillRect/>
          </a:stretch>
        </p:blipFill>
        <p:spPr>
          <a:xfrm>
            <a:off x="965606" y="1953158"/>
            <a:ext cx="263347" cy="263347"/>
          </a:xfrm>
          <a:prstGeom prst="rect">
            <a:avLst/>
          </a:prstGeom>
        </p:spPr>
      </p:pic>
      <p:sp>
        <p:nvSpPr>
          <p:cNvPr id="7" name="Text 4"/>
          <p:cNvSpPr txBox="1"/>
          <p:nvPr/>
        </p:nvSpPr>
        <p:spPr>
          <a:xfrm>
            <a:off x="1554480" y="1810512"/>
            <a:ext cx="4084168" cy="548640"/>
          </a:xfrm>
          <a:prstGeom prst="rect">
            <a:avLst/>
          </a:prstGeom>
          <a:noFill/>
          <a:ln/>
        </p:spPr>
        <p:txBody>
          <a:bodyPr wrap="square" lIns="0" tIns="0" rIns="0" bIns="0" rtlCol="0" anchor="ctr"/>
          <a:lstStyle/>
          <a:p>
            <a:pPr indent="0" marL="0">
              <a:buNone/>
            </a:pPr>
            <a:r>
              <a:rPr lang="en-US" sz="2200" b="1" dirty="0">
                <a:solidFill>
                  <a:srgbClr val="D98E04"/>
                </a:solidFill>
              </a:rPr>
              <a:t>일상·서비스 표현</a:t>
            </a:r>
            <a:endParaRPr lang="en-US" sz="2200" dirty="0"/>
          </a:p>
        </p:txBody>
      </p:sp>
      <p:sp>
        <p:nvSpPr>
          <p:cNvPr id="8" name="Text 5"/>
          <p:cNvSpPr txBox="1"/>
          <p:nvPr/>
        </p:nvSpPr>
        <p:spPr>
          <a:xfrm>
            <a:off x="822960" y="2560320"/>
            <a:ext cx="4815688" cy="347472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rgbClr val="222222"/>
                </a:solidFill>
              </a:rPr>
              <a:t>“산분장”</a:t>
            </a:r>
            <a:endParaRPr lang="en-US" sz="2200" dirty="0"/>
          </a:p>
          <a:p>
            <a:pPr marL="342900" indent="-342900">
              <a:spcAft>
                <a:spcPts val="1000"/>
              </a:spcAft>
              <a:buSzPct val="100000"/>
              <a:buChar char="•"/>
            </a:pPr>
            <a:r>
              <a:rPr lang="en-US" sz="2200" dirty="0">
                <a:solidFill>
                  <a:srgbClr val="222222"/>
                </a:solidFill>
              </a:rPr>
              <a:t>“바다장”, “해양장”</a:t>
            </a:r>
            <a:endParaRPr lang="en-US" sz="2200" dirty="0"/>
          </a:p>
          <a:p>
            <a:pPr marL="342900" indent="-342900">
              <a:spcAft>
                <a:spcPts val="1000"/>
              </a:spcAft>
              <a:buSzPct val="100000"/>
              <a:buChar char="•"/>
            </a:pPr>
            <a:r>
              <a:rPr lang="en-US" sz="2200" dirty="0">
                <a:solidFill>
                  <a:srgbClr val="222222"/>
                </a:solidFill>
              </a:rPr>
              <a:t>널리 쓰이지만 법정 용어가 아님</a:t>
            </a:r>
            <a:endParaRPr lang="en-US" sz="2200" dirty="0"/>
          </a:p>
        </p:txBody>
      </p:sp>
      <p:sp>
        <p:nvSpPr>
          <p:cNvPr id="9" name="Shape 6"/>
          <p:cNvSpPr/>
          <p:nvPr/>
        </p:nvSpPr>
        <p:spPr>
          <a:xfrm>
            <a:off x="6278728" y="1554480"/>
            <a:ext cx="5364328" cy="4617720"/>
          </a:xfrm>
          <a:prstGeom prst="roundRect">
            <a:avLst>
              <a:gd name="adj" fmla="val 2376"/>
            </a:avLst>
          </a:prstGeom>
          <a:solidFill>
            <a:srgbClr val="EAF3F0"/>
          </a:solidFill>
          <a:ln w="12700">
            <a:solidFill>
              <a:srgbClr val="EAF3F0"/>
            </a:solidFill>
            <a:prstDash val="solid"/>
          </a:ln>
        </p:spPr>
      </p:sp>
      <p:sp>
        <p:nvSpPr>
          <p:cNvPr id="10" name="Shape 7"/>
          <p:cNvSpPr/>
          <p:nvPr/>
        </p:nvSpPr>
        <p:spPr>
          <a:xfrm>
            <a:off x="6553048" y="1810512"/>
            <a:ext cx="548640" cy="548640"/>
          </a:xfrm>
          <a:prstGeom prst="ellipse">
            <a:avLst/>
          </a:prstGeom>
          <a:solidFill>
            <a:srgbClr val="2E7D6B"/>
          </a:solidFill>
          <a:ln w="12700">
            <a:solidFill>
              <a:srgbClr val="2E7D6B"/>
            </a:solidFill>
            <a:prstDash val="solid"/>
          </a:ln>
        </p:spPr>
      </p:sp>
      <p:pic>
        <p:nvPicPr>
          <p:cNvPr id="11" name="Image 1" descr="preencoded.png">    </p:cNvPr>
          <p:cNvPicPr>
            <a:picLocks noChangeAspect="1"/>
          </p:cNvPicPr>
          <p:nvPr/>
        </p:nvPicPr>
        <p:blipFill>
          <a:blip r:embed="rId2"/>
          <a:stretch>
            <a:fillRect/>
          </a:stretch>
        </p:blipFill>
        <p:spPr>
          <a:xfrm>
            <a:off x="6695694" y="1953158"/>
            <a:ext cx="263347" cy="263347"/>
          </a:xfrm>
          <a:prstGeom prst="rect">
            <a:avLst/>
          </a:prstGeom>
        </p:spPr>
      </p:pic>
      <p:sp>
        <p:nvSpPr>
          <p:cNvPr id="12" name="Text 8"/>
          <p:cNvSpPr txBox="1"/>
          <p:nvPr/>
        </p:nvSpPr>
        <p:spPr>
          <a:xfrm>
            <a:off x="7284568" y="1810512"/>
            <a:ext cx="4084168" cy="548640"/>
          </a:xfrm>
          <a:prstGeom prst="rect">
            <a:avLst/>
          </a:prstGeom>
          <a:noFill/>
          <a:ln/>
        </p:spPr>
        <p:txBody>
          <a:bodyPr wrap="square" lIns="0" tIns="0" rIns="0" bIns="0" rtlCol="0" anchor="ctr"/>
          <a:lstStyle/>
          <a:p>
            <a:pPr indent="0" marL="0">
              <a:buNone/>
            </a:pPr>
            <a:r>
              <a:rPr lang="en-US" sz="2200" b="1" dirty="0">
                <a:solidFill>
                  <a:srgbClr val="2E7D6B"/>
                </a:solidFill>
              </a:rPr>
              <a:t>현행 장사법의 구조</a:t>
            </a:r>
            <a:endParaRPr lang="en-US" sz="2200" dirty="0"/>
          </a:p>
        </p:txBody>
      </p:sp>
      <p:sp>
        <p:nvSpPr>
          <p:cNvPr id="13" name="Text 9"/>
          <p:cNvSpPr txBox="1"/>
          <p:nvPr/>
        </p:nvSpPr>
        <p:spPr>
          <a:xfrm>
            <a:off x="6553048" y="2560320"/>
            <a:ext cx="4815688" cy="347472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rgbClr val="222222"/>
                </a:solidFill>
              </a:rPr>
              <a:t>“자연장”의 범위 안에</a:t>
            </a:r>
            <a:endParaRPr lang="en-US" sz="2200" dirty="0"/>
          </a:p>
          <a:p>
            <a:pPr marL="342900" indent="-342900">
              <a:spcAft>
                <a:spcPts val="1000"/>
              </a:spcAft>
              <a:buSzPct val="100000"/>
              <a:buChar char="•"/>
            </a:pPr>
            <a:r>
              <a:rPr lang="en-US" sz="2200" dirty="0">
                <a:solidFill>
                  <a:srgbClr val="222222"/>
                </a:solidFill>
              </a:rPr>
              <a:t>골분을 정해진 구역에 “뿌리는” 방식을 포함</a:t>
            </a:r>
            <a:endParaRPr lang="en-US" sz="2200" dirty="0"/>
          </a:p>
          <a:p>
            <a:pPr marL="342900" indent="-342900">
              <a:spcAft>
                <a:spcPts val="1000"/>
              </a:spcAft>
              <a:buSzPct val="100000"/>
              <a:buChar char="•"/>
            </a:pPr>
            <a:r>
              <a:rPr lang="en-US" sz="2200" dirty="0">
                <a:solidFill>
                  <a:srgbClr val="222222"/>
                </a:solidFill>
              </a:rPr>
              <a:t>교육에서는 통용어와 법정 용어를 함께 설명</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3절 사망 이후 장례의 흐름</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장례의 일곱 단계</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103120"/>
                <a:gridCol w="4572000"/>
                <a:gridCol w="4389120"/>
              </a:tblGrid>
              <a:tr h="512064">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단계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주요 내용</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확인할 점</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512064">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1. 사망 확인</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의료기관 등을 통한 사망 확인과 문서 확보</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사망 장소·상황에 따라 절차가 다름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12064">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2. 장례방식 결정</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장례식장 이용·종교의례·규모·기간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고인의 뜻과 가족의 현실을 함께</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512064">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3. 화장·매장 준비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화장예약 또는 묘지 확인</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공식 시설·신고·예약 절차</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12064">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4. 장례의식</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입관·조문·종교의례·발인</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원하지 않는 관행을 무조건 따를 필요는 없음</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512064">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5. 화장·매장</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법정 시기와 장소에 따라 시행</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사망 후 24시간 경과 원칙</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12064">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6. 봉안·자연장 등</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화장 후 유골 처리 방식 결정</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시설·관리·비용·접근성 비교</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512064">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7. 추모·사후정리</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추모, 행정·재산·유품·디지털 정리</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장례 이후의 애도와 실무가 계속됨</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3절 법적 기본</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법과 관행을 구분한다</a:t>
            </a:r>
            <a:endParaRPr lang="en-US" sz="2800" dirty="0"/>
          </a:p>
        </p:txBody>
      </p:sp>
      <p:sp>
        <p:nvSpPr>
          <p:cNvPr id="4" name="Shape 2"/>
          <p:cNvSpPr/>
          <p:nvPr/>
        </p:nvSpPr>
        <p:spPr>
          <a:xfrm>
            <a:off x="548640" y="1600200"/>
            <a:ext cx="11094415" cy="2011680"/>
          </a:xfrm>
          <a:prstGeom prst="roundRect">
            <a:avLst>
              <a:gd name="adj" fmla="val 5455"/>
            </a:avLst>
          </a:prstGeom>
          <a:solidFill>
            <a:srgbClr val="FDF1DC"/>
          </a:solidFill>
          <a:ln w="12700">
            <a:solidFill>
              <a:srgbClr val="FDF1DC"/>
            </a:solidFill>
            <a:prstDash val="solid"/>
          </a:ln>
        </p:spPr>
      </p:sp>
      <p:sp>
        <p:nvSpPr>
          <p:cNvPr id="5" name="Shape 3"/>
          <p:cNvSpPr/>
          <p:nvPr/>
        </p:nvSpPr>
        <p:spPr>
          <a:xfrm>
            <a:off x="868680" y="1965960"/>
            <a:ext cx="822960" cy="822960"/>
          </a:xfrm>
          <a:prstGeom prst="ellipse">
            <a:avLst/>
          </a:prstGeom>
          <a:solidFill>
            <a:srgbClr val="D98E04"/>
          </a:solidFill>
          <a:ln w="12700">
            <a:solidFill>
              <a:srgbClr val="D98E04"/>
            </a:solidFill>
            <a:prstDash val="solid"/>
          </a:ln>
        </p:spPr>
      </p:sp>
      <p:pic>
        <p:nvPicPr>
          <p:cNvPr id="6" name="Image 0" descr="preencoded.png">    </p:cNvPr>
          <p:cNvPicPr>
            <a:picLocks noChangeAspect="1"/>
          </p:cNvPicPr>
          <p:nvPr/>
        </p:nvPicPr>
        <p:blipFill>
          <a:blip r:embed="rId1"/>
          <a:stretch>
            <a:fillRect/>
          </a:stretch>
        </p:blipFill>
        <p:spPr>
          <a:xfrm>
            <a:off x="1082650" y="2179930"/>
            <a:ext cx="395021" cy="395021"/>
          </a:xfrm>
          <a:prstGeom prst="rect">
            <a:avLst/>
          </a:prstGeom>
        </p:spPr>
      </p:pic>
      <p:sp>
        <p:nvSpPr>
          <p:cNvPr id="7" name="Text 4"/>
          <p:cNvSpPr txBox="1"/>
          <p:nvPr/>
        </p:nvSpPr>
        <p:spPr>
          <a:xfrm>
            <a:off x="1965960" y="1783080"/>
            <a:ext cx="9357055" cy="1645920"/>
          </a:xfrm>
          <a:prstGeom prst="rect">
            <a:avLst/>
          </a:prstGeom>
          <a:noFill/>
          <a:ln/>
        </p:spPr>
        <p:txBody>
          <a:bodyPr wrap="square" lIns="0" tIns="0" rIns="0" bIns="0" rtlCol="0" anchor="ctr"/>
          <a:lstStyle/>
          <a:p>
            <a:pPr indent="0" marL="0">
              <a:buNone/>
            </a:pPr>
            <a:r>
              <a:rPr lang="en-US" sz="2600" b="1" dirty="0">
                <a:solidFill>
                  <a:srgbClr val="1F4E4A"/>
                </a:solidFill>
              </a:rPr>
              <a:t>장사법 제6조: 원칙적으로 사망 또는 사산 후</a:t>
            </a:r>
            <a:endParaRPr lang="en-US" sz="2600" dirty="0"/>
          </a:p>
          <a:p>
            <a:pPr indent="0" marL="0">
              <a:buNone/>
            </a:pPr>
            <a:r>
              <a:rPr lang="en-US" sz="2600" b="1" dirty="0">
                <a:solidFill>
                  <a:srgbClr val="1F4E4A"/>
                </a:solidFill>
              </a:rPr>
              <a:t>24시간이 지나기 전에는 매장·화장을 할 수 없습니다.</a:t>
            </a:r>
            <a:endParaRPr lang="en-US" sz="2600" dirty="0"/>
          </a:p>
          <a:p>
            <a:pPr indent="0" marL="0">
              <a:buNone/>
            </a:pPr>
            <a:r>
              <a:rPr lang="en-US" sz="2600" b="1" dirty="0">
                <a:solidFill>
                  <a:srgbClr val="1F4E4A"/>
                </a:solidFill>
              </a:rPr>
              <a:t>(법령이 정한 예외 있음)</a:t>
            </a:r>
            <a:endParaRPr lang="en-US" sz="2600" dirty="0"/>
          </a:p>
        </p:txBody>
      </p:sp>
      <p:sp>
        <p:nvSpPr>
          <p:cNvPr id="8" name="Shape 5"/>
          <p:cNvSpPr/>
          <p:nvPr/>
        </p:nvSpPr>
        <p:spPr>
          <a:xfrm>
            <a:off x="548640" y="3886200"/>
            <a:ext cx="3515258" cy="2240280"/>
          </a:xfrm>
          <a:prstGeom prst="roundRect">
            <a:avLst>
              <a:gd name="adj" fmla="val 4898"/>
            </a:avLst>
          </a:prstGeom>
          <a:solidFill>
            <a:srgbClr val="F3F4F3"/>
          </a:solidFill>
          <a:ln w="12700">
            <a:solidFill>
              <a:srgbClr val="F3F4F3"/>
            </a:solidFill>
            <a:prstDash val="solid"/>
          </a:ln>
        </p:spPr>
      </p:sp>
      <p:sp>
        <p:nvSpPr>
          <p:cNvPr id="9" name="Text 6"/>
          <p:cNvSpPr txBox="1"/>
          <p:nvPr/>
        </p:nvSpPr>
        <p:spPr>
          <a:xfrm>
            <a:off x="777240" y="4069080"/>
            <a:ext cx="3058058" cy="1920240"/>
          </a:xfrm>
          <a:prstGeom prst="rect">
            <a:avLst/>
          </a:prstGeom>
          <a:noFill/>
          <a:ln/>
        </p:spPr>
        <p:txBody>
          <a:bodyPr wrap="square" lIns="0" tIns="0" rIns="0" bIns="0" rtlCol="0" anchor="t"/>
          <a:lstStyle/>
          <a:p>
            <a:pPr indent="0" marL="0">
              <a:spcAft>
                <a:spcPts val="800"/>
              </a:spcAft>
              <a:buNone/>
            </a:pPr>
            <a:r>
              <a:rPr lang="en-US" sz="2100" b="1" dirty="0">
                <a:solidFill>
                  <a:srgbClr val="D98E04"/>
                </a:solidFill>
              </a:rPr>
              <a:t>“3일장”은 관행</a:t>
            </a:r>
            <a:endParaRPr lang="en-US" sz="2100" dirty="0"/>
          </a:p>
          <a:p>
            <a:pPr indent="0" marL="0">
              <a:buNone/>
            </a:pPr>
            <a:r>
              <a:rPr lang="en-US" sz="2000" dirty="0">
                <a:solidFill>
                  <a:srgbClr val="222222"/>
                </a:solidFill>
              </a:rPr>
              <a:t>“3일장을 해야 한다”는 식으로 관행을 법적 의무처럼 설명하지 않습니다.</a:t>
            </a:r>
            <a:endParaRPr lang="en-US" sz="2100" dirty="0"/>
          </a:p>
        </p:txBody>
      </p:sp>
      <p:sp>
        <p:nvSpPr>
          <p:cNvPr id="10" name="Shape 7"/>
          <p:cNvSpPr/>
          <p:nvPr/>
        </p:nvSpPr>
        <p:spPr>
          <a:xfrm>
            <a:off x="4338218" y="3886200"/>
            <a:ext cx="3515258" cy="2240280"/>
          </a:xfrm>
          <a:prstGeom prst="roundRect">
            <a:avLst>
              <a:gd name="adj" fmla="val 4898"/>
            </a:avLst>
          </a:prstGeom>
          <a:solidFill>
            <a:srgbClr val="F3F4F3"/>
          </a:solidFill>
          <a:ln w="12700">
            <a:solidFill>
              <a:srgbClr val="F3F4F3"/>
            </a:solidFill>
            <a:prstDash val="solid"/>
          </a:ln>
        </p:spPr>
      </p:sp>
      <p:sp>
        <p:nvSpPr>
          <p:cNvPr id="11" name="Text 8"/>
          <p:cNvSpPr txBox="1"/>
          <p:nvPr/>
        </p:nvSpPr>
        <p:spPr>
          <a:xfrm>
            <a:off x="4566818" y="4069080"/>
            <a:ext cx="3058058" cy="1920240"/>
          </a:xfrm>
          <a:prstGeom prst="rect">
            <a:avLst/>
          </a:prstGeom>
          <a:noFill/>
          <a:ln/>
        </p:spPr>
        <p:txBody>
          <a:bodyPr wrap="square" lIns="0" tIns="0" rIns="0" bIns="0" rtlCol="0" anchor="t"/>
          <a:lstStyle/>
          <a:p>
            <a:pPr indent="0" marL="0">
              <a:spcAft>
                <a:spcPts val="800"/>
              </a:spcAft>
              <a:buNone/>
            </a:pPr>
            <a:r>
              <a:rPr lang="en-US" sz="2100" b="1" dirty="0">
                <a:solidFill>
                  <a:srgbClr val="D98E04"/>
                </a:solidFill>
              </a:rPr>
              <a:t>“보통 이렇게 한다”</a:t>
            </a:r>
            <a:endParaRPr lang="en-US" sz="2100" dirty="0"/>
          </a:p>
          <a:p>
            <a:pPr indent="0" marL="0">
              <a:buNone/>
            </a:pPr>
            <a:r>
              <a:rPr lang="en-US" sz="2000" dirty="0">
                <a:solidFill>
                  <a:srgbClr val="222222"/>
                </a:solidFill>
              </a:rPr>
              <a:t>흔한 방식과 법적 의무를 구분합니다.</a:t>
            </a:r>
            <a:endParaRPr lang="en-US" sz="2100" dirty="0"/>
          </a:p>
        </p:txBody>
      </p:sp>
      <p:sp>
        <p:nvSpPr>
          <p:cNvPr id="12" name="Shape 9"/>
          <p:cNvSpPr/>
          <p:nvPr/>
        </p:nvSpPr>
        <p:spPr>
          <a:xfrm>
            <a:off x="8127797" y="3886200"/>
            <a:ext cx="3515258" cy="2240280"/>
          </a:xfrm>
          <a:prstGeom prst="roundRect">
            <a:avLst>
              <a:gd name="adj" fmla="val 4898"/>
            </a:avLst>
          </a:prstGeom>
          <a:solidFill>
            <a:srgbClr val="F3F4F3"/>
          </a:solidFill>
          <a:ln w="12700">
            <a:solidFill>
              <a:srgbClr val="F3F4F3"/>
            </a:solidFill>
            <a:prstDash val="solid"/>
          </a:ln>
        </p:spPr>
      </p:sp>
      <p:sp>
        <p:nvSpPr>
          <p:cNvPr id="13" name="Text 10"/>
          <p:cNvSpPr txBox="1"/>
          <p:nvPr/>
        </p:nvSpPr>
        <p:spPr>
          <a:xfrm>
            <a:off x="8356397" y="4069080"/>
            <a:ext cx="3058058" cy="1920240"/>
          </a:xfrm>
          <a:prstGeom prst="rect">
            <a:avLst/>
          </a:prstGeom>
          <a:noFill/>
          <a:ln/>
        </p:spPr>
        <p:txBody>
          <a:bodyPr wrap="square" lIns="0" tIns="0" rIns="0" bIns="0" rtlCol="0" anchor="t"/>
          <a:lstStyle/>
          <a:p>
            <a:pPr indent="0" marL="0">
              <a:spcAft>
                <a:spcPts val="800"/>
              </a:spcAft>
              <a:buNone/>
            </a:pPr>
            <a:r>
              <a:rPr lang="en-US" sz="2100" b="1" dirty="0">
                <a:solidFill>
                  <a:srgbClr val="D98E04"/>
                </a:solidFill>
              </a:rPr>
              <a:t>최신 확인</a:t>
            </a:r>
            <a:endParaRPr lang="en-US" sz="2100" dirty="0"/>
          </a:p>
          <a:p>
            <a:pPr indent="0" marL="0">
              <a:buNone/>
            </a:pPr>
            <a:r>
              <a:rPr lang="en-US" sz="2000" dirty="0">
                <a:solidFill>
                  <a:srgbClr val="222222"/>
                </a:solidFill>
              </a:rPr>
              <a:t>예외와 세부는 국가법령정보센터에서 확인합니다.</a:t>
            </a:r>
            <a:endParaRPr lang="en-US" sz="21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짝 퀴즈</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이것은 어떤 법정 용어일까?</a:t>
            </a:r>
            <a:endParaRPr lang="en-US" sz="2800" dirty="0"/>
          </a:p>
        </p:txBody>
      </p:sp>
      <p:sp>
        <p:nvSpPr>
          <p:cNvPr id="4" name="Shape 2"/>
          <p:cNvSpPr/>
          <p:nvPr/>
        </p:nvSpPr>
        <p:spPr>
          <a:xfrm>
            <a:off x="548640" y="1554480"/>
            <a:ext cx="7406640" cy="4572000"/>
          </a:xfrm>
          <a:prstGeom prst="roundRect">
            <a:avLst>
              <a:gd name="adj" fmla="val 24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737360"/>
            <a:ext cx="6858000" cy="960120"/>
          </a:xfrm>
          <a:prstGeom prst="rect">
            <a:avLst/>
          </a:prstGeom>
          <a:noFill/>
          <a:ln/>
        </p:spPr>
        <p:txBody>
          <a:bodyPr wrap="square" lIns="0" tIns="0" rIns="0" bIns="0" rtlCol="0" anchor="ctr"/>
          <a:lstStyle/>
          <a:p>
            <a:pPr indent="0" marL="0">
              <a:buNone/>
            </a:pPr>
            <a:r>
              <a:rPr lang="en-US" sz="2400" b="1" dirty="0">
                <a:solidFill>
                  <a:srgbClr val="1F4E4A"/>
                </a:solidFill>
              </a:rPr>
              <a:t>강사가 읽는 상황이 다섯 가지 용어 중 무엇인지 짝과 함께 맞혀 봅니다.</a:t>
            </a:r>
            <a:endParaRPr lang="en-US" sz="2400" dirty="0"/>
          </a:p>
        </p:txBody>
      </p:sp>
      <p:sp>
        <p:nvSpPr>
          <p:cNvPr id="6" name="Shape 4"/>
          <p:cNvSpPr/>
          <p:nvPr/>
        </p:nvSpPr>
        <p:spPr>
          <a:xfrm>
            <a:off x="822960" y="2852928"/>
            <a:ext cx="384048" cy="384048"/>
          </a:xfrm>
          <a:prstGeom prst="ellipse">
            <a:avLst/>
          </a:prstGeom>
          <a:solidFill>
            <a:srgbClr val="2E7D6B"/>
          </a:solidFill>
          <a:ln w="12700">
            <a:solidFill>
              <a:srgbClr val="2E7D6B"/>
            </a:solidFill>
            <a:prstDash val="solid"/>
          </a:ln>
        </p:spPr>
      </p:sp>
      <p:sp>
        <p:nvSpPr>
          <p:cNvPr id="7" name="Text 5"/>
          <p:cNvSpPr txBox="1"/>
          <p:nvPr/>
        </p:nvSpPr>
        <p:spPr>
          <a:xfrm>
            <a:off x="822960" y="2852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6"/>
          <p:cNvSpPr txBox="1"/>
          <p:nvPr/>
        </p:nvSpPr>
        <p:spPr>
          <a:xfrm>
            <a:off x="1371600" y="2834640"/>
            <a:ext cx="6309360" cy="731520"/>
          </a:xfrm>
          <a:prstGeom prst="rect">
            <a:avLst/>
          </a:prstGeom>
          <a:noFill/>
          <a:ln/>
        </p:spPr>
        <p:txBody>
          <a:bodyPr wrap="square" lIns="0" tIns="0" rIns="0" bIns="0" rtlCol="0" anchor="t"/>
          <a:lstStyle/>
          <a:p>
            <a:pPr indent="0" marL="0">
              <a:buNone/>
            </a:pPr>
            <a:r>
              <a:rPr lang="en-US" sz="2100" dirty="0">
                <a:solidFill>
                  <a:srgbClr val="222222"/>
                </a:solidFill>
              </a:rPr>
              <a:t>“아버지 묘를 정리하고 유골을 봉안당으로 옮겼다.”</a:t>
            </a:r>
            <a:endParaRPr lang="en-US" sz="2100" dirty="0"/>
          </a:p>
        </p:txBody>
      </p:sp>
      <p:sp>
        <p:nvSpPr>
          <p:cNvPr id="9" name="Shape 7"/>
          <p:cNvSpPr/>
          <p:nvPr/>
        </p:nvSpPr>
        <p:spPr>
          <a:xfrm>
            <a:off x="822960" y="3630168"/>
            <a:ext cx="384048" cy="384048"/>
          </a:xfrm>
          <a:prstGeom prst="ellipse">
            <a:avLst/>
          </a:prstGeom>
          <a:solidFill>
            <a:srgbClr val="2E7D6B"/>
          </a:solidFill>
          <a:ln w="12700">
            <a:solidFill>
              <a:srgbClr val="2E7D6B"/>
            </a:solidFill>
            <a:prstDash val="solid"/>
          </a:ln>
        </p:spPr>
      </p:sp>
      <p:sp>
        <p:nvSpPr>
          <p:cNvPr id="10" name="Text 8"/>
          <p:cNvSpPr txBox="1"/>
          <p:nvPr/>
        </p:nvSpPr>
        <p:spPr>
          <a:xfrm>
            <a:off x="82296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1371600" y="3611880"/>
            <a:ext cx="6309360" cy="731520"/>
          </a:xfrm>
          <a:prstGeom prst="rect">
            <a:avLst/>
          </a:prstGeom>
          <a:noFill/>
          <a:ln/>
        </p:spPr>
        <p:txBody>
          <a:bodyPr wrap="square" lIns="0" tIns="0" rIns="0" bIns="0" rtlCol="0" anchor="t"/>
          <a:lstStyle/>
          <a:p>
            <a:pPr indent="0" marL="0">
              <a:buNone/>
            </a:pPr>
            <a:r>
              <a:rPr lang="en-US" sz="2100" dirty="0">
                <a:solidFill>
                  <a:srgbClr val="222222"/>
                </a:solidFill>
              </a:rPr>
              <a:t>“화장한 골분을 수목 아래 묻었다.”</a:t>
            </a:r>
            <a:endParaRPr lang="en-US" sz="2100" dirty="0"/>
          </a:p>
        </p:txBody>
      </p:sp>
      <p:sp>
        <p:nvSpPr>
          <p:cNvPr id="12" name="Shape 10"/>
          <p:cNvSpPr/>
          <p:nvPr/>
        </p:nvSpPr>
        <p:spPr>
          <a:xfrm>
            <a:off x="822960" y="4407408"/>
            <a:ext cx="384048" cy="384048"/>
          </a:xfrm>
          <a:prstGeom prst="ellipse">
            <a:avLst/>
          </a:prstGeom>
          <a:solidFill>
            <a:srgbClr val="2E7D6B"/>
          </a:solidFill>
          <a:ln w="12700">
            <a:solidFill>
              <a:srgbClr val="2E7D6B"/>
            </a:solidFill>
            <a:prstDash val="solid"/>
          </a:ln>
        </p:spPr>
      </p:sp>
      <p:sp>
        <p:nvSpPr>
          <p:cNvPr id="13" name="Text 11"/>
          <p:cNvSpPr txBox="1"/>
          <p:nvPr/>
        </p:nvSpPr>
        <p:spPr>
          <a:xfrm>
            <a:off x="822960" y="44074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1371600" y="4389120"/>
            <a:ext cx="6309360" cy="731520"/>
          </a:xfrm>
          <a:prstGeom prst="rect">
            <a:avLst/>
          </a:prstGeom>
          <a:noFill/>
          <a:ln/>
        </p:spPr>
        <p:txBody>
          <a:bodyPr wrap="square" lIns="0" tIns="0" rIns="0" bIns="0" rtlCol="0" anchor="t"/>
          <a:lstStyle/>
          <a:p>
            <a:pPr indent="0" marL="0">
              <a:buNone/>
            </a:pPr>
            <a:r>
              <a:rPr lang="en-US" sz="2100" dirty="0">
                <a:solidFill>
                  <a:srgbClr val="222222"/>
                </a:solidFill>
              </a:rPr>
              <a:t>“유골을 봉안당에 모셨다.”</a:t>
            </a:r>
            <a:endParaRPr lang="en-US" sz="2100" dirty="0"/>
          </a:p>
        </p:txBody>
      </p:sp>
      <p:sp>
        <p:nvSpPr>
          <p:cNvPr id="15" name="Shape 13"/>
          <p:cNvSpPr/>
          <p:nvPr/>
        </p:nvSpPr>
        <p:spPr>
          <a:xfrm>
            <a:off x="822960" y="5184648"/>
            <a:ext cx="384048" cy="384048"/>
          </a:xfrm>
          <a:prstGeom prst="ellipse">
            <a:avLst/>
          </a:prstGeom>
          <a:solidFill>
            <a:srgbClr val="2E7D6B"/>
          </a:solidFill>
          <a:ln w="12700">
            <a:solidFill>
              <a:srgbClr val="2E7D6B"/>
            </a:solidFill>
            <a:prstDash val="solid"/>
          </a:ln>
        </p:spPr>
      </p:sp>
      <p:sp>
        <p:nvSpPr>
          <p:cNvPr id="16" name="Text 14"/>
          <p:cNvSpPr txBox="1"/>
          <p:nvPr/>
        </p:nvSpPr>
        <p:spPr>
          <a:xfrm>
            <a:off x="822960" y="5184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7" name="Text 15"/>
          <p:cNvSpPr txBox="1"/>
          <p:nvPr/>
        </p:nvSpPr>
        <p:spPr>
          <a:xfrm>
            <a:off x="1371600" y="5166360"/>
            <a:ext cx="6309360" cy="731520"/>
          </a:xfrm>
          <a:prstGeom prst="rect">
            <a:avLst/>
          </a:prstGeom>
          <a:noFill/>
          <a:ln/>
        </p:spPr>
        <p:txBody>
          <a:bodyPr wrap="square" lIns="0" tIns="0" rIns="0" bIns="0" rtlCol="0" anchor="t"/>
          <a:lstStyle/>
          <a:p>
            <a:pPr indent="0" marL="0">
              <a:buNone/>
            </a:pPr>
            <a:r>
              <a:rPr lang="en-US" sz="2100" dirty="0">
                <a:solidFill>
                  <a:srgbClr val="222222"/>
                </a:solidFill>
              </a:rPr>
              <a:t>“시신을 공원묘지에 묻었다.”</a:t>
            </a:r>
            <a:endParaRPr lang="en-US" sz="2100" dirty="0"/>
          </a:p>
        </p:txBody>
      </p:sp>
      <p:sp>
        <p:nvSpPr>
          <p:cNvPr id="18" name="Shape 16"/>
          <p:cNvSpPr/>
          <p:nvPr/>
        </p:nvSpPr>
        <p:spPr>
          <a:xfrm>
            <a:off x="8229600" y="1554480"/>
            <a:ext cx="3413455" cy="1417320"/>
          </a:xfrm>
          <a:prstGeom prst="roundRect">
            <a:avLst>
              <a:gd name="adj" fmla="val 7742"/>
            </a:avLst>
          </a:prstGeom>
          <a:solidFill>
            <a:srgbClr val="1F4E4A"/>
          </a:solidFill>
          <a:ln w="12700">
            <a:solidFill>
              <a:srgbClr val="1F4E4A"/>
            </a:solidFill>
            <a:prstDash val="solid"/>
          </a:ln>
        </p:spPr>
      </p:sp>
      <p:sp>
        <p:nvSpPr>
          <p:cNvPr id="19" name="Shape 17"/>
          <p:cNvSpPr/>
          <p:nvPr/>
        </p:nvSpPr>
        <p:spPr>
          <a:xfrm>
            <a:off x="8430768" y="1755648"/>
            <a:ext cx="457200" cy="457200"/>
          </a:xfrm>
          <a:prstGeom prst="ellipse">
            <a:avLst/>
          </a:prstGeom>
          <a:solidFill>
            <a:srgbClr val="D98E04"/>
          </a:solidFill>
          <a:ln w="12700">
            <a:solidFill>
              <a:srgbClr val="D98E04"/>
            </a:solidFill>
            <a:prstDash val="solid"/>
          </a:ln>
        </p:spPr>
      </p:sp>
      <p:pic>
        <p:nvPicPr>
          <p:cNvPr id="20" name="Image 0" descr="preencoded.png">    </p:cNvPr>
          <p:cNvPicPr>
            <a:picLocks noChangeAspect="1"/>
          </p:cNvPicPr>
          <p:nvPr/>
        </p:nvPicPr>
        <p:blipFill>
          <a:blip r:embed="rId1"/>
          <a:stretch>
            <a:fillRect/>
          </a:stretch>
        </p:blipFill>
        <p:spPr>
          <a:xfrm>
            <a:off x="8549640" y="1874520"/>
            <a:ext cx="219456" cy="219456"/>
          </a:xfrm>
          <a:prstGeom prst="rect">
            <a:avLst/>
          </a:prstGeom>
        </p:spPr>
      </p:pic>
      <p:sp>
        <p:nvSpPr>
          <p:cNvPr id="21" name="Text 18"/>
          <p:cNvSpPr txBox="1"/>
          <p:nvPr/>
        </p:nvSpPr>
        <p:spPr>
          <a:xfrm>
            <a:off x="9006840" y="1755648"/>
            <a:ext cx="2499055" cy="457200"/>
          </a:xfrm>
          <a:prstGeom prst="rect">
            <a:avLst/>
          </a:prstGeom>
          <a:noFill/>
          <a:ln/>
        </p:spPr>
        <p:txBody>
          <a:bodyPr wrap="square" lIns="0" tIns="0" rIns="0" bIns="0" rtlCol="0" anchor="ctr"/>
          <a:lstStyle/>
          <a:p>
            <a:pPr indent="0" marL="0">
              <a:buNone/>
            </a:pPr>
            <a:r>
              <a:rPr lang="en-US" sz="1400" b="1" dirty="0">
                <a:solidFill>
                  <a:srgbClr val="A8C5BC"/>
                </a:solidFill>
              </a:rPr>
              <a:t>시간</a:t>
            </a:r>
            <a:endParaRPr lang="en-US" sz="1400" dirty="0"/>
          </a:p>
        </p:txBody>
      </p:sp>
      <p:sp>
        <p:nvSpPr>
          <p:cNvPr id="22" name="Text 19"/>
          <p:cNvSpPr txBox="1"/>
          <p:nvPr/>
        </p:nvSpPr>
        <p:spPr>
          <a:xfrm>
            <a:off x="8430768" y="2267712"/>
            <a:ext cx="3001975" cy="640080"/>
          </a:xfrm>
          <a:prstGeom prst="rect">
            <a:avLst/>
          </a:prstGeom>
          <a:noFill/>
          <a:ln/>
        </p:spPr>
        <p:txBody>
          <a:bodyPr wrap="square" lIns="0" tIns="0" rIns="0" bIns="0" rtlCol="0" anchor="t"/>
          <a:lstStyle/>
          <a:p>
            <a:pPr indent="0" marL="0">
              <a:buNone/>
            </a:pPr>
            <a:r>
              <a:rPr lang="en-US" sz="2800" b="1" dirty="0">
                <a:solidFill>
                  <a:srgbClr val="FFFFFF"/>
                </a:solidFill>
              </a:rPr>
              <a:t>4분</a:t>
            </a:r>
            <a:endParaRPr lang="en-US" sz="2800" dirty="0"/>
          </a:p>
        </p:txBody>
      </p:sp>
      <p:sp>
        <p:nvSpPr>
          <p:cNvPr id="23" name="Shape 20"/>
          <p:cNvSpPr/>
          <p:nvPr/>
        </p:nvSpPr>
        <p:spPr>
          <a:xfrm>
            <a:off x="8229600" y="3127248"/>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4" name="Shape 21"/>
          <p:cNvSpPr/>
          <p:nvPr/>
        </p:nvSpPr>
        <p:spPr>
          <a:xfrm>
            <a:off x="8430768" y="3328416"/>
            <a:ext cx="457200" cy="457200"/>
          </a:xfrm>
          <a:prstGeom prst="ellipse">
            <a:avLst/>
          </a:prstGeom>
          <a:solidFill>
            <a:srgbClr val="2E7D6B"/>
          </a:solidFill>
          <a:ln w="12700">
            <a:solidFill>
              <a:srgbClr val="2E7D6B"/>
            </a:solidFill>
            <a:prstDash val="solid"/>
          </a:ln>
        </p:spPr>
      </p:sp>
      <p:pic>
        <p:nvPicPr>
          <p:cNvPr id="25" name="Image 1" descr="preencoded.png">    </p:cNvPr>
          <p:cNvPicPr>
            <a:picLocks noChangeAspect="1"/>
          </p:cNvPicPr>
          <p:nvPr/>
        </p:nvPicPr>
        <p:blipFill>
          <a:blip r:embed="rId2"/>
          <a:stretch>
            <a:fillRect/>
          </a:stretch>
        </p:blipFill>
        <p:spPr>
          <a:xfrm>
            <a:off x="8549640" y="3447288"/>
            <a:ext cx="219456" cy="219456"/>
          </a:xfrm>
          <a:prstGeom prst="rect">
            <a:avLst/>
          </a:prstGeom>
        </p:spPr>
      </p:pic>
      <p:sp>
        <p:nvSpPr>
          <p:cNvPr id="26" name="Text 22"/>
          <p:cNvSpPr txBox="1"/>
          <p:nvPr/>
        </p:nvSpPr>
        <p:spPr>
          <a:xfrm>
            <a:off x="9006840" y="3328416"/>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방식</a:t>
            </a:r>
            <a:endParaRPr lang="en-US" sz="1400" dirty="0"/>
          </a:p>
        </p:txBody>
      </p:sp>
      <p:sp>
        <p:nvSpPr>
          <p:cNvPr id="27" name="Text 23"/>
          <p:cNvSpPr txBox="1"/>
          <p:nvPr/>
        </p:nvSpPr>
        <p:spPr>
          <a:xfrm>
            <a:off x="8430768" y="3840480"/>
            <a:ext cx="3001975" cy="640080"/>
          </a:xfrm>
          <a:prstGeom prst="rect">
            <a:avLst/>
          </a:prstGeom>
          <a:noFill/>
          <a:ln/>
        </p:spPr>
        <p:txBody>
          <a:bodyPr wrap="square" lIns="0" tIns="0" rIns="0" bIns="0" rtlCol="0" anchor="t"/>
          <a:lstStyle/>
          <a:p>
            <a:pPr indent="0" marL="0">
              <a:buNone/>
            </a:pPr>
            <a:r>
              <a:rPr lang="en-US" sz="1800" dirty="0">
                <a:solidFill>
                  <a:srgbClr val="222222"/>
                </a:solidFill>
              </a:rPr>
              <a:t>2인 1조</a:t>
            </a:r>
            <a:endParaRPr lang="en-US" sz="1800" dirty="0"/>
          </a:p>
        </p:txBody>
      </p:sp>
      <p:sp>
        <p:nvSpPr>
          <p:cNvPr id="28" name="Shape 24"/>
          <p:cNvSpPr/>
          <p:nvPr/>
        </p:nvSpPr>
        <p:spPr>
          <a:xfrm>
            <a:off x="8229600" y="4700016"/>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9" name="Shape 25"/>
          <p:cNvSpPr/>
          <p:nvPr/>
        </p:nvSpPr>
        <p:spPr>
          <a:xfrm>
            <a:off x="8430768" y="4901184"/>
            <a:ext cx="457200" cy="457200"/>
          </a:xfrm>
          <a:prstGeom prst="ellipse">
            <a:avLst/>
          </a:prstGeom>
          <a:solidFill>
            <a:srgbClr val="2E7D6B"/>
          </a:solidFill>
          <a:ln w="12700">
            <a:solidFill>
              <a:srgbClr val="2E7D6B"/>
            </a:solidFill>
            <a:prstDash val="solid"/>
          </a:ln>
        </p:spPr>
      </p:sp>
      <p:pic>
        <p:nvPicPr>
          <p:cNvPr id="30" name="Image 2" descr="preencoded.png">    </p:cNvPr>
          <p:cNvPicPr>
            <a:picLocks noChangeAspect="1"/>
          </p:cNvPicPr>
          <p:nvPr/>
        </p:nvPicPr>
        <p:blipFill>
          <a:blip r:embed="rId3"/>
          <a:stretch>
            <a:fillRect/>
          </a:stretch>
        </p:blipFill>
        <p:spPr>
          <a:xfrm>
            <a:off x="8549640" y="5020056"/>
            <a:ext cx="219456" cy="219456"/>
          </a:xfrm>
          <a:prstGeom prst="rect">
            <a:avLst/>
          </a:prstGeom>
        </p:spPr>
      </p:pic>
      <p:sp>
        <p:nvSpPr>
          <p:cNvPr id="31" name="Text 26"/>
          <p:cNvSpPr txBox="1"/>
          <p:nvPr/>
        </p:nvSpPr>
        <p:spPr>
          <a:xfrm>
            <a:off x="9006840" y="4901184"/>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결과물</a:t>
            </a:r>
            <a:endParaRPr lang="en-US" sz="1400" dirty="0"/>
          </a:p>
        </p:txBody>
      </p:sp>
      <p:sp>
        <p:nvSpPr>
          <p:cNvPr id="32" name="Text 27"/>
          <p:cNvSpPr txBox="1"/>
          <p:nvPr/>
        </p:nvSpPr>
        <p:spPr>
          <a:xfrm>
            <a:off x="8430768" y="5413248"/>
            <a:ext cx="3001975" cy="640080"/>
          </a:xfrm>
          <a:prstGeom prst="rect">
            <a:avLst/>
          </a:prstGeom>
          <a:noFill/>
          <a:ln/>
        </p:spPr>
        <p:txBody>
          <a:bodyPr wrap="square" lIns="0" tIns="0" rIns="0" bIns="0" rtlCol="0" anchor="t"/>
          <a:lstStyle/>
          <a:p>
            <a:pPr indent="0" marL="0">
              <a:buNone/>
            </a:pPr>
            <a:r>
              <a:rPr lang="en-US" sz="1800" dirty="0">
                <a:solidFill>
                  <a:srgbClr val="222222"/>
                </a:solidFill>
              </a:rPr>
              <a:t>네 상황의 법정 용어</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4절 매장</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매장을 원할 때 함께 볼 네 가지</a:t>
            </a:r>
            <a:endParaRPr lang="en-US" sz="2800" dirty="0"/>
          </a:p>
        </p:txBody>
      </p:sp>
      <p:sp>
        <p:nvSpPr>
          <p:cNvPr id="4" name="Shape 2"/>
          <p:cNvSpPr/>
          <p:nvPr/>
        </p:nvSpPr>
        <p:spPr>
          <a:xfrm>
            <a:off x="548640" y="1554480"/>
            <a:ext cx="5410048" cy="1623060"/>
          </a:xfrm>
          <a:prstGeom prst="roundRect">
            <a:avLst>
              <a:gd name="adj" fmla="val 6761"/>
            </a:avLst>
          </a:prstGeom>
          <a:solidFill>
            <a:srgbClr val="EAF3F0"/>
          </a:solidFill>
          <a:ln w="12700">
            <a:solidFill>
              <a:srgbClr val="EAF3F0"/>
            </a:solidFill>
            <a:prstDash val="solid"/>
          </a:ln>
        </p:spPr>
      </p:sp>
      <p:sp>
        <p:nvSpPr>
          <p:cNvPr id="5" name="Shape 3"/>
          <p:cNvSpPr/>
          <p:nvPr/>
        </p:nvSpPr>
        <p:spPr>
          <a:xfrm>
            <a:off x="777240" y="1783080"/>
            <a:ext cx="548640" cy="548640"/>
          </a:xfrm>
          <a:prstGeom prst="ellipse">
            <a:avLst/>
          </a:prstGeom>
          <a:solidFill>
            <a:srgbClr val="2E7D6B"/>
          </a:solidFill>
          <a:ln w="12700">
            <a:solidFill>
              <a:srgbClr val="2E7D6B"/>
            </a:solidFill>
            <a:prstDash val="solid"/>
          </a:ln>
        </p:spPr>
      </p:sp>
      <p:pic>
        <p:nvPicPr>
          <p:cNvPr id="6" name="Image 0" descr="preencoded.png">    </p:cNvPr>
          <p:cNvPicPr>
            <a:picLocks noChangeAspect="1"/>
          </p:cNvPicPr>
          <p:nvPr/>
        </p:nvPicPr>
        <p:blipFill>
          <a:blip r:embed="rId1"/>
          <a:stretch>
            <a:fillRect/>
          </a:stretch>
        </p:blipFill>
        <p:spPr>
          <a:xfrm>
            <a:off x="919886" y="1925726"/>
            <a:ext cx="263347" cy="263347"/>
          </a:xfrm>
          <a:prstGeom prst="rect">
            <a:avLst/>
          </a:prstGeom>
        </p:spPr>
      </p:pic>
      <p:sp>
        <p:nvSpPr>
          <p:cNvPr id="7" name="Text 4"/>
          <p:cNvSpPr txBox="1"/>
          <p:nvPr/>
        </p:nvSpPr>
        <p:spPr>
          <a:xfrm>
            <a:off x="1508760" y="1755648"/>
            <a:ext cx="4221328" cy="1284732"/>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법적 적합성</a:t>
            </a:r>
            <a:endParaRPr lang="en-US" sz="2200" dirty="0"/>
          </a:p>
          <a:p>
            <a:pPr indent="0" marL="0">
              <a:buNone/>
            </a:pPr>
            <a:r>
              <a:rPr lang="en-US" sz="2200" dirty="0">
                <a:solidFill>
                  <a:srgbClr val="222222"/>
                </a:solidFill>
              </a:rPr>
              <a:t>묘지의 법적 설치·이용 가능 여부</a:t>
            </a:r>
            <a:endParaRPr lang="en-US" sz="2200" dirty="0"/>
          </a:p>
        </p:txBody>
      </p:sp>
      <p:sp>
        <p:nvSpPr>
          <p:cNvPr id="8" name="Shape 5"/>
          <p:cNvSpPr/>
          <p:nvPr/>
        </p:nvSpPr>
        <p:spPr>
          <a:xfrm>
            <a:off x="6233008" y="1554480"/>
            <a:ext cx="5410048" cy="1623060"/>
          </a:xfrm>
          <a:prstGeom prst="roundRect">
            <a:avLst>
              <a:gd name="adj" fmla="val 6761"/>
            </a:avLst>
          </a:prstGeom>
          <a:solidFill>
            <a:srgbClr val="EAF3F0"/>
          </a:solidFill>
          <a:ln w="12700">
            <a:solidFill>
              <a:srgbClr val="EAF3F0"/>
            </a:solidFill>
            <a:prstDash val="solid"/>
          </a:ln>
        </p:spPr>
      </p:sp>
      <p:sp>
        <p:nvSpPr>
          <p:cNvPr id="9" name="Shape 6"/>
          <p:cNvSpPr/>
          <p:nvPr/>
        </p:nvSpPr>
        <p:spPr>
          <a:xfrm>
            <a:off x="6461608" y="1783080"/>
            <a:ext cx="548640" cy="548640"/>
          </a:xfrm>
          <a:prstGeom prst="ellipse">
            <a:avLst/>
          </a:prstGeom>
          <a:solidFill>
            <a:srgbClr val="2E7D6B"/>
          </a:solidFill>
          <a:ln w="12700">
            <a:solidFill>
              <a:srgbClr val="2E7D6B"/>
            </a:solidFill>
            <a:prstDash val="solid"/>
          </a:ln>
        </p:spPr>
      </p:sp>
      <p:pic>
        <p:nvPicPr>
          <p:cNvPr id="10" name="Image 1" descr="preencoded.png">    </p:cNvPr>
          <p:cNvPicPr>
            <a:picLocks noChangeAspect="1"/>
          </p:cNvPicPr>
          <p:nvPr/>
        </p:nvPicPr>
        <p:blipFill>
          <a:blip r:embed="rId2"/>
          <a:stretch>
            <a:fillRect/>
          </a:stretch>
        </p:blipFill>
        <p:spPr>
          <a:xfrm>
            <a:off x="6604254" y="1925726"/>
            <a:ext cx="263347" cy="263347"/>
          </a:xfrm>
          <a:prstGeom prst="rect">
            <a:avLst/>
          </a:prstGeom>
        </p:spPr>
      </p:pic>
      <p:sp>
        <p:nvSpPr>
          <p:cNvPr id="11" name="Text 7"/>
          <p:cNvSpPr txBox="1"/>
          <p:nvPr/>
        </p:nvSpPr>
        <p:spPr>
          <a:xfrm>
            <a:off x="7193128" y="1755648"/>
            <a:ext cx="4221328" cy="1284732"/>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장기 관리주체</a:t>
            </a:r>
            <a:endParaRPr lang="en-US" sz="2200" dirty="0"/>
          </a:p>
          <a:p>
            <a:pPr indent="0" marL="0">
              <a:buNone/>
            </a:pPr>
            <a:r>
              <a:rPr lang="en-US" sz="2200" dirty="0">
                <a:solidFill>
                  <a:srgbClr val="222222"/>
                </a:solidFill>
              </a:rPr>
              <a:t>관리할 가족·기관이 오래 존재하는가</a:t>
            </a:r>
            <a:endParaRPr lang="en-US" sz="2200" dirty="0"/>
          </a:p>
        </p:txBody>
      </p:sp>
      <p:sp>
        <p:nvSpPr>
          <p:cNvPr id="12" name="Shape 8"/>
          <p:cNvSpPr/>
          <p:nvPr/>
        </p:nvSpPr>
        <p:spPr>
          <a:xfrm>
            <a:off x="548640" y="3451860"/>
            <a:ext cx="5410048" cy="1623060"/>
          </a:xfrm>
          <a:prstGeom prst="roundRect">
            <a:avLst>
              <a:gd name="adj" fmla="val 6761"/>
            </a:avLst>
          </a:prstGeom>
          <a:solidFill>
            <a:srgbClr val="EAF3F0"/>
          </a:solidFill>
          <a:ln w="12700">
            <a:solidFill>
              <a:srgbClr val="EAF3F0"/>
            </a:solidFill>
            <a:prstDash val="solid"/>
          </a:ln>
        </p:spPr>
      </p:sp>
      <p:sp>
        <p:nvSpPr>
          <p:cNvPr id="13" name="Shape 9"/>
          <p:cNvSpPr/>
          <p:nvPr/>
        </p:nvSpPr>
        <p:spPr>
          <a:xfrm>
            <a:off x="777240" y="3680460"/>
            <a:ext cx="548640" cy="548640"/>
          </a:xfrm>
          <a:prstGeom prst="ellipse">
            <a:avLst/>
          </a:prstGeom>
          <a:solidFill>
            <a:srgbClr val="2E7D6B"/>
          </a:solidFill>
          <a:ln w="12700">
            <a:solidFill>
              <a:srgbClr val="2E7D6B"/>
            </a:solidFill>
            <a:prstDash val="solid"/>
          </a:ln>
        </p:spPr>
      </p:sp>
      <p:pic>
        <p:nvPicPr>
          <p:cNvPr id="14" name="Image 2" descr="preencoded.png">    </p:cNvPr>
          <p:cNvPicPr>
            <a:picLocks noChangeAspect="1"/>
          </p:cNvPicPr>
          <p:nvPr/>
        </p:nvPicPr>
        <p:blipFill>
          <a:blip r:embed="rId3"/>
          <a:stretch>
            <a:fillRect/>
          </a:stretch>
        </p:blipFill>
        <p:spPr>
          <a:xfrm>
            <a:off x="919886" y="3823106"/>
            <a:ext cx="263347" cy="263347"/>
          </a:xfrm>
          <a:prstGeom prst="rect">
            <a:avLst/>
          </a:prstGeom>
        </p:spPr>
      </p:pic>
      <p:sp>
        <p:nvSpPr>
          <p:cNvPr id="15" name="Text 10"/>
          <p:cNvSpPr txBox="1"/>
          <p:nvPr/>
        </p:nvSpPr>
        <p:spPr>
          <a:xfrm>
            <a:off x="1508760" y="3653028"/>
            <a:ext cx="4221328" cy="1284732"/>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거리와 비용</a:t>
            </a:r>
            <a:endParaRPr lang="en-US" sz="2200" dirty="0"/>
          </a:p>
          <a:p>
            <a:pPr indent="0" marL="0">
              <a:buNone/>
            </a:pPr>
            <a:r>
              <a:rPr lang="en-US" sz="2200" dirty="0">
                <a:solidFill>
                  <a:srgbClr val="222222"/>
                </a:solidFill>
              </a:rPr>
              <a:t>성묘·관리의 거리와 비용을 감당할 수 있는가</a:t>
            </a:r>
            <a:endParaRPr lang="en-US" sz="2200" dirty="0"/>
          </a:p>
        </p:txBody>
      </p:sp>
      <p:sp>
        <p:nvSpPr>
          <p:cNvPr id="16" name="Shape 11"/>
          <p:cNvSpPr/>
          <p:nvPr/>
        </p:nvSpPr>
        <p:spPr>
          <a:xfrm>
            <a:off x="6233008" y="3451860"/>
            <a:ext cx="5410048" cy="1623060"/>
          </a:xfrm>
          <a:prstGeom prst="roundRect">
            <a:avLst>
              <a:gd name="adj" fmla="val 6761"/>
            </a:avLst>
          </a:prstGeom>
          <a:solidFill>
            <a:srgbClr val="EAF3F0"/>
          </a:solidFill>
          <a:ln w="12700">
            <a:solidFill>
              <a:srgbClr val="EAF3F0"/>
            </a:solidFill>
            <a:prstDash val="solid"/>
          </a:ln>
        </p:spPr>
      </p:sp>
      <p:sp>
        <p:nvSpPr>
          <p:cNvPr id="17" name="Shape 12"/>
          <p:cNvSpPr/>
          <p:nvPr/>
        </p:nvSpPr>
        <p:spPr>
          <a:xfrm>
            <a:off x="6461608" y="3680460"/>
            <a:ext cx="548640" cy="548640"/>
          </a:xfrm>
          <a:prstGeom prst="ellipse">
            <a:avLst/>
          </a:prstGeom>
          <a:solidFill>
            <a:srgbClr val="2E7D6B"/>
          </a:solidFill>
          <a:ln w="12700">
            <a:solidFill>
              <a:srgbClr val="2E7D6B"/>
            </a:solidFill>
            <a:prstDash val="solid"/>
          </a:ln>
        </p:spPr>
      </p:sp>
      <p:pic>
        <p:nvPicPr>
          <p:cNvPr id="18" name="Image 3" descr="preencoded.png">    </p:cNvPr>
          <p:cNvPicPr>
            <a:picLocks noChangeAspect="1"/>
          </p:cNvPicPr>
          <p:nvPr/>
        </p:nvPicPr>
        <p:blipFill>
          <a:blip r:embed="rId4"/>
          <a:stretch>
            <a:fillRect/>
          </a:stretch>
        </p:blipFill>
        <p:spPr>
          <a:xfrm>
            <a:off x="6604254" y="3823106"/>
            <a:ext cx="263347" cy="263347"/>
          </a:xfrm>
          <a:prstGeom prst="rect">
            <a:avLst/>
          </a:prstGeom>
        </p:spPr>
      </p:pic>
      <p:sp>
        <p:nvSpPr>
          <p:cNvPr id="19" name="Text 13"/>
          <p:cNvSpPr txBox="1"/>
          <p:nvPr/>
        </p:nvSpPr>
        <p:spPr>
          <a:xfrm>
            <a:off x="7193128" y="3653028"/>
            <a:ext cx="4221328" cy="1284732"/>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후손의 의사</a:t>
            </a:r>
            <a:endParaRPr lang="en-US" sz="2200" dirty="0"/>
          </a:p>
          <a:p>
            <a:pPr indent="0" marL="0">
              <a:buNone/>
            </a:pPr>
            <a:r>
              <a:rPr lang="en-US" sz="2200" dirty="0">
                <a:solidFill>
                  <a:srgbClr val="222222"/>
                </a:solidFill>
              </a:rPr>
              <a:t>묘지계승을 원하지 않을 가능성</a:t>
            </a:r>
            <a:endParaRPr lang="en-US" sz="2200" dirty="0"/>
          </a:p>
        </p:txBody>
      </p:sp>
      <p:sp>
        <p:nvSpPr>
          <p:cNvPr id="20" name="Shape 14"/>
          <p:cNvSpPr/>
          <p:nvPr/>
        </p:nvSpPr>
        <p:spPr>
          <a:xfrm>
            <a:off x="548640" y="5303520"/>
            <a:ext cx="11094415" cy="868680"/>
          </a:xfrm>
          <a:prstGeom prst="roundRect">
            <a:avLst>
              <a:gd name="adj" fmla="val 12632"/>
            </a:avLst>
          </a:prstGeom>
          <a:solidFill>
            <a:srgbClr val="E8EFF8"/>
          </a:solidFill>
          <a:ln w="12700">
            <a:solidFill>
              <a:srgbClr val="E8EFF8"/>
            </a:solidFill>
            <a:prstDash val="solid"/>
          </a:ln>
        </p:spPr>
      </p:sp>
      <p:sp>
        <p:nvSpPr>
          <p:cNvPr id="21" name="Shape 15"/>
          <p:cNvSpPr/>
          <p:nvPr/>
        </p:nvSpPr>
        <p:spPr>
          <a:xfrm>
            <a:off x="777240" y="5509260"/>
            <a:ext cx="457200" cy="457200"/>
          </a:xfrm>
          <a:prstGeom prst="ellipse">
            <a:avLst/>
          </a:prstGeom>
          <a:solidFill>
            <a:srgbClr val="3A6EA5"/>
          </a:solidFill>
          <a:ln w="12700">
            <a:solidFill>
              <a:srgbClr val="3A6EA5"/>
            </a:solidFill>
            <a:prstDash val="solid"/>
          </a:ln>
        </p:spPr>
      </p:sp>
      <p:pic>
        <p:nvPicPr>
          <p:cNvPr id="22" name="Image 4" descr="preencoded.png">    </p:cNvPr>
          <p:cNvPicPr>
            <a:picLocks noChangeAspect="1"/>
          </p:cNvPicPr>
          <p:nvPr/>
        </p:nvPicPr>
        <p:blipFill>
          <a:blip r:embed="rId5"/>
          <a:stretch>
            <a:fillRect/>
          </a:stretch>
        </p:blipFill>
        <p:spPr>
          <a:xfrm>
            <a:off x="896112" y="5628132"/>
            <a:ext cx="219456" cy="219456"/>
          </a:xfrm>
          <a:prstGeom prst="rect">
            <a:avLst/>
          </a:prstGeom>
        </p:spPr>
      </p:pic>
      <p:sp>
        <p:nvSpPr>
          <p:cNvPr id="23" name="Text 16"/>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3A6EA5"/>
                </a:solidFill>
              </a:rPr>
              <a:t>WLC 질문   </a:t>
            </a:r>
            <a:pPr indent="0" marL="0">
              <a:buNone/>
            </a:pPr>
            <a:r>
              <a:rPr lang="en-US" sz="1800" dirty="0">
                <a:solidFill>
                  <a:srgbClr val="222222"/>
                </a:solidFill>
              </a:rPr>
              <a:t>“매장을 원하시는 가장 중요한 이유는요? 그 뜻을 지키려면 10년, 20년 뒤 누가 어떻게 관리해야 할까요?”</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5절 화장</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화장은 끝이 아니라 다음 선택의 시작</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926080"/>
                <a:gridCol w="8138160"/>
              </a:tblGrid>
              <a:tr h="658368">
                <a:tc>
                  <a:txBody>
                    <a:bodyPr/>
                    <a:lstStyle/>
                    <a:p>
                      <a:pPr algn="ctr" indent="0" marL="0">
                        <a:buNone/>
                      </a:pPr>
                      <a:r>
                        <a:rPr lang="en-US" sz="1600" b="1" dirty="0">
                          <a:solidFill>
                            <a:srgbClr val="FFFFFF"/>
                          </a:solidFill>
                          <a:latin typeface="Noto Serif KR Black" pitchFamily="34" charset="0"/>
                          <a:ea typeface="Noto Serif KR Black" pitchFamily="34" charset="-122"/>
                          <a:cs typeface="Noto Serif KR Black" pitchFamily="34" charset="-120"/>
                        </a:rPr>
                        <a:t>화장 후 선택</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600" b="1" dirty="0">
                          <a:solidFill>
                            <a:srgbClr val="FFFFFF"/>
                          </a:solidFill>
                          <a:latin typeface="Noto Serif KR Black" pitchFamily="34" charset="0"/>
                          <a:ea typeface="Noto Serif KR Black" pitchFamily="34" charset="-122"/>
                          <a:cs typeface="Noto Serif KR Black" pitchFamily="34" charset="-120"/>
                        </a:rPr>
                        <a:t>핵심 고려사항</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658368">
                <a:tc>
                  <a:txBody>
                    <a:bodyPr/>
                    <a:lstStyle/>
                    <a:p>
                      <a:pPr indent="0" marL="0">
                        <a:buNone/>
                      </a:pPr>
                      <a:r>
                        <a:rPr lang="en-US" sz="1600" b="1" dirty="0">
                          <a:solidFill>
                            <a:srgbClr val="1F4E4A"/>
                          </a:solidFill>
                          <a:latin typeface="Noto Serif KR Black" pitchFamily="34" charset="0"/>
                          <a:ea typeface="Noto Serif KR Black" pitchFamily="34" charset="-122"/>
                          <a:cs typeface="Noto Serif KR Black" pitchFamily="34" charset="-120"/>
                        </a:rPr>
                        <a:t>봉안시설</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600" dirty="0">
                          <a:solidFill>
                            <a:srgbClr val="222222"/>
                          </a:solidFill>
                          <a:latin typeface="Noto Serif KR Black" pitchFamily="34" charset="0"/>
                          <a:ea typeface="Noto Serif KR Black" pitchFamily="34" charset="-122"/>
                          <a:cs typeface="Noto Serif KR Black" pitchFamily="34" charset="-120"/>
                        </a:rPr>
                        <a:t>안치기간·관리비·접근성·연장조건</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658368">
                <a:tc>
                  <a:txBody>
                    <a:bodyPr/>
                    <a:lstStyle/>
                    <a:p>
                      <a:pPr indent="0" marL="0">
                        <a:buNone/>
                      </a:pPr>
                      <a:r>
                        <a:rPr lang="en-US" sz="1600" b="1" dirty="0">
                          <a:solidFill>
                            <a:srgbClr val="1F4E4A"/>
                          </a:solidFill>
                          <a:latin typeface="Noto Serif KR Black" pitchFamily="34" charset="0"/>
                          <a:ea typeface="Noto Serif KR Black" pitchFamily="34" charset="-122"/>
                          <a:cs typeface="Noto Serif KR Black" pitchFamily="34" charset="-120"/>
                        </a:rPr>
                        <a:t>자연장</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600" dirty="0">
                          <a:solidFill>
                            <a:srgbClr val="222222"/>
                          </a:solidFill>
                          <a:latin typeface="Noto Serif KR Black" pitchFamily="34" charset="0"/>
                          <a:ea typeface="Noto Serif KR Black" pitchFamily="34" charset="-122"/>
                          <a:cs typeface="Noto Serif KR Black" pitchFamily="34" charset="-120"/>
                        </a:rPr>
                        <a:t>장소·관리방식·표지·가족의 추모방식</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658368">
                <a:tc>
                  <a:txBody>
                    <a:bodyPr/>
                    <a:lstStyle/>
                    <a:p>
                      <a:pPr indent="0" marL="0">
                        <a:buNone/>
                      </a:pPr>
                      <a:r>
                        <a:rPr lang="en-US" sz="1600" b="1" dirty="0">
                          <a:solidFill>
                            <a:srgbClr val="1F4E4A"/>
                          </a:solidFill>
                          <a:latin typeface="Noto Serif KR Black" pitchFamily="34" charset="0"/>
                          <a:ea typeface="Noto Serif KR Black" pitchFamily="34" charset="-122"/>
                          <a:cs typeface="Noto Serif KR Black" pitchFamily="34" charset="-120"/>
                        </a:rPr>
                        <a:t>골분 산분</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600" dirty="0">
                          <a:solidFill>
                            <a:srgbClr val="222222"/>
                          </a:solidFill>
                          <a:latin typeface="Noto Serif KR Black" pitchFamily="34" charset="0"/>
                          <a:ea typeface="Noto Serif KR Black" pitchFamily="34" charset="-122"/>
                          <a:cs typeface="Noto Serif KR Black" pitchFamily="34" charset="-120"/>
                        </a:rPr>
                        <a:t>법이 허용하는 구역·방법·환경기준</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658368">
                <a:tc>
                  <a:txBody>
                    <a:bodyPr/>
                    <a:lstStyle/>
                    <a:p>
                      <a:pPr indent="0" marL="0">
                        <a:buNone/>
                      </a:pPr>
                      <a:r>
                        <a:rPr lang="en-US" sz="1600" b="1" dirty="0">
                          <a:solidFill>
                            <a:srgbClr val="1F4E4A"/>
                          </a:solidFill>
                          <a:latin typeface="Noto Serif KR Black" pitchFamily="34" charset="0"/>
                          <a:ea typeface="Noto Serif KR Black" pitchFamily="34" charset="-122"/>
                          <a:cs typeface="Noto Serif KR Black" pitchFamily="34" charset="-120"/>
                        </a:rPr>
                        <a:t>기타 적법한 처리</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600" dirty="0">
                          <a:solidFill>
                            <a:srgbClr val="222222"/>
                          </a:solidFill>
                          <a:latin typeface="Noto Serif KR Black" pitchFamily="34" charset="0"/>
                          <a:ea typeface="Noto Serif KR Black" pitchFamily="34" charset="-122"/>
                          <a:cs typeface="Noto Serif KR Black" pitchFamily="34" charset="-120"/>
                        </a:rPr>
                        <a:t>실제 방식이 장사법상 허용되는지 공식정보 확인</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547208" y="1005840"/>
            <a:ext cx="1097280" cy="1097280"/>
          </a:xfrm>
          <a:prstGeom prst="ellipse">
            <a:avLst/>
          </a:prstGeom>
          <a:solidFill>
            <a:srgbClr val="2E7D6B"/>
          </a:solidFill>
          <a:ln w="12700">
            <a:solidFill>
              <a:srgbClr val="2E7D6B"/>
            </a:solidFill>
            <a:prstDash val="solid"/>
          </a:ln>
        </p:spPr>
      </p:sp>
      <p:pic>
        <p:nvPicPr>
          <p:cNvPr id="3" name="Image 0" descr="preencoded.png">    </p:cNvPr>
          <p:cNvPicPr>
            <a:picLocks noChangeAspect="1"/>
          </p:cNvPicPr>
          <p:nvPr/>
        </p:nvPicPr>
        <p:blipFill>
          <a:blip r:embed="rId1"/>
          <a:stretch>
            <a:fillRect/>
          </a:stretch>
        </p:blipFill>
        <p:spPr>
          <a:xfrm>
            <a:off x="5832500" y="1291133"/>
            <a:ext cx="526694" cy="526694"/>
          </a:xfrm>
          <a:prstGeom prst="rect">
            <a:avLst/>
          </a:prstGeom>
        </p:spPr>
      </p:pic>
      <p:sp>
        <p:nvSpPr>
          <p:cNvPr id="4" name="Text 1"/>
          <p:cNvSpPr txBox="1"/>
          <p:nvPr/>
        </p:nvSpPr>
        <p:spPr>
          <a:xfrm>
            <a:off x="548640" y="2286000"/>
            <a:ext cx="11094415" cy="822960"/>
          </a:xfrm>
          <a:prstGeom prst="rect">
            <a:avLst/>
          </a:prstGeom>
          <a:noFill/>
          <a:ln/>
        </p:spPr>
        <p:txBody>
          <a:bodyPr wrap="square" lIns="0" tIns="0" rIns="0" bIns="0" rtlCol="0" anchor="t"/>
          <a:lstStyle/>
          <a:p>
            <a:pPr algn="ctr" indent="0" marL="0">
              <a:buNone/>
            </a:pPr>
            <a:r>
              <a:rPr lang="en-US" sz="4000" b="1" dirty="0">
                <a:solidFill>
                  <a:srgbClr val="FFFFFF"/>
                </a:solidFill>
              </a:rPr>
              <a:t>휴식 10분</a:t>
            </a:r>
            <a:endParaRPr lang="en-US" sz="4000" dirty="0"/>
          </a:p>
        </p:txBody>
      </p:sp>
      <p:sp>
        <p:nvSpPr>
          <p:cNvPr id="5" name="Text 2"/>
          <p:cNvSpPr txBox="1"/>
          <p:nvPr/>
        </p:nvSpPr>
        <p:spPr>
          <a:xfrm>
            <a:off x="548640" y="3291840"/>
            <a:ext cx="11094415" cy="411480"/>
          </a:xfrm>
          <a:prstGeom prst="rect">
            <a:avLst/>
          </a:prstGeom>
          <a:noFill/>
          <a:ln/>
        </p:spPr>
        <p:txBody>
          <a:bodyPr wrap="square" lIns="0" tIns="0" rIns="0" bIns="0" rtlCol="0" anchor="t"/>
          <a:lstStyle/>
          <a:p>
            <a:pPr algn="ctr" indent="0" marL="0">
              <a:buNone/>
            </a:pPr>
            <a:r>
              <a:rPr lang="en-US" sz="1600" b="1" dirty="0">
                <a:solidFill>
                  <a:srgbClr val="8FB9A8"/>
                </a:solidFill>
              </a:rPr>
              <a:t>지금까지 기억할 세 가지</a:t>
            </a:r>
            <a:endParaRPr lang="en-US" sz="1600" dirty="0"/>
          </a:p>
        </p:txBody>
      </p:sp>
      <p:sp>
        <p:nvSpPr>
          <p:cNvPr id="6" name="Shape 3"/>
          <p:cNvSpPr/>
          <p:nvPr/>
        </p:nvSpPr>
        <p:spPr>
          <a:xfrm>
            <a:off x="548640" y="3840480"/>
            <a:ext cx="3515258" cy="1371600"/>
          </a:xfrm>
          <a:prstGeom prst="roundRect">
            <a:avLst>
              <a:gd name="adj" fmla="val 8000"/>
            </a:avLst>
          </a:prstGeom>
          <a:solidFill>
            <a:srgbClr val="2A5F5A"/>
          </a:solidFill>
          <a:ln w="12700">
            <a:solidFill>
              <a:srgbClr val="2A5F5A"/>
            </a:solidFill>
            <a:prstDash val="solid"/>
          </a:ln>
        </p:spPr>
      </p:sp>
      <p:sp>
        <p:nvSpPr>
          <p:cNvPr id="7" name="Text 4"/>
          <p:cNvSpPr txBox="1"/>
          <p:nvPr/>
        </p:nvSpPr>
        <p:spPr>
          <a:xfrm>
            <a:off x="777240" y="3931920"/>
            <a:ext cx="3058058" cy="1188720"/>
          </a:xfrm>
          <a:prstGeom prst="rect">
            <a:avLst/>
          </a:prstGeom>
          <a:noFill/>
          <a:ln/>
        </p:spPr>
        <p:txBody>
          <a:bodyPr wrap="square" lIns="0" tIns="0" rIns="0" bIns="0" rtlCol="0" anchor="ctr"/>
          <a:lstStyle/>
          <a:p>
            <a:pPr algn="ctr" indent="0" marL="0">
              <a:buNone/>
            </a:pPr>
            <a:r>
              <a:rPr lang="en-US" sz="2000" dirty="0">
                <a:solidFill>
                  <a:srgbClr val="FFFFFF"/>
                </a:solidFill>
              </a:rPr>
              <a:t>법정 용어: 매장·화장·봉안·자연장·개장</a:t>
            </a:r>
            <a:endParaRPr lang="en-US" sz="2000" dirty="0"/>
          </a:p>
        </p:txBody>
      </p:sp>
      <p:sp>
        <p:nvSpPr>
          <p:cNvPr id="8" name="Shape 5"/>
          <p:cNvSpPr/>
          <p:nvPr/>
        </p:nvSpPr>
        <p:spPr>
          <a:xfrm>
            <a:off x="4338218" y="3840480"/>
            <a:ext cx="3515258" cy="1371600"/>
          </a:xfrm>
          <a:prstGeom prst="roundRect">
            <a:avLst>
              <a:gd name="adj" fmla="val 8000"/>
            </a:avLst>
          </a:prstGeom>
          <a:solidFill>
            <a:srgbClr val="2A5F5A"/>
          </a:solidFill>
          <a:ln w="12700">
            <a:solidFill>
              <a:srgbClr val="2A5F5A"/>
            </a:solidFill>
            <a:prstDash val="solid"/>
          </a:ln>
        </p:spPr>
      </p:sp>
      <p:sp>
        <p:nvSpPr>
          <p:cNvPr id="9" name="Text 6"/>
          <p:cNvSpPr txBox="1"/>
          <p:nvPr/>
        </p:nvSpPr>
        <p:spPr>
          <a:xfrm>
            <a:off x="4566818" y="3931920"/>
            <a:ext cx="3058058" cy="1188720"/>
          </a:xfrm>
          <a:prstGeom prst="rect">
            <a:avLst/>
          </a:prstGeom>
          <a:noFill/>
          <a:ln/>
        </p:spPr>
        <p:txBody>
          <a:bodyPr wrap="square" lIns="0" tIns="0" rIns="0" bIns="0" rtlCol="0" anchor="ctr"/>
          <a:lstStyle/>
          <a:p>
            <a:pPr algn="ctr" indent="0" marL="0">
              <a:buNone/>
            </a:pPr>
            <a:r>
              <a:rPr lang="en-US" sz="2000" dirty="0">
                <a:solidFill>
                  <a:srgbClr val="FFFFFF"/>
                </a:solidFill>
              </a:rPr>
              <a:t>“산분장”은 통용어 — 법은 자연장 안의 “뿌리는 방식”</a:t>
            </a:r>
            <a:endParaRPr lang="en-US" sz="2000" dirty="0"/>
          </a:p>
        </p:txBody>
      </p:sp>
      <p:sp>
        <p:nvSpPr>
          <p:cNvPr id="10" name="Shape 7"/>
          <p:cNvSpPr/>
          <p:nvPr/>
        </p:nvSpPr>
        <p:spPr>
          <a:xfrm>
            <a:off x="8127797" y="3840480"/>
            <a:ext cx="3515258" cy="1371600"/>
          </a:xfrm>
          <a:prstGeom prst="roundRect">
            <a:avLst>
              <a:gd name="adj" fmla="val 8000"/>
            </a:avLst>
          </a:prstGeom>
          <a:solidFill>
            <a:srgbClr val="2A5F5A"/>
          </a:solidFill>
          <a:ln w="12700">
            <a:solidFill>
              <a:srgbClr val="2A5F5A"/>
            </a:solidFill>
            <a:prstDash val="solid"/>
          </a:ln>
        </p:spPr>
      </p:sp>
      <p:sp>
        <p:nvSpPr>
          <p:cNvPr id="11" name="Text 8"/>
          <p:cNvSpPr txBox="1"/>
          <p:nvPr/>
        </p:nvSpPr>
        <p:spPr>
          <a:xfrm>
            <a:off x="8356397" y="3931920"/>
            <a:ext cx="3058058" cy="1188720"/>
          </a:xfrm>
          <a:prstGeom prst="rect">
            <a:avLst/>
          </a:prstGeom>
          <a:noFill/>
          <a:ln/>
        </p:spPr>
        <p:txBody>
          <a:bodyPr wrap="square" lIns="0" tIns="0" rIns="0" bIns="0" rtlCol="0" anchor="ctr"/>
          <a:lstStyle/>
          <a:p>
            <a:pPr algn="ctr" indent="0" marL="0">
              <a:buNone/>
            </a:pPr>
            <a:r>
              <a:rPr lang="en-US" sz="2000" dirty="0">
                <a:solidFill>
                  <a:srgbClr val="FFFFFF"/>
                </a:solidFill>
              </a:rPr>
              <a:t>24시간 원칙은 법, 3일장은 관행</a:t>
            </a:r>
            <a:endParaRPr lang="en-US" sz="2000" dirty="0"/>
          </a:p>
        </p:txBody>
      </p:sp>
      <p:sp>
        <p:nvSpPr>
          <p:cNvPr id="12" name="Text 9"/>
          <p:cNvSpPr txBox="1"/>
          <p:nvPr/>
        </p:nvSpPr>
        <p:spPr>
          <a:xfrm>
            <a:off x="548640" y="5623560"/>
            <a:ext cx="11094415" cy="411480"/>
          </a:xfrm>
          <a:prstGeom prst="rect">
            <a:avLst/>
          </a:prstGeom>
          <a:noFill/>
          <a:ln/>
        </p:spPr>
        <p:txBody>
          <a:bodyPr wrap="square" lIns="0" tIns="0" rIns="0" bIns="0" rtlCol="0" anchor="t"/>
          <a:lstStyle/>
          <a:p>
            <a:pPr algn="ctr" indent="0" marL="0">
              <a:buNone/>
            </a:pPr>
            <a:r>
              <a:rPr lang="en-US" sz="1500" dirty="0">
                <a:solidFill>
                  <a:srgbClr val="CFE3DC"/>
                </a:solidFill>
              </a:rPr>
              <a:t>다음  ▸  2교시 — 화장 이후의 선택과 공공의 장례</a:t>
            </a:r>
            <a:endParaRPr lang="en-US" sz="15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1737360"/>
            <a:ext cx="5486400" cy="548640"/>
          </a:xfrm>
          <a:prstGeom prst="rect">
            <a:avLst/>
          </a:prstGeom>
          <a:noFill/>
          <a:ln/>
        </p:spPr>
        <p:txBody>
          <a:bodyPr wrap="square" lIns="0" tIns="0" rIns="0" bIns="0" rtlCol="0" anchor="t"/>
          <a:lstStyle/>
          <a:p>
            <a:pPr indent="0" marL="0">
              <a:buNone/>
            </a:pPr>
            <a:r>
              <a:rPr lang="en-US" sz="2200" b="1" dirty="0">
                <a:solidFill>
                  <a:srgbClr val="8FB9A8"/>
                </a:solidFill>
              </a:rPr>
              <a:t>2교시</a:t>
            </a:r>
            <a:endParaRPr lang="en-US" sz="2200" dirty="0"/>
          </a:p>
        </p:txBody>
      </p:sp>
      <p:sp>
        <p:nvSpPr>
          <p:cNvPr id="3" name="Text 0"/>
          <p:cNvSpPr/>
          <p:nvPr>
            <p:ph idx="100" type="title" hasCustomPrompt="1"/>
          </p:nvPr>
        </p:nvSpPr>
        <p:spPr>
          <a:xfrm>
            <a:off x="548640" y="2651760"/>
            <a:ext cx="11094415" cy="1005840"/>
          </a:xfrm>
          <a:prstGeom prst="rect">
            <a:avLst/>
          </a:prstGeom>
          <a:noFill/>
          <a:ln/>
        </p:spPr>
        <p:txBody>
          <a:bodyPr wrap="square" lIns="0" tIns="0" rIns="0" bIns="0" rtlCol="0" anchor="t"/>
          <a:lstStyle/>
          <a:p>
            <a:pPr algn="l" indent="0" marL="0">
              <a:buNone/>
            </a:pPr>
            <a:r>
              <a:rPr lang="en-US" sz="4000" b="1" dirty="0">
                <a:solidFill>
                  <a:srgbClr val="FFFFFF"/>
                </a:solidFill>
              </a:rPr>
              <a:t>화장 이후의 선택과 공공의 장례</a:t>
            </a:r>
            <a:endParaRPr lang="en-US" sz="4000" dirty="0"/>
          </a:p>
        </p:txBody>
      </p:sp>
      <p:sp>
        <p:nvSpPr>
          <p:cNvPr id="4" name="Text 2"/>
          <p:cNvSpPr txBox="1"/>
          <p:nvPr/>
        </p:nvSpPr>
        <p:spPr>
          <a:xfrm>
            <a:off x="548640" y="3749040"/>
            <a:ext cx="11094415" cy="548640"/>
          </a:xfrm>
          <a:prstGeom prst="rect">
            <a:avLst/>
          </a:prstGeom>
          <a:noFill/>
          <a:ln/>
        </p:spPr>
        <p:txBody>
          <a:bodyPr wrap="square" lIns="0" tIns="0" rIns="0" bIns="0" rtlCol="0" anchor="t"/>
          <a:lstStyle/>
          <a:p>
            <a:pPr indent="0" marL="0">
              <a:buNone/>
            </a:pPr>
            <a:r>
              <a:rPr lang="en-US" sz="2000" dirty="0">
                <a:solidFill>
                  <a:srgbClr val="CFE3DC"/>
                </a:solidFill>
              </a:rPr>
              <a:t>모시는 곳에서, 관리할 수 있는 추모로</a:t>
            </a:r>
            <a:endParaRPr lang="en-US" sz="2000" dirty="0"/>
          </a:p>
        </p:txBody>
      </p:sp>
      <p:sp>
        <p:nvSpPr>
          <p:cNvPr id="5" name="Text 3"/>
          <p:cNvSpPr txBox="1"/>
          <p:nvPr/>
        </p:nvSpPr>
        <p:spPr>
          <a:xfrm>
            <a:off x="548640" y="4480560"/>
            <a:ext cx="11094415" cy="1645920"/>
          </a:xfrm>
          <a:prstGeom prst="rect">
            <a:avLst/>
          </a:prstGeom>
          <a:noFill/>
          <a:ln/>
        </p:spPr>
        <p:txBody>
          <a:bodyPr wrap="square" lIns="0" tIns="0" rIns="0" bIns="0" rtlCol="0" anchor="t"/>
          <a:lstStyle/>
          <a:p>
            <a:pPr marL="342900" indent="-342900">
              <a:spcAft>
                <a:spcPts val="600"/>
              </a:spcAft>
              <a:buSzPct val="100000"/>
              <a:buChar char="•"/>
            </a:pPr>
            <a:r>
              <a:rPr lang="en-US" sz="1900" dirty="0">
                <a:solidFill>
                  <a:srgbClr val="FFFFFF"/>
                </a:solidFill>
              </a:rPr>
              <a:t>봉안·자연장·골분을 뿌리는 자연장</a:t>
            </a:r>
            <a:endParaRPr lang="en-US" sz="1900" dirty="0"/>
          </a:p>
          <a:p>
            <a:pPr marL="342900" indent="-342900">
              <a:spcAft>
                <a:spcPts val="600"/>
              </a:spcAft>
              <a:buSzPct val="100000"/>
              <a:buChar char="•"/>
            </a:pPr>
            <a:r>
              <a:rPr lang="en-US" sz="1900" dirty="0">
                <a:solidFill>
                  <a:srgbClr val="FFFFFF"/>
                </a:solidFill>
              </a:rPr>
              <a:t>생활용어와 법 · 무연고 사망과 공영장례</a:t>
            </a:r>
            <a:endParaRPr lang="en-US" sz="1900" dirty="0"/>
          </a:p>
          <a:p>
            <a:pPr marL="342900" indent="-342900">
              <a:spcAft>
                <a:spcPts val="600"/>
              </a:spcAft>
              <a:buSzPct val="100000"/>
              <a:buChar char="•"/>
            </a:pPr>
            <a:r>
              <a:rPr lang="en-US" sz="1900" dirty="0">
                <a:solidFill>
                  <a:srgbClr val="FFFFFF"/>
                </a:solidFill>
              </a:rPr>
              <a:t>장례의 기능·비용·e하늘 · WLC의 역할 경계</a:t>
            </a:r>
            <a:endParaRPr lang="en-US" sz="19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6절 봉안</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“모시는 곳”의 선택에서 “관리 가능한 추모”로</a:t>
            </a:r>
            <a:endParaRPr lang="en-US" sz="2800" dirty="0"/>
          </a:p>
        </p:txBody>
      </p:sp>
      <p:sp>
        <p:nvSpPr>
          <p:cNvPr id="4" name="Shape 2"/>
          <p:cNvSpPr/>
          <p:nvPr/>
        </p:nvSpPr>
        <p:spPr>
          <a:xfrm>
            <a:off x="548640" y="1554480"/>
            <a:ext cx="3515258" cy="3520440"/>
          </a:xfrm>
          <a:prstGeom prst="roundRect">
            <a:avLst>
              <a:gd name="adj" fmla="val 3121"/>
            </a:avLst>
          </a:prstGeom>
          <a:solidFill>
            <a:srgbClr val="EAF3F0"/>
          </a:solidFill>
          <a:ln w="12700">
            <a:solidFill>
              <a:srgbClr val="EAF3F0"/>
            </a:solidFill>
            <a:prstDash val="solid"/>
          </a:ln>
        </p:spPr>
      </p:sp>
      <p:sp>
        <p:nvSpPr>
          <p:cNvPr id="5" name="Shape 3"/>
          <p:cNvSpPr/>
          <p:nvPr/>
        </p:nvSpPr>
        <p:spPr>
          <a:xfrm>
            <a:off x="777240" y="1783080"/>
            <a:ext cx="548640" cy="548640"/>
          </a:xfrm>
          <a:prstGeom prst="ellipse">
            <a:avLst/>
          </a:prstGeom>
          <a:solidFill>
            <a:srgbClr val="2E7D6B"/>
          </a:solidFill>
          <a:ln w="12700">
            <a:solidFill>
              <a:srgbClr val="2E7D6B"/>
            </a:solidFill>
            <a:prstDash val="solid"/>
          </a:ln>
        </p:spPr>
      </p:sp>
      <p:pic>
        <p:nvPicPr>
          <p:cNvPr id="6" name="Image 0" descr="preencoded.png">    </p:cNvPr>
          <p:cNvPicPr>
            <a:picLocks noChangeAspect="1"/>
          </p:cNvPicPr>
          <p:nvPr/>
        </p:nvPicPr>
        <p:blipFill>
          <a:blip r:embed="rId1"/>
          <a:stretch>
            <a:fillRect/>
          </a:stretch>
        </p:blipFill>
        <p:spPr>
          <a:xfrm>
            <a:off x="919886" y="1925726"/>
            <a:ext cx="263347" cy="263347"/>
          </a:xfrm>
          <a:prstGeom prst="rect">
            <a:avLst/>
          </a:prstGeom>
        </p:spPr>
      </p:pic>
      <p:sp>
        <p:nvSpPr>
          <p:cNvPr id="7" name="Text 4"/>
          <p:cNvSpPr txBox="1"/>
          <p:nvPr/>
        </p:nvSpPr>
        <p:spPr>
          <a:xfrm>
            <a:off x="1508760" y="1755648"/>
            <a:ext cx="2326538" cy="3182112"/>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사용기간·연장</a:t>
            </a:r>
            <a:endParaRPr lang="en-US" sz="2200" dirty="0"/>
          </a:p>
          <a:p>
            <a:pPr indent="0" marL="0">
              <a:buNone/>
            </a:pPr>
            <a:r>
              <a:rPr lang="en-US" sz="2200" dirty="0">
                <a:solidFill>
                  <a:srgbClr val="222222"/>
                </a:solidFill>
              </a:rPr>
              <a:t>얼마 동안, 연장은 가능한가</a:t>
            </a:r>
            <a:endParaRPr lang="en-US" sz="2200" dirty="0"/>
          </a:p>
        </p:txBody>
      </p:sp>
      <p:sp>
        <p:nvSpPr>
          <p:cNvPr id="8" name="Shape 5"/>
          <p:cNvSpPr/>
          <p:nvPr/>
        </p:nvSpPr>
        <p:spPr>
          <a:xfrm>
            <a:off x="4338218" y="1554480"/>
            <a:ext cx="3515258" cy="3520440"/>
          </a:xfrm>
          <a:prstGeom prst="roundRect">
            <a:avLst>
              <a:gd name="adj" fmla="val 3121"/>
            </a:avLst>
          </a:prstGeom>
          <a:solidFill>
            <a:srgbClr val="EAF3F0"/>
          </a:solidFill>
          <a:ln w="12700">
            <a:solidFill>
              <a:srgbClr val="EAF3F0"/>
            </a:solidFill>
            <a:prstDash val="solid"/>
          </a:ln>
        </p:spPr>
      </p:sp>
      <p:sp>
        <p:nvSpPr>
          <p:cNvPr id="9" name="Shape 6"/>
          <p:cNvSpPr/>
          <p:nvPr/>
        </p:nvSpPr>
        <p:spPr>
          <a:xfrm>
            <a:off x="4566818" y="1783080"/>
            <a:ext cx="548640" cy="548640"/>
          </a:xfrm>
          <a:prstGeom prst="ellipse">
            <a:avLst/>
          </a:prstGeom>
          <a:solidFill>
            <a:srgbClr val="2E7D6B"/>
          </a:solidFill>
          <a:ln w="12700">
            <a:solidFill>
              <a:srgbClr val="2E7D6B"/>
            </a:solidFill>
            <a:prstDash val="solid"/>
          </a:ln>
        </p:spPr>
      </p:sp>
      <p:pic>
        <p:nvPicPr>
          <p:cNvPr id="10" name="Image 1" descr="preencoded.png">    </p:cNvPr>
          <p:cNvPicPr>
            <a:picLocks noChangeAspect="1"/>
          </p:cNvPicPr>
          <p:nvPr/>
        </p:nvPicPr>
        <p:blipFill>
          <a:blip r:embed="rId2"/>
          <a:stretch>
            <a:fillRect/>
          </a:stretch>
        </p:blipFill>
        <p:spPr>
          <a:xfrm>
            <a:off x="4709465" y="1925726"/>
            <a:ext cx="263347" cy="263347"/>
          </a:xfrm>
          <a:prstGeom prst="rect">
            <a:avLst/>
          </a:prstGeom>
        </p:spPr>
      </p:pic>
      <p:sp>
        <p:nvSpPr>
          <p:cNvPr id="11" name="Text 7"/>
          <p:cNvSpPr txBox="1"/>
          <p:nvPr/>
        </p:nvSpPr>
        <p:spPr>
          <a:xfrm>
            <a:off x="5298338" y="1755648"/>
            <a:ext cx="2326538" cy="3182112"/>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관리비·운영주체</a:t>
            </a:r>
            <a:endParaRPr lang="en-US" sz="2200" dirty="0"/>
          </a:p>
          <a:p>
            <a:pPr indent="0" marL="0">
              <a:buNone/>
            </a:pPr>
            <a:r>
              <a:rPr lang="en-US" sz="2200" dirty="0">
                <a:solidFill>
                  <a:srgbClr val="222222"/>
                </a:solidFill>
              </a:rPr>
              <a:t>공설인가 사설인가, 비용은</a:t>
            </a:r>
            <a:endParaRPr lang="en-US" sz="2200" dirty="0"/>
          </a:p>
        </p:txBody>
      </p:sp>
      <p:sp>
        <p:nvSpPr>
          <p:cNvPr id="12" name="Shape 8"/>
          <p:cNvSpPr/>
          <p:nvPr/>
        </p:nvSpPr>
        <p:spPr>
          <a:xfrm>
            <a:off x="8127797" y="1554480"/>
            <a:ext cx="3515258" cy="3520440"/>
          </a:xfrm>
          <a:prstGeom prst="roundRect">
            <a:avLst>
              <a:gd name="adj" fmla="val 3121"/>
            </a:avLst>
          </a:prstGeom>
          <a:solidFill>
            <a:srgbClr val="EAF3F0"/>
          </a:solidFill>
          <a:ln w="12700">
            <a:solidFill>
              <a:srgbClr val="EAF3F0"/>
            </a:solidFill>
            <a:prstDash val="solid"/>
          </a:ln>
        </p:spPr>
      </p:sp>
      <p:sp>
        <p:nvSpPr>
          <p:cNvPr id="13" name="Shape 9"/>
          <p:cNvSpPr/>
          <p:nvPr/>
        </p:nvSpPr>
        <p:spPr>
          <a:xfrm>
            <a:off x="8356397" y="1783080"/>
            <a:ext cx="548640" cy="548640"/>
          </a:xfrm>
          <a:prstGeom prst="ellipse">
            <a:avLst/>
          </a:prstGeom>
          <a:solidFill>
            <a:srgbClr val="2E7D6B"/>
          </a:solidFill>
          <a:ln w="12700">
            <a:solidFill>
              <a:srgbClr val="2E7D6B"/>
            </a:solidFill>
            <a:prstDash val="solid"/>
          </a:ln>
        </p:spPr>
      </p:sp>
      <p:pic>
        <p:nvPicPr>
          <p:cNvPr id="14" name="Image 2" descr="preencoded.png">    </p:cNvPr>
          <p:cNvPicPr>
            <a:picLocks noChangeAspect="1"/>
          </p:cNvPicPr>
          <p:nvPr/>
        </p:nvPicPr>
        <p:blipFill>
          <a:blip r:embed="rId3"/>
          <a:stretch>
            <a:fillRect/>
          </a:stretch>
        </p:blipFill>
        <p:spPr>
          <a:xfrm>
            <a:off x="8499043" y="1925726"/>
            <a:ext cx="263347" cy="263347"/>
          </a:xfrm>
          <a:prstGeom prst="rect">
            <a:avLst/>
          </a:prstGeom>
        </p:spPr>
      </p:pic>
      <p:sp>
        <p:nvSpPr>
          <p:cNvPr id="15" name="Text 10"/>
          <p:cNvSpPr txBox="1"/>
          <p:nvPr/>
        </p:nvSpPr>
        <p:spPr>
          <a:xfrm>
            <a:off x="9087917" y="1755648"/>
            <a:ext cx="2326538" cy="3182112"/>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접근성</a:t>
            </a:r>
            <a:endParaRPr lang="en-US" sz="2200" dirty="0"/>
          </a:p>
          <a:p>
            <a:pPr indent="0" marL="0">
              <a:buNone/>
            </a:pPr>
            <a:r>
              <a:rPr lang="en-US" sz="2200" dirty="0">
                <a:solidFill>
                  <a:srgbClr val="222222"/>
                </a:solidFill>
              </a:rPr>
              <a:t>가족이 자주 갈 수 있는 곳인가</a:t>
            </a:r>
            <a:endParaRPr lang="en-US" sz="2200" dirty="0"/>
          </a:p>
        </p:txBody>
      </p:sp>
      <p:sp>
        <p:nvSpPr>
          <p:cNvPr id="16" name="Shape 11"/>
          <p:cNvSpPr/>
          <p:nvPr/>
        </p:nvSpPr>
        <p:spPr>
          <a:xfrm>
            <a:off x="548640" y="5303520"/>
            <a:ext cx="11094415" cy="868680"/>
          </a:xfrm>
          <a:prstGeom prst="roundRect">
            <a:avLst>
              <a:gd name="adj" fmla="val 12632"/>
            </a:avLst>
          </a:prstGeom>
          <a:solidFill>
            <a:srgbClr val="E8EFF8"/>
          </a:solidFill>
          <a:ln w="12700">
            <a:solidFill>
              <a:srgbClr val="E8EFF8"/>
            </a:solidFill>
            <a:prstDash val="solid"/>
          </a:ln>
        </p:spPr>
      </p:sp>
      <p:sp>
        <p:nvSpPr>
          <p:cNvPr id="17" name="Shape 12"/>
          <p:cNvSpPr/>
          <p:nvPr/>
        </p:nvSpPr>
        <p:spPr>
          <a:xfrm>
            <a:off x="777240" y="5509260"/>
            <a:ext cx="457200" cy="457200"/>
          </a:xfrm>
          <a:prstGeom prst="ellipse">
            <a:avLst/>
          </a:prstGeom>
          <a:solidFill>
            <a:srgbClr val="3A6EA5"/>
          </a:solidFill>
          <a:ln w="12700">
            <a:solidFill>
              <a:srgbClr val="3A6EA5"/>
            </a:solidFill>
            <a:prstDash val="solid"/>
          </a:ln>
        </p:spPr>
      </p:sp>
      <p:pic>
        <p:nvPicPr>
          <p:cNvPr id="18" name="Image 3" descr="preencoded.png">    </p:cNvPr>
          <p:cNvPicPr>
            <a:picLocks noChangeAspect="1"/>
          </p:cNvPicPr>
          <p:nvPr/>
        </p:nvPicPr>
        <p:blipFill>
          <a:blip r:embed="rId4"/>
          <a:stretch>
            <a:fillRect/>
          </a:stretch>
        </p:blipFill>
        <p:spPr>
          <a:xfrm>
            <a:off x="896112" y="5628132"/>
            <a:ext cx="219456" cy="219456"/>
          </a:xfrm>
          <a:prstGeom prst="rect">
            <a:avLst/>
          </a:prstGeom>
        </p:spPr>
      </p:pic>
      <p:sp>
        <p:nvSpPr>
          <p:cNvPr id="19" name="Text 13"/>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3A6EA5"/>
                </a:solidFill>
              </a:rPr>
              <a:t>e하늘 활용   </a:t>
            </a:r>
            <a:pPr indent="0" marL="0">
              <a:buNone/>
            </a:pPr>
            <a:r>
              <a:rPr lang="en-US" sz="1800" dirty="0">
                <a:solidFill>
                  <a:srgbClr val="222222"/>
                </a:solidFill>
              </a:rPr>
              <a:t>봉안시설의 지역·공설/사설 구분, 시설정보와 가격정보를 확인할 수 있습니다. 특정 시설의 광고보다 공식정보를 먼저 보여 줍니다.</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7절 자연장</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자연으로 돌아간다는 것, 그리고 법적 기준</a:t>
            </a:r>
            <a:endParaRPr lang="en-US" sz="2800" dirty="0"/>
          </a:p>
        </p:txBody>
      </p:sp>
      <p:sp>
        <p:nvSpPr>
          <p:cNvPr id="4" name="Shape 2"/>
          <p:cNvSpPr/>
          <p:nvPr/>
        </p:nvSpPr>
        <p:spPr>
          <a:xfrm>
            <a:off x="548640" y="1600200"/>
            <a:ext cx="11094415" cy="2011680"/>
          </a:xfrm>
          <a:prstGeom prst="roundRect">
            <a:avLst>
              <a:gd name="adj" fmla="val 5455"/>
            </a:avLst>
          </a:prstGeom>
          <a:solidFill>
            <a:srgbClr val="EAF3F0"/>
          </a:solidFill>
          <a:ln w="12700">
            <a:solidFill>
              <a:srgbClr val="EAF3F0"/>
            </a:solidFill>
            <a:prstDash val="solid"/>
          </a:ln>
        </p:spPr>
      </p:sp>
      <p:sp>
        <p:nvSpPr>
          <p:cNvPr id="5" name="Shape 3"/>
          <p:cNvSpPr/>
          <p:nvPr/>
        </p:nvSpPr>
        <p:spPr>
          <a:xfrm>
            <a:off x="868680" y="1965960"/>
            <a:ext cx="822960" cy="822960"/>
          </a:xfrm>
          <a:prstGeom prst="ellipse">
            <a:avLst/>
          </a:prstGeom>
          <a:solidFill>
            <a:srgbClr val="2E7D6B"/>
          </a:solidFill>
          <a:ln w="12700">
            <a:solidFill>
              <a:srgbClr val="2E7D6B"/>
            </a:solidFill>
            <a:prstDash val="solid"/>
          </a:ln>
        </p:spPr>
      </p:sp>
      <p:pic>
        <p:nvPicPr>
          <p:cNvPr id="6" name="Image 0" descr="preencoded.png">    </p:cNvPr>
          <p:cNvPicPr>
            <a:picLocks noChangeAspect="1"/>
          </p:cNvPicPr>
          <p:nvPr/>
        </p:nvPicPr>
        <p:blipFill>
          <a:blip r:embed="rId1"/>
          <a:stretch>
            <a:fillRect/>
          </a:stretch>
        </p:blipFill>
        <p:spPr>
          <a:xfrm>
            <a:off x="1082650" y="2179930"/>
            <a:ext cx="395021" cy="395021"/>
          </a:xfrm>
          <a:prstGeom prst="rect">
            <a:avLst/>
          </a:prstGeom>
        </p:spPr>
      </p:pic>
      <p:sp>
        <p:nvSpPr>
          <p:cNvPr id="7" name="Text 4"/>
          <p:cNvSpPr txBox="1"/>
          <p:nvPr/>
        </p:nvSpPr>
        <p:spPr>
          <a:xfrm>
            <a:off x="1965960" y="1783080"/>
            <a:ext cx="9357055" cy="1645920"/>
          </a:xfrm>
          <a:prstGeom prst="rect">
            <a:avLst/>
          </a:prstGeom>
          <a:noFill/>
          <a:ln/>
        </p:spPr>
        <p:txBody>
          <a:bodyPr wrap="square" lIns="0" tIns="0" rIns="0" bIns="0" rtlCol="0" anchor="ctr"/>
          <a:lstStyle/>
          <a:p>
            <a:pPr indent="0" marL="0">
              <a:buNone/>
            </a:pPr>
            <a:r>
              <a:rPr lang="en-US" sz="2500" b="1" dirty="0">
                <a:solidFill>
                  <a:srgbClr val="1F4E4A"/>
                </a:solidFill>
              </a:rPr>
              <a:t>“자연스럽게 아무 곳에나 묻는 것”이 자연장이 아닙니다.</a:t>
            </a:r>
            <a:endParaRPr lang="en-US" sz="2500" dirty="0"/>
          </a:p>
          <a:p>
            <a:pPr indent="0" marL="0">
              <a:buNone/>
            </a:pPr>
            <a:r>
              <a:rPr lang="en-US" sz="2500" b="1" dirty="0">
                <a:solidFill>
                  <a:srgbClr val="1F4E4A"/>
                </a:solidFill>
              </a:rPr>
              <a:t>자연장은 법이 정한 장소와 방법을 따르는 장사방법입니다.</a:t>
            </a:r>
            <a:endParaRPr lang="en-US" sz="2500" dirty="0"/>
          </a:p>
        </p:txBody>
      </p:sp>
      <p:sp>
        <p:nvSpPr>
          <p:cNvPr id="8" name="Shape 5"/>
          <p:cNvSpPr/>
          <p:nvPr/>
        </p:nvSpPr>
        <p:spPr>
          <a:xfrm>
            <a:off x="548640" y="3886200"/>
            <a:ext cx="3515258" cy="2240280"/>
          </a:xfrm>
          <a:prstGeom prst="roundRect">
            <a:avLst>
              <a:gd name="adj" fmla="val 4898"/>
            </a:avLst>
          </a:prstGeom>
          <a:solidFill>
            <a:srgbClr val="F3F4F3"/>
          </a:solidFill>
          <a:ln w="12700">
            <a:solidFill>
              <a:srgbClr val="F3F4F3"/>
            </a:solidFill>
            <a:prstDash val="solid"/>
          </a:ln>
        </p:spPr>
      </p:sp>
      <p:sp>
        <p:nvSpPr>
          <p:cNvPr id="9" name="Text 6"/>
          <p:cNvSpPr txBox="1"/>
          <p:nvPr/>
        </p:nvSpPr>
        <p:spPr>
          <a:xfrm>
            <a:off x="777240" y="4069080"/>
            <a:ext cx="3058058" cy="1920240"/>
          </a:xfrm>
          <a:prstGeom prst="rect">
            <a:avLst/>
          </a:prstGeom>
          <a:noFill/>
          <a:ln/>
        </p:spPr>
        <p:txBody>
          <a:bodyPr wrap="square" lIns="0" tIns="0" rIns="0" bIns="0" rtlCol="0" anchor="t"/>
          <a:lstStyle/>
          <a:p>
            <a:pPr indent="0" marL="0">
              <a:spcAft>
                <a:spcPts val="800"/>
              </a:spcAft>
              <a:buNone/>
            </a:pPr>
            <a:r>
              <a:rPr lang="en-US" sz="2100" b="1" dirty="0">
                <a:solidFill>
                  <a:srgbClr val="2E7D6B"/>
                </a:solidFill>
              </a:rPr>
              <a:t>대표 방식</a:t>
            </a:r>
            <a:endParaRPr lang="en-US" sz="2100" dirty="0"/>
          </a:p>
          <a:p>
            <a:pPr indent="0" marL="0">
              <a:buNone/>
            </a:pPr>
            <a:r>
              <a:rPr lang="en-US" sz="2000" dirty="0">
                <a:solidFill>
                  <a:srgbClr val="222222"/>
                </a:solidFill>
              </a:rPr>
              <a:t>수목장, 잔디장 등</a:t>
            </a:r>
            <a:endParaRPr lang="en-US" sz="2100" dirty="0"/>
          </a:p>
        </p:txBody>
      </p:sp>
      <p:sp>
        <p:nvSpPr>
          <p:cNvPr id="10" name="Shape 7"/>
          <p:cNvSpPr/>
          <p:nvPr/>
        </p:nvSpPr>
        <p:spPr>
          <a:xfrm>
            <a:off x="4338218" y="3886200"/>
            <a:ext cx="3515258" cy="2240280"/>
          </a:xfrm>
          <a:prstGeom prst="roundRect">
            <a:avLst>
              <a:gd name="adj" fmla="val 4898"/>
            </a:avLst>
          </a:prstGeom>
          <a:solidFill>
            <a:srgbClr val="F3F4F3"/>
          </a:solidFill>
          <a:ln w="12700">
            <a:solidFill>
              <a:srgbClr val="F3F4F3"/>
            </a:solidFill>
            <a:prstDash val="solid"/>
          </a:ln>
        </p:spPr>
      </p:sp>
      <p:sp>
        <p:nvSpPr>
          <p:cNvPr id="11" name="Text 8"/>
          <p:cNvSpPr txBox="1"/>
          <p:nvPr/>
        </p:nvSpPr>
        <p:spPr>
          <a:xfrm>
            <a:off x="4566818" y="4069080"/>
            <a:ext cx="3058058" cy="1920240"/>
          </a:xfrm>
          <a:prstGeom prst="rect">
            <a:avLst/>
          </a:prstGeom>
          <a:noFill/>
          <a:ln/>
        </p:spPr>
        <p:txBody>
          <a:bodyPr wrap="square" lIns="0" tIns="0" rIns="0" bIns="0" rtlCol="0" anchor="t"/>
          <a:lstStyle/>
          <a:p>
            <a:pPr indent="0" marL="0">
              <a:spcAft>
                <a:spcPts val="800"/>
              </a:spcAft>
              <a:buNone/>
            </a:pPr>
            <a:r>
              <a:rPr lang="en-US" sz="2100" b="1" dirty="0">
                <a:solidFill>
                  <a:srgbClr val="2E7D6B"/>
                </a:solidFill>
              </a:rPr>
              <a:t>묻는 방법</a:t>
            </a:r>
            <a:endParaRPr lang="en-US" sz="2100" dirty="0"/>
          </a:p>
          <a:p>
            <a:pPr indent="0" marL="0">
              <a:buNone/>
            </a:pPr>
            <a:r>
              <a:rPr lang="en-US" sz="2000" dirty="0">
                <a:solidFill>
                  <a:srgbClr val="222222"/>
                </a:solidFill>
              </a:rPr>
              <a:t>지면에서 일정 깊이 이상, 용기가 없으면 흙과 섞어 묻기</a:t>
            </a:r>
            <a:endParaRPr lang="en-US" sz="2100" dirty="0"/>
          </a:p>
        </p:txBody>
      </p:sp>
      <p:sp>
        <p:nvSpPr>
          <p:cNvPr id="12" name="Shape 9"/>
          <p:cNvSpPr/>
          <p:nvPr/>
        </p:nvSpPr>
        <p:spPr>
          <a:xfrm>
            <a:off x="8127797" y="3886200"/>
            <a:ext cx="3515258" cy="2240280"/>
          </a:xfrm>
          <a:prstGeom prst="roundRect">
            <a:avLst>
              <a:gd name="adj" fmla="val 4898"/>
            </a:avLst>
          </a:prstGeom>
          <a:solidFill>
            <a:srgbClr val="F3F4F3"/>
          </a:solidFill>
          <a:ln w="12700">
            <a:solidFill>
              <a:srgbClr val="F3F4F3"/>
            </a:solidFill>
            <a:prstDash val="solid"/>
          </a:ln>
        </p:spPr>
      </p:sp>
      <p:sp>
        <p:nvSpPr>
          <p:cNvPr id="13" name="Text 10"/>
          <p:cNvSpPr txBox="1"/>
          <p:nvPr/>
        </p:nvSpPr>
        <p:spPr>
          <a:xfrm>
            <a:off x="8356397" y="4069080"/>
            <a:ext cx="3058058" cy="1920240"/>
          </a:xfrm>
          <a:prstGeom prst="rect">
            <a:avLst/>
          </a:prstGeom>
          <a:noFill/>
          <a:ln/>
        </p:spPr>
        <p:txBody>
          <a:bodyPr wrap="square" lIns="0" tIns="0" rIns="0" bIns="0" rtlCol="0" anchor="t"/>
          <a:lstStyle/>
          <a:p>
            <a:pPr indent="0" marL="0">
              <a:spcAft>
                <a:spcPts val="800"/>
              </a:spcAft>
              <a:buNone/>
            </a:pPr>
            <a:r>
              <a:rPr lang="en-US" sz="2100" b="1" dirty="0">
                <a:solidFill>
                  <a:srgbClr val="2E7D6B"/>
                </a:solidFill>
              </a:rPr>
              <a:t>용기 기준</a:t>
            </a:r>
            <a:endParaRPr lang="en-US" sz="2100" dirty="0"/>
          </a:p>
          <a:p>
            <a:pPr indent="0" marL="0">
              <a:buNone/>
            </a:pPr>
            <a:r>
              <a:rPr lang="en-US" sz="2000" dirty="0">
                <a:solidFill>
                  <a:srgbClr val="222222"/>
                </a:solidFill>
              </a:rPr>
              <a:t>용기를 쓰면 생분해성 재질 등 법정 기준</a:t>
            </a:r>
            <a:endParaRPr lang="en-US" sz="21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8절 2025년 이후의 변화</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골분을 뿌리는 자연장</a:t>
            </a:r>
            <a:endParaRPr lang="en-US" sz="2800" dirty="0"/>
          </a:p>
        </p:txBody>
      </p:sp>
      <p:sp>
        <p:nvSpPr>
          <p:cNvPr id="4" name="Shape 2"/>
          <p:cNvSpPr/>
          <p:nvPr/>
        </p:nvSpPr>
        <p:spPr>
          <a:xfrm>
            <a:off x="548640" y="1600200"/>
            <a:ext cx="11094415" cy="2011680"/>
          </a:xfrm>
          <a:prstGeom prst="roundRect">
            <a:avLst>
              <a:gd name="adj" fmla="val 5455"/>
            </a:avLst>
          </a:prstGeom>
          <a:solidFill>
            <a:srgbClr val="FDF1DC"/>
          </a:solidFill>
          <a:ln w="12700">
            <a:solidFill>
              <a:srgbClr val="FDF1DC"/>
            </a:solidFill>
            <a:prstDash val="solid"/>
          </a:ln>
        </p:spPr>
      </p:sp>
      <p:sp>
        <p:nvSpPr>
          <p:cNvPr id="5" name="Shape 3"/>
          <p:cNvSpPr/>
          <p:nvPr/>
        </p:nvSpPr>
        <p:spPr>
          <a:xfrm>
            <a:off x="868680" y="1965960"/>
            <a:ext cx="822960" cy="822960"/>
          </a:xfrm>
          <a:prstGeom prst="ellipse">
            <a:avLst/>
          </a:prstGeom>
          <a:solidFill>
            <a:srgbClr val="D98E04"/>
          </a:solidFill>
          <a:ln w="12700">
            <a:solidFill>
              <a:srgbClr val="D98E04"/>
            </a:solidFill>
            <a:prstDash val="solid"/>
          </a:ln>
        </p:spPr>
      </p:sp>
      <p:pic>
        <p:nvPicPr>
          <p:cNvPr id="6" name="Image 0" descr="preencoded.png">    </p:cNvPr>
          <p:cNvPicPr>
            <a:picLocks noChangeAspect="1"/>
          </p:cNvPicPr>
          <p:nvPr/>
        </p:nvPicPr>
        <p:blipFill>
          <a:blip r:embed="rId1"/>
          <a:stretch>
            <a:fillRect/>
          </a:stretch>
        </p:blipFill>
        <p:spPr>
          <a:xfrm>
            <a:off x="1082650" y="2179930"/>
            <a:ext cx="395021" cy="395021"/>
          </a:xfrm>
          <a:prstGeom prst="rect">
            <a:avLst/>
          </a:prstGeom>
        </p:spPr>
      </p:pic>
      <p:sp>
        <p:nvSpPr>
          <p:cNvPr id="7" name="Text 4"/>
          <p:cNvSpPr txBox="1"/>
          <p:nvPr/>
        </p:nvSpPr>
        <p:spPr>
          <a:xfrm>
            <a:off x="1965960" y="1783080"/>
            <a:ext cx="9357055" cy="1645920"/>
          </a:xfrm>
          <a:prstGeom prst="rect">
            <a:avLst/>
          </a:prstGeom>
          <a:noFill/>
          <a:ln/>
        </p:spPr>
        <p:txBody>
          <a:bodyPr wrap="square" lIns="0" tIns="0" rIns="0" bIns="0" rtlCol="0" anchor="ctr"/>
          <a:lstStyle/>
          <a:p>
            <a:pPr indent="0" marL="0">
              <a:buNone/>
            </a:pPr>
            <a:r>
              <a:rPr lang="en-US" sz="2500" b="1" dirty="0">
                <a:solidFill>
                  <a:srgbClr val="1F4E4A"/>
                </a:solidFill>
              </a:rPr>
              <a:t>2025년 1월 24일 시행된 장사법 개정으로, 화장한 골분을</a:t>
            </a:r>
            <a:endParaRPr lang="en-US" sz="2500" dirty="0"/>
          </a:p>
          <a:p>
            <a:pPr indent="0" marL="0">
              <a:buNone/>
            </a:pPr>
            <a:r>
              <a:rPr lang="en-US" sz="2500" b="1" dirty="0">
                <a:solidFill>
                  <a:srgbClr val="1F4E4A"/>
                </a:solidFill>
              </a:rPr>
              <a:t>법이 정한 해양 등 일정 구역에 뿌리는 방식이 자연장에 포함되었습니다.</a:t>
            </a:r>
            <a:endParaRPr lang="en-US" sz="2500" dirty="0"/>
          </a:p>
        </p:txBody>
      </p:sp>
      <p:sp>
        <p:nvSpPr>
          <p:cNvPr id="8" name="Shape 5"/>
          <p:cNvSpPr/>
          <p:nvPr/>
        </p:nvSpPr>
        <p:spPr>
          <a:xfrm>
            <a:off x="548640" y="3886200"/>
            <a:ext cx="3515258" cy="2240280"/>
          </a:xfrm>
          <a:prstGeom prst="roundRect">
            <a:avLst>
              <a:gd name="adj" fmla="val 4898"/>
            </a:avLst>
          </a:prstGeom>
          <a:solidFill>
            <a:srgbClr val="F3F4F3"/>
          </a:solidFill>
          <a:ln w="12700">
            <a:solidFill>
              <a:srgbClr val="F3F4F3"/>
            </a:solidFill>
            <a:prstDash val="solid"/>
          </a:ln>
        </p:spPr>
      </p:sp>
      <p:sp>
        <p:nvSpPr>
          <p:cNvPr id="9" name="Text 6"/>
          <p:cNvSpPr txBox="1"/>
          <p:nvPr/>
        </p:nvSpPr>
        <p:spPr>
          <a:xfrm>
            <a:off x="777240" y="4069080"/>
            <a:ext cx="3058058" cy="1920240"/>
          </a:xfrm>
          <a:prstGeom prst="rect">
            <a:avLst/>
          </a:prstGeom>
          <a:noFill/>
          <a:ln/>
        </p:spPr>
        <p:txBody>
          <a:bodyPr wrap="square" lIns="0" tIns="0" rIns="0" bIns="0" rtlCol="0" anchor="t"/>
          <a:lstStyle/>
          <a:p>
            <a:pPr indent="0" marL="0">
              <a:spcAft>
                <a:spcPts val="800"/>
              </a:spcAft>
              <a:buNone/>
            </a:pPr>
            <a:r>
              <a:rPr lang="en-US" sz="2100" b="1" dirty="0">
                <a:solidFill>
                  <a:srgbClr val="D98E04"/>
                </a:solidFill>
              </a:rPr>
              <a:t>해양</a:t>
            </a:r>
            <a:endParaRPr lang="en-US" sz="2100" dirty="0"/>
          </a:p>
          <a:p>
            <a:pPr indent="0" marL="0">
              <a:buNone/>
            </a:pPr>
            <a:r>
              <a:rPr lang="en-US" sz="2000" dirty="0">
                <a:solidFill>
                  <a:srgbClr val="222222"/>
                </a:solidFill>
              </a:rPr>
              <a:t>해안선에서 5km 이상, 수면 가까이 (다음 장)</a:t>
            </a:r>
            <a:endParaRPr lang="en-US" sz="2100" dirty="0"/>
          </a:p>
        </p:txBody>
      </p:sp>
      <p:sp>
        <p:nvSpPr>
          <p:cNvPr id="10" name="Shape 7"/>
          <p:cNvSpPr/>
          <p:nvPr/>
        </p:nvSpPr>
        <p:spPr>
          <a:xfrm>
            <a:off x="4338218" y="3886200"/>
            <a:ext cx="3515258" cy="2240280"/>
          </a:xfrm>
          <a:prstGeom prst="roundRect">
            <a:avLst>
              <a:gd name="adj" fmla="val 4898"/>
            </a:avLst>
          </a:prstGeom>
          <a:solidFill>
            <a:srgbClr val="F3F4F3"/>
          </a:solidFill>
          <a:ln w="12700">
            <a:solidFill>
              <a:srgbClr val="F3F4F3"/>
            </a:solidFill>
            <a:prstDash val="solid"/>
          </a:ln>
        </p:spPr>
      </p:sp>
      <p:sp>
        <p:nvSpPr>
          <p:cNvPr id="11" name="Text 8"/>
          <p:cNvSpPr txBox="1"/>
          <p:nvPr/>
        </p:nvSpPr>
        <p:spPr>
          <a:xfrm>
            <a:off x="4566818" y="4069080"/>
            <a:ext cx="3058058" cy="1920240"/>
          </a:xfrm>
          <a:prstGeom prst="rect">
            <a:avLst/>
          </a:prstGeom>
          <a:noFill/>
          <a:ln/>
        </p:spPr>
        <p:txBody>
          <a:bodyPr wrap="square" lIns="0" tIns="0" rIns="0" bIns="0" rtlCol="0" anchor="t"/>
          <a:lstStyle/>
          <a:p>
            <a:pPr indent="0" marL="0">
              <a:spcAft>
                <a:spcPts val="800"/>
              </a:spcAft>
              <a:buNone/>
            </a:pPr>
            <a:r>
              <a:rPr lang="en-US" sz="2100" b="1" dirty="0">
                <a:solidFill>
                  <a:srgbClr val="D98E04"/>
                </a:solidFill>
              </a:rPr>
              <a:t>육상</a:t>
            </a:r>
            <a:endParaRPr lang="en-US" sz="2100" dirty="0"/>
          </a:p>
          <a:p>
            <a:pPr indent="0" marL="0">
              <a:buNone/>
            </a:pPr>
            <a:r>
              <a:rPr lang="en-US" sz="2000" dirty="0">
                <a:solidFill>
                  <a:srgbClr val="222222"/>
                </a:solidFill>
              </a:rPr>
              <a:t>허용 구역·장사시설 안 정해진 장소, 흩날리지 않게</a:t>
            </a:r>
            <a:endParaRPr lang="en-US" sz="2100" dirty="0"/>
          </a:p>
        </p:txBody>
      </p:sp>
      <p:sp>
        <p:nvSpPr>
          <p:cNvPr id="12" name="Shape 9"/>
          <p:cNvSpPr/>
          <p:nvPr/>
        </p:nvSpPr>
        <p:spPr>
          <a:xfrm>
            <a:off x="8127797" y="3886200"/>
            <a:ext cx="3515258" cy="2240280"/>
          </a:xfrm>
          <a:prstGeom prst="roundRect">
            <a:avLst>
              <a:gd name="adj" fmla="val 4898"/>
            </a:avLst>
          </a:prstGeom>
          <a:solidFill>
            <a:srgbClr val="F3F4F3"/>
          </a:solidFill>
          <a:ln w="12700">
            <a:solidFill>
              <a:srgbClr val="F3F4F3"/>
            </a:solidFill>
            <a:prstDash val="solid"/>
          </a:ln>
        </p:spPr>
      </p:sp>
      <p:sp>
        <p:nvSpPr>
          <p:cNvPr id="13" name="Text 10"/>
          <p:cNvSpPr txBox="1"/>
          <p:nvPr/>
        </p:nvSpPr>
        <p:spPr>
          <a:xfrm>
            <a:off x="8356397" y="4069080"/>
            <a:ext cx="3058058" cy="1920240"/>
          </a:xfrm>
          <a:prstGeom prst="rect">
            <a:avLst/>
          </a:prstGeom>
          <a:noFill/>
          <a:ln/>
        </p:spPr>
        <p:txBody>
          <a:bodyPr wrap="square" lIns="0" tIns="0" rIns="0" bIns="0" rtlCol="0" anchor="t"/>
          <a:lstStyle/>
          <a:p>
            <a:pPr indent="0" marL="0">
              <a:spcAft>
                <a:spcPts val="800"/>
              </a:spcAft>
              <a:buNone/>
            </a:pPr>
            <a:r>
              <a:rPr lang="en-US" sz="2100" b="1" dirty="0">
                <a:solidFill>
                  <a:srgbClr val="D98E04"/>
                </a:solidFill>
              </a:rPr>
              <a:t>반드시 확인</a:t>
            </a:r>
            <a:endParaRPr lang="en-US" sz="2100" dirty="0"/>
          </a:p>
          <a:p>
            <a:pPr indent="0" marL="0">
              <a:buNone/>
            </a:pPr>
            <a:r>
              <a:rPr lang="en-US" sz="2000" dirty="0">
                <a:solidFill>
                  <a:srgbClr val="222222"/>
                </a:solidFill>
              </a:rPr>
              <a:t>실행 전 국가법령정보센터·e하늘·지자체</a:t>
            </a:r>
            <a:endParaRPr lang="en-US" sz="21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8.1 해양에 뿌리는 경우</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시행령이 정한 해양 산분의 기준</a:t>
            </a:r>
            <a:endParaRPr lang="en-US" sz="2800" dirty="0"/>
          </a:p>
        </p:txBody>
      </p:sp>
      <p:sp>
        <p:nvSpPr>
          <p:cNvPr id="4" name="Shape 2"/>
          <p:cNvSpPr/>
          <p:nvPr/>
        </p:nvSpPr>
        <p:spPr>
          <a:xfrm>
            <a:off x="548640" y="1600200"/>
            <a:ext cx="438912" cy="438912"/>
          </a:xfrm>
          <a:prstGeom prst="ellipse">
            <a:avLst/>
          </a:prstGeom>
          <a:solidFill>
            <a:srgbClr val="D98E04"/>
          </a:solidFill>
          <a:ln w="12700">
            <a:solidFill>
              <a:srgbClr val="D98E04"/>
            </a:solidFill>
            <a:prstDash val="solid"/>
          </a:ln>
        </p:spPr>
      </p:sp>
      <p:sp>
        <p:nvSpPr>
          <p:cNvPr id="5" name="Text 3"/>
          <p:cNvSpPr txBox="1"/>
          <p:nvPr/>
        </p:nvSpPr>
        <p:spPr>
          <a:xfrm>
            <a:off x="548640"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170432" y="1572768"/>
            <a:ext cx="10408615" cy="806958"/>
          </a:xfrm>
          <a:prstGeom prst="rect">
            <a:avLst/>
          </a:prstGeom>
          <a:noFill/>
          <a:ln/>
        </p:spPr>
        <p:txBody>
          <a:bodyPr wrap="square" lIns="0" tIns="0" rIns="0" bIns="0" rtlCol="0" anchor="t"/>
          <a:lstStyle/>
          <a:p>
            <a:pPr indent="0" marL="0">
              <a:buNone/>
            </a:pPr>
            <a:r>
              <a:rPr lang="en-US" sz="2200" b="1" dirty="0">
                <a:solidFill>
                  <a:srgbClr val="1F4E4A"/>
                </a:solidFill>
              </a:rPr>
              <a:t>거리 </a:t>
            </a:r>
            <a:pPr indent="0" marL="0">
              <a:buNone/>
            </a:pPr>
            <a:r>
              <a:rPr lang="en-US" sz="2200" dirty="0">
                <a:solidFill>
                  <a:srgbClr val="222222"/>
                </a:solidFill>
              </a:rPr>
              <a:t>  육지 해안선으로부터 5킬로미터 이상 떨어진 곳에서</a:t>
            </a:r>
            <a:endParaRPr lang="en-US" sz="2200" dirty="0"/>
          </a:p>
        </p:txBody>
      </p:sp>
      <p:sp>
        <p:nvSpPr>
          <p:cNvPr id="7" name="Shape 5"/>
          <p:cNvSpPr/>
          <p:nvPr/>
        </p:nvSpPr>
        <p:spPr>
          <a:xfrm>
            <a:off x="548640" y="2480310"/>
            <a:ext cx="438912" cy="438912"/>
          </a:xfrm>
          <a:prstGeom prst="ellipse">
            <a:avLst/>
          </a:prstGeom>
          <a:solidFill>
            <a:srgbClr val="D98E04"/>
          </a:solidFill>
          <a:ln w="12700">
            <a:solidFill>
              <a:srgbClr val="D98E04"/>
            </a:solidFill>
            <a:prstDash val="solid"/>
          </a:ln>
        </p:spPr>
      </p:sp>
      <p:sp>
        <p:nvSpPr>
          <p:cNvPr id="8" name="Text 6"/>
          <p:cNvSpPr txBox="1"/>
          <p:nvPr/>
        </p:nvSpPr>
        <p:spPr>
          <a:xfrm>
            <a:off x="548640" y="248031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1170432" y="2452878"/>
            <a:ext cx="10408615" cy="806958"/>
          </a:xfrm>
          <a:prstGeom prst="rect">
            <a:avLst/>
          </a:prstGeom>
          <a:noFill/>
          <a:ln/>
        </p:spPr>
        <p:txBody>
          <a:bodyPr wrap="square" lIns="0" tIns="0" rIns="0" bIns="0" rtlCol="0" anchor="t"/>
          <a:lstStyle/>
          <a:p>
            <a:pPr indent="0" marL="0">
              <a:buNone/>
            </a:pPr>
            <a:r>
              <a:rPr lang="en-US" sz="2200" b="1" dirty="0">
                <a:solidFill>
                  <a:srgbClr val="1F4E4A"/>
                </a:solidFill>
              </a:rPr>
              <a:t>방법 </a:t>
            </a:r>
            <a:pPr indent="0" marL="0">
              <a:buNone/>
            </a:pPr>
            <a:r>
              <a:rPr lang="en-US" sz="2200" dirty="0">
                <a:solidFill>
                  <a:srgbClr val="222222"/>
                </a:solidFill>
              </a:rPr>
              <a:t>  골분이 흩날리지 않도록 수면 가까이 뿌린다</a:t>
            </a:r>
            <a:endParaRPr lang="en-US" sz="2200" dirty="0"/>
          </a:p>
        </p:txBody>
      </p:sp>
      <p:sp>
        <p:nvSpPr>
          <p:cNvPr id="10" name="Shape 8"/>
          <p:cNvSpPr/>
          <p:nvPr/>
        </p:nvSpPr>
        <p:spPr>
          <a:xfrm>
            <a:off x="548640" y="3360420"/>
            <a:ext cx="438912" cy="438912"/>
          </a:xfrm>
          <a:prstGeom prst="ellipse">
            <a:avLst/>
          </a:prstGeom>
          <a:solidFill>
            <a:srgbClr val="D98E04"/>
          </a:solidFill>
          <a:ln w="12700">
            <a:solidFill>
              <a:srgbClr val="D98E04"/>
            </a:solidFill>
            <a:prstDash val="solid"/>
          </a:ln>
        </p:spPr>
      </p:sp>
      <p:sp>
        <p:nvSpPr>
          <p:cNvPr id="11" name="Text 9"/>
          <p:cNvSpPr txBox="1"/>
          <p:nvPr/>
        </p:nvSpPr>
        <p:spPr>
          <a:xfrm>
            <a:off x="548640" y="33604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10"/>
          <p:cNvSpPr txBox="1"/>
          <p:nvPr/>
        </p:nvSpPr>
        <p:spPr>
          <a:xfrm>
            <a:off x="1170432" y="3332988"/>
            <a:ext cx="10408615" cy="806958"/>
          </a:xfrm>
          <a:prstGeom prst="rect">
            <a:avLst/>
          </a:prstGeom>
          <a:noFill/>
          <a:ln/>
        </p:spPr>
        <p:txBody>
          <a:bodyPr wrap="square" lIns="0" tIns="0" rIns="0" bIns="0" rtlCol="0" anchor="t"/>
          <a:lstStyle/>
          <a:p>
            <a:pPr indent="0" marL="0">
              <a:buNone/>
            </a:pPr>
            <a:r>
              <a:rPr lang="en-US" sz="2200" b="1" dirty="0">
                <a:solidFill>
                  <a:srgbClr val="1F4E4A"/>
                </a:solidFill>
              </a:rPr>
              <a:t>방해 금지 </a:t>
            </a:r>
            <a:pPr indent="0" marL="0">
              <a:buNone/>
            </a:pPr>
            <a:r>
              <a:rPr lang="en-US" sz="2200" dirty="0">
                <a:solidFill>
                  <a:srgbClr val="222222"/>
                </a:solidFill>
              </a:rPr>
              <a:t>  다른 선박의 항행, 어업, 양식 등을 방해하지 않는다</a:t>
            </a:r>
            <a:endParaRPr lang="en-US" sz="2200" dirty="0"/>
          </a:p>
        </p:txBody>
      </p:sp>
      <p:sp>
        <p:nvSpPr>
          <p:cNvPr id="13" name="Shape 11"/>
          <p:cNvSpPr/>
          <p:nvPr/>
        </p:nvSpPr>
        <p:spPr>
          <a:xfrm>
            <a:off x="548640" y="4240530"/>
            <a:ext cx="438912" cy="438912"/>
          </a:xfrm>
          <a:prstGeom prst="ellipse">
            <a:avLst/>
          </a:prstGeom>
          <a:solidFill>
            <a:srgbClr val="D98E04"/>
          </a:solidFill>
          <a:ln w="12700">
            <a:solidFill>
              <a:srgbClr val="D98E04"/>
            </a:solidFill>
            <a:prstDash val="solid"/>
          </a:ln>
        </p:spPr>
      </p:sp>
      <p:sp>
        <p:nvSpPr>
          <p:cNvPr id="14" name="Text 12"/>
          <p:cNvSpPr txBox="1"/>
          <p:nvPr/>
        </p:nvSpPr>
        <p:spPr>
          <a:xfrm>
            <a:off x="548640" y="424053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5" name="Text 13"/>
          <p:cNvSpPr txBox="1"/>
          <p:nvPr/>
        </p:nvSpPr>
        <p:spPr>
          <a:xfrm>
            <a:off x="1170432" y="4213098"/>
            <a:ext cx="10408615" cy="806958"/>
          </a:xfrm>
          <a:prstGeom prst="rect">
            <a:avLst/>
          </a:prstGeom>
          <a:noFill/>
          <a:ln/>
        </p:spPr>
        <p:txBody>
          <a:bodyPr wrap="square" lIns="0" tIns="0" rIns="0" bIns="0" rtlCol="0" anchor="t"/>
          <a:lstStyle/>
          <a:p>
            <a:pPr indent="0" marL="0">
              <a:buNone/>
            </a:pPr>
            <a:r>
              <a:rPr lang="en-US" sz="2200" b="1" dirty="0">
                <a:solidFill>
                  <a:srgbClr val="1F4E4A"/>
                </a:solidFill>
              </a:rPr>
              <a:t>배출 금지 </a:t>
            </a:r>
            <a:pPr indent="0" marL="0">
              <a:buNone/>
            </a:pPr>
            <a:r>
              <a:rPr lang="en-US" sz="2200" dirty="0">
                <a:solidFill>
                  <a:srgbClr val="222222"/>
                </a:solidFill>
              </a:rPr>
              <a:t>  골분과 생화 외의 용기·유품 등을 해양으로 배출하지 않는다</a:t>
            </a:r>
            <a:endParaRPr lang="en-US" sz="2200" dirty="0"/>
          </a:p>
        </p:txBody>
      </p:sp>
      <p:sp>
        <p:nvSpPr>
          <p:cNvPr id="16" name="Shape 14"/>
          <p:cNvSpPr/>
          <p:nvPr/>
        </p:nvSpPr>
        <p:spPr>
          <a:xfrm>
            <a:off x="548640" y="5303520"/>
            <a:ext cx="11094415" cy="868680"/>
          </a:xfrm>
          <a:prstGeom prst="roundRect">
            <a:avLst>
              <a:gd name="adj" fmla="val 12632"/>
            </a:avLst>
          </a:prstGeom>
          <a:solidFill>
            <a:srgbClr val="FDF1DC"/>
          </a:solidFill>
          <a:ln w="12700">
            <a:solidFill>
              <a:srgbClr val="FDF1DC"/>
            </a:solidFill>
            <a:prstDash val="solid"/>
          </a:ln>
        </p:spPr>
      </p:sp>
      <p:sp>
        <p:nvSpPr>
          <p:cNvPr id="17" name="Shape 15"/>
          <p:cNvSpPr/>
          <p:nvPr/>
        </p:nvSpPr>
        <p:spPr>
          <a:xfrm>
            <a:off x="777240" y="5509260"/>
            <a:ext cx="457200" cy="457200"/>
          </a:xfrm>
          <a:prstGeom prst="ellipse">
            <a:avLst/>
          </a:prstGeom>
          <a:solidFill>
            <a:srgbClr val="D98E04"/>
          </a:solidFill>
          <a:ln w="12700">
            <a:solidFill>
              <a:srgbClr val="D98E04"/>
            </a:solidFill>
            <a:prstDash val="solid"/>
          </a:ln>
        </p:spPr>
      </p:sp>
      <p:pic>
        <p:nvPicPr>
          <p:cNvPr id="18" name="Image 0" descr="preencoded.png">    </p:cNvPr>
          <p:cNvPicPr>
            <a:picLocks noChangeAspect="1"/>
          </p:cNvPicPr>
          <p:nvPr/>
        </p:nvPicPr>
        <p:blipFill>
          <a:blip r:embed="rId1"/>
          <a:stretch>
            <a:fillRect/>
          </a:stretch>
        </p:blipFill>
        <p:spPr>
          <a:xfrm>
            <a:off x="896112" y="5628132"/>
            <a:ext cx="219456" cy="219456"/>
          </a:xfrm>
          <a:prstGeom prst="rect">
            <a:avLst/>
          </a:prstGeom>
        </p:spPr>
      </p:pic>
      <p:sp>
        <p:nvSpPr>
          <p:cNvPr id="19" name="Text 16"/>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D98E04"/>
                </a:solidFill>
              </a:rPr>
              <a:t>WLC 필수 주의   </a:t>
            </a:r>
            <a:pPr indent="0" marL="0">
              <a:buNone/>
            </a:pPr>
            <a:r>
              <a:rPr lang="en-US" sz="1800" dirty="0">
                <a:solidFill>
                  <a:srgbClr val="222222"/>
                </a:solidFill>
              </a:rPr>
              <a:t>“강이나 가까운 바다에 뿌려도 된다”, “산이면 어디든 가능하다”는 안내는 부정확합니다.</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9절 생활용어와 법</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서비스 이름이 곧 법정 장사방법은 아니다</a:t>
            </a:r>
            <a:endParaRPr lang="en-US" sz="2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743200"/>
                <a:gridCol w="8321040"/>
              </a:tblGrid>
              <a:tr h="603504">
                <a:tc>
                  <a:txBody>
                    <a:bodyPr/>
                    <a:lstStyle/>
                    <a:p>
                      <a:pPr algn="ctr" indent="0" marL="0">
                        <a:buNone/>
                      </a:pPr>
                      <a:r>
                        <a:rPr lang="en-US" sz="1500" b="1" dirty="0">
                          <a:solidFill>
                            <a:srgbClr val="FFFFFF"/>
                          </a:solidFill>
                          <a:latin typeface="Noto Serif KR Black" pitchFamily="34" charset="0"/>
                          <a:ea typeface="Noto Serif KR Black" pitchFamily="34" charset="-122"/>
                          <a:cs typeface="Noto Serif KR Black" pitchFamily="34" charset="-120"/>
                        </a:rPr>
                        <a:t>생활·서비스 표현</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500" b="1" dirty="0">
                          <a:solidFill>
                            <a:srgbClr val="FFFFFF"/>
                          </a:solidFill>
                          <a:latin typeface="Noto Serif KR Black" pitchFamily="34" charset="0"/>
                          <a:ea typeface="Noto Serif KR Black" pitchFamily="34" charset="-122"/>
                          <a:cs typeface="Noto Serif KR Black" pitchFamily="34" charset="-120"/>
                        </a:rPr>
                        <a:t>교육에서 확인할 점</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603504">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해양장·바다장</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실제 행위가 법정 자연장 중 해양에 골분을 뿌리는 방식인지</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603504">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산분장</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법정 용어라기보다 통용 표현 — 실제 장소·방법 규정 확인</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603504">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수목장</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법률상 자연장 또는 수목장림 기준에 맞는 시설인지</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603504">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가족장·소규모장례</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장례의 규모·운영방식 — 유골 처리방법과는 별개</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603504">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무빈소장례</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빈소 운영 여부에 관한 표현 — 법정 장사방법과 별개</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짝 활동</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이 광고 문구, 정확한가요?</a:t>
            </a:r>
            <a:endParaRPr lang="en-US" sz="2800" dirty="0"/>
          </a:p>
        </p:txBody>
      </p:sp>
      <p:sp>
        <p:nvSpPr>
          <p:cNvPr id="4" name="Shape 2"/>
          <p:cNvSpPr/>
          <p:nvPr/>
        </p:nvSpPr>
        <p:spPr>
          <a:xfrm>
            <a:off x="548640" y="1554480"/>
            <a:ext cx="7406640" cy="4572000"/>
          </a:xfrm>
          <a:prstGeom prst="roundRect">
            <a:avLst>
              <a:gd name="adj" fmla="val 24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737360"/>
            <a:ext cx="6858000" cy="960120"/>
          </a:xfrm>
          <a:prstGeom prst="rect">
            <a:avLst/>
          </a:prstGeom>
          <a:noFill/>
          <a:ln/>
        </p:spPr>
        <p:txBody>
          <a:bodyPr wrap="square" lIns="0" tIns="0" rIns="0" bIns="0" rtlCol="0" anchor="ctr"/>
          <a:lstStyle/>
          <a:p>
            <a:pPr indent="0" marL="0">
              <a:buNone/>
            </a:pPr>
            <a:r>
              <a:rPr lang="en-US" sz="2400" b="1" dirty="0">
                <a:solidFill>
                  <a:srgbClr val="1F4E4A"/>
                </a:solidFill>
              </a:rPr>
              <a:t>다음 문구를 읽고 정확한지, 무엇을 더 확인해야 하는지 짝과 이야기합니다.</a:t>
            </a:r>
            <a:endParaRPr lang="en-US" sz="2400" dirty="0"/>
          </a:p>
        </p:txBody>
      </p:sp>
      <p:sp>
        <p:nvSpPr>
          <p:cNvPr id="6" name="Shape 4"/>
          <p:cNvSpPr/>
          <p:nvPr/>
        </p:nvSpPr>
        <p:spPr>
          <a:xfrm>
            <a:off x="822960" y="2852928"/>
            <a:ext cx="384048" cy="384048"/>
          </a:xfrm>
          <a:prstGeom prst="ellipse">
            <a:avLst/>
          </a:prstGeom>
          <a:solidFill>
            <a:srgbClr val="2E7D6B"/>
          </a:solidFill>
          <a:ln w="12700">
            <a:solidFill>
              <a:srgbClr val="2E7D6B"/>
            </a:solidFill>
            <a:prstDash val="solid"/>
          </a:ln>
        </p:spPr>
      </p:sp>
      <p:sp>
        <p:nvSpPr>
          <p:cNvPr id="7" name="Text 5"/>
          <p:cNvSpPr txBox="1"/>
          <p:nvPr/>
        </p:nvSpPr>
        <p:spPr>
          <a:xfrm>
            <a:off x="822960" y="2852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6"/>
          <p:cNvSpPr txBox="1"/>
          <p:nvPr/>
        </p:nvSpPr>
        <p:spPr>
          <a:xfrm>
            <a:off x="1371600" y="2834640"/>
            <a:ext cx="6309360" cy="990600"/>
          </a:xfrm>
          <a:prstGeom prst="rect">
            <a:avLst/>
          </a:prstGeom>
          <a:noFill/>
          <a:ln/>
        </p:spPr>
        <p:txBody>
          <a:bodyPr wrap="square" lIns="0" tIns="0" rIns="0" bIns="0" rtlCol="0" anchor="t"/>
          <a:lstStyle/>
          <a:p>
            <a:pPr indent="0" marL="0">
              <a:buNone/>
            </a:pPr>
            <a:r>
              <a:rPr lang="en-US" sz="2100" dirty="0">
                <a:solidFill>
                  <a:srgbClr val="222222"/>
                </a:solidFill>
              </a:rPr>
              <a:t>“가까운 해변에서 바다장으로 모십니다.”</a:t>
            </a:r>
            <a:endParaRPr lang="en-US" sz="2100" dirty="0"/>
          </a:p>
        </p:txBody>
      </p:sp>
      <p:sp>
        <p:nvSpPr>
          <p:cNvPr id="9" name="Shape 7"/>
          <p:cNvSpPr/>
          <p:nvPr/>
        </p:nvSpPr>
        <p:spPr>
          <a:xfrm>
            <a:off x="822960" y="3889248"/>
            <a:ext cx="384048" cy="384048"/>
          </a:xfrm>
          <a:prstGeom prst="ellipse">
            <a:avLst/>
          </a:prstGeom>
          <a:solidFill>
            <a:srgbClr val="2E7D6B"/>
          </a:solidFill>
          <a:ln w="12700">
            <a:solidFill>
              <a:srgbClr val="2E7D6B"/>
            </a:solidFill>
            <a:prstDash val="solid"/>
          </a:ln>
        </p:spPr>
      </p:sp>
      <p:sp>
        <p:nvSpPr>
          <p:cNvPr id="10" name="Text 8"/>
          <p:cNvSpPr txBox="1"/>
          <p:nvPr/>
        </p:nvSpPr>
        <p:spPr>
          <a:xfrm>
            <a:off x="822960" y="38892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1371600" y="3870960"/>
            <a:ext cx="6309360" cy="990600"/>
          </a:xfrm>
          <a:prstGeom prst="rect">
            <a:avLst/>
          </a:prstGeom>
          <a:noFill/>
          <a:ln/>
        </p:spPr>
        <p:txBody>
          <a:bodyPr wrap="square" lIns="0" tIns="0" rIns="0" bIns="0" rtlCol="0" anchor="t"/>
          <a:lstStyle/>
          <a:p>
            <a:pPr indent="0" marL="0">
              <a:buNone/>
            </a:pPr>
            <a:r>
              <a:rPr lang="en-US" sz="2100" dirty="0">
                <a:solidFill>
                  <a:srgbClr val="222222"/>
                </a:solidFill>
              </a:rPr>
              <a:t>“산 좋은 곳 어디든 수목장 가능합니다.”</a:t>
            </a:r>
            <a:endParaRPr lang="en-US" sz="2100" dirty="0"/>
          </a:p>
        </p:txBody>
      </p:sp>
      <p:sp>
        <p:nvSpPr>
          <p:cNvPr id="12" name="Shape 10"/>
          <p:cNvSpPr/>
          <p:nvPr/>
        </p:nvSpPr>
        <p:spPr>
          <a:xfrm>
            <a:off x="822960" y="4925568"/>
            <a:ext cx="384048" cy="384048"/>
          </a:xfrm>
          <a:prstGeom prst="ellipse">
            <a:avLst/>
          </a:prstGeom>
          <a:solidFill>
            <a:srgbClr val="2E7D6B"/>
          </a:solidFill>
          <a:ln w="12700">
            <a:solidFill>
              <a:srgbClr val="2E7D6B"/>
            </a:solidFill>
            <a:prstDash val="solid"/>
          </a:ln>
        </p:spPr>
      </p:sp>
      <p:sp>
        <p:nvSpPr>
          <p:cNvPr id="13" name="Text 11"/>
          <p:cNvSpPr txBox="1"/>
          <p:nvPr/>
        </p:nvSpPr>
        <p:spPr>
          <a:xfrm>
            <a:off x="822960" y="49255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1371600" y="4907280"/>
            <a:ext cx="6309360" cy="990600"/>
          </a:xfrm>
          <a:prstGeom prst="rect">
            <a:avLst/>
          </a:prstGeom>
          <a:noFill/>
          <a:ln/>
        </p:spPr>
        <p:txBody>
          <a:bodyPr wrap="square" lIns="0" tIns="0" rIns="0" bIns="0" rtlCol="0" anchor="t"/>
          <a:lstStyle/>
          <a:p>
            <a:pPr indent="0" marL="0">
              <a:buNone/>
            </a:pPr>
            <a:r>
              <a:rPr lang="en-US" sz="2100" dirty="0">
                <a:solidFill>
                  <a:srgbClr val="222222"/>
                </a:solidFill>
              </a:rPr>
              <a:t>“무빈소 가족장 — 법적으로 가장 간단한 장례방법”</a:t>
            </a:r>
            <a:endParaRPr lang="en-US" sz="2100" dirty="0"/>
          </a:p>
        </p:txBody>
      </p:sp>
      <p:sp>
        <p:nvSpPr>
          <p:cNvPr id="15" name="Shape 13"/>
          <p:cNvSpPr/>
          <p:nvPr/>
        </p:nvSpPr>
        <p:spPr>
          <a:xfrm>
            <a:off x="8229600" y="1554480"/>
            <a:ext cx="3413455" cy="1417320"/>
          </a:xfrm>
          <a:prstGeom prst="roundRect">
            <a:avLst>
              <a:gd name="adj" fmla="val 7742"/>
            </a:avLst>
          </a:prstGeom>
          <a:solidFill>
            <a:srgbClr val="1F4E4A"/>
          </a:solidFill>
          <a:ln w="12700">
            <a:solidFill>
              <a:srgbClr val="1F4E4A"/>
            </a:solidFill>
            <a:prstDash val="solid"/>
          </a:ln>
        </p:spPr>
      </p:sp>
      <p:sp>
        <p:nvSpPr>
          <p:cNvPr id="16" name="Shape 14"/>
          <p:cNvSpPr/>
          <p:nvPr/>
        </p:nvSpPr>
        <p:spPr>
          <a:xfrm>
            <a:off x="8430768" y="1755648"/>
            <a:ext cx="457200" cy="457200"/>
          </a:xfrm>
          <a:prstGeom prst="ellipse">
            <a:avLst/>
          </a:prstGeom>
          <a:solidFill>
            <a:srgbClr val="D98E04"/>
          </a:solidFill>
          <a:ln w="12700">
            <a:solidFill>
              <a:srgbClr val="D98E04"/>
            </a:solidFill>
            <a:prstDash val="solid"/>
          </a:ln>
        </p:spPr>
      </p:sp>
      <p:pic>
        <p:nvPicPr>
          <p:cNvPr id="17" name="Image 0" descr="preencoded.png">    </p:cNvPr>
          <p:cNvPicPr>
            <a:picLocks noChangeAspect="1"/>
          </p:cNvPicPr>
          <p:nvPr/>
        </p:nvPicPr>
        <p:blipFill>
          <a:blip r:embed="rId1"/>
          <a:stretch>
            <a:fillRect/>
          </a:stretch>
        </p:blipFill>
        <p:spPr>
          <a:xfrm>
            <a:off x="8549640" y="1874520"/>
            <a:ext cx="219456" cy="219456"/>
          </a:xfrm>
          <a:prstGeom prst="rect">
            <a:avLst/>
          </a:prstGeom>
        </p:spPr>
      </p:pic>
      <p:sp>
        <p:nvSpPr>
          <p:cNvPr id="18" name="Text 15"/>
          <p:cNvSpPr txBox="1"/>
          <p:nvPr/>
        </p:nvSpPr>
        <p:spPr>
          <a:xfrm>
            <a:off x="9006840" y="1755648"/>
            <a:ext cx="2499055" cy="457200"/>
          </a:xfrm>
          <a:prstGeom prst="rect">
            <a:avLst/>
          </a:prstGeom>
          <a:noFill/>
          <a:ln/>
        </p:spPr>
        <p:txBody>
          <a:bodyPr wrap="square" lIns="0" tIns="0" rIns="0" bIns="0" rtlCol="0" anchor="ctr"/>
          <a:lstStyle/>
          <a:p>
            <a:pPr indent="0" marL="0">
              <a:buNone/>
            </a:pPr>
            <a:r>
              <a:rPr lang="en-US" sz="1400" b="1" dirty="0">
                <a:solidFill>
                  <a:srgbClr val="A8C5BC"/>
                </a:solidFill>
              </a:rPr>
              <a:t>시간</a:t>
            </a:r>
            <a:endParaRPr lang="en-US" sz="1400" dirty="0"/>
          </a:p>
        </p:txBody>
      </p:sp>
      <p:sp>
        <p:nvSpPr>
          <p:cNvPr id="19" name="Text 16"/>
          <p:cNvSpPr txBox="1"/>
          <p:nvPr/>
        </p:nvSpPr>
        <p:spPr>
          <a:xfrm>
            <a:off x="8430768" y="2267712"/>
            <a:ext cx="3001975" cy="640080"/>
          </a:xfrm>
          <a:prstGeom prst="rect">
            <a:avLst/>
          </a:prstGeom>
          <a:noFill/>
          <a:ln/>
        </p:spPr>
        <p:txBody>
          <a:bodyPr wrap="square" lIns="0" tIns="0" rIns="0" bIns="0" rtlCol="0" anchor="t"/>
          <a:lstStyle/>
          <a:p>
            <a:pPr indent="0" marL="0">
              <a:buNone/>
            </a:pPr>
            <a:r>
              <a:rPr lang="en-US" sz="2800" b="1" dirty="0">
                <a:solidFill>
                  <a:srgbClr val="FFFFFF"/>
                </a:solidFill>
              </a:rPr>
              <a:t>4분</a:t>
            </a:r>
            <a:endParaRPr lang="en-US" sz="2800" dirty="0"/>
          </a:p>
        </p:txBody>
      </p:sp>
      <p:sp>
        <p:nvSpPr>
          <p:cNvPr id="20" name="Shape 17"/>
          <p:cNvSpPr/>
          <p:nvPr/>
        </p:nvSpPr>
        <p:spPr>
          <a:xfrm>
            <a:off x="8229600" y="3127248"/>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1" name="Shape 18"/>
          <p:cNvSpPr/>
          <p:nvPr/>
        </p:nvSpPr>
        <p:spPr>
          <a:xfrm>
            <a:off x="8430768" y="3328416"/>
            <a:ext cx="457200" cy="457200"/>
          </a:xfrm>
          <a:prstGeom prst="ellipse">
            <a:avLst/>
          </a:prstGeom>
          <a:solidFill>
            <a:srgbClr val="2E7D6B"/>
          </a:solidFill>
          <a:ln w="12700">
            <a:solidFill>
              <a:srgbClr val="2E7D6B"/>
            </a:solidFill>
            <a:prstDash val="solid"/>
          </a:ln>
        </p:spPr>
      </p:sp>
      <p:pic>
        <p:nvPicPr>
          <p:cNvPr id="22" name="Image 1" descr="preencoded.png">    </p:cNvPr>
          <p:cNvPicPr>
            <a:picLocks noChangeAspect="1"/>
          </p:cNvPicPr>
          <p:nvPr/>
        </p:nvPicPr>
        <p:blipFill>
          <a:blip r:embed="rId2"/>
          <a:stretch>
            <a:fillRect/>
          </a:stretch>
        </p:blipFill>
        <p:spPr>
          <a:xfrm>
            <a:off x="8549640" y="3447288"/>
            <a:ext cx="219456" cy="219456"/>
          </a:xfrm>
          <a:prstGeom prst="rect">
            <a:avLst/>
          </a:prstGeom>
        </p:spPr>
      </p:pic>
      <p:sp>
        <p:nvSpPr>
          <p:cNvPr id="23" name="Text 19"/>
          <p:cNvSpPr txBox="1"/>
          <p:nvPr/>
        </p:nvSpPr>
        <p:spPr>
          <a:xfrm>
            <a:off x="9006840" y="3328416"/>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방식</a:t>
            </a:r>
            <a:endParaRPr lang="en-US" sz="1400" dirty="0"/>
          </a:p>
        </p:txBody>
      </p:sp>
      <p:sp>
        <p:nvSpPr>
          <p:cNvPr id="24" name="Text 20"/>
          <p:cNvSpPr txBox="1"/>
          <p:nvPr/>
        </p:nvSpPr>
        <p:spPr>
          <a:xfrm>
            <a:off x="8430768" y="3840480"/>
            <a:ext cx="3001975" cy="640080"/>
          </a:xfrm>
          <a:prstGeom prst="rect">
            <a:avLst/>
          </a:prstGeom>
          <a:noFill/>
          <a:ln/>
        </p:spPr>
        <p:txBody>
          <a:bodyPr wrap="square" lIns="0" tIns="0" rIns="0" bIns="0" rtlCol="0" anchor="t"/>
          <a:lstStyle/>
          <a:p>
            <a:pPr indent="0" marL="0">
              <a:buNone/>
            </a:pPr>
            <a:r>
              <a:rPr lang="en-US" sz="1800" dirty="0">
                <a:solidFill>
                  <a:srgbClr val="222222"/>
                </a:solidFill>
              </a:rPr>
              <a:t>2인 1조</a:t>
            </a:r>
            <a:endParaRPr lang="en-US" sz="1800" dirty="0"/>
          </a:p>
        </p:txBody>
      </p:sp>
      <p:sp>
        <p:nvSpPr>
          <p:cNvPr id="25" name="Shape 21"/>
          <p:cNvSpPr/>
          <p:nvPr/>
        </p:nvSpPr>
        <p:spPr>
          <a:xfrm>
            <a:off x="8229600" y="4700016"/>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6" name="Shape 22"/>
          <p:cNvSpPr/>
          <p:nvPr/>
        </p:nvSpPr>
        <p:spPr>
          <a:xfrm>
            <a:off x="8430768" y="4901184"/>
            <a:ext cx="457200" cy="457200"/>
          </a:xfrm>
          <a:prstGeom prst="ellipse">
            <a:avLst/>
          </a:prstGeom>
          <a:solidFill>
            <a:srgbClr val="2E7D6B"/>
          </a:solidFill>
          <a:ln w="12700">
            <a:solidFill>
              <a:srgbClr val="2E7D6B"/>
            </a:solidFill>
            <a:prstDash val="solid"/>
          </a:ln>
        </p:spPr>
      </p:sp>
      <p:pic>
        <p:nvPicPr>
          <p:cNvPr id="27" name="Image 2" descr="preencoded.png">    </p:cNvPr>
          <p:cNvPicPr>
            <a:picLocks noChangeAspect="1"/>
          </p:cNvPicPr>
          <p:nvPr/>
        </p:nvPicPr>
        <p:blipFill>
          <a:blip r:embed="rId3"/>
          <a:stretch>
            <a:fillRect/>
          </a:stretch>
        </p:blipFill>
        <p:spPr>
          <a:xfrm>
            <a:off x="8549640" y="5020056"/>
            <a:ext cx="219456" cy="219456"/>
          </a:xfrm>
          <a:prstGeom prst="rect">
            <a:avLst/>
          </a:prstGeom>
        </p:spPr>
      </p:pic>
      <p:sp>
        <p:nvSpPr>
          <p:cNvPr id="28" name="Text 23"/>
          <p:cNvSpPr txBox="1"/>
          <p:nvPr/>
        </p:nvSpPr>
        <p:spPr>
          <a:xfrm>
            <a:off x="9006840" y="4901184"/>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결과물</a:t>
            </a:r>
            <a:endParaRPr lang="en-US" sz="1400" dirty="0"/>
          </a:p>
        </p:txBody>
      </p:sp>
      <p:sp>
        <p:nvSpPr>
          <p:cNvPr id="29" name="Text 24"/>
          <p:cNvSpPr txBox="1"/>
          <p:nvPr/>
        </p:nvSpPr>
        <p:spPr>
          <a:xfrm>
            <a:off x="8430768" y="5413248"/>
            <a:ext cx="3001975" cy="640080"/>
          </a:xfrm>
          <a:prstGeom prst="rect">
            <a:avLst/>
          </a:prstGeom>
          <a:noFill/>
          <a:ln/>
        </p:spPr>
        <p:txBody>
          <a:bodyPr wrap="square" lIns="0" tIns="0" rIns="0" bIns="0" rtlCol="0" anchor="t"/>
          <a:lstStyle/>
          <a:p>
            <a:pPr indent="0" marL="0">
              <a:buNone/>
            </a:pPr>
            <a:r>
              <a:rPr lang="en-US" sz="1800" dirty="0">
                <a:solidFill>
                  <a:srgbClr val="222222"/>
                </a:solidFill>
              </a:rPr>
              <a:t>문구별 “확인할 점” 1개씩</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10절 무연고 사망과 공영장례</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장례는 공공의 존엄 문제이기도 하다</a:t>
            </a:r>
            <a:endParaRPr lang="en-US" sz="2800" dirty="0"/>
          </a:p>
        </p:txBody>
      </p:sp>
      <p:sp>
        <p:nvSpPr>
          <p:cNvPr id="4" name="Shape 2"/>
          <p:cNvSpPr/>
          <p:nvPr/>
        </p:nvSpPr>
        <p:spPr>
          <a:xfrm>
            <a:off x="548640" y="1554480"/>
            <a:ext cx="3515258" cy="3520440"/>
          </a:xfrm>
          <a:prstGeom prst="roundRect">
            <a:avLst>
              <a:gd name="adj" fmla="val 3121"/>
            </a:avLst>
          </a:prstGeom>
          <a:solidFill>
            <a:srgbClr val="EAF3F0"/>
          </a:solidFill>
          <a:ln w="12700">
            <a:solidFill>
              <a:srgbClr val="EAF3F0"/>
            </a:solidFill>
            <a:prstDash val="solid"/>
          </a:ln>
        </p:spPr>
      </p:sp>
      <p:sp>
        <p:nvSpPr>
          <p:cNvPr id="5" name="Shape 3"/>
          <p:cNvSpPr/>
          <p:nvPr/>
        </p:nvSpPr>
        <p:spPr>
          <a:xfrm>
            <a:off x="777240" y="1783080"/>
            <a:ext cx="548640" cy="548640"/>
          </a:xfrm>
          <a:prstGeom prst="ellipse">
            <a:avLst/>
          </a:prstGeom>
          <a:solidFill>
            <a:srgbClr val="2E7D6B"/>
          </a:solidFill>
          <a:ln w="12700">
            <a:solidFill>
              <a:srgbClr val="2E7D6B"/>
            </a:solidFill>
            <a:prstDash val="solid"/>
          </a:ln>
        </p:spPr>
      </p:sp>
      <p:pic>
        <p:nvPicPr>
          <p:cNvPr id="6" name="Image 0" descr="preencoded.png">    </p:cNvPr>
          <p:cNvPicPr>
            <a:picLocks noChangeAspect="1"/>
          </p:cNvPicPr>
          <p:nvPr/>
        </p:nvPicPr>
        <p:blipFill>
          <a:blip r:embed="rId1"/>
          <a:stretch>
            <a:fillRect/>
          </a:stretch>
        </p:blipFill>
        <p:spPr>
          <a:xfrm>
            <a:off x="919886" y="1925726"/>
            <a:ext cx="263347" cy="263347"/>
          </a:xfrm>
          <a:prstGeom prst="rect">
            <a:avLst/>
          </a:prstGeom>
        </p:spPr>
      </p:pic>
      <p:sp>
        <p:nvSpPr>
          <p:cNvPr id="7" name="Text 4"/>
          <p:cNvSpPr txBox="1"/>
          <p:nvPr/>
        </p:nvSpPr>
        <p:spPr>
          <a:xfrm>
            <a:off x="777240" y="2468880"/>
            <a:ext cx="3058058" cy="2468880"/>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장사법 제12조</a:t>
            </a:r>
            <a:endParaRPr lang="en-US" sz="2200" dirty="0"/>
          </a:p>
          <a:p>
            <a:pPr indent="0" marL="0">
              <a:buNone/>
            </a:pPr>
            <a:r>
              <a:rPr lang="en-US" sz="2000" dirty="0">
                <a:solidFill>
                  <a:srgbClr val="222222"/>
                </a:solidFill>
              </a:rPr>
              <a:t>연고자가 없거나 알 수 없는 시신은 시장·군수·구청장이 조례에 따라 장례의식을 행한 뒤 매장·화장·봉안합니다.</a:t>
            </a:r>
            <a:endParaRPr lang="en-US" sz="2200" dirty="0"/>
          </a:p>
        </p:txBody>
      </p:sp>
      <p:sp>
        <p:nvSpPr>
          <p:cNvPr id="8" name="Shape 5"/>
          <p:cNvSpPr/>
          <p:nvPr/>
        </p:nvSpPr>
        <p:spPr>
          <a:xfrm>
            <a:off x="4338218" y="1554480"/>
            <a:ext cx="3515258" cy="3520440"/>
          </a:xfrm>
          <a:prstGeom prst="roundRect">
            <a:avLst>
              <a:gd name="adj" fmla="val 3121"/>
            </a:avLst>
          </a:prstGeom>
          <a:solidFill>
            <a:srgbClr val="EAF3F0"/>
          </a:solidFill>
          <a:ln w="12700">
            <a:solidFill>
              <a:srgbClr val="EAF3F0"/>
            </a:solidFill>
            <a:prstDash val="solid"/>
          </a:ln>
        </p:spPr>
      </p:sp>
      <p:sp>
        <p:nvSpPr>
          <p:cNvPr id="9" name="Shape 6"/>
          <p:cNvSpPr/>
          <p:nvPr/>
        </p:nvSpPr>
        <p:spPr>
          <a:xfrm>
            <a:off x="4566818" y="1783080"/>
            <a:ext cx="548640" cy="548640"/>
          </a:xfrm>
          <a:prstGeom prst="ellipse">
            <a:avLst/>
          </a:prstGeom>
          <a:solidFill>
            <a:srgbClr val="2E7D6B"/>
          </a:solidFill>
          <a:ln w="12700">
            <a:solidFill>
              <a:srgbClr val="2E7D6B"/>
            </a:solidFill>
            <a:prstDash val="solid"/>
          </a:ln>
        </p:spPr>
      </p:sp>
      <p:pic>
        <p:nvPicPr>
          <p:cNvPr id="10" name="Image 1" descr="preencoded.png">    </p:cNvPr>
          <p:cNvPicPr>
            <a:picLocks noChangeAspect="1"/>
          </p:cNvPicPr>
          <p:nvPr/>
        </p:nvPicPr>
        <p:blipFill>
          <a:blip r:embed="rId2"/>
          <a:stretch>
            <a:fillRect/>
          </a:stretch>
        </p:blipFill>
        <p:spPr>
          <a:xfrm>
            <a:off x="4709465" y="1925726"/>
            <a:ext cx="263347" cy="263347"/>
          </a:xfrm>
          <a:prstGeom prst="rect">
            <a:avLst/>
          </a:prstGeom>
        </p:spPr>
      </p:pic>
      <p:sp>
        <p:nvSpPr>
          <p:cNvPr id="11" name="Text 7"/>
          <p:cNvSpPr txBox="1"/>
          <p:nvPr/>
        </p:nvSpPr>
        <p:spPr>
          <a:xfrm>
            <a:off x="4566818" y="2468880"/>
            <a:ext cx="3058058" cy="2468880"/>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가족 밖의 관계</a:t>
            </a:r>
            <a:endParaRPr lang="en-US" sz="2200" dirty="0"/>
          </a:p>
          <a:p>
            <a:pPr indent="0" marL="0">
              <a:buNone/>
            </a:pPr>
            <a:r>
              <a:rPr lang="en-US" sz="2100" dirty="0">
                <a:solidFill>
                  <a:srgbClr val="222222"/>
                </a:solidFill>
              </a:rPr>
              <a:t>생전 친분이 깊었던 사람, 연대활동을 함께한 사람, 고인이 지정한 사람이 원하면 장례를 주관할 수 있습니다.</a:t>
            </a:r>
            <a:endParaRPr lang="en-US" sz="2200" dirty="0"/>
          </a:p>
        </p:txBody>
      </p:sp>
      <p:sp>
        <p:nvSpPr>
          <p:cNvPr id="12" name="Shape 8"/>
          <p:cNvSpPr/>
          <p:nvPr/>
        </p:nvSpPr>
        <p:spPr>
          <a:xfrm>
            <a:off x="8127797" y="1554480"/>
            <a:ext cx="3515258" cy="3520440"/>
          </a:xfrm>
          <a:prstGeom prst="roundRect">
            <a:avLst>
              <a:gd name="adj" fmla="val 3121"/>
            </a:avLst>
          </a:prstGeom>
          <a:solidFill>
            <a:srgbClr val="EAF3F0"/>
          </a:solidFill>
          <a:ln w="12700">
            <a:solidFill>
              <a:srgbClr val="EAF3F0"/>
            </a:solidFill>
            <a:prstDash val="solid"/>
          </a:ln>
        </p:spPr>
      </p:sp>
      <p:sp>
        <p:nvSpPr>
          <p:cNvPr id="13" name="Shape 9"/>
          <p:cNvSpPr/>
          <p:nvPr/>
        </p:nvSpPr>
        <p:spPr>
          <a:xfrm>
            <a:off x="8356397" y="1783080"/>
            <a:ext cx="548640" cy="548640"/>
          </a:xfrm>
          <a:prstGeom prst="ellipse">
            <a:avLst/>
          </a:prstGeom>
          <a:solidFill>
            <a:srgbClr val="2E7D6B"/>
          </a:solidFill>
          <a:ln w="12700">
            <a:solidFill>
              <a:srgbClr val="2E7D6B"/>
            </a:solidFill>
            <a:prstDash val="solid"/>
          </a:ln>
        </p:spPr>
      </p:sp>
      <p:pic>
        <p:nvPicPr>
          <p:cNvPr id="14" name="Image 2" descr="preencoded.png">    </p:cNvPr>
          <p:cNvPicPr>
            <a:picLocks noChangeAspect="1"/>
          </p:cNvPicPr>
          <p:nvPr/>
        </p:nvPicPr>
        <p:blipFill>
          <a:blip r:embed="rId3"/>
          <a:stretch>
            <a:fillRect/>
          </a:stretch>
        </p:blipFill>
        <p:spPr>
          <a:xfrm>
            <a:off x="8499043" y="1925726"/>
            <a:ext cx="263347" cy="263347"/>
          </a:xfrm>
          <a:prstGeom prst="rect">
            <a:avLst/>
          </a:prstGeom>
        </p:spPr>
      </p:pic>
      <p:sp>
        <p:nvSpPr>
          <p:cNvPr id="15" name="Text 10"/>
          <p:cNvSpPr txBox="1"/>
          <p:nvPr/>
        </p:nvSpPr>
        <p:spPr>
          <a:xfrm>
            <a:off x="8356397" y="2468880"/>
            <a:ext cx="3058058" cy="2468880"/>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공설장례식장</a:t>
            </a:r>
            <a:endParaRPr lang="en-US" sz="2200" dirty="0"/>
          </a:p>
          <a:p>
            <a:pPr indent="0" marL="0">
              <a:buNone/>
            </a:pPr>
            <a:r>
              <a:rPr lang="en-US" sz="2200" dirty="0">
                <a:solidFill>
                  <a:srgbClr val="222222"/>
                </a:solidFill>
              </a:rPr>
              <a:t>2026년 시행령에 이용 대상과 무연고 시신 처리 시 우선 이용 규정이 마련되었습니다.</a:t>
            </a:r>
            <a:endParaRPr lang="en-US" sz="2200" dirty="0"/>
          </a:p>
        </p:txBody>
      </p:sp>
      <p:sp>
        <p:nvSpPr>
          <p:cNvPr id="16" name="Shape 11"/>
          <p:cNvSpPr/>
          <p:nvPr/>
        </p:nvSpPr>
        <p:spPr>
          <a:xfrm>
            <a:off x="548640" y="5303520"/>
            <a:ext cx="11094415" cy="868680"/>
          </a:xfrm>
          <a:prstGeom prst="roundRect">
            <a:avLst>
              <a:gd name="adj" fmla="val 12632"/>
            </a:avLst>
          </a:prstGeom>
          <a:solidFill>
            <a:srgbClr val="EAF3F0"/>
          </a:solidFill>
          <a:ln w="12700">
            <a:solidFill>
              <a:srgbClr val="EAF3F0"/>
            </a:solidFill>
            <a:prstDash val="solid"/>
          </a:ln>
        </p:spPr>
      </p:sp>
      <p:sp>
        <p:nvSpPr>
          <p:cNvPr id="17" name="Shape 12"/>
          <p:cNvSpPr/>
          <p:nvPr/>
        </p:nvSpPr>
        <p:spPr>
          <a:xfrm>
            <a:off x="777240" y="5509260"/>
            <a:ext cx="457200" cy="457200"/>
          </a:xfrm>
          <a:prstGeom prst="ellipse">
            <a:avLst/>
          </a:prstGeom>
          <a:solidFill>
            <a:srgbClr val="2E7D6B"/>
          </a:solidFill>
          <a:ln w="12700">
            <a:solidFill>
              <a:srgbClr val="2E7D6B"/>
            </a:solidFill>
            <a:prstDash val="solid"/>
          </a:ln>
        </p:spPr>
      </p:sp>
      <p:pic>
        <p:nvPicPr>
          <p:cNvPr id="18" name="Image 3" descr="preencoded.png">    </p:cNvPr>
          <p:cNvPicPr>
            <a:picLocks noChangeAspect="1"/>
          </p:cNvPicPr>
          <p:nvPr/>
        </p:nvPicPr>
        <p:blipFill>
          <a:blip r:embed="rId4"/>
          <a:stretch>
            <a:fillRect/>
          </a:stretch>
        </p:blipFill>
        <p:spPr>
          <a:xfrm>
            <a:off x="896112" y="5628132"/>
            <a:ext cx="219456" cy="219456"/>
          </a:xfrm>
          <a:prstGeom prst="rect">
            <a:avLst/>
          </a:prstGeom>
        </p:spPr>
      </p:pic>
      <p:sp>
        <p:nvSpPr>
          <p:cNvPr id="19" name="Text 13"/>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2E7D6B"/>
                </a:solidFill>
              </a:rPr>
              <a:t>WLC 관점   </a:t>
            </a:r>
            <a:pPr indent="0" marL="0">
              <a:buNone/>
            </a:pPr>
            <a:r>
              <a:rPr lang="en-US" sz="1800" dirty="0">
                <a:solidFill>
                  <a:srgbClr val="222222"/>
                </a:solidFill>
              </a:rPr>
              <a:t>“가족이 없으면 장례도 없다”는 말은 맞지 않습니다. 공영장례를 부끄러운 장례로 표현하지 않습니다.</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11절 공설·사설과 지역 차이</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“비용은 얼마다”라고 한 문장으로 말하지 않는다</a:t>
            </a:r>
            <a:endParaRPr lang="en-US" sz="2800" dirty="0"/>
          </a:p>
        </p:txBody>
      </p:sp>
      <p:sp>
        <p:nvSpPr>
          <p:cNvPr id="4" name="Shape 2"/>
          <p:cNvSpPr/>
          <p:nvPr/>
        </p:nvSpPr>
        <p:spPr>
          <a:xfrm>
            <a:off x="548640" y="1600200"/>
            <a:ext cx="11094415" cy="2011680"/>
          </a:xfrm>
          <a:prstGeom prst="roundRect">
            <a:avLst>
              <a:gd name="adj" fmla="val 5455"/>
            </a:avLst>
          </a:prstGeom>
          <a:solidFill>
            <a:srgbClr val="FDF1DC"/>
          </a:solidFill>
          <a:ln w="12700">
            <a:solidFill>
              <a:srgbClr val="FDF1DC"/>
            </a:solidFill>
            <a:prstDash val="solid"/>
          </a:ln>
        </p:spPr>
      </p:sp>
      <p:sp>
        <p:nvSpPr>
          <p:cNvPr id="5" name="Shape 3"/>
          <p:cNvSpPr/>
          <p:nvPr/>
        </p:nvSpPr>
        <p:spPr>
          <a:xfrm>
            <a:off x="868680" y="1965960"/>
            <a:ext cx="822960" cy="822960"/>
          </a:xfrm>
          <a:prstGeom prst="ellipse">
            <a:avLst/>
          </a:prstGeom>
          <a:solidFill>
            <a:srgbClr val="D98E04"/>
          </a:solidFill>
          <a:ln w="12700">
            <a:solidFill>
              <a:srgbClr val="D98E04"/>
            </a:solidFill>
            <a:prstDash val="solid"/>
          </a:ln>
        </p:spPr>
      </p:sp>
      <p:pic>
        <p:nvPicPr>
          <p:cNvPr id="6" name="Image 0" descr="preencoded.png">    </p:cNvPr>
          <p:cNvPicPr>
            <a:picLocks noChangeAspect="1"/>
          </p:cNvPicPr>
          <p:nvPr/>
        </p:nvPicPr>
        <p:blipFill>
          <a:blip r:embed="rId1"/>
          <a:stretch>
            <a:fillRect/>
          </a:stretch>
        </p:blipFill>
        <p:spPr>
          <a:xfrm>
            <a:off x="1082650" y="2179930"/>
            <a:ext cx="395021" cy="395021"/>
          </a:xfrm>
          <a:prstGeom prst="rect">
            <a:avLst/>
          </a:prstGeom>
        </p:spPr>
      </p:pic>
      <p:sp>
        <p:nvSpPr>
          <p:cNvPr id="7" name="Text 4"/>
          <p:cNvSpPr txBox="1"/>
          <p:nvPr/>
        </p:nvSpPr>
        <p:spPr>
          <a:xfrm>
            <a:off x="1965960" y="1783080"/>
            <a:ext cx="9357055" cy="1645920"/>
          </a:xfrm>
          <a:prstGeom prst="rect">
            <a:avLst/>
          </a:prstGeom>
          <a:noFill/>
          <a:ln/>
        </p:spPr>
        <p:txBody>
          <a:bodyPr wrap="square" lIns="0" tIns="0" rIns="0" bIns="0" rtlCol="0" anchor="ctr"/>
          <a:lstStyle/>
          <a:p>
            <a:pPr indent="0" marL="0">
              <a:buNone/>
            </a:pPr>
            <a:r>
              <a:rPr lang="en-US" sz="2500" b="1" dirty="0">
                <a:solidFill>
                  <a:srgbClr val="1F4E4A"/>
                </a:solidFill>
              </a:rPr>
              <a:t>사용료·이용대상·지역주민 우대·사용기간·관리방식은 시설마다,</a:t>
            </a:r>
            <a:endParaRPr lang="en-US" sz="2500" dirty="0"/>
          </a:p>
          <a:p>
            <a:pPr indent="0" marL="0">
              <a:buNone/>
            </a:pPr>
            <a:r>
              <a:rPr lang="en-US" sz="2500" b="1" dirty="0">
                <a:solidFill>
                  <a:srgbClr val="1F4E4A"/>
                </a:solidFill>
              </a:rPr>
              <a:t>화장장려금·공영장례·이용료 감면은 지자체마다 다릅니다.</a:t>
            </a:r>
            <a:endParaRPr lang="en-US" sz="2500" dirty="0"/>
          </a:p>
        </p:txBody>
      </p:sp>
      <p:sp>
        <p:nvSpPr>
          <p:cNvPr id="8" name="Shape 5"/>
          <p:cNvSpPr/>
          <p:nvPr/>
        </p:nvSpPr>
        <p:spPr>
          <a:xfrm>
            <a:off x="548640" y="3886200"/>
            <a:ext cx="3515258" cy="2240280"/>
          </a:xfrm>
          <a:prstGeom prst="roundRect">
            <a:avLst>
              <a:gd name="adj" fmla="val 4898"/>
            </a:avLst>
          </a:prstGeom>
          <a:solidFill>
            <a:srgbClr val="F3F4F3"/>
          </a:solidFill>
          <a:ln w="12700">
            <a:solidFill>
              <a:srgbClr val="F3F4F3"/>
            </a:solidFill>
            <a:prstDash val="solid"/>
          </a:ln>
        </p:spPr>
      </p:sp>
      <p:sp>
        <p:nvSpPr>
          <p:cNvPr id="9" name="Text 6"/>
          <p:cNvSpPr txBox="1"/>
          <p:nvPr/>
        </p:nvSpPr>
        <p:spPr>
          <a:xfrm>
            <a:off x="777240" y="4069080"/>
            <a:ext cx="3058058" cy="1920240"/>
          </a:xfrm>
          <a:prstGeom prst="rect">
            <a:avLst/>
          </a:prstGeom>
          <a:noFill/>
          <a:ln/>
        </p:spPr>
        <p:txBody>
          <a:bodyPr wrap="square" lIns="0" tIns="0" rIns="0" bIns="0" rtlCol="0" anchor="t"/>
          <a:lstStyle/>
          <a:p>
            <a:pPr indent="0" marL="0">
              <a:spcAft>
                <a:spcPts val="800"/>
              </a:spcAft>
              <a:buNone/>
            </a:pPr>
            <a:r>
              <a:rPr lang="en-US" sz="2100" b="1" dirty="0">
                <a:solidFill>
                  <a:srgbClr val="D98E04"/>
                </a:solidFill>
              </a:rPr>
              <a:t>공설과 사설</a:t>
            </a:r>
            <a:endParaRPr lang="en-US" sz="2100" dirty="0"/>
          </a:p>
          <a:p>
            <a:pPr indent="0" marL="0">
              <a:buNone/>
            </a:pPr>
            <a:r>
              <a:rPr lang="en-US" sz="2000" dirty="0">
                <a:solidFill>
                  <a:srgbClr val="222222"/>
                </a:solidFill>
              </a:rPr>
              <a:t>운영주체에 따라 조건이 다릅니다.</a:t>
            </a:r>
            <a:endParaRPr lang="en-US" sz="2100" dirty="0"/>
          </a:p>
        </p:txBody>
      </p:sp>
      <p:sp>
        <p:nvSpPr>
          <p:cNvPr id="10" name="Shape 7"/>
          <p:cNvSpPr/>
          <p:nvPr/>
        </p:nvSpPr>
        <p:spPr>
          <a:xfrm>
            <a:off x="4338218" y="3886200"/>
            <a:ext cx="3515258" cy="2240280"/>
          </a:xfrm>
          <a:prstGeom prst="roundRect">
            <a:avLst>
              <a:gd name="adj" fmla="val 4898"/>
            </a:avLst>
          </a:prstGeom>
          <a:solidFill>
            <a:srgbClr val="F3F4F3"/>
          </a:solidFill>
          <a:ln w="12700">
            <a:solidFill>
              <a:srgbClr val="F3F4F3"/>
            </a:solidFill>
            <a:prstDash val="solid"/>
          </a:ln>
        </p:spPr>
      </p:sp>
      <p:sp>
        <p:nvSpPr>
          <p:cNvPr id="11" name="Text 8"/>
          <p:cNvSpPr txBox="1"/>
          <p:nvPr/>
        </p:nvSpPr>
        <p:spPr>
          <a:xfrm>
            <a:off x="4566818" y="4069080"/>
            <a:ext cx="3058058" cy="1920240"/>
          </a:xfrm>
          <a:prstGeom prst="rect">
            <a:avLst/>
          </a:prstGeom>
          <a:noFill/>
          <a:ln/>
        </p:spPr>
        <p:txBody>
          <a:bodyPr wrap="square" lIns="0" tIns="0" rIns="0" bIns="0" rtlCol="0" anchor="t"/>
          <a:lstStyle/>
          <a:p>
            <a:pPr indent="0" marL="0">
              <a:spcAft>
                <a:spcPts val="800"/>
              </a:spcAft>
              <a:buNone/>
            </a:pPr>
            <a:r>
              <a:rPr lang="en-US" sz="2100" b="1" dirty="0">
                <a:solidFill>
                  <a:srgbClr val="D98E04"/>
                </a:solidFill>
              </a:rPr>
              <a:t>지역주민 여부</a:t>
            </a:r>
            <a:endParaRPr lang="en-US" sz="2100" dirty="0"/>
          </a:p>
          <a:p>
            <a:pPr indent="0" marL="0">
              <a:buNone/>
            </a:pPr>
            <a:r>
              <a:rPr lang="en-US" sz="2000" dirty="0">
                <a:solidFill>
                  <a:srgbClr val="222222"/>
                </a:solidFill>
              </a:rPr>
              <a:t>같은 시설도 이용료가 다를 수 있습니다.</a:t>
            </a:r>
            <a:endParaRPr lang="en-US" sz="2100" dirty="0"/>
          </a:p>
        </p:txBody>
      </p:sp>
      <p:sp>
        <p:nvSpPr>
          <p:cNvPr id="12" name="Shape 9"/>
          <p:cNvSpPr/>
          <p:nvPr/>
        </p:nvSpPr>
        <p:spPr>
          <a:xfrm>
            <a:off x="8127797" y="3886200"/>
            <a:ext cx="3515258" cy="2240280"/>
          </a:xfrm>
          <a:prstGeom prst="roundRect">
            <a:avLst>
              <a:gd name="adj" fmla="val 4898"/>
            </a:avLst>
          </a:prstGeom>
          <a:solidFill>
            <a:srgbClr val="F3F4F3"/>
          </a:solidFill>
          <a:ln w="12700">
            <a:solidFill>
              <a:srgbClr val="F3F4F3"/>
            </a:solidFill>
            <a:prstDash val="solid"/>
          </a:ln>
        </p:spPr>
      </p:sp>
      <p:sp>
        <p:nvSpPr>
          <p:cNvPr id="13" name="Text 10"/>
          <p:cNvSpPr txBox="1"/>
          <p:nvPr/>
        </p:nvSpPr>
        <p:spPr>
          <a:xfrm>
            <a:off x="8356397" y="4069080"/>
            <a:ext cx="3058058" cy="1920240"/>
          </a:xfrm>
          <a:prstGeom prst="rect">
            <a:avLst/>
          </a:prstGeom>
          <a:noFill/>
          <a:ln/>
        </p:spPr>
        <p:txBody>
          <a:bodyPr wrap="square" lIns="0" tIns="0" rIns="0" bIns="0" rtlCol="0" anchor="t"/>
          <a:lstStyle/>
          <a:p>
            <a:pPr indent="0" marL="0">
              <a:spcAft>
                <a:spcPts val="800"/>
              </a:spcAft>
              <a:buNone/>
            </a:pPr>
            <a:r>
              <a:rPr lang="en-US" sz="2100" b="1" dirty="0">
                <a:solidFill>
                  <a:srgbClr val="D98E04"/>
                </a:solidFill>
              </a:rPr>
              <a:t>공식 확인 경로</a:t>
            </a:r>
            <a:endParaRPr lang="en-US" sz="2100" dirty="0"/>
          </a:p>
          <a:p>
            <a:pPr indent="0" marL="0">
              <a:buNone/>
            </a:pPr>
            <a:r>
              <a:rPr lang="en-US" sz="2000" dirty="0">
                <a:solidFill>
                  <a:srgbClr val="222222"/>
                </a:solidFill>
              </a:rPr>
              <a:t>e하늘: 시설·가격·장려금·공영장례 정보</a:t>
            </a:r>
            <a:endParaRPr lang="en-US" sz="21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12절 장례의 본래 기능</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시신 처리를 넘어선 이별의 의례</a:t>
            </a:r>
            <a:endParaRPr lang="en-US" sz="28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743200"/>
                <a:gridCol w="8321040"/>
              </a:tblGrid>
              <a:tr h="640080">
                <a:tc>
                  <a:txBody>
                    <a:bodyPr/>
                    <a:lstStyle/>
                    <a:p>
                      <a:pPr algn="ctr" indent="0" marL="0">
                        <a:buNone/>
                      </a:pPr>
                      <a:r>
                        <a:rPr lang="en-US" sz="1700" b="1" dirty="0">
                          <a:solidFill>
                            <a:srgbClr val="FFFFFF"/>
                          </a:solidFill>
                          <a:latin typeface="Noto Serif KR Black" pitchFamily="34" charset="0"/>
                          <a:ea typeface="Noto Serif KR Black" pitchFamily="34" charset="-122"/>
                          <a:cs typeface="Noto Serif KR Black" pitchFamily="34" charset="-120"/>
                        </a:rPr>
                        <a:t>장례의 기능</a:t>
                      </a: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700" b="1" dirty="0">
                          <a:solidFill>
                            <a:srgbClr val="FFFFFF"/>
                          </a:solidFill>
                          <a:latin typeface="Noto Serif KR Black" pitchFamily="34" charset="0"/>
                          <a:ea typeface="Noto Serif KR Black" pitchFamily="34" charset="-122"/>
                          <a:cs typeface="Noto Serif KR Black" pitchFamily="34" charset="-120"/>
                        </a:rPr>
                        <a:t>의미</a:t>
                      </a: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640080">
                <a:tc>
                  <a:txBody>
                    <a:bodyPr/>
                    <a:lstStyle/>
                    <a:p>
                      <a:pPr indent="0" marL="0">
                        <a:buNone/>
                      </a:pPr>
                      <a:r>
                        <a:rPr lang="en-US" sz="1700" b="1" dirty="0">
                          <a:solidFill>
                            <a:srgbClr val="1F4E4A"/>
                          </a:solidFill>
                          <a:latin typeface="Noto Serif KR Black" pitchFamily="34" charset="0"/>
                          <a:ea typeface="Noto Serif KR Black" pitchFamily="34" charset="-122"/>
                          <a:cs typeface="Noto Serif KR Black" pitchFamily="34" charset="-120"/>
                        </a:rPr>
                        <a:t>현실 확인</a:t>
                      </a: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700" dirty="0">
                          <a:solidFill>
                            <a:srgbClr val="222222"/>
                          </a:solidFill>
                          <a:latin typeface="Noto Serif KR Black" pitchFamily="34" charset="0"/>
                          <a:ea typeface="Noto Serif KR Black" pitchFamily="34" charset="-122"/>
                          <a:cs typeface="Noto Serif KR Black" pitchFamily="34" charset="-120"/>
                        </a:rPr>
                        <a:t>죽음이 실제로 일어났음을 받아들이는 과정</a:t>
                      </a: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640080">
                <a:tc>
                  <a:txBody>
                    <a:bodyPr/>
                    <a:lstStyle/>
                    <a:p>
                      <a:pPr indent="0" marL="0">
                        <a:buNone/>
                      </a:pPr>
                      <a:r>
                        <a:rPr lang="en-US" sz="1700" b="1" dirty="0">
                          <a:solidFill>
                            <a:srgbClr val="1F4E4A"/>
                          </a:solidFill>
                          <a:latin typeface="Noto Serif KR Black" pitchFamily="34" charset="0"/>
                          <a:ea typeface="Noto Serif KR Black" pitchFamily="34" charset="-122"/>
                          <a:cs typeface="Noto Serif KR Black" pitchFamily="34" charset="-120"/>
                        </a:rPr>
                        <a:t>작별</a:t>
                      </a: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700" dirty="0">
                          <a:solidFill>
                            <a:srgbClr val="222222"/>
                          </a:solidFill>
                          <a:latin typeface="Noto Serif KR Black" pitchFamily="34" charset="0"/>
                          <a:ea typeface="Noto Serif KR Black" pitchFamily="34" charset="-122"/>
                          <a:cs typeface="Noto Serif KR Black" pitchFamily="34" charset="-120"/>
                        </a:rPr>
                        <a:t>고인에게 마지막 인사와 마음을 표현</a:t>
                      </a: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640080">
                <a:tc>
                  <a:txBody>
                    <a:bodyPr/>
                    <a:lstStyle/>
                    <a:p>
                      <a:pPr indent="0" marL="0">
                        <a:buNone/>
                      </a:pPr>
                      <a:r>
                        <a:rPr lang="en-US" sz="1700" b="1" dirty="0">
                          <a:solidFill>
                            <a:srgbClr val="1F4E4A"/>
                          </a:solidFill>
                          <a:latin typeface="Noto Serif KR Black" pitchFamily="34" charset="0"/>
                          <a:ea typeface="Noto Serif KR Black" pitchFamily="34" charset="-122"/>
                          <a:cs typeface="Noto Serif KR Black" pitchFamily="34" charset="-120"/>
                        </a:rPr>
                        <a:t>관계의 지지</a:t>
                      </a: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700" dirty="0">
                          <a:solidFill>
                            <a:srgbClr val="222222"/>
                          </a:solidFill>
                          <a:latin typeface="Noto Serif KR Black" pitchFamily="34" charset="0"/>
                          <a:ea typeface="Noto Serif KR Black" pitchFamily="34" charset="-122"/>
                          <a:cs typeface="Noto Serif KR Black" pitchFamily="34" charset="-120"/>
                        </a:rPr>
                        <a:t>가족·친구·공동체가 유족을 지지</a:t>
                      </a: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640080">
                <a:tc>
                  <a:txBody>
                    <a:bodyPr/>
                    <a:lstStyle/>
                    <a:p>
                      <a:pPr indent="0" marL="0">
                        <a:buNone/>
                      </a:pPr>
                      <a:r>
                        <a:rPr lang="en-US" sz="1700" b="1" dirty="0">
                          <a:solidFill>
                            <a:srgbClr val="1F4E4A"/>
                          </a:solidFill>
                          <a:latin typeface="Noto Serif KR Black" pitchFamily="34" charset="0"/>
                          <a:ea typeface="Noto Serif KR Black" pitchFamily="34" charset="-122"/>
                          <a:cs typeface="Noto Serif KR Black" pitchFamily="34" charset="-120"/>
                        </a:rPr>
                        <a:t>기억과 의미</a:t>
                      </a: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700" dirty="0">
                          <a:solidFill>
                            <a:srgbClr val="222222"/>
                          </a:solidFill>
                          <a:latin typeface="Noto Serif KR Black" pitchFamily="34" charset="0"/>
                          <a:ea typeface="Noto Serif KR Black" pitchFamily="34" charset="-122"/>
                          <a:cs typeface="Noto Serif KR Black" pitchFamily="34" charset="-120"/>
                        </a:rPr>
                        <a:t>고인의 삶과 가치를 이야기하고 기억</a:t>
                      </a: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640080">
                <a:tc>
                  <a:txBody>
                    <a:bodyPr/>
                    <a:lstStyle/>
                    <a:p>
                      <a:pPr indent="0" marL="0">
                        <a:buNone/>
                      </a:pPr>
                      <a:r>
                        <a:rPr lang="en-US" sz="1700" b="1" dirty="0">
                          <a:solidFill>
                            <a:srgbClr val="1F4E4A"/>
                          </a:solidFill>
                          <a:latin typeface="Noto Serif KR Black" pitchFamily="34" charset="0"/>
                          <a:ea typeface="Noto Serif KR Black" pitchFamily="34" charset="-122"/>
                          <a:cs typeface="Noto Serif KR Black" pitchFamily="34" charset="-120"/>
                        </a:rPr>
                        <a:t>사회적 전환</a:t>
                      </a: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700" dirty="0">
                          <a:solidFill>
                            <a:srgbClr val="222222"/>
                          </a:solidFill>
                          <a:latin typeface="Noto Serif KR Black" pitchFamily="34" charset="0"/>
                          <a:ea typeface="Noto Serif KR Black" pitchFamily="34" charset="-122"/>
                          <a:cs typeface="Noto Serif KR Black" pitchFamily="34" charset="-120"/>
                        </a:rPr>
                        <a:t>죽음 이후 가족과 공동체의 역할 변화 확인</a:t>
                      </a: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13절 새로운 장례문화</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“획일적 3일장”에서 선택 가능한 의례로</a:t>
            </a:r>
            <a:endParaRPr lang="en-US" sz="2800" dirty="0"/>
          </a:p>
        </p:txBody>
      </p:sp>
      <p:sp>
        <p:nvSpPr>
          <p:cNvPr id="4" name="Shape 2"/>
          <p:cNvSpPr/>
          <p:nvPr/>
        </p:nvSpPr>
        <p:spPr>
          <a:xfrm>
            <a:off x="548640" y="1554480"/>
            <a:ext cx="5364328" cy="3520440"/>
          </a:xfrm>
          <a:prstGeom prst="roundRect">
            <a:avLst>
              <a:gd name="adj" fmla="val 3117"/>
            </a:avLst>
          </a:prstGeom>
          <a:solidFill>
            <a:srgbClr val="F3F4F3"/>
          </a:solidFill>
          <a:ln w="12700">
            <a:solidFill>
              <a:srgbClr val="F3F4F3"/>
            </a:solidFill>
            <a:prstDash val="solid"/>
          </a:ln>
        </p:spPr>
      </p:sp>
      <p:sp>
        <p:nvSpPr>
          <p:cNvPr id="5" name="Shape 3"/>
          <p:cNvSpPr/>
          <p:nvPr/>
        </p:nvSpPr>
        <p:spPr>
          <a:xfrm>
            <a:off x="822960" y="1810512"/>
            <a:ext cx="548640" cy="548640"/>
          </a:xfrm>
          <a:prstGeom prst="ellipse">
            <a:avLst/>
          </a:prstGeom>
          <a:solidFill>
            <a:srgbClr val="6B6B6B"/>
          </a:solidFill>
          <a:ln w="12700">
            <a:solidFill>
              <a:srgbClr val="6B6B6B"/>
            </a:solidFill>
            <a:prstDash val="solid"/>
          </a:ln>
        </p:spPr>
      </p:sp>
      <p:pic>
        <p:nvPicPr>
          <p:cNvPr id="6" name="Image 0" descr="preencoded.png">    </p:cNvPr>
          <p:cNvPicPr>
            <a:picLocks noChangeAspect="1"/>
          </p:cNvPicPr>
          <p:nvPr/>
        </p:nvPicPr>
        <p:blipFill>
          <a:blip r:embed="rId1"/>
          <a:stretch>
            <a:fillRect/>
          </a:stretch>
        </p:blipFill>
        <p:spPr>
          <a:xfrm>
            <a:off x="965606" y="1953158"/>
            <a:ext cx="263347" cy="263347"/>
          </a:xfrm>
          <a:prstGeom prst="rect">
            <a:avLst/>
          </a:prstGeom>
        </p:spPr>
      </p:pic>
      <p:sp>
        <p:nvSpPr>
          <p:cNvPr id="7" name="Text 4"/>
          <p:cNvSpPr txBox="1"/>
          <p:nvPr/>
        </p:nvSpPr>
        <p:spPr>
          <a:xfrm>
            <a:off x="1554480" y="1810512"/>
            <a:ext cx="4084168" cy="548640"/>
          </a:xfrm>
          <a:prstGeom prst="rect">
            <a:avLst/>
          </a:prstGeom>
          <a:noFill/>
          <a:ln/>
        </p:spPr>
        <p:txBody>
          <a:bodyPr wrap="square" lIns="0" tIns="0" rIns="0" bIns="0" rtlCol="0" anchor="ctr"/>
          <a:lstStyle/>
          <a:p>
            <a:pPr indent="0" marL="0">
              <a:buNone/>
            </a:pPr>
            <a:r>
              <a:rPr lang="en-US" sz="2200" b="1" dirty="0">
                <a:solidFill>
                  <a:srgbClr val="6B6B6B"/>
                </a:solidFill>
              </a:rPr>
              <a:t>하나의 정상 모델</a:t>
            </a:r>
            <a:endParaRPr lang="en-US" sz="2200" dirty="0"/>
          </a:p>
        </p:txBody>
      </p:sp>
      <p:sp>
        <p:nvSpPr>
          <p:cNvPr id="8" name="Text 5"/>
          <p:cNvSpPr txBox="1"/>
          <p:nvPr/>
        </p:nvSpPr>
        <p:spPr>
          <a:xfrm>
            <a:off x="822960" y="2560320"/>
            <a:ext cx="4815688" cy="237744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rgbClr val="222222"/>
                </a:solidFill>
              </a:rPr>
              <a:t>3일장, 큰 빈소</a:t>
            </a:r>
            <a:endParaRPr lang="en-US" sz="2200" dirty="0"/>
          </a:p>
          <a:p>
            <a:pPr marL="342900" indent="-342900">
              <a:spcAft>
                <a:spcPts val="1000"/>
              </a:spcAft>
              <a:buSzPct val="100000"/>
              <a:buChar char="•"/>
            </a:pPr>
            <a:r>
              <a:rPr lang="en-US" sz="2200" dirty="0">
                <a:solidFill>
                  <a:srgbClr val="222222"/>
                </a:solidFill>
              </a:rPr>
              <a:t>“보통 이렇게 한다”</a:t>
            </a:r>
            <a:endParaRPr lang="en-US" sz="2200" dirty="0"/>
          </a:p>
          <a:p>
            <a:pPr marL="342900" indent="-342900">
              <a:spcAft>
                <a:spcPts val="1000"/>
              </a:spcAft>
              <a:buSzPct val="100000"/>
              <a:buChar char="•"/>
            </a:pPr>
            <a:r>
              <a:rPr lang="en-US" sz="2200" dirty="0">
                <a:solidFill>
                  <a:srgbClr val="222222"/>
                </a:solidFill>
              </a:rPr>
              <a:t>보여 주기 위한 절차</a:t>
            </a:r>
            <a:endParaRPr lang="en-US" sz="2200" dirty="0"/>
          </a:p>
        </p:txBody>
      </p:sp>
      <p:sp>
        <p:nvSpPr>
          <p:cNvPr id="9" name="Shape 6"/>
          <p:cNvSpPr/>
          <p:nvPr/>
        </p:nvSpPr>
        <p:spPr>
          <a:xfrm>
            <a:off x="6278728" y="1554480"/>
            <a:ext cx="5364328" cy="3520440"/>
          </a:xfrm>
          <a:prstGeom prst="roundRect">
            <a:avLst>
              <a:gd name="adj" fmla="val 3117"/>
            </a:avLst>
          </a:prstGeom>
          <a:solidFill>
            <a:srgbClr val="EAF3F0"/>
          </a:solidFill>
          <a:ln w="12700">
            <a:solidFill>
              <a:srgbClr val="EAF3F0"/>
            </a:solidFill>
            <a:prstDash val="solid"/>
          </a:ln>
        </p:spPr>
      </p:sp>
      <p:sp>
        <p:nvSpPr>
          <p:cNvPr id="10" name="Shape 7"/>
          <p:cNvSpPr/>
          <p:nvPr/>
        </p:nvSpPr>
        <p:spPr>
          <a:xfrm>
            <a:off x="6553048" y="1810512"/>
            <a:ext cx="548640" cy="548640"/>
          </a:xfrm>
          <a:prstGeom prst="ellipse">
            <a:avLst/>
          </a:prstGeom>
          <a:solidFill>
            <a:srgbClr val="2E7D6B"/>
          </a:solidFill>
          <a:ln w="12700">
            <a:solidFill>
              <a:srgbClr val="2E7D6B"/>
            </a:solidFill>
            <a:prstDash val="solid"/>
          </a:ln>
        </p:spPr>
      </p:sp>
      <p:pic>
        <p:nvPicPr>
          <p:cNvPr id="11" name="Image 1" descr="preencoded.png">    </p:cNvPr>
          <p:cNvPicPr>
            <a:picLocks noChangeAspect="1"/>
          </p:cNvPicPr>
          <p:nvPr/>
        </p:nvPicPr>
        <p:blipFill>
          <a:blip r:embed="rId2"/>
          <a:stretch>
            <a:fillRect/>
          </a:stretch>
        </p:blipFill>
        <p:spPr>
          <a:xfrm>
            <a:off x="6695694" y="1953158"/>
            <a:ext cx="263347" cy="263347"/>
          </a:xfrm>
          <a:prstGeom prst="rect">
            <a:avLst/>
          </a:prstGeom>
        </p:spPr>
      </p:pic>
      <p:sp>
        <p:nvSpPr>
          <p:cNvPr id="12" name="Text 8"/>
          <p:cNvSpPr txBox="1"/>
          <p:nvPr/>
        </p:nvSpPr>
        <p:spPr>
          <a:xfrm>
            <a:off x="7284568" y="1810512"/>
            <a:ext cx="4084168" cy="548640"/>
          </a:xfrm>
          <a:prstGeom prst="rect">
            <a:avLst/>
          </a:prstGeom>
          <a:noFill/>
          <a:ln/>
        </p:spPr>
        <p:txBody>
          <a:bodyPr wrap="square" lIns="0" tIns="0" rIns="0" bIns="0" rtlCol="0" anchor="ctr"/>
          <a:lstStyle/>
          <a:p>
            <a:pPr indent="0" marL="0">
              <a:buNone/>
            </a:pPr>
            <a:r>
              <a:rPr lang="en-US" sz="2200" b="1" dirty="0">
                <a:solidFill>
                  <a:srgbClr val="2E7D6B"/>
                </a:solidFill>
              </a:rPr>
              <a:t>선택 가능한 의례</a:t>
            </a:r>
            <a:endParaRPr lang="en-US" sz="2200" dirty="0"/>
          </a:p>
        </p:txBody>
      </p:sp>
      <p:sp>
        <p:nvSpPr>
          <p:cNvPr id="13" name="Text 9"/>
          <p:cNvSpPr txBox="1"/>
          <p:nvPr/>
        </p:nvSpPr>
        <p:spPr>
          <a:xfrm>
            <a:off x="6553048" y="2560320"/>
            <a:ext cx="4815688" cy="237744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rgbClr val="222222"/>
                </a:solidFill>
              </a:rPr>
              <a:t>가족 중심 소규모 장례</a:t>
            </a:r>
            <a:endParaRPr lang="en-US" sz="2200" dirty="0"/>
          </a:p>
          <a:p>
            <a:pPr marL="342900" indent="-342900">
              <a:spcAft>
                <a:spcPts val="1000"/>
              </a:spcAft>
              <a:buSzPct val="100000"/>
              <a:buChar char="•"/>
            </a:pPr>
            <a:r>
              <a:rPr lang="en-US" sz="2200" dirty="0">
                <a:solidFill>
                  <a:srgbClr val="222222"/>
                </a:solidFill>
              </a:rPr>
              <a:t>사진·음악·영상·작품을 활용한 개인화된 추모</a:t>
            </a:r>
            <a:endParaRPr lang="en-US" sz="2200" dirty="0"/>
          </a:p>
          <a:p>
            <a:pPr marL="342900" indent="-342900">
              <a:spcAft>
                <a:spcPts val="1000"/>
              </a:spcAft>
              <a:buSzPct val="100000"/>
              <a:buChar char="•"/>
            </a:pPr>
            <a:r>
              <a:rPr lang="en-US" sz="2200" dirty="0">
                <a:solidFill>
                  <a:srgbClr val="222222"/>
                </a:solidFill>
              </a:rPr>
              <a:t>간소해도 작별과 애도의 시간은 충분히</a:t>
            </a:r>
            <a:endParaRPr lang="en-US" sz="2200" dirty="0"/>
          </a:p>
        </p:txBody>
      </p:sp>
      <p:sp>
        <p:nvSpPr>
          <p:cNvPr id="14" name="Shape 10"/>
          <p:cNvSpPr/>
          <p:nvPr/>
        </p:nvSpPr>
        <p:spPr>
          <a:xfrm>
            <a:off x="548640" y="5303520"/>
            <a:ext cx="11094415" cy="868680"/>
          </a:xfrm>
          <a:prstGeom prst="roundRect">
            <a:avLst>
              <a:gd name="adj" fmla="val 12632"/>
            </a:avLst>
          </a:prstGeom>
          <a:solidFill>
            <a:srgbClr val="E8EFF8"/>
          </a:solidFill>
          <a:ln w="12700">
            <a:solidFill>
              <a:srgbClr val="E8EFF8"/>
            </a:solidFill>
            <a:prstDash val="solid"/>
          </a:ln>
        </p:spPr>
      </p:sp>
      <p:sp>
        <p:nvSpPr>
          <p:cNvPr id="15" name="Shape 11"/>
          <p:cNvSpPr/>
          <p:nvPr/>
        </p:nvSpPr>
        <p:spPr>
          <a:xfrm>
            <a:off x="777240" y="5509260"/>
            <a:ext cx="457200" cy="457200"/>
          </a:xfrm>
          <a:prstGeom prst="ellipse">
            <a:avLst/>
          </a:prstGeom>
          <a:solidFill>
            <a:srgbClr val="3A6EA5"/>
          </a:solidFill>
          <a:ln w="12700">
            <a:solidFill>
              <a:srgbClr val="3A6EA5"/>
            </a:solidFill>
            <a:prstDash val="solid"/>
          </a:ln>
        </p:spPr>
      </p:sp>
      <p:pic>
        <p:nvPicPr>
          <p:cNvPr id="16" name="Image 2" descr="preencoded.png">    </p:cNvPr>
          <p:cNvPicPr>
            <a:picLocks noChangeAspect="1"/>
          </p:cNvPicPr>
          <p:nvPr/>
        </p:nvPicPr>
        <p:blipFill>
          <a:blip r:embed="rId3"/>
          <a:stretch>
            <a:fillRect/>
          </a:stretch>
        </p:blipFill>
        <p:spPr>
          <a:xfrm>
            <a:off x="896112" y="5628132"/>
            <a:ext cx="219456" cy="219456"/>
          </a:xfrm>
          <a:prstGeom prst="rect">
            <a:avLst/>
          </a:prstGeom>
        </p:spPr>
      </p:pic>
      <p:sp>
        <p:nvSpPr>
          <p:cNvPr id="17" name="Text 12"/>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3A6EA5"/>
                </a:solidFill>
              </a:rPr>
              <a:t>WLC 질문   </a:t>
            </a:r>
            <a:pPr indent="0" marL="0">
              <a:buNone/>
            </a:pPr>
            <a:r>
              <a:rPr lang="en-US" sz="1800" dirty="0">
                <a:solidFill>
                  <a:srgbClr val="222222"/>
                </a:solidFill>
              </a:rPr>
              <a:t>“보여 주기 위한 장례에서 빼고 싶은 것은요?” “반대로 꼭 남기고 싶은 이별의 순간은요?”</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15절 장례비용</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총액보다 “구성”을 이해한다</a:t>
            </a:r>
            <a:endParaRPr lang="en-US" sz="28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560320"/>
                <a:gridCol w="8503920"/>
              </a:tblGrid>
              <a:tr h="457200">
                <a:tc>
                  <a:txBody>
                    <a:bodyPr/>
                    <a:lstStyle/>
                    <a:p>
                      <a:pPr algn="ctr" indent="0" marL="0">
                        <a:buNone/>
                      </a:pPr>
                      <a:r>
                        <a:rPr lang="en-US" sz="1500" b="1" dirty="0">
                          <a:solidFill>
                            <a:srgbClr val="FFFFFF"/>
                          </a:solidFill>
                          <a:latin typeface="Noto Serif KR Black" pitchFamily="34" charset="0"/>
                          <a:ea typeface="Noto Serif KR Black" pitchFamily="34" charset="-122"/>
                          <a:cs typeface="Noto Serif KR Black" pitchFamily="34" charset="-120"/>
                        </a:rPr>
                        <a:t>비용 영역</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500" b="1" dirty="0">
                          <a:solidFill>
                            <a:srgbClr val="FFFFFF"/>
                          </a:solidFill>
                          <a:latin typeface="Noto Serif KR Black" pitchFamily="34" charset="0"/>
                          <a:ea typeface="Noto Serif KR Black" pitchFamily="34" charset="-122"/>
                          <a:cs typeface="Noto Serif KR Black" pitchFamily="34" charset="-120"/>
                        </a:rPr>
                        <a:t>확인할 내용</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457200">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장례식장</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빈소·안치·염습·시설사용료</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음식·접객</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조문객 수에 따라 크게 달라지는 비용</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57200">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장례용품</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관·수의·제단·꽃 등 선택품목</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상조서비스</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인력·차량·용품 포함범위와 추가비용</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57200">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화장</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시설·지역주민 여부 등에 따른 이용료</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봉안·자연장</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최초 사용료·관리비·연장비용</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57200">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이동·기타</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운구·지역간 이동·제례·추모 관련 비용</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303520"/>
            <a:ext cx="11094415" cy="868680"/>
          </a:xfrm>
          <a:prstGeom prst="roundRect">
            <a:avLst>
              <a:gd name="adj" fmla="val 12632"/>
            </a:avLst>
          </a:prstGeom>
          <a:solidFill>
            <a:srgbClr val="FDF1DC"/>
          </a:solidFill>
          <a:ln w="12700">
            <a:solidFill>
              <a:srgbClr val="FDF1DC"/>
            </a:solidFill>
            <a:prstDash val="solid"/>
          </a:ln>
        </p:spPr>
      </p:sp>
      <p:sp>
        <p:nvSpPr>
          <p:cNvPr id="6" name="Shape 3"/>
          <p:cNvSpPr/>
          <p:nvPr/>
        </p:nvSpPr>
        <p:spPr>
          <a:xfrm>
            <a:off x="777240" y="5509260"/>
            <a:ext cx="457200" cy="457200"/>
          </a:xfrm>
          <a:prstGeom prst="ellipse">
            <a:avLst/>
          </a:prstGeom>
          <a:solidFill>
            <a:srgbClr val="D98E04"/>
          </a:solidFill>
          <a:ln w="12700">
            <a:solidFill>
              <a:srgbClr val="D98E04"/>
            </a:solidFill>
            <a:prstDash val="solid"/>
          </a:ln>
        </p:spPr>
      </p:sp>
      <p:pic>
        <p:nvPicPr>
          <p:cNvPr id="7" name="Image 0" descr="preencoded.png">    </p:cNvPr>
          <p:cNvPicPr>
            <a:picLocks noChangeAspect="1"/>
          </p:cNvPicPr>
          <p:nvPr/>
        </p:nvPicPr>
        <p:blipFill>
          <a:blip r:embed="rId1"/>
          <a:stretch>
            <a:fillRect/>
          </a:stretch>
        </p:blipFill>
        <p:spPr>
          <a:xfrm>
            <a:off x="896112" y="5628132"/>
            <a:ext cx="219456" cy="219456"/>
          </a:xfrm>
          <a:prstGeom prst="rect">
            <a:avLst/>
          </a:prstGeom>
        </p:spPr>
      </p:pic>
      <p:sp>
        <p:nvSpPr>
          <p:cNvPr id="8" name="Text 4"/>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D98E04"/>
                </a:solidFill>
              </a:rPr>
              <a:t>소비자 보호   </a:t>
            </a:r>
            <a:pPr indent="0" marL="0">
              <a:buNone/>
            </a:pPr>
            <a:r>
              <a:rPr lang="en-US" sz="1800" dirty="0">
                <a:solidFill>
                  <a:srgbClr val="222222"/>
                </a:solidFill>
              </a:rPr>
              <a:t>WLC는 가격을 대신 협상하지 않고 “포함 / 별도 / 선택” 항목을 구분하도록 돕습니다. 가격비교는 e하늘에서.</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16절 e하늘 장사정보시스템</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WLC의 기본 도구, e하늘</a:t>
            </a:r>
            <a:endParaRPr lang="en-US" sz="2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560320"/>
                <a:gridCol w="8503920"/>
              </a:tblGrid>
              <a:tr h="457200">
                <a:tc>
                  <a:txBody>
                    <a:bodyPr/>
                    <a:lstStyle/>
                    <a:p>
                      <a:pPr algn="ctr" indent="0" marL="0">
                        <a:buNone/>
                      </a:pPr>
                      <a:r>
                        <a:rPr lang="en-US" sz="1500" b="1" dirty="0">
                          <a:solidFill>
                            <a:srgbClr val="FFFFFF"/>
                          </a:solidFill>
                          <a:latin typeface="Noto Serif KR Black" pitchFamily="34" charset="0"/>
                          <a:ea typeface="Noto Serif KR Black" pitchFamily="34" charset="-122"/>
                          <a:cs typeface="Noto Serif KR Black" pitchFamily="34" charset="-120"/>
                        </a:rPr>
                        <a:t>기능</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500" b="1" dirty="0">
                          <a:solidFill>
                            <a:srgbClr val="FFFFFF"/>
                          </a:solidFill>
                          <a:latin typeface="Noto Serif KR Black" pitchFamily="34" charset="0"/>
                          <a:ea typeface="Noto Serif KR Black" pitchFamily="34" charset="-122"/>
                          <a:cs typeface="Noto Serif KR Black" pitchFamily="34" charset="-120"/>
                        </a:rPr>
                        <a:t>WLC 활용</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457200">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화장예약</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전국 화장시설과 예약절차 확인</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장사시설 검색</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장례식장·화장시설·봉안시설·자연장지·묘지·산분 관련 시설</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57200">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가격정보</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시설·장례용품·예식 패키지 가격 비교의 출발점</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지자체 지원</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화장장려금·공영장례·기타 지역지원</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57200">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무연고 공고</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관련 공고와 절차 정보</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장사통계</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장사문화 변화 교육자료의 공식 근거</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57200">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디지털 플랫폼</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추억저장·디지털 추모 등 새로운 서비스</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17절 WLC의 역할 경계</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장례·장묘에서 WLC가 하는 일과 하지 않는 일</a:t>
            </a:r>
            <a:endParaRPr lang="en-US" sz="2800" dirty="0"/>
          </a:p>
        </p:txBody>
      </p:sp>
      <p:sp>
        <p:nvSpPr>
          <p:cNvPr id="4" name="Shape 2"/>
          <p:cNvSpPr/>
          <p:nvPr/>
        </p:nvSpPr>
        <p:spPr>
          <a:xfrm>
            <a:off x="548640" y="1554480"/>
            <a:ext cx="5364328" cy="3520440"/>
          </a:xfrm>
          <a:prstGeom prst="roundRect">
            <a:avLst>
              <a:gd name="adj" fmla="val 3117"/>
            </a:avLst>
          </a:prstGeom>
          <a:solidFill>
            <a:srgbClr val="F8E6E1"/>
          </a:solidFill>
          <a:ln w="12700">
            <a:solidFill>
              <a:srgbClr val="F8E6E1"/>
            </a:solidFill>
            <a:prstDash val="solid"/>
          </a:ln>
        </p:spPr>
      </p:sp>
      <p:sp>
        <p:nvSpPr>
          <p:cNvPr id="5" name="Shape 3"/>
          <p:cNvSpPr/>
          <p:nvPr/>
        </p:nvSpPr>
        <p:spPr>
          <a:xfrm>
            <a:off x="822960" y="1810512"/>
            <a:ext cx="548640" cy="548640"/>
          </a:xfrm>
          <a:prstGeom prst="ellipse">
            <a:avLst/>
          </a:prstGeom>
          <a:solidFill>
            <a:srgbClr val="B5452F"/>
          </a:solidFill>
          <a:ln w="12700">
            <a:solidFill>
              <a:srgbClr val="B5452F"/>
            </a:solidFill>
            <a:prstDash val="solid"/>
          </a:ln>
        </p:spPr>
      </p:sp>
      <p:pic>
        <p:nvPicPr>
          <p:cNvPr id="6" name="Image 0" descr="preencoded.png">    </p:cNvPr>
          <p:cNvPicPr>
            <a:picLocks noChangeAspect="1"/>
          </p:cNvPicPr>
          <p:nvPr/>
        </p:nvPicPr>
        <p:blipFill>
          <a:blip r:embed="rId1"/>
          <a:stretch>
            <a:fillRect/>
          </a:stretch>
        </p:blipFill>
        <p:spPr>
          <a:xfrm>
            <a:off x="965606" y="1953158"/>
            <a:ext cx="263347" cy="263347"/>
          </a:xfrm>
          <a:prstGeom prst="rect">
            <a:avLst/>
          </a:prstGeom>
        </p:spPr>
      </p:pic>
      <p:sp>
        <p:nvSpPr>
          <p:cNvPr id="7" name="Text 4"/>
          <p:cNvSpPr txBox="1"/>
          <p:nvPr/>
        </p:nvSpPr>
        <p:spPr>
          <a:xfrm>
            <a:off x="1554480" y="1810512"/>
            <a:ext cx="4084168" cy="548640"/>
          </a:xfrm>
          <a:prstGeom prst="rect">
            <a:avLst/>
          </a:prstGeom>
          <a:noFill/>
          <a:ln/>
        </p:spPr>
        <p:txBody>
          <a:bodyPr wrap="square" lIns="0" tIns="0" rIns="0" bIns="0" rtlCol="0" anchor="ctr"/>
          <a:lstStyle/>
          <a:p>
            <a:pPr indent="0" marL="0">
              <a:buNone/>
            </a:pPr>
            <a:r>
              <a:rPr lang="en-US" sz="2200" b="1" dirty="0">
                <a:solidFill>
                  <a:srgbClr val="B5452F"/>
                </a:solidFill>
              </a:rPr>
              <a:t>해서는 안 되는 일</a:t>
            </a:r>
            <a:endParaRPr lang="en-US" sz="2200" dirty="0"/>
          </a:p>
        </p:txBody>
      </p:sp>
      <p:sp>
        <p:nvSpPr>
          <p:cNvPr id="8" name="Text 5"/>
          <p:cNvSpPr txBox="1"/>
          <p:nvPr/>
        </p:nvSpPr>
        <p:spPr>
          <a:xfrm>
            <a:off x="822960" y="2560320"/>
            <a:ext cx="4815688" cy="23774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22222"/>
                </a:solidFill>
              </a:rPr>
              <a:t>개별 사안의 불법·적법을 혼자 단정</a:t>
            </a:r>
            <a:endParaRPr lang="en-US" sz="1800" dirty="0"/>
          </a:p>
          <a:p>
            <a:pPr marL="342900" indent="-342900">
              <a:spcAft>
                <a:spcPts val="1000"/>
              </a:spcAft>
              <a:buSzPct val="100000"/>
              <a:buChar char="•"/>
            </a:pPr>
            <a:r>
              <a:rPr lang="en-US" sz="1800" dirty="0">
                <a:solidFill>
                  <a:srgbClr val="222222"/>
                </a:solidFill>
              </a:rPr>
              <a:t>특정 장례식장·상조·묘지 영업·보증</a:t>
            </a:r>
            <a:endParaRPr lang="en-US" sz="1800" dirty="0"/>
          </a:p>
          <a:p>
            <a:pPr marL="342900" indent="-342900">
              <a:spcAft>
                <a:spcPts val="1000"/>
              </a:spcAft>
              <a:buSzPct val="100000"/>
              <a:buChar char="•"/>
            </a:pPr>
            <a:r>
              <a:rPr lang="en-US" sz="1800" dirty="0">
                <a:solidFill>
                  <a:srgbClr val="222222"/>
                </a:solidFill>
              </a:rPr>
              <a:t>유언·상속·계약의 법적 효력 판단</a:t>
            </a:r>
            <a:endParaRPr lang="en-US" sz="1800" dirty="0"/>
          </a:p>
          <a:p>
            <a:pPr marL="342900" indent="-342900">
              <a:spcAft>
                <a:spcPts val="1000"/>
              </a:spcAft>
              <a:buSzPct val="100000"/>
              <a:buChar char="•"/>
            </a:pPr>
            <a:r>
              <a:rPr lang="en-US" sz="1800" dirty="0">
                <a:solidFill>
                  <a:srgbClr val="222222"/>
                </a:solidFill>
              </a:rPr>
              <a:t>장례지도사·행정기관 업무 대행</a:t>
            </a:r>
            <a:endParaRPr lang="en-US" sz="1800" dirty="0"/>
          </a:p>
          <a:p>
            <a:pPr marL="342900" indent="-342900">
              <a:spcAft>
                <a:spcPts val="1000"/>
              </a:spcAft>
              <a:buSzPct val="100000"/>
              <a:buChar char="•"/>
            </a:pPr>
            <a:r>
              <a:rPr lang="en-US" sz="1800" dirty="0">
                <a:solidFill>
                  <a:srgbClr val="222222"/>
                </a:solidFill>
              </a:rPr>
              <a:t>가족의 애도방식을 “낭비”라고 평가</a:t>
            </a:r>
            <a:endParaRPr lang="en-US" sz="1800" dirty="0"/>
          </a:p>
        </p:txBody>
      </p:sp>
      <p:sp>
        <p:nvSpPr>
          <p:cNvPr id="9" name="Shape 6"/>
          <p:cNvSpPr/>
          <p:nvPr/>
        </p:nvSpPr>
        <p:spPr>
          <a:xfrm>
            <a:off x="6278728" y="1554480"/>
            <a:ext cx="5364328" cy="3520440"/>
          </a:xfrm>
          <a:prstGeom prst="roundRect">
            <a:avLst>
              <a:gd name="adj" fmla="val 3117"/>
            </a:avLst>
          </a:prstGeom>
          <a:solidFill>
            <a:srgbClr val="EAF3F0"/>
          </a:solidFill>
          <a:ln w="12700">
            <a:solidFill>
              <a:srgbClr val="EAF3F0"/>
            </a:solidFill>
            <a:prstDash val="solid"/>
          </a:ln>
        </p:spPr>
      </p:sp>
      <p:sp>
        <p:nvSpPr>
          <p:cNvPr id="10" name="Shape 7"/>
          <p:cNvSpPr/>
          <p:nvPr/>
        </p:nvSpPr>
        <p:spPr>
          <a:xfrm>
            <a:off x="6553048" y="1810512"/>
            <a:ext cx="548640" cy="548640"/>
          </a:xfrm>
          <a:prstGeom prst="ellipse">
            <a:avLst/>
          </a:prstGeom>
          <a:solidFill>
            <a:srgbClr val="2E7D6B"/>
          </a:solidFill>
          <a:ln w="12700">
            <a:solidFill>
              <a:srgbClr val="2E7D6B"/>
            </a:solidFill>
            <a:prstDash val="solid"/>
          </a:ln>
        </p:spPr>
      </p:sp>
      <p:pic>
        <p:nvPicPr>
          <p:cNvPr id="11" name="Image 1" descr="preencoded.png">    </p:cNvPr>
          <p:cNvPicPr>
            <a:picLocks noChangeAspect="1"/>
          </p:cNvPicPr>
          <p:nvPr/>
        </p:nvPicPr>
        <p:blipFill>
          <a:blip r:embed="rId2"/>
          <a:stretch>
            <a:fillRect/>
          </a:stretch>
        </p:blipFill>
        <p:spPr>
          <a:xfrm>
            <a:off x="6695694" y="1953158"/>
            <a:ext cx="263347" cy="263347"/>
          </a:xfrm>
          <a:prstGeom prst="rect">
            <a:avLst/>
          </a:prstGeom>
        </p:spPr>
      </p:pic>
      <p:sp>
        <p:nvSpPr>
          <p:cNvPr id="12" name="Text 8"/>
          <p:cNvSpPr txBox="1"/>
          <p:nvPr/>
        </p:nvSpPr>
        <p:spPr>
          <a:xfrm>
            <a:off x="7284568" y="1810512"/>
            <a:ext cx="4084168" cy="548640"/>
          </a:xfrm>
          <a:prstGeom prst="rect">
            <a:avLst/>
          </a:prstGeom>
          <a:noFill/>
          <a:ln/>
        </p:spPr>
        <p:txBody>
          <a:bodyPr wrap="square" lIns="0" tIns="0" rIns="0" bIns="0" rtlCol="0" anchor="ctr"/>
          <a:lstStyle/>
          <a:p>
            <a:pPr indent="0" marL="0">
              <a:buNone/>
            </a:pPr>
            <a:r>
              <a:rPr lang="en-US" sz="2200" b="1" dirty="0">
                <a:solidFill>
                  <a:srgbClr val="2E7D6B"/>
                </a:solidFill>
              </a:rPr>
              <a:t>할 수 있는 일</a:t>
            </a:r>
            <a:endParaRPr lang="en-US" sz="2200" dirty="0"/>
          </a:p>
        </p:txBody>
      </p:sp>
      <p:sp>
        <p:nvSpPr>
          <p:cNvPr id="13" name="Text 9"/>
          <p:cNvSpPr txBox="1"/>
          <p:nvPr/>
        </p:nvSpPr>
        <p:spPr>
          <a:xfrm>
            <a:off x="6553048" y="2560320"/>
            <a:ext cx="4815688" cy="2377440"/>
          </a:xfrm>
          <a:prstGeom prst="rect">
            <a:avLst/>
          </a:prstGeom>
          <a:noFill/>
          <a:ln/>
        </p:spPr>
        <p:txBody>
          <a:bodyPr wrap="square" lIns="0" tIns="0" rIns="0" bIns="0" rtlCol="0" anchor="t"/>
          <a:lstStyle/>
          <a:p>
            <a:pPr marL="342900" indent="-342900">
              <a:spcAft>
                <a:spcPts val="1000"/>
              </a:spcAft>
              <a:buSzPct val="100000"/>
              <a:buChar char="•"/>
            </a:pPr>
            <a:r>
              <a:rPr lang="en-US" sz="1900" dirty="0">
                <a:solidFill>
                  <a:srgbClr val="222222"/>
                </a:solidFill>
              </a:rPr>
              <a:t>장사방법 기본개념과 공식 출처 안내</a:t>
            </a:r>
            <a:endParaRPr lang="en-US" sz="1900" dirty="0"/>
          </a:p>
          <a:p>
            <a:pPr marL="342900" indent="-342900">
              <a:spcAft>
                <a:spcPts val="1000"/>
              </a:spcAft>
              <a:buSzPct val="100000"/>
              <a:buChar char="•"/>
            </a:pPr>
            <a:r>
              <a:rPr lang="en-US" sz="1900" dirty="0">
                <a:solidFill>
                  <a:srgbClr val="222222"/>
                </a:solidFill>
              </a:rPr>
              <a:t>가치·비용·관리 가능성 비교 질문</a:t>
            </a:r>
            <a:endParaRPr lang="en-US" sz="1900" dirty="0"/>
          </a:p>
          <a:p>
            <a:pPr marL="342900" indent="-342900">
              <a:spcAft>
                <a:spcPts val="1000"/>
              </a:spcAft>
              <a:buSzPct val="100000"/>
              <a:buChar char="•"/>
            </a:pPr>
            <a:r>
              <a:rPr lang="en-US" sz="1900" dirty="0">
                <a:solidFill>
                  <a:srgbClr val="222222"/>
                </a:solidFill>
              </a:rPr>
              <a:t>가족대화와 사전 장례의향 정리</a:t>
            </a:r>
            <a:endParaRPr lang="en-US" sz="1900" dirty="0"/>
          </a:p>
          <a:p>
            <a:pPr marL="342900" indent="-342900">
              <a:spcAft>
                <a:spcPts val="1000"/>
              </a:spcAft>
              <a:buSzPct val="100000"/>
              <a:buChar char="•"/>
            </a:pPr>
            <a:r>
              <a:rPr lang="en-US" sz="1900" dirty="0">
                <a:solidFill>
                  <a:srgbClr val="222222"/>
                </a:solidFill>
              </a:rPr>
              <a:t>e하늘·지자체·전문가 연결</a:t>
            </a:r>
            <a:endParaRPr lang="en-US" sz="1900" dirty="0"/>
          </a:p>
          <a:p>
            <a:pPr marL="342900" indent="-342900">
              <a:spcAft>
                <a:spcPts val="1000"/>
              </a:spcAft>
              <a:buSzPct val="100000"/>
              <a:buChar char="•"/>
            </a:pPr>
            <a:r>
              <a:rPr lang="en-US" sz="1900" dirty="0">
                <a:solidFill>
                  <a:srgbClr val="222222"/>
                </a:solidFill>
              </a:rPr>
              <a:t>애도의 의미를 고려한 장례설계 지원</a:t>
            </a:r>
            <a:endParaRPr lang="en-US" sz="1900" dirty="0"/>
          </a:p>
        </p:txBody>
      </p:sp>
      <p:sp>
        <p:nvSpPr>
          <p:cNvPr id="14" name="Shape 10"/>
          <p:cNvSpPr/>
          <p:nvPr/>
        </p:nvSpPr>
        <p:spPr>
          <a:xfrm>
            <a:off x="548640" y="5303520"/>
            <a:ext cx="11094415" cy="868680"/>
          </a:xfrm>
          <a:prstGeom prst="roundRect">
            <a:avLst>
              <a:gd name="adj" fmla="val 12632"/>
            </a:avLst>
          </a:prstGeom>
          <a:solidFill>
            <a:srgbClr val="EAF3F0"/>
          </a:solidFill>
          <a:ln w="12700">
            <a:solidFill>
              <a:srgbClr val="EAF3F0"/>
            </a:solidFill>
            <a:prstDash val="solid"/>
          </a:ln>
        </p:spPr>
      </p:sp>
      <p:sp>
        <p:nvSpPr>
          <p:cNvPr id="15" name="Shape 11"/>
          <p:cNvSpPr/>
          <p:nvPr/>
        </p:nvSpPr>
        <p:spPr>
          <a:xfrm>
            <a:off x="777240" y="5509260"/>
            <a:ext cx="457200" cy="457200"/>
          </a:xfrm>
          <a:prstGeom prst="ellipse">
            <a:avLst/>
          </a:prstGeom>
          <a:solidFill>
            <a:srgbClr val="2E7D6B"/>
          </a:solidFill>
          <a:ln w="12700">
            <a:solidFill>
              <a:srgbClr val="2E7D6B"/>
            </a:solidFill>
            <a:prstDash val="solid"/>
          </a:ln>
        </p:spPr>
      </p:sp>
      <p:pic>
        <p:nvPicPr>
          <p:cNvPr id="16" name="Image 2" descr="preencoded.png">    </p:cNvPr>
          <p:cNvPicPr>
            <a:picLocks noChangeAspect="1"/>
          </p:cNvPicPr>
          <p:nvPr/>
        </p:nvPicPr>
        <p:blipFill>
          <a:blip r:embed="rId3"/>
          <a:stretch>
            <a:fillRect/>
          </a:stretch>
        </p:blipFill>
        <p:spPr>
          <a:xfrm>
            <a:off x="896112" y="5628132"/>
            <a:ext cx="219456" cy="219456"/>
          </a:xfrm>
          <a:prstGeom prst="rect">
            <a:avLst/>
          </a:prstGeom>
        </p:spPr>
      </p:pic>
      <p:sp>
        <p:nvSpPr>
          <p:cNvPr id="17" name="Text 12"/>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2E7D6B"/>
                </a:solidFill>
              </a:rPr>
              <a:t>핵심 원칙   </a:t>
            </a:r>
            <a:pPr indent="0" marL="0">
              <a:buNone/>
            </a:pPr>
            <a:r>
              <a:rPr lang="en-US" sz="1800" dirty="0">
                <a:solidFill>
                  <a:srgbClr val="222222"/>
                </a:solidFill>
              </a:rPr>
              <a:t>WLC는 “장례를 설계하는 사람”이 아니라 “내담자가 자신에게 맞는 장례를 설계하도록 돕는 사람”입니다.</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5547208" y="1005840"/>
            <a:ext cx="1097280" cy="1097280"/>
          </a:xfrm>
          <a:prstGeom prst="ellipse">
            <a:avLst/>
          </a:prstGeom>
          <a:solidFill>
            <a:srgbClr val="2E7D6B"/>
          </a:solidFill>
          <a:ln w="12700">
            <a:solidFill>
              <a:srgbClr val="2E7D6B"/>
            </a:solidFill>
            <a:prstDash val="solid"/>
          </a:ln>
        </p:spPr>
      </p:sp>
      <p:pic>
        <p:nvPicPr>
          <p:cNvPr id="3" name="Image 0" descr="preencoded.png">    </p:cNvPr>
          <p:cNvPicPr>
            <a:picLocks noChangeAspect="1"/>
          </p:cNvPicPr>
          <p:nvPr/>
        </p:nvPicPr>
        <p:blipFill>
          <a:blip r:embed="rId1"/>
          <a:stretch>
            <a:fillRect/>
          </a:stretch>
        </p:blipFill>
        <p:spPr>
          <a:xfrm>
            <a:off x="5832500" y="1291133"/>
            <a:ext cx="526694" cy="526694"/>
          </a:xfrm>
          <a:prstGeom prst="rect">
            <a:avLst/>
          </a:prstGeom>
        </p:spPr>
      </p:pic>
      <p:sp>
        <p:nvSpPr>
          <p:cNvPr id="4" name="Text 1"/>
          <p:cNvSpPr txBox="1"/>
          <p:nvPr/>
        </p:nvSpPr>
        <p:spPr>
          <a:xfrm>
            <a:off x="548640" y="2286000"/>
            <a:ext cx="11094415" cy="822960"/>
          </a:xfrm>
          <a:prstGeom prst="rect">
            <a:avLst/>
          </a:prstGeom>
          <a:noFill/>
          <a:ln/>
        </p:spPr>
        <p:txBody>
          <a:bodyPr wrap="square" lIns="0" tIns="0" rIns="0" bIns="0" rtlCol="0" anchor="t"/>
          <a:lstStyle/>
          <a:p>
            <a:pPr algn="ctr" indent="0" marL="0">
              <a:buNone/>
            </a:pPr>
            <a:r>
              <a:rPr lang="en-US" sz="4000" b="1" dirty="0">
                <a:solidFill>
                  <a:srgbClr val="FFFFFF"/>
                </a:solidFill>
              </a:rPr>
              <a:t>휴식 10분</a:t>
            </a:r>
            <a:endParaRPr lang="en-US" sz="4000" dirty="0"/>
          </a:p>
        </p:txBody>
      </p:sp>
      <p:sp>
        <p:nvSpPr>
          <p:cNvPr id="5" name="Text 2"/>
          <p:cNvSpPr txBox="1"/>
          <p:nvPr/>
        </p:nvSpPr>
        <p:spPr>
          <a:xfrm>
            <a:off x="548640" y="3291840"/>
            <a:ext cx="11094415" cy="411480"/>
          </a:xfrm>
          <a:prstGeom prst="rect">
            <a:avLst/>
          </a:prstGeom>
          <a:noFill/>
          <a:ln/>
        </p:spPr>
        <p:txBody>
          <a:bodyPr wrap="square" lIns="0" tIns="0" rIns="0" bIns="0" rtlCol="0" anchor="t"/>
          <a:lstStyle/>
          <a:p>
            <a:pPr algn="ctr" indent="0" marL="0">
              <a:buNone/>
            </a:pPr>
            <a:r>
              <a:rPr lang="en-US" sz="1600" b="1" dirty="0">
                <a:solidFill>
                  <a:srgbClr val="8FB9A8"/>
                </a:solidFill>
              </a:rPr>
              <a:t>지금까지 기억할 세 가지</a:t>
            </a:r>
            <a:endParaRPr lang="en-US" sz="1600" dirty="0"/>
          </a:p>
        </p:txBody>
      </p:sp>
      <p:sp>
        <p:nvSpPr>
          <p:cNvPr id="6" name="Shape 3"/>
          <p:cNvSpPr/>
          <p:nvPr/>
        </p:nvSpPr>
        <p:spPr>
          <a:xfrm>
            <a:off x="548640" y="3840480"/>
            <a:ext cx="3515258" cy="1371600"/>
          </a:xfrm>
          <a:prstGeom prst="roundRect">
            <a:avLst>
              <a:gd name="adj" fmla="val 8000"/>
            </a:avLst>
          </a:prstGeom>
          <a:solidFill>
            <a:srgbClr val="2A5F5A"/>
          </a:solidFill>
          <a:ln w="12700">
            <a:solidFill>
              <a:srgbClr val="2A5F5A"/>
            </a:solidFill>
            <a:prstDash val="solid"/>
          </a:ln>
        </p:spPr>
      </p:sp>
      <p:sp>
        <p:nvSpPr>
          <p:cNvPr id="7" name="Text 4"/>
          <p:cNvSpPr txBox="1"/>
          <p:nvPr/>
        </p:nvSpPr>
        <p:spPr>
          <a:xfrm>
            <a:off x="777240" y="3931920"/>
            <a:ext cx="3058058" cy="1188720"/>
          </a:xfrm>
          <a:prstGeom prst="rect">
            <a:avLst/>
          </a:prstGeom>
          <a:noFill/>
          <a:ln/>
        </p:spPr>
        <p:txBody>
          <a:bodyPr wrap="square" lIns="0" tIns="0" rIns="0" bIns="0" rtlCol="0" anchor="ctr"/>
          <a:lstStyle/>
          <a:p>
            <a:pPr algn="ctr" indent="0" marL="0">
              <a:buNone/>
            </a:pPr>
            <a:r>
              <a:rPr lang="en-US" sz="2000" dirty="0">
                <a:solidFill>
                  <a:srgbClr val="FFFFFF"/>
                </a:solidFill>
              </a:rPr>
              <a:t>자연장은 아무 곳에나가 아니라 법이 정한 방법</a:t>
            </a:r>
            <a:endParaRPr lang="en-US" sz="2000" dirty="0"/>
          </a:p>
        </p:txBody>
      </p:sp>
      <p:sp>
        <p:nvSpPr>
          <p:cNvPr id="8" name="Shape 5"/>
          <p:cNvSpPr/>
          <p:nvPr/>
        </p:nvSpPr>
        <p:spPr>
          <a:xfrm>
            <a:off x="4338218" y="3840480"/>
            <a:ext cx="3515258" cy="1371600"/>
          </a:xfrm>
          <a:prstGeom prst="roundRect">
            <a:avLst>
              <a:gd name="adj" fmla="val 8000"/>
            </a:avLst>
          </a:prstGeom>
          <a:solidFill>
            <a:srgbClr val="2A5F5A"/>
          </a:solidFill>
          <a:ln w="12700">
            <a:solidFill>
              <a:srgbClr val="2A5F5A"/>
            </a:solidFill>
            <a:prstDash val="solid"/>
          </a:ln>
        </p:spPr>
      </p:sp>
      <p:sp>
        <p:nvSpPr>
          <p:cNvPr id="9" name="Text 6"/>
          <p:cNvSpPr txBox="1"/>
          <p:nvPr/>
        </p:nvSpPr>
        <p:spPr>
          <a:xfrm>
            <a:off x="4566818" y="3931920"/>
            <a:ext cx="3058058" cy="1188720"/>
          </a:xfrm>
          <a:prstGeom prst="rect">
            <a:avLst/>
          </a:prstGeom>
          <a:noFill/>
          <a:ln/>
        </p:spPr>
        <p:txBody>
          <a:bodyPr wrap="square" lIns="0" tIns="0" rIns="0" bIns="0" rtlCol="0" anchor="ctr"/>
          <a:lstStyle/>
          <a:p>
            <a:pPr algn="ctr" indent="0" marL="0">
              <a:buNone/>
            </a:pPr>
            <a:r>
              <a:rPr lang="en-US" sz="2000" dirty="0">
                <a:solidFill>
                  <a:srgbClr val="FFFFFF"/>
                </a:solidFill>
              </a:rPr>
              <a:t>무연고의 죽음도 장례의 대상 — 공영장례</a:t>
            </a:r>
            <a:endParaRPr lang="en-US" sz="2000" dirty="0"/>
          </a:p>
        </p:txBody>
      </p:sp>
      <p:sp>
        <p:nvSpPr>
          <p:cNvPr id="10" name="Shape 7"/>
          <p:cNvSpPr/>
          <p:nvPr/>
        </p:nvSpPr>
        <p:spPr>
          <a:xfrm>
            <a:off x="8127797" y="3840480"/>
            <a:ext cx="3515258" cy="1371600"/>
          </a:xfrm>
          <a:prstGeom prst="roundRect">
            <a:avLst>
              <a:gd name="adj" fmla="val 8000"/>
            </a:avLst>
          </a:prstGeom>
          <a:solidFill>
            <a:srgbClr val="2A5F5A"/>
          </a:solidFill>
          <a:ln w="12700">
            <a:solidFill>
              <a:srgbClr val="2A5F5A"/>
            </a:solidFill>
            <a:prstDash val="solid"/>
          </a:ln>
        </p:spPr>
      </p:sp>
      <p:sp>
        <p:nvSpPr>
          <p:cNvPr id="11" name="Text 8"/>
          <p:cNvSpPr txBox="1"/>
          <p:nvPr/>
        </p:nvSpPr>
        <p:spPr>
          <a:xfrm>
            <a:off x="8356397" y="3931920"/>
            <a:ext cx="3058058" cy="1188720"/>
          </a:xfrm>
          <a:prstGeom prst="rect">
            <a:avLst/>
          </a:prstGeom>
          <a:noFill/>
          <a:ln/>
        </p:spPr>
        <p:txBody>
          <a:bodyPr wrap="square" lIns="0" tIns="0" rIns="0" bIns="0" rtlCol="0" anchor="ctr"/>
          <a:lstStyle/>
          <a:p>
            <a:pPr algn="ctr" indent="0" marL="0">
              <a:buNone/>
            </a:pPr>
            <a:r>
              <a:rPr lang="en-US" sz="2000" dirty="0">
                <a:solidFill>
                  <a:srgbClr val="FFFFFF"/>
                </a:solidFill>
              </a:rPr>
              <a:t>총액보다 구성, 경험담보다 e하늘</a:t>
            </a:r>
            <a:endParaRPr lang="en-US" sz="2000" dirty="0"/>
          </a:p>
        </p:txBody>
      </p:sp>
      <p:sp>
        <p:nvSpPr>
          <p:cNvPr id="12" name="Text 9"/>
          <p:cNvSpPr txBox="1"/>
          <p:nvPr/>
        </p:nvSpPr>
        <p:spPr>
          <a:xfrm>
            <a:off x="548640" y="5623560"/>
            <a:ext cx="11094415" cy="411480"/>
          </a:xfrm>
          <a:prstGeom prst="rect">
            <a:avLst/>
          </a:prstGeom>
          <a:noFill/>
          <a:ln/>
        </p:spPr>
        <p:txBody>
          <a:bodyPr wrap="square" lIns="0" tIns="0" rIns="0" bIns="0" rtlCol="0" anchor="t"/>
          <a:lstStyle/>
          <a:p>
            <a:pPr algn="ctr" indent="0" marL="0">
              <a:buNone/>
            </a:pPr>
            <a:r>
              <a:rPr lang="en-US" sz="1500" dirty="0">
                <a:solidFill>
                  <a:srgbClr val="CFE3DC"/>
                </a:solidFill>
              </a:rPr>
              <a:t>다음  ▸  3교시 — 나의 장례를 설계하다</a:t>
            </a:r>
            <a:endParaRPr lang="en-US" sz="15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1737360"/>
            <a:ext cx="5486400" cy="548640"/>
          </a:xfrm>
          <a:prstGeom prst="rect">
            <a:avLst/>
          </a:prstGeom>
          <a:noFill/>
          <a:ln/>
        </p:spPr>
        <p:txBody>
          <a:bodyPr wrap="square" lIns="0" tIns="0" rIns="0" bIns="0" rtlCol="0" anchor="t"/>
          <a:lstStyle/>
          <a:p>
            <a:pPr indent="0" marL="0">
              <a:buNone/>
            </a:pPr>
            <a:r>
              <a:rPr lang="en-US" sz="2200" b="1" dirty="0">
                <a:solidFill>
                  <a:srgbClr val="8FB9A8"/>
                </a:solidFill>
              </a:rPr>
              <a:t>3교시</a:t>
            </a:r>
            <a:endParaRPr lang="en-US" sz="2200" dirty="0"/>
          </a:p>
        </p:txBody>
      </p:sp>
      <p:sp>
        <p:nvSpPr>
          <p:cNvPr id="3" name="Text 0"/>
          <p:cNvSpPr/>
          <p:nvPr>
            <p:ph idx="100" type="title" hasCustomPrompt="1"/>
          </p:nvPr>
        </p:nvSpPr>
        <p:spPr>
          <a:xfrm>
            <a:off x="548640" y="2651760"/>
            <a:ext cx="11094415" cy="1005840"/>
          </a:xfrm>
          <a:prstGeom prst="rect">
            <a:avLst/>
          </a:prstGeom>
          <a:noFill/>
          <a:ln/>
        </p:spPr>
        <p:txBody>
          <a:bodyPr wrap="square" lIns="0" tIns="0" rIns="0" bIns="0" rtlCol="0" anchor="t"/>
          <a:lstStyle/>
          <a:p>
            <a:pPr algn="l" indent="0" marL="0">
              <a:buNone/>
            </a:pPr>
            <a:r>
              <a:rPr lang="en-US" sz="4000" b="1" dirty="0">
                <a:solidFill>
                  <a:srgbClr val="FFFFFF"/>
                </a:solidFill>
              </a:rPr>
              <a:t>나의 장례를 설계하다</a:t>
            </a:r>
            <a:endParaRPr lang="en-US" sz="4000" dirty="0"/>
          </a:p>
        </p:txBody>
      </p:sp>
      <p:sp>
        <p:nvSpPr>
          <p:cNvPr id="4" name="Text 2"/>
          <p:cNvSpPr txBox="1"/>
          <p:nvPr/>
        </p:nvSpPr>
        <p:spPr>
          <a:xfrm>
            <a:off x="548640" y="3749040"/>
            <a:ext cx="11094415" cy="548640"/>
          </a:xfrm>
          <a:prstGeom prst="rect">
            <a:avLst/>
          </a:prstGeom>
          <a:noFill/>
          <a:ln/>
        </p:spPr>
        <p:txBody>
          <a:bodyPr wrap="square" lIns="0" tIns="0" rIns="0" bIns="0" rtlCol="0" anchor="t"/>
          <a:lstStyle/>
          <a:p>
            <a:pPr indent="0" marL="0">
              <a:buNone/>
            </a:pPr>
            <a:r>
              <a:rPr lang="en-US" sz="2000" dirty="0">
                <a:solidFill>
                  <a:srgbClr val="CFE3DC"/>
                </a:solidFill>
              </a:rPr>
              <a:t>“어떤 장례를 원하는가”보다 “어떤 이별의 시간이 되기를 바라는가”</a:t>
            </a:r>
            <a:endParaRPr lang="en-US" sz="2000" dirty="0"/>
          </a:p>
        </p:txBody>
      </p:sp>
      <p:sp>
        <p:nvSpPr>
          <p:cNvPr id="5" name="Text 3"/>
          <p:cNvSpPr txBox="1"/>
          <p:nvPr/>
        </p:nvSpPr>
        <p:spPr>
          <a:xfrm>
            <a:off x="548640" y="4480560"/>
            <a:ext cx="11094415" cy="1645920"/>
          </a:xfrm>
          <a:prstGeom prst="rect">
            <a:avLst/>
          </a:prstGeom>
          <a:noFill/>
          <a:ln/>
        </p:spPr>
        <p:txBody>
          <a:bodyPr wrap="square" lIns="0" tIns="0" rIns="0" bIns="0" rtlCol="0" anchor="t"/>
          <a:lstStyle/>
          <a:p>
            <a:pPr marL="342900" indent="-342900">
              <a:spcAft>
                <a:spcPts val="600"/>
              </a:spcAft>
              <a:buSzPct val="100000"/>
              <a:buChar char="•"/>
            </a:pPr>
            <a:r>
              <a:rPr lang="en-US" sz="1900" dirty="0">
                <a:solidFill>
                  <a:srgbClr val="FFFFFF"/>
                </a:solidFill>
              </a:rPr>
              <a:t>코칭 사례 “바다에 뿌려 달라고 했어요”</a:t>
            </a:r>
            <a:endParaRPr lang="en-US" sz="1900" dirty="0"/>
          </a:p>
          <a:p>
            <a:pPr marL="342900" indent="-342900">
              <a:spcAft>
                <a:spcPts val="600"/>
              </a:spcAft>
              <a:buSzPct val="100000"/>
              <a:buChar char="•"/>
            </a:pPr>
            <a:r>
              <a:rPr lang="en-US" sz="1900" dirty="0">
                <a:solidFill>
                  <a:srgbClr val="FFFFFF"/>
                </a:solidFill>
              </a:rPr>
              <a:t>실습 1 장례에서 중요한 것 · 실습 2 장묘 방식 비교표</a:t>
            </a:r>
            <a:endParaRPr lang="en-US" sz="1900" dirty="0"/>
          </a:p>
          <a:p>
            <a:pPr marL="342900" indent="-342900">
              <a:spcAft>
                <a:spcPts val="600"/>
              </a:spcAft>
              <a:buSzPct val="100000"/>
              <a:buChar char="•"/>
            </a:pPr>
            <a:r>
              <a:rPr lang="en-US" sz="1900" dirty="0">
                <a:solidFill>
                  <a:srgbClr val="FFFFFF"/>
                </a:solidFill>
              </a:rPr>
              <a:t>실습 3 가족대화 문장 · 사전 장례설계 8영역</a:t>
            </a:r>
            <a:endParaRPr lang="en-US" sz="19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18절 코칭 사례</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“가까운 바다에 뿌려 달라고 했어요”</a:t>
            </a:r>
            <a:endParaRPr lang="en-US" sz="2800" dirty="0"/>
          </a:p>
        </p:txBody>
      </p:sp>
      <p:sp>
        <p:nvSpPr>
          <p:cNvPr id="4" name="Shape 2"/>
          <p:cNvSpPr/>
          <p:nvPr/>
        </p:nvSpPr>
        <p:spPr>
          <a:xfrm>
            <a:off x="548640" y="1600200"/>
            <a:ext cx="438912" cy="438912"/>
          </a:xfrm>
          <a:prstGeom prst="ellipse">
            <a:avLst/>
          </a:prstGeom>
          <a:solidFill>
            <a:srgbClr val="2E7D6B"/>
          </a:solidFill>
          <a:ln w="12700">
            <a:solidFill>
              <a:srgbClr val="2E7D6B"/>
            </a:solidFill>
            <a:prstDash val="solid"/>
          </a:ln>
        </p:spPr>
      </p:sp>
      <p:sp>
        <p:nvSpPr>
          <p:cNvPr id="5" name="Text 3"/>
          <p:cNvSpPr txBox="1"/>
          <p:nvPr/>
        </p:nvSpPr>
        <p:spPr>
          <a:xfrm>
            <a:off x="548640"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170432" y="1572768"/>
            <a:ext cx="10408615" cy="630936"/>
          </a:xfrm>
          <a:prstGeom prst="rect">
            <a:avLst/>
          </a:prstGeom>
          <a:noFill/>
          <a:ln/>
        </p:spPr>
        <p:txBody>
          <a:bodyPr wrap="square" lIns="0" tIns="0" rIns="0" bIns="0" rtlCol="0" anchor="t"/>
          <a:lstStyle/>
          <a:p>
            <a:pPr indent="0" marL="0">
              <a:buNone/>
            </a:pPr>
            <a:r>
              <a:rPr lang="en-US" sz="1800" b="1" dirty="0">
                <a:solidFill>
                  <a:srgbClr val="1F4E4A"/>
                </a:solidFill>
              </a:rPr>
              <a:t>의미 확인 </a:t>
            </a:r>
            <a:pPr indent="0" marL="0">
              <a:buNone/>
            </a:pPr>
            <a:r>
              <a:rPr lang="en-US" sz="1800" dirty="0">
                <a:solidFill>
                  <a:srgbClr val="222222"/>
                </a:solidFill>
              </a:rPr>
              <a:t>  “바다에 뿌려 달라는 바람에는 어떤 의미가 있으신가요?”</a:t>
            </a:r>
            <a:endParaRPr lang="en-US" sz="1800" dirty="0"/>
          </a:p>
        </p:txBody>
      </p:sp>
      <p:sp>
        <p:nvSpPr>
          <p:cNvPr id="7" name="Shape 5"/>
          <p:cNvSpPr/>
          <p:nvPr/>
        </p:nvSpPr>
        <p:spPr>
          <a:xfrm>
            <a:off x="548640" y="2304288"/>
            <a:ext cx="438912" cy="438912"/>
          </a:xfrm>
          <a:prstGeom prst="ellipse">
            <a:avLst/>
          </a:prstGeom>
          <a:solidFill>
            <a:srgbClr val="2E7D6B"/>
          </a:solidFill>
          <a:ln w="12700">
            <a:solidFill>
              <a:srgbClr val="2E7D6B"/>
            </a:solidFill>
            <a:prstDash val="solid"/>
          </a:ln>
        </p:spPr>
      </p:sp>
      <p:sp>
        <p:nvSpPr>
          <p:cNvPr id="8" name="Text 6"/>
          <p:cNvSpPr txBox="1"/>
          <p:nvPr/>
        </p:nvSpPr>
        <p:spPr>
          <a:xfrm>
            <a:off x="548640" y="230428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1170432" y="2276856"/>
            <a:ext cx="10408615" cy="630936"/>
          </a:xfrm>
          <a:prstGeom prst="rect">
            <a:avLst/>
          </a:prstGeom>
          <a:noFill/>
          <a:ln/>
        </p:spPr>
        <p:txBody>
          <a:bodyPr wrap="square" lIns="0" tIns="0" rIns="0" bIns="0" rtlCol="0" anchor="t"/>
          <a:lstStyle/>
          <a:p>
            <a:pPr indent="0" marL="0">
              <a:buNone/>
            </a:pPr>
            <a:r>
              <a:rPr lang="en-US" sz="1800" b="1" dirty="0">
                <a:solidFill>
                  <a:srgbClr val="1F4E4A"/>
                </a:solidFill>
              </a:rPr>
              <a:t>법적 현실 </a:t>
            </a:r>
            <a:pPr indent="0" marL="0">
              <a:buNone/>
            </a:pPr>
            <a:r>
              <a:rPr lang="en-US" sz="1800" dirty="0">
                <a:solidFill>
                  <a:srgbClr val="222222"/>
                </a:solidFill>
              </a:rPr>
              <a:t>  “골분을 뿌릴 수 있는 구역과 방법이 법으로 정해져 있어 가까운 해변 어디서나 가능하지는 않아요.”</a:t>
            </a:r>
            <a:endParaRPr lang="en-US" sz="1800" dirty="0"/>
          </a:p>
        </p:txBody>
      </p:sp>
      <p:sp>
        <p:nvSpPr>
          <p:cNvPr id="10" name="Shape 8"/>
          <p:cNvSpPr/>
          <p:nvPr/>
        </p:nvSpPr>
        <p:spPr>
          <a:xfrm>
            <a:off x="548640" y="3008376"/>
            <a:ext cx="438912" cy="438912"/>
          </a:xfrm>
          <a:prstGeom prst="ellipse">
            <a:avLst/>
          </a:prstGeom>
          <a:solidFill>
            <a:srgbClr val="2E7D6B"/>
          </a:solidFill>
          <a:ln w="12700">
            <a:solidFill>
              <a:srgbClr val="2E7D6B"/>
            </a:solidFill>
            <a:prstDash val="solid"/>
          </a:ln>
        </p:spPr>
      </p:sp>
      <p:sp>
        <p:nvSpPr>
          <p:cNvPr id="11" name="Text 9"/>
          <p:cNvSpPr txBox="1"/>
          <p:nvPr/>
        </p:nvSpPr>
        <p:spPr>
          <a:xfrm>
            <a:off x="548640" y="300837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10"/>
          <p:cNvSpPr txBox="1"/>
          <p:nvPr/>
        </p:nvSpPr>
        <p:spPr>
          <a:xfrm>
            <a:off x="1170432" y="2980944"/>
            <a:ext cx="10408615" cy="630936"/>
          </a:xfrm>
          <a:prstGeom prst="rect">
            <a:avLst/>
          </a:prstGeom>
          <a:noFill/>
          <a:ln/>
        </p:spPr>
        <p:txBody>
          <a:bodyPr wrap="square" lIns="0" tIns="0" rIns="0" bIns="0" rtlCol="0" anchor="t"/>
          <a:lstStyle/>
          <a:p>
            <a:pPr indent="0" marL="0">
              <a:buNone/>
            </a:pPr>
            <a:r>
              <a:rPr lang="en-US" sz="1800" b="1" dirty="0">
                <a:solidFill>
                  <a:srgbClr val="1F4E4A"/>
                </a:solidFill>
              </a:rPr>
              <a:t>대안 비교 </a:t>
            </a:r>
            <a:pPr indent="0" marL="0">
              <a:buNone/>
            </a:pPr>
            <a:r>
              <a:rPr lang="en-US" sz="1800" dirty="0">
                <a:solidFill>
                  <a:srgbClr val="222222"/>
                </a:solidFill>
              </a:rPr>
              <a:t>  “해양 허용구역, 장사시설 내 산분구역, 자연장 등을 함께 확인해 볼까요?”</a:t>
            </a:r>
            <a:endParaRPr lang="en-US" sz="1800" dirty="0"/>
          </a:p>
        </p:txBody>
      </p:sp>
      <p:sp>
        <p:nvSpPr>
          <p:cNvPr id="13" name="Shape 11"/>
          <p:cNvSpPr/>
          <p:nvPr/>
        </p:nvSpPr>
        <p:spPr>
          <a:xfrm>
            <a:off x="548640" y="3712464"/>
            <a:ext cx="438912" cy="438912"/>
          </a:xfrm>
          <a:prstGeom prst="ellipse">
            <a:avLst/>
          </a:prstGeom>
          <a:solidFill>
            <a:srgbClr val="2E7D6B"/>
          </a:solidFill>
          <a:ln w="12700">
            <a:solidFill>
              <a:srgbClr val="2E7D6B"/>
            </a:solidFill>
            <a:prstDash val="solid"/>
          </a:ln>
        </p:spPr>
      </p:sp>
      <p:sp>
        <p:nvSpPr>
          <p:cNvPr id="14" name="Text 12"/>
          <p:cNvSpPr txBox="1"/>
          <p:nvPr/>
        </p:nvSpPr>
        <p:spPr>
          <a:xfrm>
            <a:off x="548640" y="371246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5" name="Text 13"/>
          <p:cNvSpPr txBox="1"/>
          <p:nvPr/>
        </p:nvSpPr>
        <p:spPr>
          <a:xfrm>
            <a:off x="1170432" y="3685032"/>
            <a:ext cx="10408615" cy="630936"/>
          </a:xfrm>
          <a:prstGeom prst="rect">
            <a:avLst/>
          </a:prstGeom>
          <a:noFill/>
          <a:ln/>
        </p:spPr>
        <p:txBody>
          <a:bodyPr wrap="square" lIns="0" tIns="0" rIns="0" bIns="0" rtlCol="0" anchor="t"/>
          <a:lstStyle/>
          <a:p>
            <a:pPr indent="0" marL="0">
              <a:buNone/>
            </a:pPr>
            <a:r>
              <a:rPr lang="en-US" sz="1800" b="1" dirty="0">
                <a:solidFill>
                  <a:srgbClr val="1F4E4A"/>
                </a:solidFill>
              </a:rPr>
              <a:t>가족대화 </a:t>
            </a:r>
            <a:pPr indent="0" marL="0">
              <a:buNone/>
            </a:pPr>
            <a:r>
              <a:rPr lang="en-US" sz="1800" dirty="0">
                <a:solidFill>
                  <a:srgbClr val="222222"/>
                </a:solidFill>
              </a:rPr>
              <a:t>  “자녀들이 이 뜻과 이유를 알고 있나요? 실행할 사람이 이해하게 기록해 두면 좋아요.”</a:t>
            </a:r>
            <a:endParaRPr lang="en-US" sz="1800" dirty="0"/>
          </a:p>
        </p:txBody>
      </p:sp>
      <p:sp>
        <p:nvSpPr>
          <p:cNvPr id="16" name="Shape 14"/>
          <p:cNvSpPr/>
          <p:nvPr/>
        </p:nvSpPr>
        <p:spPr>
          <a:xfrm>
            <a:off x="548640" y="4416552"/>
            <a:ext cx="438912" cy="438912"/>
          </a:xfrm>
          <a:prstGeom prst="ellipse">
            <a:avLst/>
          </a:prstGeom>
          <a:solidFill>
            <a:srgbClr val="2E7D6B"/>
          </a:solidFill>
          <a:ln w="12700">
            <a:solidFill>
              <a:srgbClr val="2E7D6B"/>
            </a:solidFill>
            <a:prstDash val="solid"/>
          </a:ln>
        </p:spPr>
      </p:sp>
      <p:sp>
        <p:nvSpPr>
          <p:cNvPr id="17" name="Text 15"/>
          <p:cNvSpPr txBox="1"/>
          <p:nvPr/>
        </p:nvSpPr>
        <p:spPr>
          <a:xfrm>
            <a:off x="548640" y="441655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8" name="Text 16"/>
          <p:cNvSpPr txBox="1"/>
          <p:nvPr/>
        </p:nvSpPr>
        <p:spPr>
          <a:xfrm>
            <a:off x="1170432" y="4389120"/>
            <a:ext cx="10408615" cy="630936"/>
          </a:xfrm>
          <a:prstGeom prst="rect">
            <a:avLst/>
          </a:prstGeom>
          <a:noFill/>
          <a:ln/>
        </p:spPr>
        <p:txBody>
          <a:bodyPr wrap="square" lIns="0" tIns="0" rIns="0" bIns="0" rtlCol="0" anchor="t"/>
          <a:lstStyle/>
          <a:p>
            <a:pPr indent="0" marL="0">
              <a:buNone/>
            </a:pPr>
            <a:r>
              <a:rPr lang="en-US" sz="1800" b="1" dirty="0">
                <a:solidFill>
                  <a:srgbClr val="1F4E4A"/>
                </a:solidFill>
              </a:rPr>
              <a:t>공식 확인 </a:t>
            </a:r>
            <a:pPr indent="0" marL="0">
              <a:buNone/>
            </a:pPr>
            <a:r>
              <a:rPr lang="en-US" sz="1800" dirty="0">
                <a:solidFill>
                  <a:srgbClr val="222222"/>
                </a:solidFill>
              </a:rPr>
              <a:t>  “실행 시점에 e하늘·국가법령정보센터·지자체에서 최신 기준을 다시 확인하도록 적어 둘게요.”</a:t>
            </a:r>
            <a:endParaRPr lang="en-US" sz="1800" dirty="0"/>
          </a:p>
        </p:txBody>
      </p:sp>
      <p:sp>
        <p:nvSpPr>
          <p:cNvPr id="19" name="Shape 17"/>
          <p:cNvSpPr/>
          <p:nvPr/>
        </p:nvSpPr>
        <p:spPr>
          <a:xfrm>
            <a:off x="548640" y="5303520"/>
            <a:ext cx="11094415" cy="868680"/>
          </a:xfrm>
          <a:prstGeom prst="roundRect">
            <a:avLst>
              <a:gd name="adj" fmla="val 12632"/>
            </a:avLst>
          </a:prstGeom>
          <a:solidFill>
            <a:srgbClr val="EAF3F0"/>
          </a:solidFill>
          <a:ln w="12700">
            <a:solidFill>
              <a:srgbClr val="EAF3F0"/>
            </a:solidFill>
            <a:prstDash val="solid"/>
          </a:ln>
        </p:spPr>
      </p:sp>
      <p:sp>
        <p:nvSpPr>
          <p:cNvPr id="20" name="Shape 18"/>
          <p:cNvSpPr/>
          <p:nvPr/>
        </p:nvSpPr>
        <p:spPr>
          <a:xfrm>
            <a:off x="777240" y="5509260"/>
            <a:ext cx="457200" cy="457200"/>
          </a:xfrm>
          <a:prstGeom prst="ellipse">
            <a:avLst/>
          </a:prstGeom>
          <a:solidFill>
            <a:srgbClr val="2E7D6B"/>
          </a:solidFill>
          <a:ln w="12700">
            <a:solidFill>
              <a:srgbClr val="2E7D6B"/>
            </a:solidFill>
            <a:prstDash val="solid"/>
          </a:ln>
        </p:spPr>
      </p:sp>
      <p:pic>
        <p:nvPicPr>
          <p:cNvPr id="21" name="Image 0" descr="preencoded.png">    </p:cNvPr>
          <p:cNvPicPr>
            <a:picLocks noChangeAspect="1"/>
          </p:cNvPicPr>
          <p:nvPr/>
        </p:nvPicPr>
        <p:blipFill>
          <a:blip r:embed="rId1"/>
          <a:stretch>
            <a:fillRect/>
          </a:stretch>
        </p:blipFill>
        <p:spPr>
          <a:xfrm>
            <a:off x="896112" y="5628132"/>
            <a:ext cx="219456" cy="219456"/>
          </a:xfrm>
          <a:prstGeom prst="rect">
            <a:avLst/>
          </a:prstGeom>
        </p:spPr>
      </p:pic>
      <p:sp>
        <p:nvSpPr>
          <p:cNvPr id="22" name="Text 19"/>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2E7D6B"/>
                </a:solidFill>
              </a:rPr>
              <a:t>상황   </a:t>
            </a:r>
            <a:pPr indent="0" marL="0">
              <a:buNone/>
            </a:pPr>
            <a:r>
              <a:rPr lang="en-US" sz="1800" dirty="0">
                <a:solidFill>
                  <a:srgbClr val="222222"/>
                </a:solidFill>
              </a:rPr>
              <a:t>74세 내담자: “죽으면 자식들에게 아무 부담 주지 말고 가까운 바다에 뿌려 달라.”</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롤플레이</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장례 바람을 코칭하기</a:t>
            </a:r>
            <a:endParaRPr lang="en-US" sz="2800" dirty="0"/>
          </a:p>
        </p:txBody>
      </p:sp>
      <p:sp>
        <p:nvSpPr>
          <p:cNvPr id="4" name="Shape 2"/>
          <p:cNvSpPr/>
          <p:nvPr/>
        </p:nvSpPr>
        <p:spPr>
          <a:xfrm>
            <a:off x="548640" y="1554480"/>
            <a:ext cx="7406640" cy="4572000"/>
          </a:xfrm>
          <a:prstGeom prst="roundRect">
            <a:avLst>
              <a:gd name="adj" fmla="val 24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737360"/>
            <a:ext cx="6858000" cy="960120"/>
          </a:xfrm>
          <a:prstGeom prst="rect">
            <a:avLst/>
          </a:prstGeom>
          <a:noFill/>
          <a:ln/>
        </p:spPr>
        <p:txBody>
          <a:bodyPr wrap="square" lIns="0" tIns="0" rIns="0" bIns="0" rtlCol="0" anchor="ctr"/>
          <a:lstStyle/>
          <a:p>
            <a:pPr indent="0" marL="0">
              <a:buNone/>
            </a:pPr>
            <a:r>
              <a:rPr lang="en-US" sz="2400" b="1" dirty="0">
                <a:solidFill>
                  <a:srgbClr val="1F4E4A"/>
                </a:solidFill>
              </a:rPr>
              <a:t>내담자는 세 가지 바람 중 하나를 골라 이야기합니다.</a:t>
            </a:r>
            <a:endParaRPr lang="en-US" sz="2400" dirty="0"/>
          </a:p>
        </p:txBody>
      </p:sp>
      <p:sp>
        <p:nvSpPr>
          <p:cNvPr id="6" name="Shape 4"/>
          <p:cNvSpPr/>
          <p:nvPr/>
        </p:nvSpPr>
        <p:spPr>
          <a:xfrm>
            <a:off x="822960" y="2852928"/>
            <a:ext cx="384048" cy="384048"/>
          </a:xfrm>
          <a:prstGeom prst="ellipse">
            <a:avLst/>
          </a:prstGeom>
          <a:solidFill>
            <a:srgbClr val="2E7D6B"/>
          </a:solidFill>
          <a:ln w="12700">
            <a:solidFill>
              <a:srgbClr val="2E7D6B"/>
            </a:solidFill>
            <a:prstDash val="solid"/>
          </a:ln>
        </p:spPr>
      </p:sp>
      <p:sp>
        <p:nvSpPr>
          <p:cNvPr id="7" name="Text 5"/>
          <p:cNvSpPr txBox="1"/>
          <p:nvPr/>
        </p:nvSpPr>
        <p:spPr>
          <a:xfrm>
            <a:off x="822960" y="2852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6"/>
          <p:cNvSpPr txBox="1"/>
          <p:nvPr/>
        </p:nvSpPr>
        <p:spPr>
          <a:xfrm>
            <a:off x="1371600" y="2834640"/>
            <a:ext cx="6309360" cy="731520"/>
          </a:xfrm>
          <a:prstGeom prst="rect">
            <a:avLst/>
          </a:prstGeom>
          <a:noFill/>
          <a:ln/>
        </p:spPr>
        <p:txBody>
          <a:bodyPr wrap="square" lIns="0" tIns="0" rIns="0" bIns="0" rtlCol="0" anchor="t"/>
          <a:lstStyle/>
          <a:p>
            <a:pPr indent="0" marL="0">
              <a:buNone/>
            </a:pPr>
            <a:r>
              <a:rPr lang="en-US" sz="2100" dirty="0">
                <a:solidFill>
                  <a:srgbClr val="222222"/>
                </a:solidFill>
              </a:rPr>
              <a:t>내담자 바람 고르기: “바다에 뿌려 줘” / “선산에 묻어 줘” / “장례는 하지 마”</a:t>
            </a:r>
            <a:endParaRPr lang="en-US" sz="2100" dirty="0"/>
          </a:p>
        </p:txBody>
      </p:sp>
      <p:sp>
        <p:nvSpPr>
          <p:cNvPr id="9" name="Shape 7"/>
          <p:cNvSpPr/>
          <p:nvPr/>
        </p:nvSpPr>
        <p:spPr>
          <a:xfrm>
            <a:off x="822960" y="3630168"/>
            <a:ext cx="384048" cy="384048"/>
          </a:xfrm>
          <a:prstGeom prst="ellipse">
            <a:avLst/>
          </a:prstGeom>
          <a:solidFill>
            <a:srgbClr val="2E7D6B"/>
          </a:solidFill>
          <a:ln w="12700">
            <a:solidFill>
              <a:srgbClr val="2E7D6B"/>
            </a:solidFill>
            <a:prstDash val="solid"/>
          </a:ln>
        </p:spPr>
      </p:sp>
      <p:sp>
        <p:nvSpPr>
          <p:cNvPr id="10" name="Text 8"/>
          <p:cNvSpPr txBox="1"/>
          <p:nvPr/>
        </p:nvSpPr>
        <p:spPr>
          <a:xfrm>
            <a:off x="82296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1371600" y="3611880"/>
            <a:ext cx="6309360" cy="731520"/>
          </a:xfrm>
          <a:prstGeom prst="rect">
            <a:avLst/>
          </a:prstGeom>
          <a:noFill/>
          <a:ln/>
        </p:spPr>
        <p:txBody>
          <a:bodyPr wrap="square" lIns="0" tIns="0" rIns="0" bIns="0" rtlCol="0" anchor="t"/>
          <a:lstStyle/>
          <a:p>
            <a:pPr indent="0" marL="0">
              <a:buNone/>
            </a:pPr>
            <a:r>
              <a:rPr lang="en-US" sz="2100" dirty="0">
                <a:solidFill>
                  <a:srgbClr val="222222"/>
                </a:solidFill>
              </a:rPr>
              <a:t>3인 1조: 내담자·WLC·관찰자를 정합니다.</a:t>
            </a:r>
            <a:endParaRPr lang="en-US" sz="2100" dirty="0"/>
          </a:p>
        </p:txBody>
      </p:sp>
      <p:sp>
        <p:nvSpPr>
          <p:cNvPr id="12" name="Shape 10"/>
          <p:cNvSpPr/>
          <p:nvPr/>
        </p:nvSpPr>
        <p:spPr>
          <a:xfrm>
            <a:off x="822960" y="4407408"/>
            <a:ext cx="384048" cy="384048"/>
          </a:xfrm>
          <a:prstGeom prst="ellipse">
            <a:avLst/>
          </a:prstGeom>
          <a:solidFill>
            <a:srgbClr val="2E7D6B"/>
          </a:solidFill>
          <a:ln w="12700">
            <a:solidFill>
              <a:srgbClr val="2E7D6B"/>
            </a:solidFill>
            <a:prstDash val="solid"/>
          </a:ln>
        </p:spPr>
      </p:sp>
      <p:sp>
        <p:nvSpPr>
          <p:cNvPr id="13" name="Text 11"/>
          <p:cNvSpPr txBox="1"/>
          <p:nvPr/>
        </p:nvSpPr>
        <p:spPr>
          <a:xfrm>
            <a:off x="822960" y="44074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1371600" y="4389120"/>
            <a:ext cx="6309360" cy="731520"/>
          </a:xfrm>
          <a:prstGeom prst="rect">
            <a:avLst/>
          </a:prstGeom>
          <a:noFill/>
          <a:ln/>
        </p:spPr>
        <p:txBody>
          <a:bodyPr wrap="square" lIns="0" tIns="0" rIns="0" bIns="0" rtlCol="0" anchor="t"/>
          <a:lstStyle/>
          <a:p>
            <a:pPr indent="0" marL="0">
              <a:buNone/>
            </a:pPr>
            <a:r>
              <a:rPr lang="en-US" sz="2100" dirty="0">
                <a:solidFill>
                  <a:srgbClr val="222222"/>
                </a:solidFill>
              </a:rPr>
              <a:t>WLC는 다섯 단계(의미 → 법적 현실 → 대안 → 가족대화 → 공식 확인)로 4분간 대화합니다.</a:t>
            </a:r>
            <a:endParaRPr lang="en-US" sz="2100" dirty="0"/>
          </a:p>
        </p:txBody>
      </p:sp>
      <p:sp>
        <p:nvSpPr>
          <p:cNvPr id="15" name="Shape 13"/>
          <p:cNvSpPr/>
          <p:nvPr/>
        </p:nvSpPr>
        <p:spPr>
          <a:xfrm>
            <a:off x="822960" y="5184648"/>
            <a:ext cx="384048" cy="384048"/>
          </a:xfrm>
          <a:prstGeom prst="ellipse">
            <a:avLst/>
          </a:prstGeom>
          <a:solidFill>
            <a:srgbClr val="2E7D6B"/>
          </a:solidFill>
          <a:ln w="12700">
            <a:solidFill>
              <a:srgbClr val="2E7D6B"/>
            </a:solidFill>
            <a:prstDash val="solid"/>
          </a:ln>
        </p:spPr>
      </p:sp>
      <p:sp>
        <p:nvSpPr>
          <p:cNvPr id="16" name="Text 14"/>
          <p:cNvSpPr txBox="1"/>
          <p:nvPr/>
        </p:nvSpPr>
        <p:spPr>
          <a:xfrm>
            <a:off x="822960" y="5184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7" name="Text 15"/>
          <p:cNvSpPr txBox="1"/>
          <p:nvPr/>
        </p:nvSpPr>
        <p:spPr>
          <a:xfrm>
            <a:off x="1371600" y="5166360"/>
            <a:ext cx="6309360" cy="731520"/>
          </a:xfrm>
          <a:prstGeom prst="rect">
            <a:avLst/>
          </a:prstGeom>
          <a:noFill/>
          <a:ln/>
        </p:spPr>
        <p:txBody>
          <a:bodyPr wrap="square" lIns="0" tIns="0" rIns="0" bIns="0" rtlCol="0" anchor="t"/>
          <a:lstStyle/>
          <a:p>
            <a:pPr indent="0" marL="0">
              <a:buNone/>
            </a:pPr>
            <a:r>
              <a:rPr lang="en-US" sz="2100" dirty="0">
                <a:solidFill>
                  <a:srgbClr val="222222"/>
                </a:solidFill>
              </a:rPr>
              <a:t>관찰자는 “의미 확인”을 먼저 했는지, 법을 단정하지 않았는지 체크합니다.</a:t>
            </a:r>
            <a:endParaRPr lang="en-US" sz="2100" dirty="0"/>
          </a:p>
        </p:txBody>
      </p:sp>
      <p:sp>
        <p:nvSpPr>
          <p:cNvPr id="18" name="Shape 16"/>
          <p:cNvSpPr/>
          <p:nvPr/>
        </p:nvSpPr>
        <p:spPr>
          <a:xfrm>
            <a:off x="8229600" y="1554480"/>
            <a:ext cx="3413455" cy="1417320"/>
          </a:xfrm>
          <a:prstGeom prst="roundRect">
            <a:avLst>
              <a:gd name="adj" fmla="val 7742"/>
            </a:avLst>
          </a:prstGeom>
          <a:solidFill>
            <a:srgbClr val="1F4E4A"/>
          </a:solidFill>
          <a:ln w="12700">
            <a:solidFill>
              <a:srgbClr val="1F4E4A"/>
            </a:solidFill>
            <a:prstDash val="solid"/>
          </a:ln>
        </p:spPr>
      </p:sp>
      <p:sp>
        <p:nvSpPr>
          <p:cNvPr id="19" name="Shape 17"/>
          <p:cNvSpPr/>
          <p:nvPr/>
        </p:nvSpPr>
        <p:spPr>
          <a:xfrm>
            <a:off x="8430768" y="1755648"/>
            <a:ext cx="457200" cy="457200"/>
          </a:xfrm>
          <a:prstGeom prst="ellipse">
            <a:avLst/>
          </a:prstGeom>
          <a:solidFill>
            <a:srgbClr val="D98E04"/>
          </a:solidFill>
          <a:ln w="12700">
            <a:solidFill>
              <a:srgbClr val="D98E04"/>
            </a:solidFill>
            <a:prstDash val="solid"/>
          </a:ln>
        </p:spPr>
      </p:sp>
      <p:pic>
        <p:nvPicPr>
          <p:cNvPr id="20" name="Image 0" descr="preencoded.png">    </p:cNvPr>
          <p:cNvPicPr>
            <a:picLocks noChangeAspect="1"/>
          </p:cNvPicPr>
          <p:nvPr/>
        </p:nvPicPr>
        <p:blipFill>
          <a:blip r:embed="rId1"/>
          <a:stretch>
            <a:fillRect/>
          </a:stretch>
        </p:blipFill>
        <p:spPr>
          <a:xfrm>
            <a:off x="8549640" y="1874520"/>
            <a:ext cx="219456" cy="219456"/>
          </a:xfrm>
          <a:prstGeom prst="rect">
            <a:avLst/>
          </a:prstGeom>
        </p:spPr>
      </p:pic>
      <p:sp>
        <p:nvSpPr>
          <p:cNvPr id="21" name="Text 18"/>
          <p:cNvSpPr txBox="1"/>
          <p:nvPr/>
        </p:nvSpPr>
        <p:spPr>
          <a:xfrm>
            <a:off x="9006840" y="1755648"/>
            <a:ext cx="2499055" cy="457200"/>
          </a:xfrm>
          <a:prstGeom prst="rect">
            <a:avLst/>
          </a:prstGeom>
          <a:noFill/>
          <a:ln/>
        </p:spPr>
        <p:txBody>
          <a:bodyPr wrap="square" lIns="0" tIns="0" rIns="0" bIns="0" rtlCol="0" anchor="ctr"/>
          <a:lstStyle/>
          <a:p>
            <a:pPr indent="0" marL="0">
              <a:buNone/>
            </a:pPr>
            <a:r>
              <a:rPr lang="en-US" sz="1400" b="1" dirty="0">
                <a:solidFill>
                  <a:srgbClr val="A8C5BC"/>
                </a:solidFill>
              </a:rPr>
              <a:t>시간</a:t>
            </a:r>
            <a:endParaRPr lang="en-US" sz="1400" dirty="0"/>
          </a:p>
        </p:txBody>
      </p:sp>
      <p:sp>
        <p:nvSpPr>
          <p:cNvPr id="22" name="Text 19"/>
          <p:cNvSpPr txBox="1"/>
          <p:nvPr/>
        </p:nvSpPr>
        <p:spPr>
          <a:xfrm>
            <a:off x="8430768" y="2267712"/>
            <a:ext cx="3001975" cy="640080"/>
          </a:xfrm>
          <a:prstGeom prst="rect">
            <a:avLst/>
          </a:prstGeom>
          <a:noFill/>
          <a:ln/>
        </p:spPr>
        <p:txBody>
          <a:bodyPr wrap="square" lIns="0" tIns="0" rIns="0" bIns="0" rtlCol="0" anchor="t"/>
          <a:lstStyle/>
          <a:p>
            <a:pPr indent="0" marL="0">
              <a:buNone/>
            </a:pPr>
            <a:r>
              <a:rPr lang="en-US" sz="2800" b="1" dirty="0">
                <a:solidFill>
                  <a:srgbClr val="FFFFFF"/>
                </a:solidFill>
              </a:rPr>
              <a:t>10분</a:t>
            </a:r>
            <a:endParaRPr lang="en-US" sz="2800" dirty="0"/>
          </a:p>
        </p:txBody>
      </p:sp>
      <p:sp>
        <p:nvSpPr>
          <p:cNvPr id="23" name="Shape 20"/>
          <p:cNvSpPr/>
          <p:nvPr/>
        </p:nvSpPr>
        <p:spPr>
          <a:xfrm>
            <a:off x="8229600" y="3127248"/>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4" name="Shape 21"/>
          <p:cNvSpPr/>
          <p:nvPr/>
        </p:nvSpPr>
        <p:spPr>
          <a:xfrm>
            <a:off x="8430768" y="3328416"/>
            <a:ext cx="457200" cy="457200"/>
          </a:xfrm>
          <a:prstGeom prst="ellipse">
            <a:avLst/>
          </a:prstGeom>
          <a:solidFill>
            <a:srgbClr val="2E7D6B"/>
          </a:solidFill>
          <a:ln w="12700">
            <a:solidFill>
              <a:srgbClr val="2E7D6B"/>
            </a:solidFill>
            <a:prstDash val="solid"/>
          </a:ln>
        </p:spPr>
      </p:sp>
      <p:pic>
        <p:nvPicPr>
          <p:cNvPr id="25" name="Image 1" descr="preencoded.png">    </p:cNvPr>
          <p:cNvPicPr>
            <a:picLocks noChangeAspect="1"/>
          </p:cNvPicPr>
          <p:nvPr/>
        </p:nvPicPr>
        <p:blipFill>
          <a:blip r:embed="rId2"/>
          <a:stretch>
            <a:fillRect/>
          </a:stretch>
        </p:blipFill>
        <p:spPr>
          <a:xfrm>
            <a:off x="8549640" y="3447288"/>
            <a:ext cx="219456" cy="219456"/>
          </a:xfrm>
          <a:prstGeom prst="rect">
            <a:avLst/>
          </a:prstGeom>
        </p:spPr>
      </p:pic>
      <p:sp>
        <p:nvSpPr>
          <p:cNvPr id="26" name="Text 22"/>
          <p:cNvSpPr txBox="1"/>
          <p:nvPr/>
        </p:nvSpPr>
        <p:spPr>
          <a:xfrm>
            <a:off x="9006840" y="3328416"/>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방식</a:t>
            </a:r>
            <a:endParaRPr lang="en-US" sz="1400" dirty="0"/>
          </a:p>
        </p:txBody>
      </p:sp>
      <p:sp>
        <p:nvSpPr>
          <p:cNvPr id="27" name="Text 23"/>
          <p:cNvSpPr txBox="1"/>
          <p:nvPr/>
        </p:nvSpPr>
        <p:spPr>
          <a:xfrm>
            <a:off x="8430768" y="3840480"/>
            <a:ext cx="3001975" cy="640080"/>
          </a:xfrm>
          <a:prstGeom prst="rect">
            <a:avLst/>
          </a:prstGeom>
          <a:noFill/>
          <a:ln/>
        </p:spPr>
        <p:txBody>
          <a:bodyPr wrap="square" lIns="0" tIns="0" rIns="0" bIns="0" rtlCol="0" anchor="t"/>
          <a:lstStyle/>
          <a:p>
            <a:pPr indent="0" marL="0">
              <a:buNone/>
            </a:pPr>
            <a:r>
              <a:rPr lang="en-US" sz="1800" dirty="0">
                <a:solidFill>
                  <a:srgbClr val="222222"/>
                </a:solidFill>
              </a:rPr>
              <a:t>3인 1조</a:t>
            </a:r>
            <a:endParaRPr lang="en-US" sz="1800" dirty="0"/>
          </a:p>
        </p:txBody>
      </p:sp>
      <p:sp>
        <p:nvSpPr>
          <p:cNvPr id="28" name="Shape 24"/>
          <p:cNvSpPr/>
          <p:nvPr/>
        </p:nvSpPr>
        <p:spPr>
          <a:xfrm>
            <a:off x="8229600" y="4700016"/>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9" name="Shape 25"/>
          <p:cNvSpPr/>
          <p:nvPr/>
        </p:nvSpPr>
        <p:spPr>
          <a:xfrm>
            <a:off x="8430768" y="4901184"/>
            <a:ext cx="457200" cy="457200"/>
          </a:xfrm>
          <a:prstGeom prst="ellipse">
            <a:avLst/>
          </a:prstGeom>
          <a:solidFill>
            <a:srgbClr val="2E7D6B"/>
          </a:solidFill>
          <a:ln w="12700">
            <a:solidFill>
              <a:srgbClr val="2E7D6B"/>
            </a:solidFill>
            <a:prstDash val="solid"/>
          </a:ln>
        </p:spPr>
      </p:sp>
      <p:pic>
        <p:nvPicPr>
          <p:cNvPr id="30" name="Image 2" descr="preencoded.png">    </p:cNvPr>
          <p:cNvPicPr>
            <a:picLocks noChangeAspect="1"/>
          </p:cNvPicPr>
          <p:nvPr/>
        </p:nvPicPr>
        <p:blipFill>
          <a:blip r:embed="rId3"/>
          <a:stretch>
            <a:fillRect/>
          </a:stretch>
        </p:blipFill>
        <p:spPr>
          <a:xfrm>
            <a:off x="8549640" y="5020056"/>
            <a:ext cx="219456" cy="219456"/>
          </a:xfrm>
          <a:prstGeom prst="rect">
            <a:avLst/>
          </a:prstGeom>
        </p:spPr>
      </p:pic>
      <p:sp>
        <p:nvSpPr>
          <p:cNvPr id="31" name="Text 26"/>
          <p:cNvSpPr txBox="1"/>
          <p:nvPr/>
        </p:nvSpPr>
        <p:spPr>
          <a:xfrm>
            <a:off x="9006840" y="4901184"/>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결과물</a:t>
            </a:r>
            <a:endParaRPr lang="en-US" sz="1400" dirty="0"/>
          </a:p>
        </p:txBody>
      </p:sp>
      <p:sp>
        <p:nvSpPr>
          <p:cNvPr id="32" name="Text 27"/>
          <p:cNvSpPr txBox="1"/>
          <p:nvPr/>
        </p:nvSpPr>
        <p:spPr>
          <a:xfrm>
            <a:off x="8430768" y="5413248"/>
            <a:ext cx="3001975" cy="640080"/>
          </a:xfrm>
          <a:prstGeom prst="rect">
            <a:avLst/>
          </a:prstGeom>
          <a:noFill/>
          <a:ln/>
        </p:spPr>
        <p:txBody>
          <a:bodyPr wrap="square" lIns="0" tIns="0" rIns="0" bIns="0" rtlCol="0" anchor="t"/>
          <a:lstStyle/>
          <a:p>
            <a:pPr indent="0" marL="0">
              <a:buNone/>
            </a:pPr>
            <a:r>
              <a:rPr lang="en-US" sz="1800" dirty="0">
                <a:solidFill>
                  <a:srgbClr val="222222"/>
                </a:solidFill>
              </a:rPr>
              <a:t>내담자의 바람 뒤에 있는 “의미” 한 문장</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19.1 실습 1</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나의 장례에서 중요한 것 다섯 가지</a:t>
            </a:r>
            <a:endParaRPr lang="en-US" sz="2800" dirty="0"/>
          </a:p>
        </p:txBody>
      </p:sp>
      <p:sp>
        <p:nvSpPr>
          <p:cNvPr id="4" name="Shape 2"/>
          <p:cNvSpPr/>
          <p:nvPr/>
        </p:nvSpPr>
        <p:spPr>
          <a:xfrm>
            <a:off x="548640" y="1691640"/>
            <a:ext cx="2414016" cy="566928"/>
          </a:xfrm>
          <a:prstGeom prst="roundRect">
            <a:avLst>
              <a:gd name="adj" fmla="val 19355"/>
            </a:avLst>
          </a:prstGeom>
          <a:solidFill>
            <a:srgbClr val="EAF3F0"/>
          </a:solidFill>
          <a:ln w="12700">
            <a:solidFill>
              <a:srgbClr val="EAF3F0"/>
            </a:solidFill>
            <a:prstDash val="solid"/>
          </a:ln>
        </p:spPr>
      </p:sp>
      <p:sp>
        <p:nvSpPr>
          <p:cNvPr id="5" name="Text 3"/>
          <p:cNvSpPr txBox="1"/>
          <p:nvPr/>
        </p:nvSpPr>
        <p:spPr>
          <a:xfrm>
            <a:off x="548640" y="1691640"/>
            <a:ext cx="2414016" cy="566928"/>
          </a:xfrm>
          <a:prstGeom prst="rect">
            <a:avLst/>
          </a:prstGeom>
          <a:noFill/>
          <a:ln/>
        </p:spPr>
        <p:txBody>
          <a:bodyPr wrap="square" lIns="0" tIns="0" rIns="0" bIns="0" rtlCol="0" anchor="ctr"/>
          <a:lstStyle/>
          <a:p>
            <a:pPr algn="ctr" indent="0" marL="0">
              <a:buNone/>
            </a:pPr>
            <a:r>
              <a:rPr lang="en-US" sz="1800" dirty="0">
                <a:solidFill>
                  <a:srgbClr val="1F4E4A"/>
                </a:solidFill>
              </a:rPr>
              <a:t>가족의 부담 최소화</a:t>
            </a:r>
            <a:endParaRPr lang="en-US" sz="1800" dirty="0"/>
          </a:p>
        </p:txBody>
      </p:sp>
      <p:sp>
        <p:nvSpPr>
          <p:cNvPr id="6" name="Shape 4"/>
          <p:cNvSpPr/>
          <p:nvPr/>
        </p:nvSpPr>
        <p:spPr>
          <a:xfrm>
            <a:off x="3163824" y="1691640"/>
            <a:ext cx="1650492" cy="566928"/>
          </a:xfrm>
          <a:prstGeom prst="roundRect">
            <a:avLst>
              <a:gd name="adj" fmla="val 19355"/>
            </a:avLst>
          </a:prstGeom>
          <a:solidFill>
            <a:srgbClr val="EAF3F0"/>
          </a:solidFill>
          <a:ln w="12700">
            <a:solidFill>
              <a:srgbClr val="EAF3F0"/>
            </a:solidFill>
            <a:prstDash val="solid"/>
          </a:ln>
        </p:spPr>
      </p:sp>
      <p:sp>
        <p:nvSpPr>
          <p:cNvPr id="7" name="Text 5"/>
          <p:cNvSpPr txBox="1"/>
          <p:nvPr/>
        </p:nvSpPr>
        <p:spPr>
          <a:xfrm>
            <a:off x="3163824" y="1691640"/>
            <a:ext cx="1650492" cy="566928"/>
          </a:xfrm>
          <a:prstGeom prst="rect">
            <a:avLst/>
          </a:prstGeom>
          <a:noFill/>
          <a:ln/>
        </p:spPr>
        <p:txBody>
          <a:bodyPr wrap="square" lIns="0" tIns="0" rIns="0" bIns="0" rtlCol="0" anchor="ctr"/>
          <a:lstStyle/>
          <a:p>
            <a:pPr algn="ctr" indent="0" marL="0">
              <a:buNone/>
            </a:pPr>
            <a:r>
              <a:rPr lang="en-US" sz="1800" dirty="0">
                <a:solidFill>
                  <a:srgbClr val="1F4E4A"/>
                </a:solidFill>
              </a:rPr>
              <a:t>종교적 의미</a:t>
            </a:r>
            <a:endParaRPr lang="en-US" sz="1800" dirty="0"/>
          </a:p>
        </p:txBody>
      </p:sp>
      <p:sp>
        <p:nvSpPr>
          <p:cNvPr id="8" name="Shape 6"/>
          <p:cNvSpPr/>
          <p:nvPr/>
        </p:nvSpPr>
        <p:spPr>
          <a:xfrm>
            <a:off x="5015484" y="1691640"/>
            <a:ext cx="1316736" cy="566928"/>
          </a:xfrm>
          <a:prstGeom prst="roundRect">
            <a:avLst>
              <a:gd name="adj" fmla="val 19355"/>
            </a:avLst>
          </a:prstGeom>
          <a:solidFill>
            <a:srgbClr val="EAF3F0"/>
          </a:solidFill>
          <a:ln w="12700">
            <a:solidFill>
              <a:srgbClr val="EAF3F0"/>
            </a:solidFill>
            <a:prstDash val="solid"/>
          </a:ln>
        </p:spPr>
      </p:sp>
      <p:sp>
        <p:nvSpPr>
          <p:cNvPr id="9" name="Text 7"/>
          <p:cNvSpPr txBox="1"/>
          <p:nvPr/>
        </p:nvSpPr>
        <p:spPr>
          <a:xfrm>
            <a:off x="5015484" y="1691640"/>
            <a:ext cx="1316736" cy="566928"/>
          </a:xfrm>
          <a:prstGeom prst="rect">
            <a:avLst/>
          </a:prstGeom>
          <a:noFill/>
          <a:ln/>
        </p:spPr>
        <p:txBody>
          <a:bodyPr wrap="square" lIns="0" tIns="0" rIns="0" bIns="0" rtlCol="0" anchor="ctr"/>
          <a:lstStyle/>
          <a:p>
            <a:pPr algn="ctr" indent="0" marL="0">
              <a:buNone/>
            </a:pPr>
            <a:r>
              <a:rPr lang="en-US" sz="1800" dirty="0">
                <a:solidFill>
                  <a:srgbClr val="1F4E4A"/>
                </a:solidFill>
              </a:rPr>
              <a:t>친환경성</a:t>
            </a:r>
            <a:endParaRPr lang="en-US" sz="1800" dirty="0"/>
          </a:p>
        </p:txBody>
      </p:sp>
      <p:sp>
        <p:nvSpPr>
          <p:cNvPr id="10" name="Shape 8"/>
          <p:cNvSpPr/>
          <p:nvPr/>
        </p:nvSpPr>
        <p:spPr>
          <a:xfrm>
            <a:off x="6533388" y="1691640"/>
            <a:ext cx="886968" cy="566928"/>
          </a:xfrm>
          <a:prstGeom prst="roundRect">
            <a:avLst>
              <a:gd name="adj" fmla="val 19355"/>
            </a:avLst>
          </a:prstGeom>
          <a:solidFill>
            <a:srgbClr val="EAF3F0"/>
          </a:solidFill>
          <a:ln w="12700">
            <a:solidFill>
              <a:srgbClr val="EAF3F0"/>
            </a:solidFill>
            <a:prstDash val="solid"/>
          </a:ln>
        </p:spPr>
      </p:sp>
      <p:sp>
        <p:nvSpPr>
          <p:cNvPr id="11" name="Text 9"/>
          <p:cNvSpPr txBox="1"/>
          <p:nvPr/>
        </p:nvSpPr>
        <p:spPr>
          <a:xfrm>
            <a:off x="6533388" y="1691640"/>
            <a:ext cx="886968" cy="566928"/>
          </a:xfrm>
          <a:prstGeom prst="rect">
            <a:avLst/>
          </a:prstGeom>
          <a:noFill/>
          <a:ln/>
        </p:spPr>
        <p:txBody>
          <a:bodyPr wrap="square" lIns="0" tIns="0" rIns="0" bIns="0" rtlCol="0" anchor="ctr"/>
          <a:lstStyle/>
          <a:p>
            <a:pPr algn="ctr" indent="0" marL="0">
              <a:buNone/>
            </a:pPr>
            <a:r>
              <a:rPr lang="en-US" sz="1800" dirty="0">
                <a:solidFill>
                  <a:srgbClr val="1F4E4A"/>
                </a:solidFill>
              </a:rPr>
              <a:t>비용</a:t>
            </a:r>
            <a:endParaRPr lang="en-US" sz="1800" dirty="0"/>
          </a:p>
        </p:txBody>
      </p:sp>
      <p:sp>
        <p:nvSpPr>
          <p:cNvPr id="12" name="Shape 10"/>
          <p:cNvSpPr/>
          <p:nvPr/>
        </p:nvSpPr>
        <p:spPr>
          <a:xfrm>
            <a:off x="7621524" y="1691640"/>
            <a:ext cx="2628900" cy="566928"/>
          </a:xfrm>
          <a:prstGeom prst="roundRect">
            <a:avLst>
              <a:gd name="adj" fmla="val 19355"/>
            </a:avLst>
          </a:prstGeom>
          <a:solidFill>
            <a:srgbClr val="EAF3F0"/>
          </a:solidFill>
          <a:ln w="12700">
            <a:solidFill>
              <a:srgbClr val="EAF3F0"/>
            </a:solidFill>
            <a:prstDash val="solid"/>
          </a:ln>
        </p:spPr>
      </p:sp>
      <p:sp>
        <p:nvSpPr>
          <p:cNvPr id="13" name="Text 11"/>
          <p:cNvSpPr txBox="1"/>
          <p:nvPr/>
        </p:nvSpPr>
        <p:spPr>
          <a:xfrm>
            <a:off x="7621524" y="1691640"/>
            <a:ext cx="2628900" cy="566928"/>
          </a:xfrm>
          <a:prstGeom prst="rect">
            <a:avLst/>
          </a:prstGeom>
          <a:noFill/>
          <a:ln/>
        </p:spPr>
        <p:txBody>
          <a:bodyPr wrap="square" lIns="0" tIns="0" rIns="0" bIns="0" rtlCol="0" anchor="ctr"/>
          <a:lstStyle/>
          <a:p>
            <a:pPr algn="ctr" indent="0" marL="0">
              <a:buNone/>
            </a:pPr>
            <a:r>
              <a:rPr lang="en-US" sz="1800" dirty="0">
                <a:solidFill>
                  <a:srgbClr val="1F4E4A"/>
                </a:solidFill>
              </a:rPr>
              <a:t>가족이 찾아오기 쉬움</a:t>
            </a:r>
            <a:endParaRPr lang="en-US" sz="1800" dirty="0"/>
          </a:p>
        </p:txBody>
      </p:sp>
      <p:sp>
        <p:nvSpPr>
          <p:cNvPr id="14" name="Shape 12"/>
          <p:cNvSpPr/>
          <p:nvPr/>
        </p:nvSpPr>
        <p:spPr>
          <a:xfrm>
            <a:off x="548640" y="2487168"/>
            <a:ext cx="2199132" cy="566928"/>
          </a:xfrm>
          <a:prstGeom prst="roundRect">
            <a:avLst>
              <a:gd name="adj" fmla="val 19355"/>
            </a:avLst>
          </a:prstGeom>
          <a:solidFill>
            <a:srgbClr val="EAF3F0"/>
          </a:solidFill>
          <a:ln w="12700">
            <a:solidFill>
              <a:srgbClr val="EAF3F0"/>
            </a:solidFill>
            <a:prstDash val="solid"/>
          </a:ln>
        </p:spPr>
      </p:sp>
      <p:sp>
        <p:nvSpPr>
          <p:cNvPr id="15" name="Text 13"/>
          <p:cNvSpPr txBox="1"/>
          <p:nvPr/>
        </p:nvSpPr>
        <p:spPr>
          <a:xfrm>
            <a:off x="548640" y="2487168"/>
            <a:ext cx="2199132" cy="566928"/>
          </a:xfrm>
          <a:prstGeom prst="rect">
            <a:avLst/>
          </a:prstGeom>
          <a:noFill/>
          <a:ln/>
        </p:spPr>
        <p:txBody>
          <a:bodyPr wrap="square" lIns="0" tIns="0" rIns="0" bIns="0" rtlCol="0" anchor="ctr"/>
          <a:lstStyle/>
          <a:p>
            <a:pPr algn="ctr" indent="0" marL="0">
              <a:buNone/>
            </a:pPr>
            <a:r>
              <a:rPr lang="en-US" sz="1800" dirty="0">
                <a:solidFill>
                  <a:srgbClr val="1F4E4A"/>
                </a:solidFill>
              </a:rPr>
              <a:t>관리가 필요 없음</a:t>
            </a:r>
            <a:endParaRPr lang="en-US" sz="1800" dirty="0"/>
          </a:p>
        </p:txBody>
      </p:sp>
      <p:sp>
        <p:nvSpPr>
          <p:cNvPr id="16" name="Shape 14"/>
          <p:cNvSpPr/>
          <p:nvPr/>
        </p:nvSpPr>
        <p:spPr>
          <a:xfrm>
            <a:off x="2948940" y="2487168"/>
            <a:ext cx="1435608" cy="566928"/>
          </a:xfrm>
          <a:prstGeom prst="roundRect">
            <a:avLst>
              <a:gd name="adj" fmla="val 19355"/>
            </a:avLst>
          </a:prstGeom>
          <a:solidFill>
            <a:srgbClr val="EAF3F0"/>
          </a:solidFill>
          <a:ln w="12700">
            <a:solidFill>
              <a:srgbClr val="EAF3F0"/>
            </a:solidFill>
            <a:prstDash val="solid"/>
          </a:ln>
        </p:spPr>
      </p:sp>
      <p:sp>
        <p:nvSpPr>
          <p:cNvPr id="17" name="Text 15"/>
          <p:cNvSpPr txBox="1"/>
          <p:nvPr/>
        </p:nvSpPr>
        <p:spPr>
          <a:xfrm>
            <a:off x="2948940" y="2487168"/>
            <a:ext cx="1435608" cy="566928"/>
          </a:xfrm>
          <a:prstGeom prst="rect">
            <a:avLst/>
          </a:prstGeom>
          <a:noFill/>
          <a:ln/>
        </p:spPr>
        <p:txBody>
          <a:bodyPr wrap="square" lIns="0" tIns="0" rIns="0" bIns="0" rtlCol="0" anchor="ctr"/>
          <a:lstStyle/>
          <a:p>
            <a:pPr algn="ctr" indent="0" marL="0">
              <a:buNone/>
            </a:pPr>
            <a:r>
              <a:rPr lang="en-US" sz="1800" dirty="0">
                <a:solidFill>
                  <a:srgbClr val="1F4E4A"/>
                </a:solidFill>
              </a:rPr>
              <a:t>전통 유지</a:t>
            </a:r>
            <a:endParaRPr lang="en-US" sz="1800" dirty="0"/>
          </a:p>
        </p:txBody>
      </p:sp>
      <p:sp>
        <p:nvSpPr>
          <p:cNvPr id="18" name="Shape 16"/>
          <p:cNvSpPr/>
          <p:nvPr/>
        </p:nvSpPr>
        <p:spPr>
          <a:xfrm>
            <a:off x="4585716" y="2487168"/>
            <a:ext cx="2199132" cy="566928"/>
          </a:xfrm>
          <a:prstGeom prst="roundRect">
            <a:avLst>
              <a:gd name="adj" fmla="val 19355"/>
            </a:avLst>
          </a:prstGeom>
          <a:solidFill>
            <a:srgbClr val="EAF3F0"/>
          </a:solidFill>
          <a:ln w="12700">
            <a:solidFill>
              <a:srgbClr val="EAF3F0"/>
            </a:solidFill>
            <a:prstDash val="solid"/>
          </a:ln>
        </p:spPr>
      </p:sp>
      <p:sp>
        <p:nvSpPr>
          <p:cNvPr id="19" name="Text 17"/>
          <p:cNvSpPr txBox="1"/>
          <p:nvPr/>
        </p:nvSpPr>
        <p:spPr>
          <a:xfrm>
            <a:off x="4585716" y="2487168"/>
            <a:ext cx="2199132" cy="566928"/>
          </a:xfrm>
          <a:prstGeom prst="rect">
            <a:avLst/>
          </a:prstGeom>
          <a:noFill/>
          <a:ln/>
        </p:spPr>
        <p:txBody>
          <a:bodyPr wrap="square" lIns="0" tIns="0" rIns="0" bIns="0" rtlCol="0" anchor="ctr"/>
          <a:lstStyle/>
          <a:p>
            <a:pPr algn="ctr" indent="0" marL="0">
              <a:buNone/>
            </a:pPr>
            <a:r>
              <a:rPr lang="en-US" sz="1800" dirty="0">
                <a:solidFill>
                  <a:srgbClr val="1F4E4A"/>
                </a:solidFill>
              </a:rPr>
              <a:t>고인의 개성 표현</a:t>
            </a:r>
            <a:endParaRPr lang="en-US" sz="1800" dirty="0"/>
          </a:p>
        </p:txBody>
      </p:sp>
      <p:sp>
        <p:nvSpPr>
          <p:cNvPr id="20" name="Shape 18"/>
          <p:cNvSpPr/>
          <p:nvPr/>
        </p:nvSpPr>
        <p:spPr>
          <a:xfrm>
            <a:off x="6986016" y="2487168"/>
            <a:ext cx="1865376" cy="566928"/>
          </a:xfrm>
          <a:prstGeom prst="roundRect">
            <a:avLst>
              <a:gd name="adj" fmla="val 19355"/>
            </a:avLst>
          </a:prstGeom>
          <a:solidFill>
            <a:srgbClr val="EAF3F0"/>
          </a:solidFill>
          <a:ln w="12700">
            <a:solidFill>
              <a:srgbClr val="EAF3F0"/>
            </a:solidFill>
            <a:prstDash val="solid"/>
          </a:ln>
        </p:spPr>
      </p:sp>
      <p:sp>
        <p:nvSpPr>
          <p:cNvPr id="21" name="Text 19"/>
          <p:cNvSpPr txBox="1"/>
          <p:nvPr/>
        </p:nvSpPr>
        <p:spPr>
          <a:xfrm>
            <a:off x="6986016" y="2487168"/>
            <a:ext cx="1865376" cy="566928"/>
          </a:xfrm>
          <a:prstGeom prst="rect">
            <a:avLst/>
          </a:prstGeom>
          <a:noFill/>
          <a:ln/>
        </p:spPr>
        <p:txBody>
          <a:bodyPr wrap="square" lIns="0" tIns="0" rIns="0" bIns="0" rtlCol="0" anchor="ctr"/>
          <a:lstStyle/>
          <a:p>
            <a:pPr algn="ctr" indent="0" marL="0">
              <a:buNone/>
            </a:pPr>
            <a:r>
              <a:rPr lang="en-US" sz="1800" dirty="0">
                <a:solidFill>
                  <a:srgbClr val="1F4E4A"/>
                </a:solidFill>
              </a:rPr>
              <a:t>추모공간 유지</a:t>
            </a:r>
            <a:endParaRPr lang="en-US" sz="1800" dirty="0"/>
          </a:p>
        </p:txBody>
      </p:sp>
      <p:sp>
        <p:nvSpPr>
          <p:cNvPr id="22" name="Shape 20"/>
          <p:cNvSpPr/>
          <p:nvPr/>
        </p:nvSpPr>
        <p:spPr>
          <a:xfrm>
            <a:off x="9052560" y="2487168"/>
            <a:ext cx="1101852" cy="566928"/>
          </a:xfrm>
          <a:prstGeom prst="roundRect">
            <a:avLst>
              <a:gd name="adj" fmla="val 19355"/>
            </a:avLst>
          </a:prstGeom>
          <a:solidFill>
            <a:srgbClr val="EAF3F0"/>
          </a:solidFill>
          <a:ln w="12700">
            <a:solidFill>
              <a:srgbClr val="EAF3F0"/>
            </a:solidFill>
            <a:prstDash val="solid"/>
          </a:ln>
        </p:spPr>
      </p:sp>
      <p:sp>
        <p:nvSpPr>
          <p:cNvPr id="23" name="Text 21"/>
          <p:cNvSpPr txBox="1"/>
          <p:nvPr/>
        </p:nvSpPr>
        <p:spPr>
          <a:xfrm>
            <a:off x="9052560" y="2487168"/>
            <a:ext cx="1101852" cy="566928"/>
          </a:xfrm>
          <a:prstGeom prst="rect">
            <a:avLst/>
          </a:prstGeom>
          <a:noFill/>
          <a:ln/>
        </p:spPr>
        <p:txBody>
          <a:bodyPr wrap="square" lIns="0" tIns="0" rIns="0" bIns="0" rtlCol="0" anchor="ctr"/>
          <a:lstStyle/>
          <a:p>
            <a:pPr algn="ctr" indent="0" marL="0">
              <a:buNone/>
            </a:pPr>
            <a:r>
              <a:rPr lang="en-US" sz="1800" dirty="0">
                <a:solidFill>
                  <a:srgbClr val="1F4E4A"/>
                </a:solidFill>
              </a:rPr>
              <a:t>간소함</a:t>
            </a:r>
            <a:endParaRPr lang="en-US" sz="1800" dirty="0"/>
          </a:p>
        </p:txBody>
      </p:sp>
      <p:sp>
        <p:nvSpPr>
          <p:cNvPr id="24" name="Shape 22"/>
          <p:cNvSpPr/>
          <p:nvPr/>
        </p:nvSpPr>
        <p:spPr>
          <a:xfrm>
            <a:off x="548640" y="3282696"/>
            <a:ext cx="2628900" cy="566928"/>
          </a:xfrm>
          <a:prstGeom prst="roundRect">
            <a:avLst>
              <a:gd name="adj" fmla="val 19355"/>
            </a:avLst>
          </a:prstGeom>
          <a:solidFill>
            <a:srgbClr val="EAF3F0"/>
          </a:solidFill>
          <a:ln w="12700">
            <a:solidFill>
              <a:srgbClr val="EAF3F0"/>
            </a:solidFill>
            <a:prstDash val="solid"/>
          </a:ln>
        </p:spPr>
      </p:sp>
      <p:sp>
        <p:nvSpPr>
          <p:cNvPr id="25" name="Text 23"/>
          <p:cNvSpPr txBox="1"/>
          <p:nvPr/>
        </p:nvSpPr>
        <p:spPr>
          <a:xfrm>
            <a:off x="548640" y="3282696"/>
            <a:ext cx="2628900" cy="566928"/>
          </a:xfrm>
          <a:prstGeom prst="rect">
            <a:avLst/>
          </a:prstGeom>
          <a:noFill/>
          <a:ln/>
        </p:spPr>
        <p:txBody>
          <a:bodyPr wrap="square" lIns="0" tIns="0" rIns="0" bIns="0" rtlCol="0" anchor="ctr"/>
          <a:lstStyle/>
          <a:p>
            <a:pPr algn="ctr" indent="0" marL="0">
              <a:buNone/>
            </a:pPr>
            <a:r>
              <a:rPr lang="en-US" sz="1800" dirty="0">
                <a:solidFill>
                  <a:srgbClr val="1F4E4A"/>
                </a:solidFill>
              </a:rPr>
              <a:t>친구·공동체와의 작별</a:t>
            </a:r>
            <a:endParaRPr lang="en-US" sz="1800" dirty="0"/>
          </a:p>
        </p:txBody>
      </p:sp>
      <p:sp>
        <p:nvSpPr>
          <p:cNvPr id="26" name="Shape 24"/>
          <p:cNvSpPr/>
          <p:nvPr/>
        </p:nvSpPr>
        <p:spPr>
          <a:xfrm>
            <a:off x="3378708" y="3282696"/>
            <a:ext cx="2199132" cy="566928"/>
          </a:xfrm>
          <a:prstGeom prst="roundRect">
            <a:avLst>
              <a:gd name="adj" fmla="val 19355"/>
            </a:avLst>
          </a:prstGeom>
          <a:solidFill>
            <a:srgbClr val="EAF3F0"/>
          </a:solidFill>
          <a:ln w="12700">
            <a:solidFill>
              <a:srgbClr val="EAF3F0"/>
            </a:solidFill>
            <a:prstDash val="solid"/>
          </a:ln>
        </p:spPr>
      </p:sp>
      <p:sp>
        <p:nvSpPr>
          <p:cNvPr id="27" name="Text 25"/>
          <p:cNvSpPr txBox="1"/>
          <p:nvPr/>
        </p:nvSpPr>
        <p:spPr>
          <a:xfrm>
            <a:off x="3378708" y="3282696"/>
            <a:ext cx="2199132" cy="566928"/>
          </a:xfrm>
          <a:prstGeom prst="rect">
            <a:avLst/>
          </a:prstGeom>
          <a:noFill/>
          <a:ln/>
        </p:spPr>
        <p:txBody>
          <a:bodyPr wrap="square" lIns="0" tIns="0" rIns="0" bIns="0" rtlCol="0" anchor="ctr"/>
          <a:lstStyle/>
          <a:p>
            <a:pPr algn="ctr" indent="0" marL="0">
              <a:buNone/>
            </a:pPr>
            <a:r>
              <a:rPr lang="en-US" sz="1800" dirty="0">
                <a:solidFill>
                  <a:srgbClr val="1F4E4A"/>
                </a:solidFill>
              </a:rPr>
              <a:t>온라인·기록 추모</a:t>
            </a:r>
            <a:endParaRPr lang="en-US" sz="1800" dirty="0"/>
          </a:p>
        </p:txBody>
      </p:sp>
      <p:sp>
        <p:nvSpPr>
          <p:cNvPr id="28" name="Shape 26"/>
          <p:cNvSpPr/>
          <p:nvPr/>
        </p:nvSpPr>
        <p:spPr>
          <a:xfrm>
            <a:off x="548640" y="5303520"/>
            <a:ext cx="11094415" cy="868680"/>
          </a:xfrm>
          <a:prstGeom prst="roundRect">
            <a:avLst>
              <a:gd name="adj" fmla="val 12632"/>
            </a:avLst>
          </a:prstGeom>
          <a:solidFill>
            <a:srgbClr val="E8EFF8"/>
          </a:solidFill>
          <a:ln w="12700">
            <a:solidFill>
              <a:srgbClr val="E8EFF8"/>
            </a:solidFill>
            <a:prstDash val="solid"/>
          </a:ln>
        </p:spPr>
      </p:sp>
      <p:sp>
        <p:nvSpPr>
          <p:cNvPr id="29" name="Shape 27"/>
          <p:cNvSpPr/>
          <p:nvPr/>
        </p:nvSpPr>
        <p:spPr>
          <a:xfrm>
            <a:off x="777240" y="5509260"/>
            <a:ext cx="457200" cy="457200"/>
          </a:xfrm>
          <a:prstGeom prst="ellipse">
            <a:avLst/>
          </a:prstGeom>
          <a:solidFill>
            <a:srgbClr val="3A6EA5"/>
          </a:solidFill>
          <a:ln w="12700">
            <a:solidFill>
              <a:srgbClr val="3A6EA5"/>
            </a:solidFill>
            <a:prstDash val="solid"/>
          </a:ln>
        </p:spPr>
      </p:sp>
      <p:pic>
        <p:nvPicPr>
          <p:cNvPr id="30" name="Image 0" descr="preencoded.png">    </p:cNvPr>
          <p:cNvPicPr>
            <a:picLocks noChangeAspect="1"/>
          </p:cNvPicPr>
          <p:nvPr/>
        </p:nvPicPr>
        <p:blipFill>
          <a:blip r:embed="rId1"/>
          <a:stretch>
            <a:fillRect/>
          </a:stretch>
        </p:blipFill>
        <p:spPr>
          <a:xfrm>
            <a:off x="896112" y="5628132"/>
            <a:ext cx="219456" cy="219456"/>
          </a:xfrm>
          <a:prstGeom prst="rect">
            <a:avLst/>
          </a:prstGeom>
        </p:spPr>
      </p:pic>
      <p:sp>
        <p:nvSpPr>
          <p:cNvPr id="31" name="Text 28"/>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3A6EA5"/>
                </a:solidFill>
              </a:rPr>
              <a:t>실습 방법   </a:t>
            </a:r>
            <a:pPr indent="0" marL="0">
              <a:buNone/>
            </a:pPr>
            <a:r>
              <a:rPr lang="en-US" sz="1800" dirty="0">
                <a:solidFill>
                  <a:srgbClr val="222222"/>
                </a:solidFill>
              </a:rPr>
              <a:t>12개 중 나에게 중요한 다섯 가지를 고르고 1~5위로 순서를 매깁니다. 1위와 5위를 고른 이유를 한 줄씩 적습니다.</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19.2 실습 2</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장묘 방식 비교표</a:t>
            </a:r>
            <a:endParaRPr lang="en-US" sz="28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920240"/>
                <a:gridCol w="3017520"/>
                <a:gridCol w="3017520"/>
                <a:gridCol w="3108960"/>
              </a:tblGrid>
              <a:tr h="868680">
                <a:tc>
                  <a:txBody>
                    <a:bodyPr/>
                    <a:lstStyle/>
                    <a:p>
                      <a:pPr algn="ctr" indent="0" marL="0">
                        <a:buNone/>
                      </a:pPr>
                      <a:r>
                        <a:rPr lang="en-US" sz="1700" b="1" dirty="0">
                          <a:solidFill>
                            <a:srgbClr val="FFFFFF"/>
                          </a:solidFill>
                          <a:latin typeface="Noto Serif KR Black" pitchFamily="34" charset="0"/>
                          <a:ea typeface="Noto Serif KR Black" pitchFamily="34" charset="-122"/>
                          <a:cs typeface="Noto Serif KR Black" pitchFamily="34" charset="-120"/>
                        </a:rPr>
                        <a:t>방식</a:t>
                      </a: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700" b="1" dirty="0">
                          <a:solidFill>
                            <a:srgbClr val="FFFFFF"/>
                          </a:solidFill>
                          <a:latin typeface="Noto Serif KR Black" pitchFamily="34" charset="0"/>
                          <a:ea typeface="Noto Serif KR Black" pitchFamily="34" charset="-122"/>
                          <a:cs typeface="Noto Serif KR Black" pitchFamily="34" charset="-120"/>
                        </a:rPr>
                        <a:t>나에게 좋은 점</a:t>
                      </a: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700" b="1" dirty="0">
                          <a:solidFill>
                            <a:srgbClr val="FFFFFF"/>
                          </a:solidFill>
                          <a:latin typeface="Noto Serif KR Black" pitchFamily="34" charset="0"/>
                          <a:ea typeface="Noto Serif KR Black" pitchFamily="34" charset="-122"/>
                          <a:cs typeface="Noto Serif KR Black" pitchFamily="34" charset="-120"/>
                        </a:rPr>
                        <a:t>걱정되는 점</a:t>
                      </a: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700" b="1" dirty="0">
                          <a:solidFill>
                            <a:srgbClr val="FFFFFF"/>
                          </a:solidFill>
                          <a:latin typeface="Noto Serif KR Black" pitchFamily="34" charset="0"/>
                          <a:ea typeface="Noto Serif KR Black" pitchFamily="34" charset="-122"/>
                          <a:cs typeface="Noto Serif KR Black" pitchFamily="34" charset="-120"/>
                        </a:rPr>
                        <a:t>추가 확인할 정보</a:t>
                      </a: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868680">
                <a:tc>
                  <a:txBody>
                    <a:bodyPr/>
                    <a:lstStyle/>
                    <a:p>
                      <a:pPr indent="0" marL="0">
                        <a:buNone/>
                      </a:pPr>
                      <a:r>
                        <a:rPr lang="en-US" sz="1700" b="1" dirty="0">
                          <a:solidFill>
                            <a:srgbClr val="1F4E4A"/>
                          </a:solidFill>
                          <a:latin typeface="Noto Serif KR Black" pitchFamily="34" charset="0"/>
                          <a:ea typeface="Noto Serif KR Black" pitchFamily="34" charset="-122"/>
                          <a:cs typeface="Noto Serif KR Black" pitchFamily="34" charset="-120"/>
                        </a:rPr>
                        <a:t>매장</a:t>
                      </a: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868680">
                <a:tc>
                  <a:txBody>
                    <a:bodyPr/>
                    <a:lstStyle/>
                    <a:p>
                      <a:pPr indent="0" marL="0">
                        <a:buNone/>
                      </a:pPr>
                      <a:r>
                        <a:rPr lang="en-US" sz="1700" b="1" dirty="0">
                          <a:solidFill>
                            <a:srgbClr val="1F4E4A"/>
                          </a:solidFill>
                          <a:latin typeface="Noto Serif KR Black" pitchFamily="34" charset="0"/>
                          <a:ea typeface="Noto Serif KR Black" pitchFamily="34" charset="-122"/>
                          <a:cs typeface="Noto Serif KR Black" pitchFamily="34" charset="-120"/>
                        </a:rPr>
                        <a:t>봉안</a:t>
                      </a: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868680">
                <a:tc>
                  <a:txBody>
                    <a:bodyPr/>
                    <a:lstStyle/>
                    <a:p>
                      <a:pPr indent="0" marL="0">
                        <a:buNone/>
                      </a:pPr>
                      <a:r>
                        <a:rPr lang="en-US" sz="1700" b="1" dirty="0">
                          <a:solidFill>
                            <a:srgbClr val="1F4E4A"/>
                          </a:solidFill>
                          <a:latin typeface="Noto Serif KR Black" pitchFamily="34" charset="0"/>
                          <a:ea typeface="Noto Serif KR Black" pitchFamily="34" charset="-122"/>
                          <a:cs typeface="Noto Serif KR Black" pitchFamily="34" charset="-120"/>
                        </a:rPr>
                        <a:t>자연장</a:t>
                      </a: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868680">
                <a:tc>
                  <a:txBody>
                    <a:bodyPr/>
                    <a:lstStyle/>
                    <a:p>
                      <a:pPr indent="0" marL="0">
                        <a:buNone/>
                      </a:pPr>
                      <a:r>
                        <a:rPr lang="en-US" sz="1700" b="1" dirty="0">
                          <a:solidFill>
                            <a:srgbClr val="1F4E4A"/>
                          </a:solidFill>
                          <a:latin typeface="Noto Serif KR Black" pitchFamily="34" charset="0"/>
                          <a:ea typeface="Noto Serif KR Black" pitchFamily="34" charset="-122"/>
                          <a:cs typeface="Noto Serif KR Black" pitchFamily="34" charset="-120"/>
                        </a:rPr>
                        <a:t>골분 산분</a:t>
                      </a: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endParaRPr lang="en-US" sz="17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19.3 실습 3</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가족대화 문장 만들기</a:t>
            </a:r>
            <a:endParaRPr lang="en-US" sz="2800" dirty="0"/>
          </a:p>
        </p:txBody>
      </p:sp>
      <p:sp>
        <p:nvSpPr>
          <p:cNvPr id="4" name="Shape 2"/>
          <p:cNvSpPr/>
          <p:nvPr/>
        </p:nvSpPr>
        <p:spPr>
          <a:xfrm>
            <a:off x="548640" y="1554480"/>
            <a:ext cx="7406640" cy="4572000"/>
          </a:xfrm>
          <a:prstGeom prst="roundRect">
            <a:avLst>
              <a:gd name="adj" fmla="val 24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737360"/>
            <a:ext cx="6858000" cy="960120"/>
          </a:xfrm>
          <a:prstGeom prst="rect">
            <a:avLst/>
          </a:prstGeom>
          <a:noFill/>
          <a:ln/>
        </p:spPr>
        <p:txBody>
          <a:bodyPr wrap="square" lIns="0" tIns="0" rIns="0" bIns="0" rtlCol="0" anchor="ctr"/>
          <a:lstStyle/>
          <a:p>
            <a:pPr indent="0" marL="0">
              <a:buNone/>
            </a:pPr>
            <a:r>
              <a:rPr lang="en-US" sz="2100" b="1" dirty="0">
                <a:solidFill>
                  <a:srgbClr val="1F4E4A"/>
                </a:solidFill>
              </a:rPr>
              <a:t>“내가 장례 이야기를 꺼내는 것은 곧 죽겠다는 뜻이 아니라, 나중에 너희가 덜 힘들었으면 해서야.”</a:t>
            </a:r>
            <a:endParaRPr lang="en-US" sz="2100" dirty="0"/>
          </a:p>
        </p:txBody>
      </p:sp>
      <p:sp>
        <p:nvSpPr>
          <p:cNvPr id="6" name="Shape 4"/>
          <p:cNvSpPr/>
          <p:nvPr/>
        </p:nvSpPr>
        <p:spPr>
          <a:xfrm>
            <a:off x="822960" y="2852928"/>
            <a:ext cx="384048" cy="384048"/>
          </a:xfrm>
          <a:prstGeom prst="ellipse">
            <a:avLst/>
          </a:prstGeom>
          <a:solidFill>
            <a:srgbClr val="2E7D6B"/>
          </a:solidFill>
          <a:ln w="12700">
            <a:solidFill>
              <a:srgbClr val="2E7D6B"/>
            </a:solidFill>
            <a:prstDash val="solid"/>
          </a:ln>
        </p:spPr>
      </p:sp>
      <p:sp>
        <p:nvSpPr>
          <p:cNvPr id="7" name="Text 5"/>
          <p:cNvSpPr txBox="1"/>
          <p:nvPr/>
        </p:nvSpPr>
        <p:spPr>
          <a:xfrm>
            <a:off x="822960" y="2852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6"/>
          <p:cNvSpPr txBox="1"/>
          <p:nvPr/>
        </p:nvSpPr>
        <p:spPr>
          <a:xfrm>
            <a:off x="1371600" y="2834640"/>
            <a:ext cx="6309360" cy="731520"/>
          </a:xfrm>
          <a:prstGeom prst="rect">
            <a:avLst/>
          </a:prstGeom>
          <a:noFill/>
          <a:ln/>
        </p:spPr>
        <p:txBody>
          <a:bodyPr wrap="square" lIns="0" tIns="0" rIns="0" bIns="0" rtlCol="0" anchor="t"/>
          <a:lstStyle/>
          <a:p>
            <a:pPr indent="0" marL="0">
              <a:buNone/>
            </a:pPr>
            <a:r>
              <a:rPr lang="en-US" sz="2100" dirty="0">
                <a:solidFill>
                  <a:srgbClr val="222222"/>
                </a:solidFill>
              </a:rPr>
              <a:t>위 문장을 참고해 나만의 시작 문장을 씁니다.</a:t>
            </a:r>
            <a:endParaRPr lang="en-US" sz="2100" dirty="0"/>
          </a:p>
        </p:txBody>
      </p:sp>
      <p:sp>
        <p:nvSpPr>
          <p:cNvPr id="9" name="Shape 7"/>
          <p:cNvSpPr/>
          <p:nvPr/>
        </p:nvSpPr>
        <p:spPr>
          <a:xfrm>
            <a:off x="822960" y="3630168"/>
            <a:ext cx="384048" cy="384048"/>
          </a:xfrm>
          <a:prstGeom prst="ellipse">
            <a:avLst/>
          </a:prstGeom>
          <a:solidFill>
            <a:srgbClr val="2E7D6B"/>
          </a:solidFill>
          <a:ln w="12700">
            <a:solidFill>
              <a:srgbClr val="2E7D6B"/>
            </a:solidFill>
            <a:prstDash val="solid"/>
          </a:ln>
        </p:spPr>
      </p:sp>
      <p:sp>
        <p:nvSpPr>
          <p:cNvPr id="10" name="Text 8"/>
          <p:cNvSpPr txBox="1"/>
          <p:nvPr/>
        </p:nvSpPr>
        <p:spPr>
          <a:xfrm>
            <a:off x="82296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1371600" y="3611880"/>
            <a:ext cx="6309360" cy="731520"/>
          </a:xfrm>
          <a:prstGeom prst="rect">
            <a:avLst/>
          </a:prstGeom>
          <a:noFill/>
          <a:ln/>
        </p:spPr>
        <p:txBody>
          <a:bodyPr wrap="square" lIns="0" tIns="0" rIns="0" bIns="0" rtlCol="0" anchor="t"/>
          <a:lstStyle/>
          <a:p>
            <a:pPr indent="0" marL="0">
              <a:buNone/>
            </a:pPr>
            <a:r>
              <a:rPr lang="en-US" sz="2100" dirty="0">
                <a:solidFill>
                  <a:srgbClr val="222222"/>
                </a:solidFill>
              </a:rPr>
              <a:t>가족에게 꼭 설명하고 싶은 이유를 씁니다.</a:t>
            </a:r>
            <a:endParaRPr lang="en-US" sz="2100" dirty="0"/>
          </a:p>
        </p:txBody>
      </p:sp>
      <p:sp>
        <p:nvSpPr>
          <p:cNvPr id="12" name="Shape 10"/>
          <p:cNvSpPr/>
          <p:nvPr/>
        </p:nvSpPr>
        <p:spPr>
          <a:xfrm>
            <a:off x="822960" y="4407408"/>
            <a:ext cx="384048" cy="384048"/>
          </a:xfrm>
          <a:prstGeom prst="ellipse">
            <a:avLst/>
          </a:prstGeom>
          <a:solidFill>
            <a:srgbClr val="2E7D6B"/>
          </a:solidFill>
          <a:ln w="12700">
            <a:solidFill>
              <a:srgbClr val="2E7D6B"/>
            </a:solidFill>
            <a:prstDash val="solid"/>
          </a:ln>
        </p:spPr>
      </p:sp>
      <p:sp>
        <p:nvSpPr>
          <p:cNvPr id="13" name="Text 11"/>
          <p:cNvSpPr txBox="1"/>
          <p:nvPr/>
        </p:nvSpPr>
        <p:spPr>
          <a:xfrm>
            <a:off x="822960" y="44074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1371600" y="4389120"/>
            <a:ext cx="6309360" cy="731520"/>
          </a:xfrm>
          <a:prstGeom prst="rect">
            <a:avLst/>
          </a:prstGeom>
          <a:noFill/>
          <a:ln/>
        </p:spPr>
        <p:txBody>
          <a:bodyPr wrap="square" lIns="0" tIns="0" rIns="0" bIns="0" rtlCol="0" anchor="t"/>
          <a:lstStyle/>
          <a:p>
            <a:pPr indent="0" marL="0">
              <a:buNone/>
            </a:pPr>
            <a:r>
              <a:rPr lang="en-US" sz="2100" dirty="0">
                <a:solidFill>
                  <a:srgbClr val="222222"/>
                </a:solidFill>
              </a:rPr>
              <a:t>가족과 함께 결정하고 싶은 부분을 씁니다.</a:t>
            </a:r>
            <a:endParaRPr lang="en-US" sz="2100" dirty="0"/>
          </a:p>
        </p:txBody>
      </p:sp>
      <p:sp>
        <p:nvSpPr>
          <p:cNvPr id="15" name="Shape 13"/>
          <p:cNvSpPr/>
          <p:nvPr/>
        </p:nvSpPr>
        <p:spPr>
          <a:xfrm>
            <a:off x="822960" y="5184648"/>
            <a:ext cx="384048" cy="384048"/>
          </a:xfrm>
          <a:prstGeom prst="ellipse">
            <a:avLst/>
          </a:prstGeom>
          <a:solidFill>
            <a:srgbClr val="2E7D6B"/>
          </a:solidFill>
          <a:ln w="12700">
            <a:solidFill>
              <a:srgbClr val="2E7D6B"/>
            </a:solidFill>
            <a:prstDash val="solid"/>
          </a:ln>
        </p:spPr>
      </p:sp>
      <p:sp>
        <p:nvSpPr>
          <p:cNvPr id="16" name="Text 14"/>
          <p:cNvSpPr txBox="1"/>
          <p:nvPr/>
        </p:nvSpPr>
        <p:spPr>
          <a:xfrm>
            <a:off x="822960" y="5184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7" name="Text 15"/>
          <p:cNvSpPr txBox="1"/>
          <p:nvPr/>
        </p:nvSpPr>
        <p:spPr>
          <a:xfrm>
            <a:off x="1371600" y="5166360"/>
            <a:ext cx="6309360" cy="731520"/>
          </a:xfrm>
          <a:prstGeom prst="rect">
            <a:avLst/>
          </a:prstGeom>
          <a:noFill/>
          <a:ln/>
        </p:spPr>
        <p:txBody>
          <a:bodyPr wrap="square" lIns="0" tIns="0" rIns="0" bIns="0" rtlCol="0" anchor="t"/>
          <a:lstStyle/>
          <a:p>
            <a:pPr indent="0" marL="0">
              <a:buNone/>
            </a:pPr>
            <a:r>
              <a:rPr lang="en-US" sz="2100" dirty="0">
                <a:solidFill>
                  <a:srgbClr val="222222"/>
                </a:solidFill>
              </a:rPr>
              <a:t>짝에게 시작 문장을 소리 내어 읽어 줍니다.</a:t>
            </a:r>
            <a:endParaRPr lang="en-US" sz="2100" dirty="0"/>
          </a:p>
        </p:txBody>
      </p:sp>
      <p:sp>
        <p:nvSpPr>
          <p:cNvPr id="18" name="Shape 16"/>
          <p:cNvSpPr/>
          <p:nvPr/>
        </p:nvSpPr>
        <p:spPr>
          <a:xfrm>
            <a:off x="8229600" y="1554480"/>
            <a:ext cx="3413455" cy="1417320"/>
          </a:xfrm>
          <a:prstGeom prst="roundRect">
            <a:avLst>
              <a:gd name="adj" fmla="val 7742"/>
            </a:avLst>
          </a:prstGeom>
          <a:solidFill>
            <a:srgbClr val="1F4E4A"/>
          </a:solidFill>
          <a:ln w="12700">
            <a:solidFill>
              <a:srgbClr val="1F4E4A"/>
            </a:solidFill>
            <a:prstDash val="solid"/>
          </a:ln>
        </p:spPr>
      </p:sp>
      <p:sp>
        <p:nvSpPr>
          <p:cNvPr id="19" name="Shape 17"/>
          <p:cNvSpPr/>
          <p:nvPr/>
        </p:nvSpPr>
        <p:spPr>
          <a:xfrm>
            <a:off x="8430768" y="1755648"/>
            <a:ext cx="457200" cy="457200"/>
          </a:xfrm>
          <a:prstGeom prst="ellipse">
            <a:avLst/>
          </a:prstGeom>
          <a:solidFill>
            <a:srgbClr val="D98E04"/>
          </a:solidFill>
          <a:ln w="12700">
            <a:solidFill>
              <a:srgbClr val="D98E04"/>
            </a:solidFill>
            <a:prstDash val="solid"/>
          </a:ln>
        </p:spPr>
      </p:sp>
      <p:pic>
        <p:nvPicPr>
          <p:cNvPr id="20" name="Image 0" descr="preencoded.png">    </p:cNvPr>
          <p:cNvPicPr>
            <a:picLocks noChangeAspect="1"/>
          </p:cNvPicPr>
          <p:nvPr/>
        </p:nvPicPr>
        <p:blipFill>
          <a:blip r:embed="rId1"/>
          <a:stretch>
            <a:fillRect/>
          </a:stretch>
        </p:blipFill>
        <p:spPr>
          <a:xfrm>
            <a:off x="8549640" y="1874520"/>
            <a:ext cx="219456" cy="219456"/>
          </a:xfrm>
          <a:prstGeom prst="rect">
            <a:avLst/>
          </a:prstGeom>
        </p:spPr>
      </p:pic>
      <p:sp>
        <p:nvSpPr>
          <p:cNvPr id="21" name="Text 18"/>
          <p:cNvSpPr txBox="1"/>
          <p:nvPr/>
        </p:nvSpPr>
        <p:spPr>
          <a:xfrm>
            <a:off x="9006840" y="1755648"/>
            <a:ext cx="2499055" cy="457200"/>
          </a:xfrm>
          <a:prstGeom prst="rect">
            <a:avLst/>
          </a:prstGeom>
          <a:noFill/>
          <a:ln/>
        </p:spPr>
        <p:txBody>
          <a:bodyPr wrap="square" lIns="0" tIns="0" rIns="0" bIns="0" rtlCol="0" anchor="ctr"/>
          <a:lstStyle/>
          <a:p>
            <a:pPr indent="0" marL="0">
              <a:buNone/>
            </a:pPr>
            <a:r>
              <a:rPr lang="en-US" sz="1400" b="1" dirty="0">
                <a:solidFill>
                  <a:srgbClr val="A8C5BC"/>
                </a:solidFill>
              </a:rPr>
              <a:t>시간</a:t>
            </a:r>
            <a:endParaRPr lang="en-US" sz="1400" dirty="0"/>
          </a:p>
        </p:txBody>
      </p:sp>
      <p:sp>
        <p:nvSpPr>
          <p:cNvPr id="22" name="Text 19"/>
          <p:cNvSpPr txBox="1"/>
          <p:nvPr/>
        </p:nvSpPr>
        <p:spPr>
          <a:xfrm>
            <a:off x="8430768" y="2267712"/>
            <a:ext cx="3001975" cy="640080"/>
          </a:xfrm>
          <a:prstGeom prst="rect">
            <a:avLst/>
          </a:prstGeom>
          <a:noFill/>
          <a:ln/>
        </p:spPr>
        <p:txBody>
          <a:bodyPr wrap="square" lIns="0" tIns="0" rIns="0" bIns="0" rtlCol="0" anchor="t"/>
          <a:lstStyle/>
          <a:p>
            <a:pPr indent="0" marL="0">
              <a:buNone/>
            </a:pPr>
            <a:r>
              <a:rPr lang="en-US" sz="2800" b="1" dirty="0">
                <a:solidFill>
                  <a:srgbClr val="FFFFFF"/>
                </a:solidFill>
              </a:rPr>
              <a:t>6분</a:t>
            </a:r>
            <a:endParaRPr lang="en-US" sz="2800" dirty="0"/>
          </a:p>
        </p:txBody>
      </p:sp>
      <p:sp>
        <p:nvSpPr>
          <p:cNvPr id="23" name="Shape 20"/>
          <p:cNvSpPr/>
          <p:nvPr/>
        </p:nvSpPr>
        <p:spPr>
          <a:xfrm>
            <a:off x="8229600" y="3127248"/>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4" name="Shape 21"/>
          <p:cNvSpPr/>
          <p:nvPr/>
        </p:nvSpPr>
        <p:spPr>
          <a:xfrm>
            <a:off x="8430768" y="3328416"/>
            <a:ext cx="457200" cy="457200"/>
          </a:xfrm>
          <a:prstGeom prst="ellipse">
            <a:avLst/>
          </a:prstGeom>
          <a:solidFill>
            <a:srgbClr val="2E7D6B"/>
          </a:solidFill>
          <a:ln w="12700">
            <a:solidFill>
              <a:srgbClr val="2E7D6B"/>
            </a:solidFill>
            <a:prstDash val="solid"/>
          </a:ln>
        </p:spPr>
      </p:sp>
      <p:pic>
        <p:nvPicPr>
          <p:cNvPr id="25" name="Image 1" descr="preencoded.png">    </p:cNvPr>
          <p:cNvPicPr>
            <a:picLocks noChangeAspect="1"/>
          </p:cNvPicPr>
          <p:nvPr/>
        </p:nvPicPr>
        <p:blipFill>
          <a:blip r:embed="rId2"/>
          <a:stretch>
            <a:fillRect/>
          </a:stretch>
        </p:blipFill>
        <p:spPr>
          <a:xfrm>
            <a:off x="8549640" y="3447288"/>
            <a:ext cx="219456" cy="219456"/>
          </a:xfrm>
          <a:prstGeom prst="rect">
            <a:avLst/>
          </a:prstGeom>
        </p:spPr>
      </p:pic>
      <p:sp>
        <p:nvSpPr>
          <p:cNvPr id="26" name="Text 22"/>
          <p:cNvSpPr txBox="1"/>
          <p:nvPr/>
        </p:nvSpPr>
        <p:spPr>
          <a:xfrm>
            <a:off x="9006840" y="3328416"/>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방식</a:t>
            </a:r>
            <a:endParaRPr lang="en-US" sz="1400" dirty="0"/>
          </a:p>
        </p:txBody>
      </p:sp>
      <p:sp>
        <p:nvSpPr>
          <p:cNvPr id="27" name="Text 23"/>
          <p:cNvSpPr txBox="1"/>
          <p:nvPr/>
        </p:nvSpPr>
        <p:spPr>
          <a:xfrm>
            <a:off x="8430768" y="3840480"/>
            <a:ext cx="3001975" cy="640080"/>
          </a:xfrm>
          <a:prstGeom prst="rect">
            <a:avLst/>
          </a:prstGeom>
          <a:noFill/>
          <a:ln/>
        </p:spPr>
        <p:txBody>
          <a:bodyPr wrap="square" lIns="0" tIns="0" rIns="0" bIns="0" rtlCol="0" anchor="t"/>
          <a:lstStyle/>
          <a:p>
            <a:pPr indent="0" marL="0">
              <a:buNone/>
            </a:pPr>
            <a:r>
              <a:rPr lang="en-US" sz="1800" dirty="0">
                <a:solidFill>
                  <a:srgbClr val="222222"/>
                </a:solidFill>
              </a:rPr>
              <a:t>개인 작성 + 짝</a:t>
            </a:r>
            <a:endParaRPr lang="en-US" sz="1800" dirty="0"/>
          </a:p>
        </p:txBody>
      </p:sp>
      <p:sp>
        <p:nvSpPr>
          <p:cNvPr id="28" name="Shape 24"/>
          <p:cNvSpPr/>
          <p:nvPr/>
        </p:nvSpPr>
        <p:spPr>
          <a:xfrm>
            <a:off x="8229600" y="4700016"/>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9" name="Shape 25"/>
          <p:cNvSpPr/>
          <p:nvPr/>
        </p:nvSpPr>
        <p:spPr>
          <a:xfrm>
            <a:off x="8430768" y="4901184"/>
            <a:ext cx="457200" cy="457200"/>
          </a:xfrm>
          <a:prstGeom prst="ellipse">
            <a:avLst/>
          </a:prstGeom>
          <a:solidFill>
            <a:srgbClr val="2E7D6B"/>
          </a:solidFill>
          <a:ln w="12700">
            <a:solidFill>
              <a:srgbClr val="2E7D6B"/>
            </a:solidFill>
            <a:prstDash val="solid"/>
          </a:ln>
        </p:spPr>
      </p:sp>
      <p:pic>
        <p:nvPicPr>
          <p:cNvPr id="30" name="Image 2" descr="preencoded.png">    </p:cNvPr>
          <p:cNvPicPr>
            <a:picLocks noChangeAspect="1"/>
          </p:cNvPicPr>
          <p:nvPr/>
        </p:nvPicPr>
        <p:blipFill>
          <a:blip r:embed="rId3"/>
          <a:stretch>
            <a:fillRect/>
          </a:stretch>
        </p:blipFill>
        <p:spPr>
          <a:xfrm>
            <a:off x="8549640" y="5020056"/>
            <a:ext cx="219456" cy="219456"/>
          </a:xfrm>
          <a:prstGeom prst="rect">
            <a:avLst/>
          </a:prstGeom>
        </p:spPr>
      </p:pic>
      <p:sp>
        <p:nvSpPr>
          <p:cNvPr id="31" name="Text 26"/>
          <p:cNvSpPr txBox="1"/>
          <p:nvPr/>
        </p:nvSpPr>
        <p:spPr>
          <a:xfrm>
            <a:off x="9006840" y="4901184"/>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결과물</a:t>
            </a:r>
            <a:endParaRPr lang="en-US" sz="1400" dirty="0"/>
          </a:p>
        </p:txBody>
      </p:sp>
      <p:sp>
        <p:nvSpPr>
          <p:cNvPr id="32" name="Text 27"/>
          <p:cNvSpPr txBox="1"/>
          <p:nvPr/>
        </p:nvSpPr>
        <p:spPr>
          <a:xfrm>
            <a:off x="8430768" y="5413248"/>
            <a:ext cx="3001975" cy="640080"/>
          </a:xfrm>
          <a:prstGeom prst="rect">
            <a:avLst/>
          </a:prstGeom>
          <a:noFill/>
          <a:ln/>
        </p:spPr>
        <p:txBody>
          <a:bodyPr wrap="square" lIns="0" tIns="0" rIns="0" bIns="0" rtlCol="0" anchor="t"/>
          <a:lstStyle/>
          <a:p>
            <a:pPr indent="0" marL="0">
              <a:buNone/>
            </a:pPr>
            <a:r>
              <a:rPr lang="en-US" sz="1800" dirty="0">
                <a:solidFill>
                  <a:srgbClr val="222222"/>
                </a:solidFill>
              </a:rPr>
              <a:t>나의 가족대화 3문장</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14절 사전 장례설계 · 법적 구속력이 아니라 대화와 기록의 도구</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사전 장례설계 여덟 가지 — 나의 바람</a:t>
            </a:r>
            <a:endParaRPr lang="en-US" sz="28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737360"/>
                <a:gridCol w="5303520"/>
                <a:gridCol w="4023360"/>
              </a:tblGrid>
              <a:tr h="493776">
                <a:tc>
                  <a:txBody>
                    <a:bodyPr/>
                    <a:lstStyle/>
                    <a:p>
                      <a:pPr algn="ctr" indent="0" marL="0">
                        <a:buNone/>
                      </a:pPr>
                      <a:r>
                        <a:rPr lang="en-US" sz="1500" b="1" dirty="0">
                          <a:solidFill>
                            <a:srgbClr val="FFFFFF"/>
                          </a:solidFill>
                          <a:latin typeface="Noto Serif KR Black" pitchFamily="34" charset="0"/>
                          <a:ea typeface="Noto Serif KR Black" pitchFamily="34" charset="-122"/>
                          <a:cs typeface="Noto Serif KR Black" pitchFamily="34" charset="-120"/>
                        </a:rPr>
                        <a:t>영역</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500" b="1" dirty="0">
                          <a:solidFill>
                            <a:srgbClr val="FFFFFF"/>
                          </a:solidFill>
                          <a:latin typeface="Noto Serif KR Black" pitchFamily="34" charset="0"/>
                          <a:ea typeface="Noto Serif KR Black" pitchFamily="34" charset="-122"/>
                          <a:cs typeface="Noto Serif KR Black" pitchFamily="34" charset="-120"/>
                        </a:rPr>
                        <a:t>미리 생각할 질문</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500" b="1" dirty="0">
                          <a:solidFill>
                            <a:srgbClr val="FFFFFF"/>
                          </a:solidFill>
                          <a:latin typeface="Noto Serif KR Black" pitchFamily="34" charset="0"/>
                          <a:ea typeface="Noto Serif KR Black" pitchFamily="34" charset="-122"/>
                          <a:cs typeface="Noto Serif KR Black" pitchFamily="34" charset="-120"/>
                        </a:rPr>
                        <a:t>나의 바람</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493776">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장례 규모</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많은 조문객이 필요한가, 가까운 사람 중심이 좋은가?</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93776">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종교·의례</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종교의례를 원하는가? 가족의 종교와 다르면?</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93776">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장례 장소</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장례식장, 종교시설 등 어떤 공간이 적절한가?</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93776">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화장·매장</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기본 장사방법에 대한 바람은?</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93776">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화장 후 유골</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봉안·자연장·골분 산분 중 어떤 방향인가?</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93776">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추모 방식</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사진·음악·영상·편지·온라인추모 중 무엇을?</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93776">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비용</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가족에게 과도한 부담을 남기지 않으려면?</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93776">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정보 공유</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이 바람을 가족·신뢰하는 사람이 알고 있는가?</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OX 퀵퀴즈</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맞으면 O, 틀리면 X</a:t>
            </a:r>
            <a:endParaRPr lang="en-US" sz="2800" dirty="0"/>
          </a:p>
        </p:txBody>
      </p:sp>
      <p:sp>
        <p:nvSpPr>
          <p:cNvPr id="4" name="Shape 2"/>
          <p:cNvSpPr/>
          <p:nvPr/>
        </p:nvSpPr>
        <p:spPr>
          <a:xfrm>
            <a:off x="548640" y="1554480"/>
            <a:ext cx="11094415" cy="971550"/>
          </a:xfrm>
          <a:prstGeom prst="roundRect">
            <a:avLst>
              <a:gd name="adj" fmla="val 11294"/>
            </a:avLst>
          </a:prstGeom>
          <a:solidFill>
            <a:srgbClr val="EAF3F0"/>
          </a:solidFill>
          <a:ln w="12700">
            <a:solidFill>
              <a:srgbClr val="EAF3F0"/>
            </a:solidFill>
            <a:prstDash val="solid"/>
          </a:ln>
        </p:spPr>
      </p:sp>
      <p:sp>
        <p:nvSpPr>
          <p:cNvPr id="5" name="Shape 3"/>
          <p:cNvSpPr/>
          <p:nvPr/>
        </p:nvSpPr>
        <p:spPr>
          <a:xfrm>
            <a:off x="777240" y="1811655"/>
            <a:ext cx="457200" cy="457200"/>
          </a:xfrm>
          <a:prstGeom prst="ellipse">
            <a:avLst/>
          </a:prstGeom>
          <a:solidFill>
            <a:srgbClr val="2E7D6B"/>
          </a:solidFill>
          <a:ln w="12700">
            <a:solidFill>
              <a:srgbClr val="2E7D6B"/>
            </a:solidFill>
            <a:prstDash val="solid"/>
          </a:ln>
        </p:spPr>
      </p:sp>
      <p:sp>
        <p:nvSpPr>
          <p:cNvPr id="6" name="Text 4"/>
          <p:cNvSpPr txBox="1"/>
          <p:nvPr/>
        </p:nvSpPr>
        <p:spPr>
          <a:xfrm>
            <a:off x="777240" y="181165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7" name="Text 5"/>
          <p:cNvSpPr txBox="1"/>
          <p:nvPr/>
        </p:nvSpPr>
        <p:spPr>
          <a:xfrm>
            <a:off x="1463040" y="1554480"/>
            <a:ext cx="7985455" cy="971550"/>
          </a:xfrm>
          <a:prstGeom prst="rect">
            <a:avLst/>
          </a:prstGeom>
          <a:noFill/>
          <a:ln/>
        </p:spPr>
        <p:txBody>
          <a:bodyPr wrap="square" lIns="0" tIns="0" rIns="0" bIns="0" rtlCol="0" anchor="ctr"/>
          <a:lstStyle/>
          <a:p>
            <a:pPr indent="0" marL="0">
              <a:buNone/>
            </a:pPr>
            <a:r>
              <a:rPr lang="en-US" sz="2200" dirty="0">
                <a:solidFill>
                  <a:srgbClr val="222222"/>
                </a:solidFill>
              </a:rPr>
              <a:t>“산분장”은 현행 장사법의 법정 용어이다.</a:t>
            </a:r>
            <a:endParaRPr lang="en-US" sz="2200" dirty="0"/>
          </a:p>
        </p:txBody>
      </p:sp>
      <p:sp>
        <p:nvSpPr>
          <p:cNvPr id="8" name="Shape 6"/>
          <p:cNvSpPr/>
          <p:nvPr/>
        </p:nvSpPr>
        <p:spPr>
          <a:xfrm>
            <a:off x="9722815" y="1720215"/>
            <a:ext cx="640080" cy="640080"/>
          </a:xfrm>
          <a:prstGeom prst="ellipse">
            <a:avLst/>
          </a:prstGeom>
          <a:solidFill>
            <a:srgbClr val="FFFFFF"/>
          </a:solidFill>
          <a:ln w="25400">
            <a:solidFill>
              <a:srgbClr val="3A6EA5"/>
            </a:solidFill>
            <a:prstDash val="solid"/>
          </a:ln>
        </p:spPr>
      </p:sp>
      <p:sp>
        <p:nvSpPr>
          <p:cNvPr id="9" name="Text 7"/>
          <p:cNvSpPr txBox="1"/>
          <p:nvPr/>
        </p:nvSpPr>
        <p:spPr>
          <a:xfrm>
            <a:off x="9722815" y="1720215"/>
            <a:ext cx="640080" cy="640080"/>
          </a:xfrm>
          <a:prstGeom prst="rect">
            <a:avLst/>
          </a:prstGeom>
          <a:noFill/>
          <a:ln/>
        </p:spPr>
        <p:txBody>
          <a:bodyPr wrap="square" lIns="0" tIns="0" rIns="0" bIns="0" rtlCol="0" anchor="ctr"/>
          <a:lstStyle/>
          <a:p>
            <a:pPr algn="ctr" indent="0" marL="0">
              <a:buNone/>
            </a:pPr>
            <a:r>
              <a:rPr lang="en-US" sz="2200" b="1" dirty="0">
                <a:solidFill>
                  <a:srgbClr val="3A6EA5"/>
                </a:solidFill>
              </a:rPr>
              <a:t>O</a:t>
            </a:r>
            <a:endParaRPr lang="en-US" sz="2200" dirty="0"/>
          </a:p>
        </p:txBody>
      </p:sp>
      <p:sp>
        <p:nvSpPr>
          <p:cNvPr id="10" name="Shape 8"/>
          <p:cNvSpPr/>
          <p:nvPr/>
        </p:nvSpPr>
        <p:spPr>
          <a:xfrm>
            <a:off x="10637215" y="1720215"/>
            <a:ext cx="640080" cy="640080"/>
          </a:xfrm>
          <a:prstGeom prst="ellipse">
            <a:avLst/>
          </a:prstGeom>
          <a:solidFill>
            <a:srgbClr val="FFFFFF"/>
          </a:solidFill>
          <a:ln w="25400">
            <a:solidFill>
              <a:srgbClr val="B5452F"/>
            </a:solidFill>
            <a:prstDash val="solid"/>
          </a:ln>
        </p:spPr>
      </p:sp>
      <p:sp>
        <p:nvSpPr>
          <p:cNvPr id="11" name="Text 9"/>
          <p:cNvSpPr txBox="1"/>
          <p:nvPr/>
        </p:nvSpPr>
        <p:spPr>
          <a:xfrm>
            <a:off x="10637215" y="1720215"/>
            <a:ext cx="640080" cy="640080"/>
          </a:xfrm>
          <a:prstGeom prst="rect">
            <a:avLst/>
          </a:prstGeom>
          <a:noFill/>
          <a:ln/>
        </p:spPr>
        <p:txBody>
          <a:bodyPr wrap="square" lIns="0" tIns="0" rIns="0" bIns="0" rtlCol="0" anchor="ctr"/>
          <a:lstStyle/>
          <a:p>
            <a:pPr algn="ctr" indent="0" marL="0">
              <a:buNone/>
            </a:pPr>
            <a:r>
              <a:rPr lang="en-US" sz="2200" b="1" dirty="0">
                <a:solidFill>
                  <a:srgbClr val="B5452F"/>
                </a:solidFill>
              </a:rPr>
              <a:t>X</a:t>
            </a:r>
            <a:endParaRPr lang="en-US" sz="2200" dirty="0"/>
          </a:p>
        </p:txBody>
      </p:sp>
      <p:sp>
        <p:nvSpPr>
          <p:cNvPr id="12" name="Shape 10"/>
          <p:cNvSpPr/>
          <p:nvPr/>
        </p:nvSpPr>
        <p:spPr>
          <a:xfrm>
            <a:off x="548640" y="2708910"/>
            <a:ext cx="11094415" cy="971550"/>
          </a:xfrm>
          <a:prstGeom prst="roundRect">
            <a:avLst>
              <a:gd name="adj" fmla="val 11294"/>
            </a:avLst>
          </a:prstGeom>
          <a:solidFill>
            <a:srgbClr val="FFFFFF"/>
          </a:solidFill>
          <a:ln w="12700">
            <a:solidFill>
              <a:srgbClr val="FFFFFF"/>
            </a:solidFill>
            <a:prstDash val="solid"/>
          </a:ln>
        </p:spPr>
      </p:sp>
      <p:sp>
        <p:nvSpPr>
          <p:cNvPr id="13" name="Shape 11"/>
          <p:cNvSpPr/>
          <p:nvPr/>
        </p:nvSpPr>
        <p:spPr>
          <a:xfrm>
            <a:off x="777240" y="2966085"/>
            <a:ext cx="457200" cy="457200"/>
          </a:xfrm>
          <a:prstGeom prst="ellipse">
            <a:avLst/>
          </a:prstGeom>
          <a:solidFill>
            <a:srgbClr val="2E7D6B"/>
          </a:solidFill>
          <a:ln w="12700">
            <a:solidFill>
              <a:srgbClr val="2E7D6B"/>
            </a:solidFill>
            <a:prstDash val="solid"/>
          </a:ln>
        </p:spPr>
      </p:sp>
      <p:sp>
        <p:nvSpPr>
          <p:cNvPr id="14" name="Text 12"/>
          <p:cNvSpPr txBox="1"/>
          <p:nvPr/>
        </p:nvSpPr>
        <p:spPr>
          <a:xfrm>
            <a:off x="777240" y="296608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5" name="Text 13"/>
          <p:cNvSpPr txBox="1"/>
          <p:nvPr/>
        </p:nvSpPr>
        <p:spPr>
          <a:xfrm>
            <a:off x="1463040" y="2708910"/>
            <a:ext cx="7985455" cy="971550"/>
          </a:xfrm>
          <a:prstGeom prst="rect">
            <a:avLst/>
          </a:prstGeom>
          <a:noFill/>
          <a:ln/>
        </p:spPr>
        <p:txBody>
          <a:bodyPr wrap="square" lIns="0" tIns="0" rIns="0" bIns="0" rtlCol="0" anchor="ctr"/>
          <a:lstStyle/>
          <a:p>
            <a:pPr indent="0" marL="0">
              <a:buNone/>
            </a:pPr>
            <a:r>
              <a:rPr lang="en-US" sz="2200" dirty="0">
                <a:solidFill>
                  <a:srgbClr val="222222"/>
                </a:solidFill>
              </a:rPr>
              <a:t>3일장은 장사법이 정한 법적 의무이다.</a:t>
            </a:r>
            <a:endParaRPr lang="en-US" sz="2200" dirty="0"/>
          </a:p>
        </p:txBody>
      </p:sp>
      <p:sp>
        <p:nvSpPr>
          <p:cNvPr id="16" name="Shape 14"/>
          <p:cNvSpPr/>
          <p:nvPr/>
        </p:nvSpPr>
        <p:spPr>
          <a:xfrm>
            <a:off x="9722815" y="2874645"/>
            <a:ext cx="640080" cy="640080"/>
          </a:xfrm>
          <a:prstGeom prst="ellipse">
            <a:avLst/>
          </a:prstGeom>
          <a:solidFill>
            <a:srgbClr val="FFFFFF"/>
          </a:solidFill>
          <a:ln w="25400">
            <a:solidFill>
              <a:srgbClr val="3A6EA5"/>
            </a:solidFill>
            <a:prstDash val="solid"/>
          </a:ln>
        </p:spPr>
      </p:sp>
      <p:sp>
        <p:nvSpPr>
          <p:cNvPr id="17" name="Text 15"/>
          <p:cNvSpPr txBox="1"/>
          <p:nvPr/>
        </p:nvSpPr>
        <p:spPr>
          <a:xfrm>
            <a:off x="9722815" y="2874645"/>
            <a:ext cx="640080" cy="640080"/>
          </a:xfrm>
          <a:prstGeom prst="rect">
            <a:avLst/>
          </a:prstGeom>
          <a:noFill/>
          <a:ln/>
        </p:spPr>
        <p:txBody>
          <a:bodyPr wrap="square" lIns="0" tIns="0" rIns="0" bIns="0" rtlCol="0" anchor="ctr"/>
          <a:lstStyle/>
          <a:p>
            <a:pPr algn="ctr" indent="0" marL="0">
              <a:buNone/>
            </a:pPr>
            <a:r>
              <a:rPr lang="en-US" sz="2200" b="1" dirty="0">
                <a:solidFill>
                  <a:srgbClr val="3A6EA5"/>
                </a:solidFill>
              </a:rPr>
              <a:t>O</a:t>
            </a:r>
            <a:endParaRPr lang="en-US" sz="2200" dirty="0"/>
          </a:p>
        </p:txBody>
      </p:sp>
      <p:sp>
        <p:nvSpPr>
          <p:cNvPr id="18" name="Shape 16"/>
          <p:cNvSpPr/>
          <p:nvPr/>
        </p:nvSpPr>
        <p:spPr>
          <a:xfrm>
            <a:off x="10637215" y="2874645"/>
            <a:ext cx="640080" cy="640080"/>
          </a:xfrm>
          <a:prstGeom prst="ellipse">
            <a:avLst/>
          </a:prstGeom>
          <a:solidFill>
            <a:srgbClr val="FFFFFF"/>
          </a:solidFill>
          <a:ln w="25400">
            <a:solidFill>
              <a:srgbClr val="B5452F"/>
            </a:solidFill>
            <a:prstDash val="solid"/>
          </a:ln>
        </p:spPr>
      </p:sp>
      <p:sp>
        <p:nvSpPr>
          <p:cNvPr id="19" name="Text 17"/>
          <p:cNvSpPr txBox="1"/>
          <p:nvPr/>
        </p:nvSpPr>
        <p:spPr>
          <a:xfrm>
            <a:off x="10637215" y="2874645"/>
            <a:ext cx="640080" cy="640080"/>
          </a:xfrm>
          <a:prstGeom prst="rect">
            <a:avLst/>
          </a:prstGeom>
          <a:noFill/>
          <a:ln/>
        </p:spPr>
        <p:txBody>
          <a:bodyPr wrap="square" lIns="0" tIns="0" rIns="0" bIns="0" rtlCol="0" anchor="ctr"/>
          <a:lstStyle/>
          <a:p>
            <a:pPr algn="ctr" indent="0" marL="0">
              <a:buNone/>
            </a:pPr>
            <a:r>
              <a:rPr lang="en-US" sz="2200" b="1" dirty="0">
                <a:solidFill>
                  <a:srgbClr val="B5452F"/>
                </a:solidFill>
              </a:rPr>
              <a:t>X</a:t>
            </a:r>
            <a:endParaRPr lang="en-US" sz="2200" dirty="0"/>
          </a:p>
        </p:txBody>
      </p:sp>
      <p:sp>
        <p:nvSpPr>
          <p:cNvPr id="20" name="Shape 18"/>
          <p:cNvSpPr/>
          <p:nvPr/>
        </p:nvSpPr>
        <p:spPr>
          <a:xfrm>
            <a:off x="548640" y="3863340"/>
            <a:ext cx="11094415" cy="971550"/>
          </a:xfrm>
          <a:prstGeom prst="roundRect">
            <a:avLst>
              <a:gd name="adj" fmla="val 11294"/>
            </a:avLst>
          </a:prstGeom>
          <a:solidFill>
            <a:srgbClr val="EAF3F0"/>
          </a:solidFill>
          <a:ln w="12700">
            <a:solidFill>
              <a:srgbClr val="EAF3F0"/>
            </a:solidFill>
            <a:prstDash val="solid"/>
          </a:ln>
        </p:spPr>
      </p:sp>
      <p:sp>
        <p:nvSpPr>
          <p:cNvPr id="21" name="Shape 19"/>
          <p:cNvSpPr/>
          <p:nvPr/>
        </p:nvSpPr>
        <p:spPr>
          <a:xfrm>
            <a:off x="777240" y="4120515"/>
            <a:ext cx="457200" cy="457200"/>
          </a:xfrm>
          <a:prstGeom prst="ellipse">
            <a:avLst/>
          </a:prstGeom>
          <a:solidFill>
            <a:srgbClr val="2E7D6B"/>
          </a:solidFill>
          <a:ln w="12700">
            <a:solidFill>
              <a:srgbClr val="2E7D6B"/>
            </a:solidFill>
            <a:prstDash val="solid"/>
          </a:ln>
        </p:spPr>
      </p:sp>
      <p:sp>
        <p:nvSpPr>
          <p:cNvPr id="22" name="Text 20"/>
          <p:cNvSpPr txBox="1"/>
          <p:nvPr/>
        </p:nvSpPr>
        <p:spPr>
          <a:xfrm>
            <a:off x="777240" y="412051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23" name="Text 21"/>
          <p:cNvSpPr txBox="1"/>
          <p:nvPr/>
        </p:nvSpPr>
        <p:spPr>
          <a:xfrm>
            <a:off x="1463040" y="3863340"/>
            <a:ext cx="7985455" cy="971550"/>
          </a:xfrm>
          <a:prstGeom prst="rect">
            <a:avLst/>
          </a:prstGeom>
          <a:noFill/>
          <a:ln/>
        </p:spPr>
        <p:txBody>
          <a:bodyPr wrap="square" lIns="0" tIns="0" rIns="0" bIns="0" rtlCol="0" anchor="ctr"/>
          <a:lstStyle/>
          <a:p>
            <a:pPr indent="0" marL="0">
              <a:buNone/>
            </a:pPr>
            <a:r>
              <a:rPr lang="en-US" sz="2200" dirty="0">
                <a:solidFill>
                  <a:srgbClr val="222222"/>
                </a:solidFill>
              </a:rPr>
              <a:t>자연장은 법이 정한 장소와 방법을 따라야 하는 장사방법이다.</a:t>
            </a:r>
            <a:endParaRPr lang="en-US" sz="2200" dirty="0"/>
          </a:p>
        </p:txBody>
      </p:sp>
      <p:sp>
        <p:nvSpPr>
          <p:cNvPr id="24" name="Shape 22"/>
          <p:cNvSpPr/>
          <p:nvPr/>
        </p:nvSpPr>
        <p:spPr>
          <a:xfrm>
            <a:off x="9722815" y="4029075"/>
            <a:ext cx="640080" cy="640080"/>
          </a:xfrm>
          <a:prstGeom prst="ellipse">
            <a:avLst/>
          </a:prstGeom>
          <a:solidFill>
            <a:srgbClr val="FFFFFF"/>
          </a:solidFill>
          <a:ln w="25400">
            <a:solidFill>
              <a:srgbClr val="3A6EA5"/>
            </a:solidFill>
            <a:prstDash val="solid"/>
          </a:ln>
        </p:spPr>
      </p:sp>
      <p:sp>
        <p:nvSpPr>
          <p:cNvPr id="25" name="Text 23"/>
          <p:cNvSpPr txBox="1"/>
          <p:nvPr/>
        </p:nvSpPr>
        <p:spPr>
          <a:xfrm>
            <a:off x="9722815" y="4029075"/>
            <a:ext cx="640080" cy="640080"/>
          </a:xfrm>
          <a:prstGeom prst="rect">
            <a:avLst/>
          </a:prstGeom>
          <a:noFill/>
          <a:ln/>
        </p:spPr>
        <p:txBody>
          <a:bodyPr wrap="square" lIns="0" tIns="0" rIns="0" bIns="0" rtlCol="0" anchor="ctr"/>
          <a:lstStyle/>
          <a:p>
            <a:pPr algn="ctr" indent="0" marL="0">
              <a:buNone/>
            </a:pPr>
            <a:r>
              <a:rPr lang="en-US" sz="2200" b="1" dirty="0">
                <a:solidFill>
                  <a:srgbClr val="3A6EA5"/>
                </a:solidFill>
              </a:rPr>
              <a:t>O</a:t>
            </a:r>
            <a:endParaRPr lang="en-US" sz="2200" dirty="0"/>
          </a:p>
        </p:txBody>
      </p:sp>
      <p:sp>
        <p:nvSpPr>
          <p:cNvPr id="26" name="Shape 24"/>
          <p:cNvSpPr/>
          <p:nvPr/>
        </p:nvSpPr>
        <p:spPr>
          <a:xfrm>
            <a:off x="10637215" y="4029075"/>
            <a:ext cx="640080" cy="640080"/>
          </a:xfrm>
          <a:prstGeom prst="ellipse">
            <a:avLst/>
          </a:prstGeom>
          <a:solidFill>
            <a:srgbClr val="FFFFFF"/>
          </a:solidFill>
          <a:ln w="25400">
            <a:solidFill>
              <a:srgbClr val="B5452F"/>
            </a:solidFill>
            <a:prstDash val="solid"/>
          </a:ln>
        </p:spPr>
      </p:sp>
      <p:sp>
        <p:nvSpPr>
          <p:cNvPr id="27" name="Text 25"/>
          <p:cNvSpPr txBox="1"/>
          <p:nvPr/>
        </p:nvSpPr>
        <p:spPr>
          <a:xfrm>
            <a:off x="10637215" y="4029075"/>
            <a:ext cx="640080" cy="640080"/>
          </a:xfrm>
          <a:prstGeom prst="rect">
            <a:avLst/>
          </a:prstGeom>
          <a:noFill/>
          <a:ln/>
        </p:spPr>
        <p:txBody>
          <a:bodyPr wrap="square" lIns="0" tIns="0" rIns="0" bIns="0" rtlCol="0" anchor="ctr"/>
          <a:lstStyle/>
          <a:p>
            <a:pPr algn="ctr" indent="0" marL="0">
              <a:buNone/>
            </a:pPr>
            <a:r>
              <a:rPr lang="en-US" sz="2200" b="1" dirty="0">
                <a:solidFill>
                  <a:srgbClr val="B5452F"/>
                </a:solidFill>
              </a:rPr>
              <a:t>X</a:t>
            </a:r>
            <a:endParaRPr lang="en-US" sz="2200" dirty="0"/>
          </a:p>
        </p:txBody>
      </p:sp>
      <p:sp>
        <p:nvSpPr>
          <p:cNvPr id="28" name="Shape 26"/>
          <p:cNvSpPr/>
          <p:nvPr/>
        </p:nvSpPr>
        <p:spPr>
          <a:xfrm>
            <a:off x="548640" y="5017770"/>
            <a:ext cx="11094415" cy="971550"/>
          </a:xfrm>
          <a:prstGeom prst="roundRect">
            <a:avLst>
              <a:gd name="adj" fmla="val 11294"/>
            </a:avLst>
          </a:prstGeom>
          <a:solidFill>
            <a:srgbClr val="FFFFFF"/>
          </a:solidFill>
          <a:ln w="12700">
            <a:solidFill>
              <a:srgbClr val="FFFFFF"/>
            </a:solidFill>
            <a:prstDash val="solid"/>
          </a:ln>
        </p:spPr>
      </p:sp>
      <p:sp>
        <p:nvSpPr>
          <p:cNvPr id="29" name="Shape 27"/>
          <p:cNvSpPr/>
          <p:nvPr/>
        </p:nvSpPr>
        <p:spPr>
          <a:xfrm>
            <a:off x="777240" y="5274945"/>
            <a:ext cx="457200" cy="457200"/>
          </a:xfrm>
          <a:prstGeom prst="ellipse">
            <a:avLst/>
          </a:prstGeom>
          <a:solidFill>
            <a:srgbClr val="2E7D6B"/>
          </a:solidFill>
          <a:ln w="12700">
            <a:solidFill>
              <a:srgbClr val="2E7D6B"/>
            </a:solidFill>
            <a:prstDash val="solid"/>
          </a:ln>
        </p:spPr>
      </p:sp>
      <p:sp>
        <p:nvSpPr>
          <p:cNvPr id="30" name="Text 28"/>
          <p:cNvSpPr txBox="1"/>
          <p:nvPr/>
        </p:nvSpPr>
        <p:spPr>
          <a:xfrm>
            <a:off x="777240" y="527494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31" name="Text 29"/>
          <p:cNvSpPr txBox="1"/>
          <p:nvPr/>
        </p:nvSpPr>
        <p:spPr>
          <a:xfrm>
            <a:off x="1463040" y="5017770"/>
            <a:ext cx="7985455" cy="971550"/>
          </a:xfrm>
          <a:prstGeom prst="rect">
            <a:avLst/>
          </a:prstGeom>
          <a:noFill/>
          <a:ln/>
        </p:spPr>
        <p:txBody>
          <a:bodyPr wrap="square" lIns="0" tIns="0" rIns="0" bIns="0" rtlCol="0" anchor="ctr"/>
          <a:lstStyle/>
          <a:p>
            <a:pPr indent="0" marL="0">
              <a:buNone/>
            </a:pPr>
            <a:r>
              <a:rPr lang="en-US" sz="2200" dirty="0">
                <a:solidFill>
                  <a:srgbClr val="222222"/>
                </a:solidFill>
              </a:rPr>
              <a:t>공영장례는 무연고의 죽음도 존엄하게 보내도록 공공이 함께하는 제도이다.</a:t>
            </a:r>
            <a:endParaRPr lang="en-US" sz="2200" dirty="0"/>
          </a:p>
        </p:txBody>
      </p:sp>
      <p:sp>
        <p:nvSpPr>
          <p:cNvPr id="32" name="Shape 30"/>
          <p:cNvSpPr/>
          <p:nvPr/>
        </p:nvSpPr>
        <p:spPr>
          <a:xfrm>
            <a:off x="9722815" y="5183505"/>
            <a:ext cx="640080" cy="640080"/>
          </a:xfrm>
          <a:prstGeom prst="ellipse">
            <a:avLst/>
          </a:prstGeom>
          <a:solidFill>
            <a:srgbClr val="FFFFFF"/>
          </a:solidFill>
          <a:ln w="25400">
            <a:solidFill>
              <a:srgbClr val="3A6EA5"/>
            </a:solidFill>
            <a:prstDash val="solid"/>
          </a:ln>
        </p:spPr>
      </p:sp>
      <p:sp>
        <p:nvSpPr>
          <p:cNvPr id="33" name="Text 31"/>
          <p:cNvSpPr txBox="1"/>
          <p:nvPr/>
        </p:nvSpPr>
        <p:spPr>
          <a:xfrm>
            <a:off x="9722815" y="5183505"/>
            <a:ext cx="640080" cy="640080"/>
          </a:xfrm>
          <a:prstGeom prst="rect">
            <a:avLst/>
          </a:prstGeom>
          <a:noFill/>
          <a:ln/>
        </p:spPr>
        <p:txBody>
          <a:bodyPr wrap="square" lIns="0" tIns="0" rIns="0" bIns="0" rtlCol="0" anchor="ctr"/>
          <a:lstStyle/>
          <a:p>
            <a:pPr algn="ctr" indent="0" marL="0">
              <a:buNone/>
            </a:pPr>
            <a:r>
              <a:rPr lang="en-US" sz="2200" b="1" dirty="0">
                <a:solidFill>
                  <a:srgbClr val="3A6EA5"/>
                </a:solidFill>
              </a:rPr>
              <a:t>O</a:t>
            </a:r>
            <a:endParaRPr lang="en-US" sz="2200" dirty="0"/>
          </a:p>
        </p:txBody>
      </p:sp>
      <p:sp>
        <p:nvSpPr>
          <p:cNvPr id="34" name="Shape 32"/>
          <p:cNvSpPr/>
          <p:nvPr/>
        </p:nvSpPr>
        <p:spPr>
          <a:xfrm>
            <a:off x="10637215" y="5183505"/>
            <a:ext cx="640080" cy="640080"/>
          </a:xfrm>
          <a:prstGeom prst="ellipse">
            <a:avLst/>
          </a:prstGeom>
          <a:solidFill>
            <a:srgbClr val="FFFFFF"/>
          </a:solidFill>
          <a:ln w="25400">
            <a:solidFill>
              <a:srgbClr val="B5452F"/>
            </a:solidFill>
            <a:prstDash val="solid"/>
          </a:ln>
        </p:spPr>
      </p:sp>
      <p:sp>
        <p:nvSpPr>
          <p:cNvPr id="35" name="Text 33"/>
          <p:cNvSpPr txBox="1"/>
          <p:nvPr/>
        </p:nvSpPr>
        <p:spPr>
          <a:xfrm>
            <a:off x="10637215" y="5183505"/>
            <a:ext cx="640080" cy="640080"/>
          </a:xfrm>
          <a:prstGeom prst="rect">
            <a:avLst/>
          </a:prstGeom>
          <a:noFill/>
          <a:ln/>
        </p:spPr>
        <p:txBody>
          <a:bodyPr wrap="square" lIns="0" tIns="0" rIns="0" bIns="0" rtlCol="0" anchor="ctr"/>
          <a:lstStyle/>
          <a:p>
            <a:pPr algn="ctr" indent="0" marL="0">
              <a:buNone/>
            </a:pPr>
            <a:r>
              <a:rPr lang="en-US" sz="2200" b="1" dirty="0">
                <a:solidFill>
                  <a:srgbClr val="B5452F"/>
                </a:solidFill>
              </a:rPr>
              <a:t>X</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필기 대비 객관식 1</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자연장의 의미</a:t>
            </a:r>
            <a:endParaRPr lang="en-US" sz="2800" dirty="0"/>
          </a:p>
        </p:txBody>
      </p:sp>
      <p:sp>
        <p:nvSpPr>
          <p:cNvPr id="4" name="Text 2"/>
          <p:cNvSpPr txBox="1"/>
          <p:nvPr/>
        </p:nvSpPr>
        <p:spPr>
          <a:xfrm>
            <a:off x="548640" y="1463040"/>
            <a:ext cx="11094415" cy="822960"/>
          </a:xfrm>
          <a:prstGeom prst="rect">
            <a:avLst/>
          </a:prstGeom>
          <a:noFill/>
          <a:ln/>
        </p:spPr>
        <p:txBody>
          <a:bodyPr wrap="square" lIns="0" tIns="0" rIns="0" bIns="0" rtlCol="0" anchor="ctr"/>
          <a:lstStyle/>
          <a:p>
            <a:pPr indent="0" marL="0">
              <a:buNone/>
            </a:pPr>
            <a:r>
              <a:rPr lang="en-US" sz="2800" b="1" dirty="0">
                <a:solidFill>
                  <a:srgbClr val="1F4E4A"/>
                </a:solidFill>
              </a:rPr>
              <a:t>장사법상 “자연장”에 대한 설명으로 옳은 것은?</a:t>
            </a:r>
            <a:endParaRPr lang="en-US" sz="2800" dirty="0"/>
          </a:p>
        </p:txBody>
      </p:sp>
      <p:sp>
        <p:nvSpPr>
          <p:cNvPr id="5" name="Shape 3"/>
          <p:cNvSpPr/>
          <p:nvPr/>
        </p:nvSpPr>
        <p:spPr>
          <a:xfrm>
            <a:off x="548640" y="2560320"/>
            <a:ext cx="5410048" cy="1463040"/>
          </a:xfrm>
          <a:prstGeom prst="roundRect">
            <a:avLst>
              <a:gd name="adj" fmla="val 7500"/>
            </a:avLst>
          </a:prstGeom>
          <a:solidFill>
            <a:srgbClr val="EAF3F0"/>
          </a:solidFill>
          <a:ln w="12700">
            <a:solidFill>
              <a:srgbClr val="EAF3F0"/>
            </a:solidFill>
            <a:prstDash val="solid"/>
          </a:ln>
        </p:spPr>
      </p:sp>
      <p:sp>
        <p:nvSpPr>
          <p:cNvPr id="6" name="Shape 4"/>
          <p:cNvSpPr/>
          <p:nvPr/>
        </p:nvSpPr>
        <p:spPr>
          <a:xfrm>
            <a:off x="822960" y="2999232"/>
            <a:ext cx="585216" cy="585216"/>
          </a:xfrm>
          <a:prstGeom prst="ellipse">
            <a:avLst/>
          </a:prstGeom>
          <a:solidFill>
            <a:srgbClr val="2E7D6B"/>
          </a:solidFill>
          <a:ln w="12700">
            <a:solidFill>
              <a:srgbClr val="2E7D6B"/>
            </a:solidFill>
            <a:prstDash val="solid"/>
          </a:ln>
        </p:spPr>
      </p:sp>
      <p:sp>
        <p:nvSpPr>
          <p:cNvPr id="7" name="Text 5"/>
          <p:cNvSpPr txBox="1"/>
          <p:nvPr/>
        </p:nvSpPr>
        <p:spPr>
          <a:xfrm>
            <a:off x="822960"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①</a:t>
            </a:r>
            <a:endParaRPr lang="en-US" sz="2000" dirty="0"/>
          </a:p>
        </p:txBody>
      </p:sp>
      <p:sp>
        <p:nvSpPr>
          <p:cNvPr id="8" name="Text 6"/>
          <p:cNvSpPr txBox="1"/>
          <p:nvPr/>
        </p:nvSpPr>
        <p:spPr>
          <a:xfrm>
            <a:off x="1645920"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시신을 땅에 묻어 장사하는 것</a:t>
            </a:r>
            <a:endParaRPr lang="en-US" sz="2200" dirty="0"/>
          </a:p>
        </p:txBody>
      </p:sp>
      <p:sp>
        <p:nvSpPr>
          <p:cNvPr id="9" name="Shape 7"/>
          <p:cNvSpPr/>
          <p:nvPr/>
        </p:nvSpPr>
        <p:spPr>
          <a:xfrm>
            <a:off x="6233008" y="2560320"/>
            <a:ext cx="5410048" cy="1463040"/>
          </a:xfrm>
          <a:prstGeom prst="roundRect">
            <a:avLst>
              <a:gd name="adj" fmla="val 7500"/>
            </a:avLst>
          </a:prstGeom>
          <a:solidFill>
            <a:srgbClr val="EAF3F0"/>
          </a:solidFill>
          <a:ln w="12700">
            <a:solidFill>
              <a:srgbClr val="EAF3F0"/>
            </a:solidFill>
            <a:prstDash val="solid"/>
          </a:ln>
        </p:spPr>
      </p:sp>
      <p:sp>
        <p:nvSpPr>
          <p:cNvPr id="10" name="Shape 8"/>
          <p:cNvSpPr/>
          <p:nvPr/>
        </p:nvSpPr>
        <p:spPr>
          <a:xfrm>
            <a:off x="6507328" y="2999232"/>
            <a:ext cx="585216" cy="585216"/>
          </a:xfrm>
          <a:prstGeom prst="ellipse">
            <a:avLst/>
          </a:prstGeom>
          <a:solidFill>
            <a:srgbClr val="2E7D6B"/>
          </a:solidFill>
          <a:ln w="12700">
            <a:solidFill>
              <a:srgbClr val="2E7D6B"/>
            </a:solidFill>
            <a:prstDash val="solid"/>
          </a:ln>
        </p:spPr>
      </p:sp>
      <p:sp>
        <p:nvSpPr>
          <p:cNvPr id="11" name="Text 9"/>
          <p:cNvSpPr txBox="1"/>
          <p:nvPr/>
        </p:nvSpPr>
        <p:spPr>
          <a:xfrm>
            <a:off x="6507328"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②</a:t>
            </a:r>
            <a:endParaRPr lang="en-US" sz="2000" dirty="0"/>
          </a:p>
        </p:txBody>
      </p:sp>
      <p:sp>
        <p:nvSpPr>
          <p:cNvPr id="12" name="Text 10"/>
          <p:cNvSpPr txBox="1"/>
          <p:nvPr/>
        </p:nvSpPr>
        <p:spPr>
          <a:xfrm>
            <a:off x="7330288"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골분을 수목·화초·잔디 아래·주변에 묻거나 법이 정한 구역에 뿌리는 것</a:t>
            </a:r>
            <a:endParaRPr lang="en-US" sz="2200" dirty="0"/>
          </a:p>
        </p:txBody>
      </p:sp>
      <p:sp>
        <p:nvSpPr>
          <p:cNvPr id="13" name="Shape 11"/>
          <p:cNvSpPr/>
          <p:nvPr/>
        </p:nvSpPr>
        <p:spPr>
          <a:xfrm>
            <a:off x="548640" y="4297680"/>
            <a:ext cx="5410048" cy="1463040"/>
          </a:xfrm>
          <a:prstGeom prst="roundRect">
            <a:avLst>
              <a:gd name="adj" fmla="val 7500"/>
            </a:avLst>
          </a:prstGeom>
          <a:solidFill>
            <a:srgbClr val="EAF3F0"/>
          </a:solidFill>
          <a:ln w="12700">
            <a:solidFill>
              <a:srgbClr val="EAF3F0"/>
            </a:solidFill>
            <a:prstDash val="solid"/>
          </a:ln>
        </p:spPr>
      </p:sp>
      <p:sp>
        <p:nvSpPr>
          <p:cNvPr id="14" name="Shape 12"/>
          <p:cNvSpPr/>
          <p:nvPr/>
        </p:nvSpPr>
        <p:spPr>
          <a:xfrm>
            <a:off x="822960" y="4736592"/>
            <a:ext cx="585216" cy="585216"/>
          </a:xfrm>
          <a:prstGeom prst="ellipse">
            <a:avLst/>
          </a:prstGeom>
          <a:solidFill>
            <a:srgbClr val="2E7D6B"/>
          </a:solidFill>
          <a:ln w="12700">
            <a:solidFill>
              <a:srgbClr val="2E7D6B"/>
            </a:solidFill>
            <a:prstDash val="solid"/>
          </a:ln>
        </p:spPr>
      </p:sp>
      <p:sp>
        <p:nvSpPr>
          <p:cNvPr id="15" name="Text 13"/>
          <p:cNvSpPr txBox="1"/>
          <p:nvPr/>
        </p:nvSpPr>
        <p:spPr>
          <a:xfrm>
            <a:off x="822960"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③</a:t>
            </a:r>
            <a:endParaRPr lang="en-US" sz="2000" dirty="0"/>
          </a:p>
        </p:txBody>
      </p:sp>
      <p:sp>
        <p:nvSpPr>
          <p:cNvPr id="16" name="Text 14"/>
          <p:cNvSpPr txBox="1"/>
          <p:nvPr/>
        </p:nvSpPr>
        <p:spPr>
          <a:xfrm>
            <a:off x="1645920"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유골을 봉안당에 안치하는 것</a:t>
            </a:r>
            <a:endParaRPr lang="en-US" sz="2200" dirty="0"/>
          </a:p>
        </p:txBody>
      </p:sp>
      <p:sp>
        <p:nvSpPr>
          <p:cNvPr id="17" name="Shape 15"/>
          <p:cNvSpPr/>
          <p:nvPr/>
        </p:nvSpPr>
        <p:spPr>
          <a:xfrm>
            <a:off x="6233008" y="4297680"/>
            <a:ext cx="5410048" cy="1463040"/>
          </a:xfrm>
          <a:prstGeom prst="roundRect">
            <a:avLst>
              <a:gd name="adj" fmla="val 7500"/>
            </a:avLst>
          </a:prstGeom>
          <a:solidFill>
            <a:srgbClr val="EAF3F0"/>
          </a:solidFill>
          <a:ln w="12700">
            <a:solidFill>
              <a:srgbClr val="EAF3F0"/>
            </a:solidFill>
            <a:prstDash val="solid"/>
          </a:ln>
        </p:spPr>
      </p:sp>
      <p:sp>
        <p:nvSpPr>
          <p:cNvPr id="18" name="Shape 16"/>
          <p:cNvSpPr/>
          <p:nvPr/>
        </p:nvSpPr>
        <p:spPr>
          <a:xfrm>
            <a:off x="6507328" y="4736592"/>
            <a:ext cx="585216" cy="585216"/>
          </a:xfrm>
          <a:prstGeom prst="ellipse">
            <a:avLst/>
          </a:prstGeom>
          <a:solidFill>
            <a:srgbClr val="2E7D6B"/>
          </a:solidFill>
          <a:ln w="12700">
            <a:solidFill>
              <a:srgbClr val="2E7D6B"/>
            </a:solidFill>
            <a:prstDash val="solid"/>
          </a:ln>
        </p:spPr>
      </p:sp>
      <p:sp>
        <p:nvSpPr>
          <p:cNvPr id="19" name="Text 17"/>
          <p:cNvSpPr txBox="1"/>
          <p:nvPr/>
        </p:nvSpPr>
        <p:spPr>
          <a:xfrm>
            <a:off x="6507328"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④</a:t>
            </a:r>
            <a:endParaRPr lang="en-US" sz="2000" dirty="0"/>
          </a:p>
        </p:txBody>
      </p:sp>
      <p:sp>
        <p:nvSpPr>
          <p:cNvPr id="20" name="Text 18"/>
          <p:cNvSpPr txBox="1"/>
          <p:nvPr/>
        </p:nvSpPr>
        <p:spPr>
          <a:xfrm>
            <a:off x="7330288"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골분을 원하는 산 어디에나 뿌리는 것</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필기 대비 객관식 2</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해양 산분 기준</a:t>
            </a:r>
            <a:endParaRPr lang="en-US" sz="2800" dirty="0"/>
          </a:p>
        </p:txBody>
      </p:sp>
      <p:sp>
        <p:nvSpPr>
          <p:cNvPr id="4" name="Text 2"/>
          <p:cNvSpPr txBox="1"/>
          <p:nvPr/>
        </p:nvSpPr>
        <p:spPr>
          <a:xfrm>
            <a:off x="548640" y="1463040"/>
            <a:ext cx="11094415" cy="822960"/>
          </a:xfrm>
          <a:prstGeom prst="rect">
            <a:avLst/>
          </a:prstGeom>
          <a:noFill/>
          <a:ln/>
        </p:spPr>
        <p:txBody>
          <a:bodyPr wrap="square" lIns="0" tIns="0" rIns="0" bIns="0" rtlCol="0" anchor="ctr"/>
          <a:lstStyle/>
          <a:p>
            <a:pPr indent="0" marL="0">
              <a:buNone/>
            </a:pPr>
            <a:r>
              <a:rPr lang="en-US" sz="2800" b="1" dirty="0">
                <a:solidFill>
                  <a:srgbClr val="1F4E4A"/>
                </a:solidFill>
              </a:rPr>
              <a:t>현행 시행령상 해양에 골분을 뿌리는 기준으로 옳은 것은?</a:t>
            </a:r>
            <a:endParaRPr lang="en-US" sz="2800" dirty="0"/>
          </a:p>
        </p:txBody>
      </p:sp>
      <p:sp>
        <p:nvSpPr>
          <p:cNvPr id="5" name="Shape 3"/>
          <p:cNvSpPr/>
          <p:nvPr/>
        </p:nvSpPr>
        <p:spPr>
          <a:xfrm>
            <a:off x="548640" y="2560320"/>
            <a:ext cx="5410048" cy="1463040"/>
          </a:xfrm>
          <a:prstGeom prst="roundRect">
            <a:avLst>
              <a:gd name="adj" fmla="val 7500"/>
            </a:avLst>
          </a:prstGeom>
          <a:solidFill>
            <a:srgbClr val="EAF3F0"/>
          </a:solidFill>
          <a:ln w="12700">
            <a:solidFill>
              <a:srgbClr val="EAF3F0"/>
            </a:solidFill>
            <a:prstDash val="solid"/>
          </a:ln>
        </p:spPr>
      </p:sp>
      <p:sp>
        <p:nvSpPr>
          <p:cNvPr id="6" name="Shape 4"/>
          <p:cNvSpPr/>
          <p:nvPr/>
        </p:nvSpPr>
        <p:spPr>
          <a:xfrm>
            <a:off x="822960" y="2999232"/>
            <a:ext cx="585216" cy="585216"/>
          </a:xfrm>
          <a:prstGeom prst="ellipse">
            <a:avLst/>
          </a:prstGeom>
          <a:solidFill>
            <a:srgbClr val="2E7D6B"/>
          </a:solidFill>
          <a:ln w="12700">
            <a:solidFill>
              <a:srgbClr val="2E7D6B"/>
            </a:solidFill>
            <a:prstDash val="solid"/>
          </a:ln>
        </p:spPr>
      </p:sp>
      <p:sp>
        <p:nvSpPr>
          <p:cNvPr id="7" name="Text 5"/>
          <p:cNvSpPr txBox="1"/>
          <p:nvPr/>
        </p:nvSpPr>
        <p:spPr>
          <a:xfrm>
            <a:off x="822960"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①</a:t>
            </a:r>
            <a:endParaRPr lang="en-US" sz="2000" dirty="0"/>
          </a:p>
        </p:txBody>
      </p:sp>
      <p:sp>
        <p:nvSpPr>
          <p:cNvPr id="8" name="Text 6"/>
          <p:cNvSpPr txBox="1"/>
          <p:nvPr/>
        </p:nvSpPr>
        <p:spPr>
          <a:xfrm>
            <a:off x="1645920"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해안선에서 1km 이상, 높은 곳에서 흩뿌린다</a:t>
            </a:r>
            <a:endParaRPr lang="en-US" sz="2200" dirty="0"/>
          </a:p>
        </p:txBody>
      </p:sp>
      <p:sp>
        <p:nvSpPr>
          <p:cNvPr id="9" name="Shape 7"/>
          <p:cNvSpPr/>
          <p:nvPr/>
        </p:nvSpPr>
        <p:spPr>
          <a:xfrm>
            <a:off x="6233008" y="2560320"/>
            <a:ext cx="5410048" cy="1463040"/>
          </a:xfrm>
          <a:prstGeom prst="roundRect">
            <a:avLst>
              <a:gd name="adj" fmla="val 7500"/>
            </a:avLst>
          </a:prstGeom>
          <a:solidFill>
            <a:srgbClr val="EAF3F0"/>
          </a:solidFill>
          <a:ln w="12700">
            <a:solidFill>
              <a:srgbClr val="EAF3F0"/>
            </a:solidFill>
            <a:prstDash val="solid"/>
          </a:ln>
        </p:spPr>
      </p:sp>
      <p:sp>
        <p:nvSpPr>
          <p:cNvPr id="10" name="Shape 8"/>
          <p:cNvSpPr/>
          <p:nvPr/>
        </p:nvSpPr>
        <p:spPr>
          <a:xfrm>
            <a:off x="6507328" y="2999232"/>
            <a:ext cx="585216" cy="585216"/>
          </a:xfrm>
          <a:prstGeom prst="ellipse">
            <a:avLst/>
          </a:prstGeom>
          <a:solidFill>
            <a:srgbClr val="2E7D6B"/>
          </a:solidFill>
          <a:ln w="12700">
            <a:solidFill>
              <a:srgbClr val="2E7D6B"/>
            </a:solidFill>
            <a:prstDash val="solid"/>
          </a:ln>
        </p:spPr>
      </p:sp>
      <p:sp>
        <p:nvSpPr>
          <p:cNvPr id="11" name="Text 9"/>
          <p:cNvSpPr txBox="1"/>
          <p:nvPr/>
        </p:nvSpPr>
        <p:spPr>
          <a:xfrm>
            <a:off x="6507328"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②</a:t>
            </a:r>
            <a:endParaRPr lang="en-US" sz="2000" dirty="0"/>
          </a:p>
        </p:txBody>
      </p:sp>
      <p:sp>
        <p:nvSpPr>
          <p:cNvPr id="12" name="Text 10"/>
          <p:cNvSpPr txBox="1"/>
          <p:nvPr/>
        </p:nvSpPr>
        <p:spPr>
          <a:xfrm>
            <a:off x="7330288"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해안선에서 5km 이상, 수면 가까이 흩날리지 않게 뿌린다</a:t>
            </a:r>
            <a:endParaRPr lang="en-US" sz="2200" dirty="0"/>
          </a:p>
        </p:txBody>
      </p:sp>
      <p:sp>
        <p:nvSpPr>
          <p:cNvPr id="13" name="Shape 11"/>
          <p:cNvSpPr/>
          <p:nvPr/>
        </p:nvSpPr>
        <p:spPr>
          <a:xfrm>
            <a:off x="548640" y="4297680"/>
            <a:ext cx="5410048" cy="1463040"/>
          </a:xfrm>
          <a:prstGeom prst="roundRect">
            <a:avLst>
              <a:gd name="adj" fmla="val 7500"/>
            </a:avLst>
          </a:prstGeom>
          <a:solidFill>
            <a:srgbClr val="EAF3F0"/>
          </a:solidFill>
          <a:ln w="12700">
            <a:solidFill>
              <a:srgbClr val="EAF3F0"/>
            </a:solidFill>
            <a:prstDash val="solid"/>
          </a:ln>
        </p:spPr>
      </p:sp>
      <p:sp>
        <p:nvSpPr>
          <p:cNvPr id="14" name="Shape 12"/>
          <p:cNvSpPr/>
          <p:nvPr/>
        </p:nvSpPr>
        <p:spPr>
          <a:xfrm>
            <a:off x="822960" y="4736592"/>
            <a:ext cx="585216" cy="585216"/>
          </a:xfrm>
          <a:prstGeom prst="ellipse">
            <a:avLst/>
          </a:prstGeom>
          <a:solidFill>
            <a:srgbClr val="2E7D6B"/>
          </a:solidFill>
          <a:ln w="12700">
            <a:solidFill>
              <a:srgbClr val="2E7D6B"/>
            </a:solidFill>
            <a:prstDash val="solid"/>
          </a:ln>
        </p:spPr>
      </p:sp>
      <p:sp>
        <p:nvSpPr>
          <p:cNvPr id="15" name="Text 13"/>
          <p:cNvSpPr txBox="1"/>
          <p:nvPr/>
        </p:nvSpPr>
        <p:spPr>
          <a:xfrm>
            <a:off x="822960"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③</a:t>
            </a:r>
            <a:endParaRPr lang="en-US" sz="2000" dirty="0"/>
          </a:p>
        </p:txBody>
      </p:sp>
      <p:sp>
        <p:nvSpPr>
          <p:cNvPr id="16" name="Text 14"/>
          <p:cNvSpPr txBox="1"/>
          <p:nvPr/>
        </p:nvSpPr>
        <p:spPr>
          <a:xfrm>
            <a:off x="1645920"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유품과 용기를 함께 바다에 넣는다</a:t>
            </a:r>
            <a:endParaRPr lang="en-US" sz="2200" dirty="0"/>
          </a:p>
        </p:txBody>
      </p:sp>
      <p:sp>
        <p:nvSpPr>
          <p:cNvPr id="17" name="Shape 15"/>
          <p:cNvSpPr/>
          <p:nvPr/>
        </p:nvSpPr>
        <p:spPr>
          <a:xfrm>
            <a:off x="6233008" y="4297680"/>
            <a:ext cx="5410048" cy="1463040"/>
          </a:xfrm>
          <a:prstGeom prst="roundRect">
            <a:avLst>
              <a:gd name="adj" fmla="val 7500"/>
            </a:avLst>
          </a:prstGeom>
          <a:solidFill>
            <a:srgbClr val="EAF3F0"/>
          </a:solidFill>
          <a:ln w="12700">
            <a:solidFill>
              <a:srgbClr val="EAF3F0"/>
            </a:solidFill>
            <a:prstDash val="solid"/>
          </a:ln>
        </p:spPr>
      </p:sp>
      <p:sp>
        <p:nvSpPr>
          <p:cNvPr id="18" name="Shape 16"/>
          <p:cNvSpPr/>
          <p:nvPr/>
        </p:nvSpPr>
        <p:spPr>
          <a:xfrm>
            <a:off x="6507328" y="4736592"/>
            <a:ext cx="585216" cy="585216"/>
          </a:xfrm>
          <a:prstGeom prst="ellipse">
            <a:avLst/>
          </a:prstGeom>
          <a:solidFill>
            <a:srgbClr val="2E7D6B"/>
          </a:solidFill>
          <a:ln w="12700">
            <a:solidFill>
              <a:srgbClr val="2E7D6B"/>
            </a:solidFill>
            <a:prstDash val="solid"/>
          </a:ln>
        </p:spPr>
      </p:sp>
      <p:sp>
        <p:nvSpPr>
          <p:cNvPr id="19" name="Text 17"/>
          <p:cNvSpPr txBox="1"/>
          <p:nvPr/>
        </p:nvSpPr>
        <p:spPr>
          <a:xfrm>
            <a:off x="6507328"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④</a:t>
            </a:r>
            <a:endParaRPr lang="en-US" sz="2000" dirty="0"/>
          </a:p>
        </p:txBody>
      </p:sp>
      <p:sp>
        <p:nvSpPr>
          <p:cNvPr id="20" name="Text 18"/>
          <p:cNvSpPr txBox="1"/>
          <p:nvPr/>
        </p:nvSpPr>
        <p:spPr>
          <a:xfrm>
            <a:off x="7330288"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가까운 해변 어디서나 가능하다</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필기 대비 객관식 3</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매장·화장의 시기</a:t>
            </a:r>
            <a:endParaRPr lang="en-US" sz="2800" dirty="0"/>
          </a:p>
        </p:txBody>
      </p:sp>
      <p:sp>
        <p:nvSpPr>
          <p:cNvPr id="4" name="Text 2"/>
          <p:cNvSpPr txBox="1"/>
          <p:nvPr/>
        </p:nvSpPr>
        <p:spPr>
          <a:xfrm>
            <a:off x="548640" y="1463040"/>
            <a:ext cx="11094415" cy="822960"/>
          </a:xfrm>
          <a:prstGeom prst="rect">
            <a:avLst/>
          </a:prstGeom>
          <a:noFill/>
          <a:ln/>
        </p:spPr>
        <p:txBody>
          <a:bodyPr wrap="square" lIns="0" tIns="0" rIns="0" bIns="0" rtlCol="0" anchor="ctr"/>
          <a:lstStyle/>
          <a:p>
            <a:pPr indent="0" marL="0">
              <a:buNone/>
            </a:pPr>
            <a:r>
              <a:rPr lang="en-US" sz="2800" b="1" dirty="0">
                <a:solidFill>
                  <a:srgbClr val="1F4E4A"/>
                </a:solidFill>
              </a:rPr>
              <a:t>장사법 제6조의 매장·화장 시기에 관한 원칙으로 옳은 것은?</a:t>
            </a:r>
            <a:endParaRPr lang="en-US" sz="2800" dirty="0"/>
          </a:p>
        </p:txBody>
      </p:sp>
      <p:sp>
        <p:nvSpPr>
          <p:cNvPr id="5" name="Shape 3"/>
          <p:cNvSpPr/>
          <p:nvPr/>
        </p:nvSpPr>
        <p:spPr>
          <a:xfrm>
            <a:off x="548640" y="2560320"/>
            <a:ext cx="5410048" cy="1463040"/>
          </a:xfrm>
          <a:prstGeom prst="roundRect">
            <a:avLst>
              <a:gd name="adj" fmla="val 7500"/>
            </a:avLst>
          </a:prstGeom>
          <a:solidFill>
            <a:srgbClr val="EAF3F0"/>
          </a:solidFill>
          <a:ln w="12700">
            <a:solidFill>
              <a:srgbClr val="EAF3F0"/>
            </a:solidFill>
            <a:prstDash val="solid"/>
          </a:ln>
        </p:spPr>
      </p:sp>
      <p:sp>
        <p:nvSpPr>
          <p:cNvPr id="6" name="Shape 4"/>
          <p:cNvSpPr/>
          <p:nvPr/>
        </p:nvSpPr>
        <p:spPr>
          <a:xfrm>
            <a:off x="822960" y="2999232"/>
            <a:ext cx="585216" cy="585216"/>
          </a:xfrm>
          <a:prstGeom prst="ellipse">
            <a:avLst/>
          </a:prstGeom>
          <a:solidFill>
            <a:srgbClr val="2E7D6B"/>
          </a:solidFill>
          <a:ln w="12700">
            <a:solidFill>
              <a:srgbClr val="2E7D6B"/>
            </a:solidFill>
            <a:prstDash val="solid"/>
          </a:ln>
        </p:spPr>
      </p:sp>
      <p:sp>
        <p:nvSpPr>
          <p:cNvPr id="7" name="Text 5"/>
          <p:cNvSpPr txBox="1"/>
          <p:nvPr/>
        </p:nvSpPr>
        <p:spPr>
          <a:xfrm>
            <a:off x="822960"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①</a:t>
            </a:r>
            <a:endParaRPr lang="en-US" sz="2000" dirty="0"/>
          </a:p>
        </p:txBody>
      </p:sp>
      <p:sp>
        <p:nvSpPr>
          <p:cNvPr id="8" name="Text 6"/>
          <p:cNvSpPr txBox="1"/>
          <p:nvPr/>
        </p:nvSpPr>
        <p:spPr>
          <a:xfrm>
            <a:off x="1645920"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사망 후 24시간이 지나기 전에는 원칙적으로 매장·화장할 수 없다</a:t>
            </a:r>
            <a:endParaRPr lang="en-US" sz="2200" dirty="0"/>
          </a:p>
        </p:txBody>
      </p:sp>
      <p:sp>
        <p:nvSpPr>
          <p:cNvPr id="9" name="Shape 7"/>
          <p:cNvSpPr/>
          <p:nvPr/>
        </p:nvSpPr>
        <p:spPr>
          <a:xfrm>
            <a:off x="6233008" y="2560320"/>
            <a:ext cx="5410048" cy="1463040"/>
          </a:xfrm>
          <a:prstGeom prst="roundRect">
            <a:avLst>
              <a:gd name="adj" fmla="val 7500"/>
            </a:avLst>
          </a:prstGeom>
          <a:solidFill>
            <a:srgbClr val="EAF3F0"/>
          </a:solidFill>
          <a:ln w="12700">
            <a:solidFill>
              <a:srgbClr val="EAF3F0"/>
            </a:solidFill>
            <a:prstDash val="solid"/>
          </a:ln>
        </p:spPr>
      </p:sp>
      <p:sp>
        <p:nvSpPr>
          <p:cNvPr id="10" name="Shape 8"/>
          <p:cNvSpPr/>
          <p:nvPr/>
        </p:nvSpPr>
        <p:spPr>
          <a:xfrm>
            <a:off x="6507328" y="2999232"/>
            <a:ext cx="585216" cy="585216"/>
          </a:xfrm>
          <a:prstGeom prst="ellipse">
            <a:avLst/>
          </a:prstGeom>
          <a:solidFill>
            <a:srgbClr val="2E7D6B"/>
          </a:solidFill>
          <a:ln w="12700">
            <a:solidFill>
              <a:srgbClr val="2E7D6B"/>
            </a:solidFill>
            <a:prstDash val="solid"/>
          </a:ln>
        </p:spPr>
      </p:sp>
      <p:sp>
        <p:nvSpPr>
          <p:cNvPr id="11" name="Text 9"/>
          <p:cNvSpPr txBox="1"/>
          <p:nvPr/>
        </p:nvSpPr>
        <p:spPr>
          <a:xfrm>
            <a:off x="6507328"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②</a:t>
            </a:r>
            <a:endParaRPr lang="en-US" sz="2000" dirty="0"/>
          </a:p>
        </p:txBody>
      </p:sp>
      <p:sp>
        <p:nvSpPr>
          <p:cNvPr id="12" name="Text 10"/>
          <p:cNvSpPr txBox="1"/>
          <p:nvPr/>
        </p:nvSpPr>
        <p:spPr>
          <a:xfrm>
            <a:off x="7330288"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반드시 3일장을 치른 뒤 화장한다</a:t>
            </a:r>
            <a:endParaRPr lang="en-US" sz="2200" dirty="0"/>
          </a:p>
        </p:txBody>
      </p:sp>
      <p:sp>
        <p:nvSpPr>
          <p:cNvPr id="13" name="Shape 11"/>
          <p:cNvSpPr/>
          <p:nvPr/>
        </p:nvSpPr>
        <p:spPr>
          <a:xfrm>
            <a:off x="548640" y="4297680"/>
            <a:ext cx="5410048" cy="1463040"/>
          </a:xfrm>
          <a:prstGeom prst="roundRect">
            <a:avLst>
              <a:gd name="adj" fmla="val 7500"/>
            </a:avLst>
          </a:prstGeom>
          <a:solidFill>
            <a:srgbClr val="EAF3F0"/>
          </a:solidFill>
          <a:ln w="12700">
            <a:solidFill>
              <a:srgbClr val="EAF3F0"/>
            </a:solidFill>
            <a:prstDash val="solid"/>
          </a:ln>
        </p:spPr>
      </p:sp>
      <p:sp>
        <p:nvSpPr>
          <p:cNvPr id="14" name="Shape 12"/>
          <p:cNvSpPr/>
          <p:nvPr/>
        </p:nvSpPr>
        <p:spPr>
          <a:xfrm>
            <a:off x="822960" y="4736592"/>
            <a:ext cx="585216" cy="585216"/>
          </a:xfrm>
          <a:prstGeom prst="ellipse">
            <a:avLst/>
          </a:prstGeom>
          <a:solidFill>
            <a:srgbClr val="2E7D6B"/>
          </a:solidFill>
          <a:ln w="12700">
            <a:solidFill>
              <a:srgbClr val="2E7D6B"/>
            </a:solidFill>
            <a:prstDash val="solid"/>
          </a:ln>
        </p:spPr>
      </p:sp>
      <p:sp>
        <p:nvSpPr>
          <p:cNvPr id="15" name="Text 13"/>
          <p:cNvSpPr txBox="1"/>
          <p:nvPr/>
        </p:nvSpPr>
        <p:spPr>
          <a:xfrm>
            <a:off x="822960"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③</a:t>
            </a:r>
            <a:endParaRPr lang="en-US" sz="2000" dirty="0"/>
          </a:p>
        </p:txBody>
      </p:sp>
      <p:sp>
        <p:nvSpPr>
          <p:cNvPr id="16" name="Text 14"/>
          <p:cNvSpPr txBox="1"/>
          <p:nvPr/>
        </p:nvSpPr>
        <p:spPr>
          <a:xfrm>
            <a:off x="1645920"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사망 후 48시간 안에 반드시 화장한다</a:t>
            </a:r>
            <a:endParaRPr lang="en-US" sz="2200" dirty="0"/>
          </a:p>
        </p:txBody>
      </p:sp>
      <p:sp>
        <p:nvSpPr>
          <p:cNvPr id="17" name="Shape 15"/>
          <p:cNvSpPr/>
          <p:nvPr/>
        </p:nvSpPr>
        <p:spPr>
          <a:xfrm>
            <a:off x="6233008" y="4297680"/>
            <a:ext cx="5410048" cy="1463040"/>
          </a:xfrm>
          <a:prstGeom prst="roundRect">
            <a:avLst>
              <a:gd name="adj" fmla="val 7500"/>
            </a:avLst>
          </a:prstGeom>
          <a:solidFill>
            <a:srgbClr val="EAF3F0"/>
          </a:solidFill>
          <a:ln w="12700">
            <a:solidFill>
              <a:srgbClr val="EAF3F0"/>
            </a:solidFill>
            <a:prstDash val="solid"/>
          </a:ln>
        </p:spPr>
      </p:sp>
      <p:sp>
        <p:nvSpPr>
          <p:cNvPr id="18" name="Shape 16"/>
          <p:cNvSpPr/>
          <p:nvPr/>
        </p:nvSpPr>
        <p:spPr>
          <a:xfrm>
            <a:off x="6507328" y="4736592"/>
            <a:ext cx="585216" cy="585216"/>
          </a:xfrm>
          <a:prstGeom prst="ellipse">
            <a:avLst/>
          </a:prstGeom>
          <a:solidFill>
            <a:srgbClr val="2E7D6B"/>
          </a:solidFill>
          <a:ln w="12700">
            <a:solidFill>
              <a:srgbClr val="2E7D6B"/>
            </a:solidFill>
            <a:prstDash val="solid"/>
          </a:ln>
        </p:spPr>
      </p:sp>
      <p:sp>
        <p:nvSpPr>
          <p:cNvPr id="19" name="Text 17"/>
          <p:cNvSpPr txBox="1"/>
          <p:nvPr/>
        </p:nvSpPr>
        <p:spPr>
          <a:xfrm>
            <a:off x="6507328"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④</a:t>
            </a:r>
            <a:endParaRPr lang="en-US" sz="2000" dirty="0"/>
          </a:p>
        </p:txBody>
      </p:sp>
      <p:sp>
        <p:nvSpPr>
          <p:cNvPr id="20" name="Text 18"/>
          <p:cNvSpPr txBox="1"/>
          <p:nvPr/>
        </p:nvSpPr>
        <p:spPr>
          <a:xfrm>
            <a:off x="7330288"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시기에 관한 규정은 없다</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필기 대비 객관식 4</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무연고 시신의 처리</a:t>
            </a:r>
            <a:endParaRPr lang="en-US" sz="2800" dirty="0"/>
          </a:p>
        </p:txBody>
      </p:sp>
      <p:sp>
        <p:nvSpPr>
          <p:cNvPr id="4" name="Text 2"/>
          <p:cNvSpPr txBox="1"/>
          <p:nvPr/>
        </p:nvSpPr>
        <p:spPr>
          <a:xfrm>
            <a:off x="548640" y="1463040"/>
            <a:ext cx="11094415" cy="822960"/>
          </a:xfrm>
          <a:prstGeom prst="rect">
            <a:avLst/>
          </a:prstGeom>
          <a:noFill/>
          <a:ln/>
        </p:spPr>
        <p:txBody>
          <a:bodyPr wrap="square" lIns="0" tIns="0" rIns="0" bIns="0" rtlCol="0" anchor="ctr"/>
          <a:lstStyle/>
          <a:p>
            <a:pPr indent="0" marL="0">
              <a:buNone/>
            </a:pPr>
            <a:r>
              <a:rPr lang="en-US" sz="2500" b="1" dirty="0">
                <a:solidFill>
                  <a:srgbClr val="1F4E4A"/>
                </a:solidFill>
              </a:rPr>
              <a:t>연고자가 없거나 알 수 없는 시신에 대한 장사법의 원칙으로 옳은 것은?</a:t>
            </a:r>
            <a:endParaRPr lang="en-US" sz="2500" dirty="0"/>
          </a:p>
        </p:txBody>
      </p:sp>
      <p:sp>
        <p:nvSpPr>
          <p:cNvPr id="5" name="Shape 3"/>
          <p:cNvSpPr/>
          <p:nvPr/>
        </p:nvSpPr>
        <p:spPr>
          <a:xfrm>
            <a:off x="548640" y="2560320"/>
            <a:ext cx="5410048" cy="1463040"/>
          </a:xfrm>
          <a:prstGeom prst="roundRect">
            <a:avLst>
              <a:gd name="adj" fmla="val 7500"/>
            </a:avLst>
          </a:prstGeom>
          <a:solidFill>
            <a:srgbClr val="EAF3F0"/>
          </a:solidFill>
          <a:ln w="12700">
            <a:solidFill>
              <a:srgbClr val="EAF3F0"/>
            </a:solidFill>
            <a:prstDash val="solid"/>
          </a:ln>
        </p:spPr>
      </p:sp>
      <p:sp>
        <p:nvSpPr>
          <p:cNvPr id="6" name="Shape 4"/>
          <p:cNvSpPr/>
          <p:nvPr/>
        </p:nvSpPr>
        <p:spPr>
          <a:xfrm>
            <a:off x="822960" y="2999232"/>
            <a:ext cx="585216" cy="585216"/>
          </a:xfrm>
          <a:prstGeom prst="ellipse">
            <a:avLst/>
          </a:prstGeom>
          <a:solidFill>
            <a:srgbClr val="2E7D6B"/>
          </a:solidFill>
          <a:ln w="12700">
            <a:solidFill>
              <a:srgbClr val="2E7D6B"/>
            </a:solidFill>
            <a:prstDash val="solid"/>
          </a:ln>
        </p:spPr>
      </p:sp>
      <p:sp>
        <p:nvSpPr>
          <p:cNvPr id="7" name="Text 5"/>
          <p:cNvSpPr txBox="1"/>
          <p:nvPr/>
        </p:nvSpPr>
        <p:spPr>
          <a:xfrm>
            <a:off x="822960"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①</a:t>
            </a:r>
            <a:endParaRPr lang="en-US" sz="2000" dirty="0"/>
          </a:p>
        </p:txBody>
      </p:sp>
      <p:sp>
        <p:nvSpPr>
          <p:cNvPr id="8" name="Text 6"/>
          <p:cNvSpPr txBox="1"/>
          <p:nvPr/>
        </p:nvSpPr>
        <p:spPr>
          <a:xfrm>
            <a:off x="1645920"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장례의식 없이 바로 처리한다</a:t>
            </a:r>
            <a:endParaRPr lang="en-US" sz="2200" dirty="0"/>
          </a:p>
        </p:txBody>
      </p:sp>
      <p:sp>
        <p:nvSpPr>
          <p:cNvPr id="9" name="Shape 7"/>
          <p:cNvSpPr/>
          <p:nvPr/>
        </p:nvSpPr>
        <p:spPr>
          <a:xfrm>
            <a:off x="6233008" y="2560320"/>
            <a:ext cx="5410048" cy="1463040"/>
          </a:xfrm>
          <a:prstGeom prst="roundRect">
            <a:avLst>
              <a:gd name="adj" fmla="val 7500"/>
            </a:avLst>
          </a:prstGeom>
          <a:solidFill>
            <a:srgbClr val="EAF3F0"/>
          </a:solidFill>
          <a:ln w="12700">
            <a:solidFill>
              <a:srgbClr val="EAF3F0"/>
            </a:solidFill>
            <a:prstDash val="solid"/>
          </a:ln>
        </p:spPr>
      </p:sp>
      <p:sp>
        <p:nvSpPr>
          <p:cNvPr id="10" name="Shape 8"/>
          <p:cNvSpPr/>
          <p:nvPr/>
        </p:nvSpPr>
        <p:spPr>
          <a:xfrm>
            <a:off x="6507328" y="2999232"/>
            <a:ext cx="585216" cy="585216"/>
          </a:xfrm>
          <a:prstGeom prst="ellipse">
            <a:avLst/>
          </a:prstGeom>
          <a:solidFill>
            <a:srgbClr val="2E7D6B"/>
          </a:solidFill>
          <a:ln w="12700">
            <a:solidFill>
              <a:srgbClr val="2E7D6B"/>
            </a:solidFill>
            <a:prstDash val="solid"/>
          </a:ln>
        </p:spPr>
      </p:sp>
      <p:sp>
        <p:nvSpPr>
          <p:cNvPr id="11" name="Text 9"/>
          <p:cNvSpPr txBox="1"/>
          <p:nvPr/>
        </p:nvSpPr>
        <p:spPr>
          <a:xfrm>
            <a:off x="6507328"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②</a:t>
            </a:r>
            <a:endParaRPr lang="en-US" sz="2000" dirty="0"/>
          </a:p>
        </p:txBody>
      </p:sp>
      <p:sp>
        <p:nvSpPr>
          <p:cNvPr id="12" name="Text 10"/>
          <p:cNvSpPr txBox="1"/>
          <p:nvPr/>
        </p:nvSpPr>
        <p:spPr>
          <a:xfrm>
            <a:off x="7330288"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시장·군수·구청장이 조례에 따라 장례의식을 행한 뒤 매장 또는 화장·봉안한다</a:t>
            </a:r>
            <a:endParaRPr lang="en-US" sz="2200" dirty="0"/>
          </a:p>
        </p:txBody>
      </p:sp>
      <p:sp>
        <p:nvSpPr>
          <p:cNvPr id="13" name="Shape 11"/>
          <p:cNvSpPr/>
          <p:nvPr/>
        </p:nvSpPr>
        <p:spPr>
          <a:xfrm>
            <a:off x="548640" y="4297680"/>
            <a:ext cx="5410048" cy="1463040"/>
          </a:xfrm>
          <a:prstGeom prst="roundRect">
            <a:avLst>
              <a:gd name="adj" fmla="val 7500"/>
            </a:avLst>
          </a:prstGeom>
          <a:solidFill>
            <a:srgbClr val="EAF3F0"/>
          </a:solidFill>
          <a:ln w="12700">
            <a:solidFill>
              <a:srgbClr val="EAF3F0"/>
            </a:solidFill>
            <a:prstDash val="solid"/>
          </a:ln>
        </p:spPr>
      </p:sp>
      <p:sp>
        <p:nvSpPr>
          <p:cNvPr id="14" name="Shape 12"/>
          <p:cNvSpPr/>
          <p:nvPr/>
        </p:nvSpPr>
        <p:spPr>
          <a:xfrm>
            <a:off x="822960" y="4736592"/>
            <a:ext cx="585216" cy="585216"/>
          </a:xfrm>
          <a:prstGeom prst="ellipse">
            <a:avLst/>
          </a:prstGeom>
          <a:solidFill>
            <a:srgbClr val="2E7D6B"/>
          </a:solidFill>
          <a:ln w="12700">
            <a:solidFill>
              <a:srgbClr val="2E7D6B"/>
            </a:solidFill>
            <a:prstDash val="solid"/>
          </a:ln>
        </p:spPr>
      </p:sp>
      <p:sp>
        <p:nvSpPr>
          <p:cNvPr id="15" name="Text 13"/>
          <p:cNvSpPr txBox="1"/>
          <p:nvPr/>
        </p:nvSpPr>
        <p:spPr>
          <a:xfrm>
            <a:off x="822960"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③</a:t>
            </a:r>
            <a:endParaRPr lang="en-US" sz="2000" dirty="0"/>
          </a:p>
        </p:txBody>
      </p:sp>
      <p:sp>
        <p:nvSpPr>
          <p:cNvPr id="16" name="Text 14"/>
          <p:cNvSpPr txBox="1"/>
          <p:nvPr/>
        </p:nvSpPr>
        <p:spPr>
          <a:xfrm>
            <a:off x="1645920"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사망한 병원이 모두 처리한다</a:t>
            </a:r>
            <a:endParaRPr lang="en-US" sz="2200" dirty="0"/>
          </a:p>
        </p:txBody>
      </p:sp>
      <p:sp>
        <p:nvSpPr>
          <p:cNvPr id="17" name="Shape 15"/>
          <p:cNvSpPr/>
          <p:nvPr/>
        </p:nvSpPr>
        <p:spPr>
          <a:xfrm>
            <a:off x="6233008" y="4297680"/>
            <a:ext cx="5410048" cy="1463040"/>
          </a:xfrm>
          <a:prstGeom prst="roundRect">
            <a:avLst>
              <a:gd name="adj" fmla="val 7500"/>
            </a:avLst>
          </a:prstGeom>
          <a:solidFill>
            <a:srgbClr val="EAF3F0"/>
          </a:solidFill>
          <a:ln w="12700">
            <a:solidFill>
              <a:srgbClr val="EAF3F0"/>
            </a:solidFill>
            <a:prstDash val="solid"/>
          </a:ln>
        </p:spPr>
      </p:sp>
      <p:sp>
        <p:nvSpPr>
          <p:cNvPr id="18" name="Shape 16"/>
          <p:cNvSpPr/>
          <p:nvPr/>
        </p:nvSpPr>
        <p:spPr>
          <a:xfrm>
            <a:off x="6507328" y="4736592"/>
            <a:ext cx="585216" cy="585216"/>
          </a:xfrm>
          <a:prstGeom prst="ellipse">
            <a:avLst/>
          </a:prstGeom>
          <a:solidFill>
            <a:srgbClr val="2E7D6B"/>
          </a:solidFill>
          <a:ln w="12700">
            <a:solidFill>
              <a:srgbClr val="2E7D6B"/>
            </a:solidFill>
            <a:prstDash val="solid"/>
          </a:ln>
        </p:spPr>
      </p:sp>
      <p:sp>
        <p:nvSpPr>
          <p:cNvPr id="19" name="Text 17"/>
          <p:cNvSpPr txBox="1"/>
          <p:nvPr/>
        </p:nvSpPr>
        <p:spPr>
          <a:xfrm>
            <a:off x="6507328"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④</a:t>
            </a:r>
            <a:endParaRPr lang="en-US" sz="2000" dirty="0"/>
          </a:p>
        </p:txBody>
      </p:sp>
      <p:sp>
        <p:nvSpPr>
          <p:cNvPr id="20" name="Text 18"/>
          <p:cNvSpPr txBox="1"/>
          <p:nvPr/>
        </p:nvSpPr>
        <p:spPr>
          <a:xfrm>
            <a:off x="7330288"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가족이 나타날 때까지 무기한 안치한다</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필기 대비 객관식 5</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가족장·무빈소장례</a:t>
            </a:r>
            <a:endParaRPr lang="en-US" sz="2800" dirty="0"/>
          </a:p>
        </p:txBody>
      </p:sp>
      <p:sp>
        <p:nvSpPr>
          <p:cNvPr id="4" name="Text 2"/>
          <p:cNvSpPr txBox="1"/>
          <p:nvPr/>
        </p:nvSpPr>
        <p:spPr>
          <a:xfrm>
            <a:off x="548640" y="1463040"/>
            <a:ext cx="11094415" cy="822960"/>
          </a:xfrm>
          <a:prstGeom prst="rect">
            <a:avLst/>
          </a:prstGeom>
          <a:noFill/>
          <a:ln/>
        </p:spPr>
        <p:txBody>
          <a:bodyPr wrap="square" lIns="0" tIns="0" rIns="0" bIns="0" rtlCol="0" anchor="ctr"/>
          <a:lstStyle/>
          <a:p>
            <a:pPr indent="0" marL="0">
              <a:buNone/>
            </a:pPr>
            <a:r>
              <a:rPr lang="en-US" sz="2700" b="1" dirty="0">
                <a:solidFill>
                  <a:srgbClr val="1F4E4A"/>
                </a:solidFill>
              </a:rPr>
              <a:t>“가족장”, “무빈소장례”에 대한 설명으로 가장 적절한 것은?</a:t>
            </a:r>
            <a:endParaRPr lang="en-US" sz="2700" dirty="0"/>
          </a:p>
        </p:txBody>
      </p:sp>
      <p:sp>
        <p:nvSpPr>
          <p:cNvPr id="5" name="Shape 3"/>
          <p:cNvSpPr/>
          <p:nvPr/>
        </p:nvSpPr>
        <p:spPr>
          <a:xfrm>
            <a:off x="548640" y="2560320"/>
            <a:ext cx="5410048" cy="1463040"/>
          </a:xfrm>
          <a:prstGeom prst="roundRect">
            <a:avLst>
              <a:gd name="adj" fmla="val 7500"/>
            </a:avLst>
          </a:prstGeom>
          <a:solidFill>
            <a:srgbClr val="EAF3F0"/>
          </a:solidFill>
          <a:ln w="12700">
            <a:solidFill>
              <a:srgbClr val="EAF3F0"/>
            </a:solidFill>
            <a:prstDash val="solid"/>
          </a:ln>
        </p:spPr>
      </p:sp>
      <p:sp>
        <p:nvSpPr>
          <p:cNvPr id="6" name="Shape 4"/>
          <p:cNvSpPr/>
          <p:nvPr/>
        </p:nvSpPr>
        <p:spPr>
          <a:xfrm>
            <a:off x="822960" y="2999232"/>
            <a:ext cx="585216" cy="585216"/>
          </a:xfrm>
          <a:prstGeom prst="ellipse">
            <a:avLst/>
          </a:prstGeom>
          <a:solidFill>
            <a:srgbClr val="2E7D6B"/>
          </a:solidFill>
          <a:ln w="12700">
            <a:solidFill>
              <a:srgbClr val="2E7D6B"/>
            </a:solidFill>
            <a:prstDash val="solid"/>
          </a:ln>
        </p:spPr>
      </p:sp>
      <p:sp>
        <p:nvSpPr>
          <p:cNvPr id="7" name="Text 5"/>
          <p:cNvSpPr txBox="1"/>
          <p:nvPr/>
        </p:nvSpPr>
        <p:spPr>
          <a:xfrm>
            <a:off x="822960"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①</a:t>
            </a:r>
            <a:endParaRPr lang="en-US" sz="2000" dirty="0"/>
          </a:p>
        </p:txBody>
      </p:sp>
      <p:sp>
        <p:nvSpPr>
          <p:cNvPr id="8" name="Text 6"/>
          <p:cNvSpPr txBox="1"/>
          <p:nvPr/>
        </p:nvSpPr>
        <p:spPr>
          <a:xfrm>
            <a:off x="1645920"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장사법이 정한 장사방법이다</a:t>
            </a:r>
            <a:endParaRPr lang="en-US" sz="2200" dirty="0"/>
          </a:p>
        </p:txBody>
      </p:sp>
      <p:sp>
        <p:nvSpPr>
          <p:cNvPr id="9" name="Shape 7"/>
          <p:cNvSpPr/>
          <p:nvPr/>
        </p:nvSpPr>
        <p:spPr>
          <a:xfrm>
            <a:off x="6233008" y="2560320"/>
            <a:ext cx="5410048" cy="1463040"/>
          </a:xfrm>
          <a:prstGeom prst="roundRect">
            <a:avLst>
              <a:gd name="adj" fmla="val 7500"/>
            </a:avLst>
          </a:prstGeom>
          <a:solidFill>
            <a:srgbClr val="EAF3F0"/>
          </a:solidFill>
          <a:ln w="12700">
            <a:solidFill>
              <a:srgbClr val="EAF3F0"/>
            </a:solidFill>
            <a:prstDash val="solid"/>
          </a:ln>
        </p:spPr>
      </p:sp>
      <p:sp>
        <p:nvSpPr>
          <p:cNvPr id="10" name="Shape 8"/>
          <p:cNvSpPr/>
          <p:nvPr/>
        </p:nvSpPr>
        <p:spPr>
          <a:xfrm>
            <a:off x="6507328" y="2999232"/>
            <a:ext cx="585216" cy="585216"/>
          </a:xfrm>
          <a:prstGeom prst="ellipse">
            <a:avLst/>
          </a:prstGeom>
          <a:solidFill>
            <a:srgbClr val="2E7D6B"/>
          </a:solidFill>
          <a:ln w="12700">
            <a:solidFill>
              <a:srgbClr val="2E7D6B"/>
            </a:solidFill>
            <a:prstDash val="solid"/>
          </a:ln>
        </p:spPr>
      </p:sp>
      <p:sp>
        <p:nvSpPr>
          <p:cNvPr id="11" name="Text 9"/>
          <p:cNvSpPr txBox="1"/>
          <p:nvPr/>
        </p:nvSpPr>
        <p:spPr>
          <a:xfrm>
            <a:off x="6507328"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②</a:t>
            </a:r>
            <a:endParaRPr lang="en-US" sz="2000" dirty="0"/>
          </a:p>
        </p:txBody>
      </p:sp>
      <p:sp>
        <p:nvSpPr>
          <p:cNvPr id="12" name="Text 10"/>
          <p:cNvSpPr txBox="1"/>
          <p:nvPr/>
        </p:nvSpPr>
        <p:spPr>
          <a:xfrm>
            <a:off x="7330288"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장례의 규모·운영형태를 뜻하며 유골 처리방법과는 별개다</a:t>
            </a:r>
            <a:endParaRPr lang="en-US" sz="2200" dirty="0"/>
          </a:p>
        </p:txBody>
      </p:sp>
      <p:sp>
        <p:nvSpPr>
          <p:cNvPr id="13" name="Shape 11"/>
          <p:cNvSpPr/>
          <p:nvPr/>
        </p:nvSpPr>
        <p:spPr>
          <a:xfrm>
            <a:off x="548640" y="4297680"/>
            <a:ext cx="5410048" cy="1463040"/>
          </a:xfrm>
          <a:prstGeom prst="roundRect">
            <a:avLst>
              <a:gd name="adj" fmla="val 7500"/>
            </a:avLst>
          </a:prstGeom>
          <a:solidFill>
            <a:srgbClr val="EAF3F0"/>
          </a:solidFill>
          <a:ln w="12700">
            <a:solidFill>
              <a:srgbClr val="EAF3F0"/>
            </a:solidFill>
            <a:prstDash val="solid"/>
          </a:ln>
        </p:spPr>
      </p:sp>
      <p:sp>
        <p:nvSpPr>
          <p:cNvPr id="14" name="Shape 12"/>
          <p:cNvSpPr/>
          <p:nvPr/>
        </p:nvSpPr>
        <p:spPr>
          <a:xfrm>
            <a:off x="822960" y="4736592"/>
            <a:ext cx="585216" cy="585216"/>
          </a:xfrm>
          <a:prstGeom prst="ellipse">
            <a:avLst/>
          </a:prstGeom>
          <a:solidFill>
            <a:srgbClr val="2E7D6B"/>
          </a:solidFill>
          <a:ln w="12700">
            <a:solidFill>
              <a:srgbClr val="2E7D6B"/>
            </a:solidFill>
            <a:prstDash val="solid"/>
          </a:ln>
        </p:spPr>
      </p:sp>
      <p:sp>
        <p:nvSpPr>
          <p:cNvPr id="15" name="Text 13"/>
          <p:cNvSpPr txBox="1"/>
          <p:nvPr/>
        </p:nvSpPr>
        <p:spPr>
          <a:xfrm>
            <a:off x="822960"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③</a:t>
            </a:r>
            <a:endParaRPr lang="en-US" sz="2000" dirty="0"/>
          </a:p>
        </p:txBody>
      </p:sp>
      <p:sp>
        <p:nvSpPr>
          <p:cNvPr id="16" name="Text 14"/>
          <p:cNvSpPr txBox="1"/>
          <p:nvPr/>
        </p:nvSpPr>
        <p:spPr>
          <a:xfrm>
            <a:off x="1645920"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법으로 금지된 장례다</a:t>
            </a:r>
            <a:endParaRPr lang="en-US" sz="2200" dirty="0"/>
          </a:p>
        </p:txBody>
      </p:sp>
      <p:sp>
        <p:nvSpPr>
          <p:cNvPr id="17" name="Shape 15"/>
          <p:cNvSpPr/>
          <p:nvPr/>
        </p:nvSpPr>
        <p:spPr>
          <a:xfrm>
            <a:off x="6233008" y="4297680"/>
            <a:ext cx="5410048" cy="1463040"/>
          </a:xfrm>
          <a:prstGeom prst="roundRect">
            <a:avLst>
              <a:gd name="adj" fmla="val 7500"/>
            </a:avLst>
          </a:prstGeom>
          <a:solidFill>
            <a:srgbClr val="EAF3F0"/>
          </a:solidFill>
          <a:ln w="12700">
            <a:solidFill>
              <a:srgbClr val="EAF3F0"/>
            </a:solidFill>
            <a:prstDash val="solid"/>
          </a:ln>
        </p:spPr>
      </p:sp>
      <p:sp>
        <p:nvSpPr>
          <p:cNvPr id="18" name="Shape 16"/>
          <p:cNvSpPr/>
          <p:nvPr/>
        </p:nvSpPr>
        <p:spPr>
          <a:xfrm>
            <a:off x="6507328" y="4736592"/>
            <a:ext cx="585216" cy="585216"/>
          </a:xfrm>
          <a:prstGeom prst="ellipse">
            <a:avLst/>
          </a:prstGeom>
          <a:solidFill>
            <a:srgbClr val="2E7D6B"/>
          </a:solidFill>
          <a:ln w="12700">
            <a:solidFill>
              <a:srgbClr val="2E7D6B"/>
            </a:solidFill>
            <a:prstDash val="solid"/>
          </a:ln>
        </p:spPr>
      </p:sp>
      <p:sp>
        <p:nvSpPr>
          <p:cNvPr id="19" name="Text 17"/>
          <p:cNvSpPr txBox="1"/>
          <p:nvPr/>
        </p:nvSpPr>
        <p:spPr>
          <a:xfrm>
            <a:off x="6507328"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④</a:t>
            </a:r>
            <a:endParaRPr lang="en-US" sz="2000" dirty="0"/>
          </a:p>
        </p:txBody>
      </p:sp>
      <p:sp>
        <p:nvSpPr>
          <p:cNvPr id="20" name="Text 18"/>
          <p:cNvSpPr txBox="1"/>
          <p:nvPr/>
        </p:nvSpPr>
        <p:spPr>
          <a:xfrm>
            <a:off x="7330288"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화장과 같은 뜻이다</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정답과 해설</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퀴즈 정답 확인</a:t>
            </a:r>
            <a:endParaRPr lang="en-US" sz="2800" dirty="0"/>
          </a:p>
        </p:txBody>
      </p:sp>
      <p:sp>
        <p:nvSpPr>
          <p:cNvPr id="4" name="Shape 2"/>
          <p:cNvSpPr/>
          <p:nvPr/>
        </p:nvSpPr>
        <p:spPr>
          <a:xfrm>
            <a:off x="548640" y="1508760"/>
            <a:ext cx="5410048" cy="1040130"/>
          </a:xfrm>
          <a:prstGeom prst="roundRect">
            <a:avLst>
              <a:gd name="adj" fmla="val 10549"/>
            </a:avLst>
          </a:prstGeom>
          <a:solidFill>
            <a:srgbClr val="EAF3F0"/>
          </a:solidFill>
          <a:ln w="12700">
            <a:solidFill>
              <a:srgbClr val="EAF3F0"/>
            </a:solidFill>
            <a:prstDash val="solid"/>
          </a:ln>
        </p:spPr>
      </p:sp>
      <p:sp>
        <p:nvSpPr>
          <p:cNvPr id="5" name="Text 3"/>
          <p:cNvSpPr txBox="1"/>
          <p:nvPr/>
        </p:nvSpPr>
        <p:spPr>
          <a:xfrm>
            <a:off x="731520" y="1508760"/>
            <a:ext cx="914400" cy="1040130"/>
          </a:xfrm>
          <a:prstGeom prst="rect">
            <a:avLst/>
          </a:prstGeom>
          <a:noFill/>
          <a:ln/>
        </p:spPr>
        <p:txBody>
          <a:bodyPr wrap="square" lIns="0" tIns="0" rIns="0" bIns="0" rtlCol="0" anchor="ctr"/>
          <a:lstStyle/>
          <a:p>
            <a:pPr indent="0" marL="0">
              <a:buNone/>
            </a:pPr>
            <a:r>
              <a:rPr lang="en-US" sz="1400" b="1" dirty="0">
                <a:solidFill>
                  <a:srgbClr val="6B6B6B"/>
                </a:solidFill>
              </a:rPr>
              <a:t>OX 1</a:t>
            </a:r>
            <a:endParaRPr lang="en-US" sz="1400" dirty="0"/>
          </a:p>
        </p:txBody>
      </p:sp>
      <p:sp>
        <p:nvSpPr>
          <p:cNvPr id="6" name="Text 4"/>
          <p:cNvSpPr txBox="1"/>
          <p:nvPr/>
        </p:nvSpPr>
        <p:spPr>
          <a:xfrm>
            <a:off x="1508760" y="1508760"/>
            <a:ext cx="731520" cy="1040130"/>
          </a:xfrm>
          <a:prstGeom prst="rect">
            <a:avLst/>
          </a:prstGeom>
          <a:noFill/>
          <a:ln/>
        </p:spPr>
        <p:txBody>
          <a:bodyPr wrap="square" lIns="0" tIns="0" rIns="0" bIns="0" rtlCol="0" anchor="ctr"/>
          <a:lstStyle/>
          <a:p>
            <a:pPr algn="ctr" indent="0" marL="0">
              <a:buNone/>
            </a:pPr>
            <a:r>
              <a:rPr lang="en-US" sz="2200" b="1" dirty="0">
                <a:solidFill>
                  <a:srgbClr val="2E7D6B"/>
                </a:solidFill>
              </a:rPr>
              <a:t>X</a:t>
            </a:r>
            <a:endParaRPr lang="en-US" sz="2200" dirty="0"/>
          </a:p>
        </p:txBody>
      </p:sp>
      <p:sp>
        <p:nvSpPr>
          <p:cNvPr id="7" name="Text 5"/>
          <p:cNvSpPr txBox="1"/>
          <p:nvPr/>
        </p:nvSpPr>
        <p:spPr>
          <a:xfrm>
            <a:off x="2331720" y="1554480"/>
            <a:ext cx="3444088" cy="948690"/>
          </a:xfrm>
          <a:prstGeom prst="rect">
            <a:avLst/>
          </a:prstGeom>
          <a:noFill/>
          <a:ln/>
        </p:spPr>
        <p:txBody>
          <a:bodyPr wrap="square" lIns="0" tIns="0" rIns="0" bIns="0" rtlCol="0" anchor="ctr"/>
          <a:lstStyle/>
          <a:p>
            <a:pPr indent="0" marL="0">
              <a:buNone/>
            </a:pPr>
            <a:r>
              <a:rPr lang="en-US" sz="1800" dirty="0">
                <a:solidFill>
                  <a:srgbClr val="222222"/>
                </a:solidFill>
              </a:rPr>
              <a:t>법은 자연장 안의 “골분을 뿌리는 방식”</a:t>
            </a:r>
            <a:endParaRPr lang="en-US" sz="1800" dirty="0"/>
          </a:p>
        </p:txBody>
      </p:sp>
      <p:sp>
        <p:nvSpPr>
          <p:cNvPr id="8" name="Shape 6"/>
          <p:cNvSpPr/>
          <p:nvPr/>
        </p:nvSpPr>
        <p:spPr>
          <a:xfrm>
            <a:off x="548640" y="2686050"/>
            <a:ext cx="5410048" cy="1040130"/>
          </a:xfrm>
          <a:prstGeom prst="roundRect">
            <a:avLst>
              <a:gd name="adj" fmla="val 10549"/>
            </a:avLst>
          </a:prstGeom>
          <a:solidFill>
            <a:srgbClr val="EAF3F0"/>
          </a:solidFill>
          <a:ln w="12700">
            <a:solidFill>
              <a:srgbClr val="EAF3F0"/>
            </a:solidFill>
            <a:prstDash val="solid"/>
          </a:ln>
        </p:spPr>
      </p:sp>
      <p:sp>
        <p:nvSpPr>
          <p:cNvPr id="9" name="Text 7"/>
          <p:cNvSpPr txBox="1"/>
          <p:nvPr/>
        </p:nvSpPr>
        <p:spPr>
          <a:xfrm>
            <a:off x="731520" y="2686050"/>
            <a:ext cx="914400" cy="1040130"/>
          </a:xfrm>
          <a:prstGeom prst="rect">
            <a:avLst/>
          </a:prstGeom>
          <a:noFill/>
          <a:ln/>
        </p:spPr>
        <p:txBody>
          <a:bodyPr wrap="square" lIns="0" tIns="0" rIns="0" bIns="0" rtlCol="0" anchor="ctr"/>
          <a:lstStyle/>
          <a:p>
            <a:pPr indent="0" marL="0">
              <a:buNone/>
            </a:pPr>
            <a:r>
              <a:rPr lang="en-US" sz="1400" b="1" dirty="0">
                <a:solidFill>
                  <a:srgbClr val="6B6B6B"/>
                </a:solidFill>
              </a:rPr>
              <a:t>OX 2</a:t>
            </a:r>
            <a:endParaRPr lang="en-US" sz="1400" dirty="0"/>
          </a:p>
        </p:txBody>
      </p:sp>
      <p:sp>
        <p:nvSpPr>
          <p:cNvPr id="10" name="Text 8"/>
          <p:cNvSpPr txBox="1"/>
          <p:nvPr/>
        </p:nvSpPr>
        <p:spPr>
          <a:xfrm>
            <a:off x="1508760" y="2686050"/>
            <a:ext cx="731520" cy="1040130"/>
          </a:xfrm>
          <a:prstGeom prst="rect">
            <a:avLst/>
          </a:prstGeom>
          <a:noFill/>
          <a:ln/>
        </p:spPr>
        <p:txBody>
          <a:bodyPr wrap="square" lIns="0" tIns="0" rIns="0" bIns="0" rtlCol="0" anchor="ctr"/>
          <a:lstStyle/>
          <a:p>
            <a:pPr algn="ctr" indent="0" marL="0">
              <a:buNone/>
            </a:pPr>
            <a:r>
              <a:rPr lang="en-US" sz="2200" b="1" dirty="0">
                <a:solidFill>
                  <a:srgbClr val="2E7D6B"/>
                </a:solidFill>
              </a:rPr>
              <a:t>X</a:t>
            </a:r>
            <a:endParaRPr lang="en-US" sz="2200" dirty="0"/>
          </a:p>
        </p:txBody>
      </p:sp>
      <p:sp>
        <p:nvSpPr>
          <p:cNvPr id="11" name="Text 9"/>
          <p:cNvSpPr txBox="1"/>
          <p:nvPr/>
        </p:nvSpPr>
        <p:spPr>
          <a:xfrm>
            <a:off x="2331720" y="2731770"/>
            <a:ext cx="3444088" cy="948690"/>
          </a:xfrm>
          <a:prstGeom prst="rect">
            <a:avLst/>
          </a:prstGeom>
          <a:noFill/>
          <a:ln/>
        </p:spPr>
        <p:txBody>
          <a:bodyPr wrap="square" lIns="0" tIns="0" rIns="0" bIns="0" rtlCol="0" anchor="ctr"/>
          <a:lstStyle/>
          <a:p>
            <a:pPr indent="0" marL="0">
              <a:buNone/>
            </a:pPr>
            <a:r>
              <a:rPr lang="en-US" sz="1800" dirty="0">
                <a:solidFill>
                  <a:srgbClr val="222222"/>
                </a:solidFill>
              </a:rPr>
              <a:t>법은 24시간 원칙, 3일장은 관행</a:t>
            </a:r>
            <a:endParaRPr lang="en-US" sz="1800" dirty="0"/>
          </a:p>
        </p:txBody>
      </p:sp>
      <p:sp>
        <p:nvSpPr>
          <p:cNvPr id="12" name="Shape 10"/>
          <p:cNvSpPr/>
          <p:nvPr/>
        </p:nvSpPr>
        <p:spPr>
          <a:xfrm>
            <a:off x="548640" y="3863340"/>
            <a:ext cx="5410048" cy="1040130"/>
          </a:xfrm>
          <a:prstGeom prst="roundRect">
            <a:avLst>
              <a:gd name="adj" fmla="val 10549"/>
            </a:avLst>
          </a:prstGeom>
          <a:solidFill>
            <a:srgbClr val="EAF3F0"/>
          </a:solidFill>
          <a:ln w="12700">
            <a:solidFill>
              <a:srgbClr val="EAF3F0"/>
            </a:solidFill>
            <a:prstDash val="solid"/>
          </a:ln>
        </p:spPr>
      </p:sp>
      <p:sp>
        <p:nvSpPr>
          <p:cNvPr id="13" name="Text 11"/>
          <p:cNvSpPr txBox="1"/>
          <p:nvPr/>
        </p:nvSpPr>
        <p:spPr>
          <a:xfrm>
            <a:off x="731520" y="3863340"/>
            <a:ext cx="914400" cy="1040130"/>
          </a:xfrm>
          <a:prstGeom prst="rect">
            <a:avLst/>
          </a:prstGeom>
          <a:noFill/>
          <a:ln/>
        </p:spPr>
        <p:txBody>
          <a:bodyPr wrap="square" lIns="0" tIns="0" rIns="0" bIns="0" rtlCol="0" anchor="ctr"/>
          <a:lstStyle/>
          <a:p>
            <a:pPr indent="0" marL="0">
              <a:buNone/>
            </a:pPr>
            <a:r>
              <a:rPr lang="en-US" sz="1400" b="1" dirty="0">
                <a:solidFill>
                  <a:srgbClr val="6B6B6B"/>
                </a:solidFill>
              </a:rPr>
              <a:t>OX 3</a:t>
            </a:r>
            <a:endParaRPr lang="en-US" sz="1400" dirty="0"/>
          </a:p>
        </p:txBody>
      </p:sp>
      <p:sp>
        <p:nvSpPr>
          <p:cNvPr id="14" name="Text 12"/>
          <p:cNvSpPr txBox="1"/>
          <p:nvPr/>
        </p:nvSpPr>
        <p:spPr>
          <a:xfrm>
            <a:off x="1508760" y="3863340"/>
            <a:ext cx="731520" cy="1040130"/>
          </a:xfrm>
          <a:prstGeom prst="rect">
            <a:avLst/>
          </a:prstGeom>
          <a:noFill/>
          <a:ln/>
        </p:spPr>
        <p:txBody>
          <a:bodyPr wrap="square" lIns="0" tIns="0" rIns="0" bIns="0" rtlCol="0" anchor="ctr"/>
          <a:lstStyle/>
          <a:p>
            <a:pPr algn="ctr" indent="0" marL="0">
              <a:buNone/>
            </a:pPr>
            <a:r>
              <a:rPr lang="en-US" sz="2200" b="1" dirty="0">
                <a:solidFill>
                  <a:srgbClr val="2E7D6B"/>
                </a:solidFill>
              </a:rPr>
              <a:t>O</a:t>
            </a:r>
            <a:endParaRPr lang="en-US" sz="2200" dirty="0"/>
          </a:p>
        </p:txBody>
      </p:sp>
      <p:sp>
        <p:nvSpPr>
          <p:cNvPr id="15" name="Text 13"/>
          <p:cNvSpPr txBox="1"/>
          <p:nvPr/>
        </p:nvSpPr>
        <p:spPr>
          <a:xfrm>
            <a:off x="2331720" y="3909060"/>
            <a:ext cx="3444088" cy="948690"/>
          </a:xfrm>
          <a:prstGeom prst="rect">
            <a:avLst/>
          </a:prstGeom>
          <a:noFill/>
          <a:ln/>
        </p:spPr>
        <p:txBody>
          <a:bodyPr wrap="square" lIns="0" tIns="0" rIns="0" bIns="0" rtlCol="0" anchor="ctr"/>
          <a:lstStyle/>
          <a:p>
            <a:pPr indent="0" marL="0">
              <a:buNone/>
            </a:pPr>
            <a:r>
              <a:rPr lang="en-US" sz="1800" dirty="0">
                <a:solidFill>
                  <a:srgbClr val="222222"/>
                </a:solidFill>
              </a:rPr>
              <a:t>아무 곳에나 묻거나 뿌리는 것이 아님</a:t>
            </a:r>
            <a:endParaRPr lang="en-US" sz="1800" dirty="0"/>
          </a:p>
        </p:txBody>
      </p:sp>
      <p:sp>
        <p:nvSpPr>
          <p:cNvPr id="16" name="Shape 14"/>
          <p:cNvSpPr/>
          <p:nvPr/>
        </p:nvSpPr>
        <p:spPr>
          <a:xfrm>
            <a:off x="548640" y="5040630"/>
            <a:ext cx="5410048" cy="1040130"/>
          </a:xfrm>
          <a:prstGeom prst="roundRect">
            <a:avLst>
              <a:gd name="adj" fmla="val 10549"/>
            </a:avLst>
          </a:prstGeom>
          <a:solidFill>
            <a:srgbClr val="EAF3F0"/>
          </a:solidFill>
          <a:ln w="12700">
            <a:solidFill>
              <a:srgbClr val="EAF3F0"/>
            </a:solidFill>
            <a:prstDash val="solid"/>
          </a:ln>
        </p:spPr>
      </p:sp>
      <p:sp>
        <p:nvSpPr>
          <p:cNvPr id="17" name="Text 15"/>
          <p:cNvSpPr txBox="1"/>
          <p:nvPr/>
        </p:nvSpPr>
        <p:spPr>
          <a:xfrm>
            <a:off x="731520" y="5040630"/>
            <a:ext cx="914400" cy="1040130"/>
          </a:xfrm>
          <a:prstGeom prst="rect">
            <a:avLst/>
          </a:prstGeom>
          <a:noFill/>
          <a:ln/>
        </p:spPr>
        <p:txBody>
          <a:bodyPr wrap="square" lIns="0" tIns="0" rIns="0" bIns="0" rtlCol="0" anchor="ctr"/>
          <a:lstStyle/>
          <a:p>
            <a:pPr indent="0" marL="0">
              <a:buNone/>
            </a:pPr>
            <a:r>
              <a:rPr lang="en-US" sz="1400" b="1" dirty="0">
                <a:solidFill>
                  <a:srgbClr val="6B6B6B"/>
                </a:solidFill>
              </a:rPr>
              <a:t>OX 4</a:t>
            </a:r>
            <a:endParaRPr lang="en-US" sz="1400" dirty="0"/>
          </a:p>
        </p:txBody>
      </p:sp>
      <p:sp>
        <p:nvSpPr>
          <p:cNvPr id="18" name="Text 16"/>
          <p:cNvSpPr txBox="1"/>
          <p:nvPr/>
        </p:nvSpPr>
        <p:spPr>
          <a:xfrm>
            <a:off x="1508760" y="5040630"/>
            <a:ext cx="731520" cy="1040130"/>
          </a:xfrm>
          <a:prstGeom prst="rect">
            <a:avLst/>
          </a:prstGeom>
          <a:noFill/>
          <a:ln/>
        </p:spPr>
        <p:txBody>
          <a:bodyPr wrap="square" lIns="0" tIns="0" rIns="0" bIns="0" rtlCol="0" anchor="ctr"/>
          <a:lstStyle/>
          <a:p>
            <a:pPr algn="ctr" indent="0" marL="0">
              <a:buNone/>
            </a:pPr>
            <a:r>
              <a:rPr lang="en-US" sz="2200" b="1" dirty="0">
                <a:solidFill>
                  <a:srgbClr val="2E7D6B"/>
                </a:solidFill>
              </a:rPr>
              <a:t>O</a:t>
            </a:r>
            <a:endParaRPr lang="en-US" sz="2200" dirty="0"/>
          </a:p>
        </p:txBody>
      </p:sp>
      <p:sp>
        <p:nvSpPr>
          <p:cNvPr id="19" name="Text 17"/>
          <p:cNvSpPr txBox="1"/>
          <p:nvPr/>
        </p:nvSpPr>
        <p:spPr>
          <a:xfrm>
            <a:off x="2331720" y="5086350"/>
            <a:ext cx="3444088" cy="948690"/>
          </a:xfrm>
          <a:prstGeom prst="rect">
            <a:avLst/>
          </a:prstGeom>
          <a:noFill/>
          <a:ln/>
        </p:spPr>
        <p:txBody>
          <a:bodyPr wrap="square" lIns="0" tIns="0" rIns="0" bIns="0" rtlCol="0" anchor="ctr"/>
          <a:lstStyle/>
          <a:p>
            <a:pPr indent="0" marL="0">
              <a:buNone/>
            </a:pPr>
            <a:r>
              <a:rPr lang="en-US" sz="1800" dirty="0">
                <a:solidFill>
                  <a:srgbClr val="222222"/>
                </a:solidFill>
              </a:rPr>
              <a:t>죽음의 존엄을 사회가 함께 지킴</a:t>
            </a:r>
            <a:endParaRPr lang="en-US" sz="1800" dirty="0"/>
          </a:p>
        </p:txBody>
      </p:sp>
      <p:sp>
        <p:nvSpPr>
          <p:cNvPr id="20" name="Shape 18"/>
          <p:cNvSpPr/>
          <p:nvPr/>
        </p:nvSpPr>
        <p:spPr>
          <a:xfrm>
            <a:off x="6233008" y="1508760"/>
            <a:ext cx="5410048" cy="1040130"/>
          </a:xfrm>
          <a:prstGeom prst="roundRect">
            <a:avLst>
              <a:gd name="adj" fmla="val 10549"/>
            </a:avLst>
          </a:prstGeom>
          <a:solidFill>
            <a:srgbClr val="EAF3F0"/>
          </a:solidFill>
          <a:ln w="12700">
            <a:solidFill>
              <a:srgbClr val="EAF3F0"/>
            </a:solidFill>
            <a:prstDash val="solid"/>
          </a:ln>
        </p:spPr>
      </p:sp>
      <p:sp>
        <p:nvSpPr>
          <p:cNvPr id="21" name="Text 19"/>
          <p:cNvSpPr txBox="1"/>
          <p:nvPr/>
        </p:nvSpPr>
        <p:spPr>
          <a:xfrm>
            <a:off x="6415888" y="1508760"/>
            <a:ext cx="914400" cy="1040130"/>
          </a:xfrm>
          <a:prstGeom prst="rect">
            <a:avLst/>
          </a:prstGeom>
          <a:noFill/>
          <a:ln/>
        </p:spPr>
        <p:txBody>
          <a:bodyPr wrap="square" lIns="0" tIns="0" rIns="0" bIns="0" rtlCol="0" anchor="ctr"/>
          <a:lstStyle/>
          <a:p>
            <a:pPr indent="0" marL="0">
              <a:buNone/>
            </a:pPr>
            <a:r>
              <a:rPr lang="en-US" sz="1400" b="1" dirty="0">
                <a:solidFill>
                  <a:srgbClr val="6B6B6B"/>
                </a:solidFill>
              </a:rPr>
              <a:t>객관식 1</a:t>
            </a:r>
            <a:endParaRPr lang="en-US" sz="1400" dirty="0"/>
          </a:p>
        </p:txBody>
      </p:sp>
      <p:sp>
        <p:nvSpPr>
          <p:cNvPr id="22" name="Text 20"/>
          <p:cNvSpPr txBox="1"/>
          <p:nvPr/>
        </p:nvSpPr>
        <p:spPr>
          <a:xfrm>
            <a:off x="7193128" y="1508760"/>
            <a:ext cx="731520" cy="1040130"/>
          </a:xfrm>
          <a:prstGeom prst="rect">
            <a:avLst/>
          </a:prstGeom>
          <a:noFill/>
          <a:ln/>
        </p:spPr>
        <p:txBody>
          <a:bodyPr wrap="square" lIns="0" tIns="0" rIns="0" bIns="0" rtlCol="0" anchor="ctr"/>
          <a:lstStyle/>
          <a:p>
            <a:pPr algn="ctr" indent="0" marL="0">
              <a:buNone/>
            </a:pPr>
            <a:r>
              <a:rPr lang="en-US" sz="2200" b="1" dirty="0">
                <a:solidFill>
                  <a:srgbClr val="2E7D6B"/>
                </a:solidFill>
              </a:rPr>
              <a:t>②</a:t>
            </a:r>
            <a:endParaRPr lang="en-US" sz="2200" dirty="0"/>
          </a:p>
        </p:txBody>
      </p:sp>
      <p:sp>
        <p:nvSpPr>
          <p:cNvPr id="23" name="Text 21"/>
          <p:cNvSpPr txBox="1"/>
          <p:nvPr/>
        </p:nvSpPr>
        <p:spPr>
          <a:xfrm>
            <a:off x="8016088" y="1554480"/>
            <a:ext cx="3444088" cy="948690"/>
          </a:xfrm>
          <a:prstGeom prst="rect">
            <a:avLst/>
          </a:prstGeom>
          <a:noFill/>
          <a:ln/>
        </p:spPr>
        <p:txBody>
          <a:bodyPr wrap="square" lIns="0" tIns="0" rIns="0" bIns="0" rtlCol="0" anchor="ctr"/>
          <a:lstStyle/>
          <a:p>
            <a:pPr indent="0" marL="0">
              <a:buNone/>
            </a:pPr>
            <a:r>
              <a:rPr lang="en-US" sz="1800" dirty="0">
                <a:solidFill>
                  <a:srgbClr val="222222"/>
                </a:solidFill>
              </a:rPr>
              <a:t>묻거나, 정해진 구역에 뿌리는 것</a:t>
            </a:r>
            <a:endParaRPr lang="en-US" sz="1800" dirty="0"/>
          </a:p>
        </p:txBody>
      </p:sp>
      <p:sp>
        <p:nvSpPr>
          <p:cNvPr id="24" name="Shape 22"/>
          <p:cNvSpPr/>
          <p:nvPr/>
        </p:nvSpPr>
        <p:spPr>
          <a:xfrm>
            <a:off x="6233008" y="2686050"/>
            <a:ext cx="5410048" cy="1040130"/>
          </a:xfrm>
          <a:prstGeom prst="roundRect">
            <a:avLst>
              <a:gd name="adj" fmla="val 10549"/>
            </a:avLst>
          </a:prstGeom>
          <a:solidFill>
            <a:srgbClr val="EAF3F0"/>
          </a:solidFill>
          <a:ln w="12700">
            <a:solidFill>
              <a:srgbClr val="EAF3F0"/>
            </a:solidFill>
            <a:prstDash val="solid"/>
          </a:ln>
        </p:spPr>
      </p:sp>
      <p:sp>
        <p:nvSpPr>
          <p:cNvPr id="25" name="Text 23"/>
          <p:cNvSpPr txBox="1"/>
          <p:nvPr/>
        </p:nvSpPr>
        <p:spPr>
          <a:xfrm>
            <a:off x="6415888" y="2686050"/>
            <a:ext cx="914400" cy="1040130"/>
          </a:xfrm>
          <a:prstGeom prst="rect">
            <a:avLst/>
          </a:prstGeom>
          <a:noFill/>
          <a:ln/>
        </p:spPr>
        <p:txBody>
          <a:bodyPr wrap="square" lIns="0" tIns="0" rIns="0" bIns="0" rtlCol="0" anchor="ctr"/>
          <a:lstStyle/>
          <a:p>
            <a:pPr indent="0" marL="0">
              <a:buNone/>
            </a:pPr>
            <a:r>
              <a:rPr lang="en-US" sz="1400" b="1" dirty="0">
                <a:solidFill>
                  <a:srgbClr val="6B6B6B"/>
                </a:solidFill>
              </a:rPr>
              <a:t>객관식 2</a:t>
            </a:r>
            <a:endParaRPr lang="en-US" sz="1400" dirty="0"/>
          </a:p>
        </p:txBody>
      </p:sp>
      <p:sp>
        <p:nvSpPr>
          <p:cNvPr id="26" name="Text 24"/>
          <p:cNvSpPr txBox="1"/>
          <p:nvPr/>
        </p:nvSpPr>
        <p:spPr>
          <a:xfrm>
            <a:off x="7193128" y="2686050"/>
            <a:ext cx="731520" cy="1040130"/>
          </a:xfrm>
          <a:prstGeom prst="rect">
            <a:avLst/>
          </a:prstGeom>
          <a:noFill/>
          <a:ln/>
        </p:spPr>
        <p:txBody>
          <a:bodyPr wrap="square" lIns="0" tIns="0" rIns="0" bIns="0" rtlCol="0" anchor="ctr"/>
          <a:lstStyle/>
          <a:p>
            <a:pPr algn="ctr" indent="0" marL="0">
              <a:buNone/>
            </a:pPr>
            <a:r>
              <a:rPr lang="en-US" sz="2200" b="1" dirty="0">
                <a:solidFill>
                  <a:srgbClr val="2E7D6B"/>
                </a:solidFill>
              </a:rPr>
              <a:t>②</a:t>
            </a:r>
            <a:endParaRPr lang="en-US" sz="2200" dirty="0"/>
          </a:p>
        </p:txBody>
      </p:sp>
      <p:sp>
        <p:nvSpPr>
          <p:cNvPr id="27" name="Text 25"/>
          <p:cNvSpPr txBox="1"/>
          <p:nvPr/>
        </p:nvSpPr>
        <p:spPr>
          <a:xfrm>
            <a:off x="8016088" y="2731770"/>
            <a:ext cx="3444088" cy="948690"/>
          </a:xfrm>
          <a:prstGeom prst="rect">
            <a:avLst/>
          </a:prstGeom>
          <a:noFill/>
          <a:ln/>
        </p:spPr>
        <p:txBody>
          <a:bodyPr wrap="square" lIns="0" tIns="0" rIns="0" bIns="0" rtlCol="0" anchor="ctr"/>
          <a:lstStyle/>
          <a:p>
            <a:pPr indent="0" marL="0">
              <a:buNone/>
            </a:pPr>
            <a:r>
              <a:rPr lang="en-US" sz="1800" dirty="0">
                <a:solidFill>
                  <a:srgbClr val="222222"/>
                </a:solidFill>
              </a:rPr>
              <a:t>해안선 5km 이상, 수면 가까이</a:t>
            </a:r>
            <a:endParaRPr lang="en-US" sz="1800" dirty="0"/>
          </a:p>
        </p:txBody>
      </p:sp>
      <p:sp>
        <p:nvSpPr>
          <p:cNvPr id="28" name="Shape 26"/>
          <p:cNvSpPr/>
          <p:nvPr/>
        </p:nvSpPr>
        <p:spPr>
          <a:xfrm>
            <a:off x="6233008" y="3863340"/>
            <a:ext cx="5410048" cy="1040130"/>
          </a:xfrm>
          <a:prstGeom prst="roundRect">
            <a:avLst>
              <a:gd name="adj" fmla="val 10549"/>
            </a:avLst>
          </a:prstGeom>
          <a:solidFill>
            <a:srgbClr val="EAF3F0"/>
          </a:solidFill>
          <a:ln w="12700">
            <a:solidFill>
              <a:srgbClr val="EAF3F0"/>
            </a:solidFill>
            <a:prstDash val="solid"/>
          </a:ln>
        </p:spPr>
      </p:sp>
      <p:sp>
        <p:nvSpPr>
          <p:cNvPr id="29" name="Text 27"/>
          <p:cNvSpPr txBox="1"/>
          <p:nvPr/>
        </p:nvSpPr>
        <p:spPr>
          <a:xfrm>
            <a:off x="6415888" y="3863340"/>
            <a:ext cx="914400" cy="1040130"/>
          </a:xfrm>
          <a:prstGeom prst="rect">
            <a:avLst/>
          </a:prstGeom>
          <a:noFill/>
          <a:ln/>
        </p:spPr>
        <p:txBody>
          <a:bodyPr wrap="square" lIns="0" tIns="0" rIns="0" bIns="0" rtlCol="0" anchor="ctr"/>
          <a:lstStyle/>
          <a:p>
            <a:pPr indent="0" marL="0">
              <a:buNone/>
            </a:pPr>
            <a:r>
              <a:rPr lang="en-US" sz="1400" b="1" dirty="0">
                <a:solidFill>
                  <a:srgbClr val="6B6B6B"/>
                </a:solidFill>
              </a:rPr>
              <a:t>객관식 3</a:t>
            </a:r>
            <a:endParaRPr lang="en-US" sz="1400" dirty="0"/>
          </a:p>
        </p:txBody>
      </p:sp>
      <p:sp>
        <p:nvSpPr>
          <p:cNvPr id="30" name="Text 28"/>
          <p:cNvSpPr txBox="1"/>
          <p:nvPr/>
        </p:nvSpPr>
        <p:spPr>
          <a:xfrm>
            <a:off x="7193128" y="3863340"/>
            <a:ext cx="731520" cy="1040130"/>
          </a:xfrm>
          <a:prstGeom prst="rect">
            <a:avLst/>
          </a:prstGeom>
          <a:noFill/>
          <a:ln/>
        </p:spPr>
        <p:txBody>
          <a:bodyPr wrap="square" lIns="0" tIns="0" rIns="0" bIns="0" rtlCol="0" anchor="ctr"/>
          <a:lstStyle/>
          <a:p>
            <a:pPr algn="ctr" indent="0" marL="0">
              <a:buNone/>
            </a:pPr>
            <a:r>
              <a:rPr lang="en-US" sz="2200" b="1" dirty="0">
                <a:solidFill>
                  <a:srgbClr val="2E7D6B"/>
                </a:solidFill>
              </a:rPr>
              <a:t>①</a:t>
            </a:r>
            <a:endParaRPr lang="en-US" sz="2200" dirty="0"/>
          </a:p>
        </p:txBody>
      </p:sp>
      <p:sp>
        <p:nvSpPr>
          <p:cNvPr id="31" name="Text 29"/>
          <p:cNvSpPr txBox="1"/>
          <p:nvPr/>
        </p:nvSpPr>
        <p:spPr>
          <a:xfrm>
            <a:off x="8016088" y="3909060"/>
            <a:ext cx="3444088" cy="948690"/>
          </a:xfrm>
          <a:prstGeom prst="rect">
            <a:avLst/>
          </a:prstGeom>
          <a:noFill/>
          <a:ln/>
        </p:spPr>
        <p:txBody>
          <a:bodyPr wrap="square" lIns="0" tIns="0" rIns="0" bIns="0" rtlCol="0" anchor="ctr"/>
          <a:lstStyle/>
          <a:p>
            <a:pPr indent="0" marL="0">
              <a:buNone/>
            </a:pPr>
            <a:r>
              <a:rPr lang="en-US" sz="1800" dirty="0">
                <a:solidFill>
                  <a:srgbClr val="222222"/>
                </a:solidFill>
              </a:rPr>
              <a:t>24시간 경과 전 원칙적 금지</a:t>
            </a:r>
            <a:endParaRPr lang="en-US" sz="1800" dirty="0"/>
          </a:p>
        </p:txBody>
      </p:sp>
      <p:sp>
        <p:nvSpPr>
          <p:cNvPr id="32" name="Shape 30"/>
          <p:cNvSpPr/>
          <p:nvPr/>
        </p:nvSpPr>
        <p:spPr>
          <a:xfrm>
            <a:off x="6233008" y="5040630"/>
            <a:ext cx="5410048" cy="1040130"/>
          </a:xfrm>
          <a:prstGeom prst="roundRect">
            <a:avLst>
              <a:gd name="adj" fmla="val 10549"/>
            </a:avLst>
          </a:prstGeom>
          <a:solidFill>
            <a:srgbClr val="EAF3F0"/>
          </a:solidFill>
          <a:ln w="12700">
            <a:solidFill>
              <a:srgbClr val="EAF3F0"/>
            </a:solidFill>
            <a:prstDash val="solid"/>
          </a:ln>
        </p:spPr>
      </p:sp>
      <p:sp>
        <p:nvSpPr>
          <p:cNvPr id="33" name="Text 31"/>
          <p:cNvSpPr txBox="1"/>
          <p:nvPr/>
        </p:nvSpPr>
        <p:spPr>
          <a:xfrm>
            <a:off x="6415888" y="5040630"/>
            <a:ext cx="914400" cy="1040130"/>
          </a:xfrm>
          <a:prstGeom prst="rect">
            <a:avLst/>
          </a:prstGeom>
          <a:noFill/>
          <a:ln/>
        </p:spPr>
        <p:txBody>
          <a:bodyPr wrap="square" lIns="0" tIns="0" rIns="0" bIns="0" rtlCol="0" anchor="ctr"/>
          <a:lstStyle/>
          <a:p>
            <a:pPr indent="0" marL="0">
              <a:buNone/>
            </a:pPr>
            <a:r>
              <a:rPr lang="en-US" sz="1400" b="1" dirty="0">
                <a:solidFill>
                  <a:srgbClr val="6B6B6B"/>
                </a:solidFill>
              </a:rPr>
              <a:t>객관식 4</a:t>
            </a:r>
            <a:endParaRPr lang="en-US" sz="1400" dirty="0"/>
          </a:p>
        </p:txBody>
      </p:sp>
      <p:sp>
        <p:nvSpPr>
          <p:cNvPr id="34" name="Text 32"/>
          <p:cNvSpPr txBox="1"/>
          <p:nvPr/>
        </p:nvSpPr>
        <p:spPr>
          <a:xfrm>
            <a:off x="7193128" y="5040630"/>
            <a:ext cx="731520" cy="1040130"/>
          </a:xfrm>
          <a:prstGeom prst="rect">
            <a:avLst/>
          </a:prstGeom>
          <a:noFill/>
          <a:ln/>
        </p:spPr>
        <p:txBody>
          <a:bodyPr wrap="square" lIns="0" tIns="0" rIns="0" bIns="0" rtlCol="0" anchor="ctr"/>
          <a:lstStyle/>
          <a:p>
            <a:pPr algn="ctr" indent="0" marL="0">
              <a:buNone/>
            </a:pPr>
            <a:r>
              <a:rPr lang="en-US" sz="2200" b="1" dirty="0">
                <a:solidFill>
                  <a:srgbClr val="2E7D6B"/>
                </a:solidFill>
              </a:rPr>
              <a:t>②</a:t>
            </a:r>
            <a:endParaRPr lang="en-US" sz="2200" dirty="0"/>
          </a:p>
        </p:txBody>
      </p:sp>
      <p:sp>
        <p:nvSpPr>
          <p:cNvPr id="35" name="Text 33"/>
          <p:cNvSpPr txBox="1"/>
          <p:nvPr/>
        </p:nvSpPr>
        <p:spPr>
          <a:xfrm>
            <a:off x="8016088" y="5086350"/>
            <a:ext cx="3444088" cy="948690"/>
          </a:xfrm>
          <a:prstGeom prst="rect">
            <a:avLst/>
          </a:prstGeom>
          <a:noFill/>
          <a:ln/>
        </p:spPr>
        <p:txBody>
          <a:bodyPr wrap="square" lIns="0" tIns="0" rIns="0" bIns="0" rtlCol="0" anchor="ctr"/>
          <a:lstStyle/>
          <a:p>
            <a:pPr indent="0" marL="0">
              <a:buNone/>
            </a:pPr>
            <a:r>
              <a:rPr lang="en-US" sz="1800" dirty="0">
                <a:solidFill>
                  <a:srgbClr val="222222"/>
                </a:solidFill>
              </a:rPr>
              <a:t>지자체가 장례의식 후 처리</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20절 학습점검 · 복습 과제</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서술형으로 정리해 보세요</a:t>
            </a:r>
            <a:endParaRPr lang="en-US" sz="2800" dirty="0"/>
          </a:p>
        </p:txBody>
      </p:sp>
      <p:sp>
        <p:nvSpPr>
          <p:cNvPr id="4" name="Shape 2"/>
          <p:cNvSpPr/>
          <p:nvPr/>
        </p:nvSpPr>
        <p:spPr>
          <a:xfrm>
            <a:off x="548640" y="1600200"/>
            <a:ext cx="438912" cy="438912"/>
          </a:xfrm>
          <a:prstGeom prst="ellipse">
            <a:avLst/>
          </a:prstGeom>
          <a:solidFill>
            <a:srgbClr val="2E7D6B"/>
          </a:solidFill>
          <a:ln w="12700">
            <a:solidFill>
              <a:srgbClr val="2E7D6B"/>
            </a:solidFill>
            <a:prstDash val="solid"/>
          </a:ln>
        </p:spPr>
      </p:sp>
      <p:sp>
        <p:nvSpPr>
          <p:cNvPr id="5" name="Text 3"/>
          <p:cNvSpPr txBox="1"/>
          <p:nvPr/>
        </p:nvSpPr>
        <p:spPr>
          <a:xfrm>
            <a:off x="548640"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170432" y="1572768"/>
            <a:ext cx="4724248" cy="850392"/>
          </a:xfrm>
          <a:prstGeom prst="rect">
            <a:avLst/>
          </a:prstGeom>
          <a:noFill/>
          <a:ln/>
        </p:spPr>
        <p:txBody>
          <a:bodyPr wrap="square" lIns="0" tIns="0" rIns="0" bIns="0" rtlCol="0" anchor="t"/>
          <a:lstStyle/>
          <a:p>
            <a:pPr indent="0" marL="0">
              <a:buNone/>
            </a:pPr>
            <a:r>
              <a:rPr lang="en-US" sz="2200" dirty="0">
                <a:solidFill>
                  <a:srgbClr val="222222"/>
                </a:solidFill>
              </a:rPr>
              <a:t>매장·화장·봉안·자연장·개장의 의미</a:t>
            </a:r>
            <a:endParaRPr lang="en-US" sz="2200" dirty="0"/>
          </a:p>
        </p:txBody>
      </p:sp>
      <p:sp>
        <p:nvSpPr>
          <p:cNvPr id="7" name="Shape 5"/>
          <p:cNvSpPr/>
          <p:nvPr/>
        </p:nvSpPr>
        <p:spPr>
          <a:xfrm>
            <a:off x="548640" y="2523744"/>
            <a:ext cx="438912" cy="438912"/>
          </a:xfrm>
          <a:prstGeom prst="ellipse">
            <a:avLst/>
          </a:prstGeom>
          <a:solidFill>
            <a:srgbClr val="2E7D6B"/>
          </a:solidFill>
          <a:ln w="12700">
            <a:solidFill>
              <a:srgbClr val="2E7D6B"/>
            </a:solidFill>
            <a:prstDash val="solid"/>
          </a:ln>
        </p:spPr>
      </p:sp>
      <p:sp>
        <p:nvSpPr>
          <p:cNvPr id="8" name="Text 6"/>
          <p:cNvSpPr txBox="1"/>
          <p:nvPr/>
        </p:nvSpPr>
        <p:spPr>
          <a:xfrm>
            <a:off x="548640" y="252374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1170432" y="2496312"/>
            <a:ext cx="4724248" cy="850392"/>
          </a:xfrm>
          <a:prstGeom prst="rect">
            <a:avLst/>
          </a:prstGeom>
          <a:noFill/>
          <a:ln/>
        </p:spPr>
        <p:txBody>
          <a:bodyPr wrap="square" lIns="0" tIns="0" rIns="0" bIns="0" rtlCol="0" anchor="t"/>
          <a:lstStyle/>
          <a:p>
            <a:pPr indent="0" marL="0">
              <a:buNone/>
            </a:pPr>
            <a:r>
              <a:rPr lang="en-US" sz="2200" dirty="0">
                <a:solidFill>
                  <a:srgbClr val="222222"/>
                </a:solidFill>
              </a:rPr>
              <a:t>화장률 변화가 장묘문화에 준 영향</a:t>
            </a:r>
            <a:endParaRPr lang="en-US" sz="2200" dirty="0"/>
          </a:p>
        </p:txBody>
      </p:sp>
      <p:sp>
        <p:nvSpPr>
          <p:cNvPr id="10" name="Shape 8"/>
          <p:cNvSpPr/>
          <p:nvPr/>
        </p:nvSpPr>
        <p:spPr>
          <a:xfrm>
            <a:off x="548640" y="3447288"/>
            <a:ext cx="438912" cy="438912"/>
          </a:xfrm>
          <a:prstGeom prst="ellipse">
            <a:avLst/>
          </a:prstGeom>
          <a:solidFill>
            <a:srgbClr val="2E7D6B"/>
          </a:solidFill>
          <a:ln w="12700">
            <a:solidFill>
              <a:srgbClr val="2E7D6B"/>
            </a:solidFill>
            <a:prstDash val="solid"/>
          </a:ln>
        </p:spPr>
      </p:sp>
      <p:sp>
        <p:nvSpPr>
          <p:cNvPr id="11" name="Text 9"/>
          <p:cNvSpPr txBox="1"/>
          <p:nvPr/>
        </p:nvSpPr>
        <p:spPr>
          <a:xfrm>
            <a:off x="548640" y="344728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10"/>
          <p:cNvSpPr txBox="1"/>
          <p:nvPr/>
        </p:nvSpPr>
        <p:spPr>
          <a:xfrm>
            <a:off x="1170432" y="3419856"/>
            <a:ext cx="4724248" cy="850392"/>
          </a:xfrm>
          <a:prstGeom prst="rect">
            <a:avLst/>
          </a:prstGeom>
          <a:noFill/>
          <a:ln/>
        </p:spPr>
        <p:txBody>
          <a:bodyPr wrap="square" lIns="0" tIns="0" rIns="0" bIns="0" rtlCol="0" anchor="t"/>
          <a:lstStyle/>
          <a:p>
            <a:pPr indent="0" marL="0">
              <a:buNone/>
            </a:pPr>
            <a:r>
              <a:rPr lang="en-US" sz="2200" dirty="0">
                <a:solidFill>
                  <a:srgbClr val="222222"/>
                </a:solidFill>
              </a:rPr>
              <a:t>“산분장”을 법정 용어와 구분해야 하는 이유</a:t>
            </a:r>
            <a:endParaRPr lang="en-US" sz="2200" dirty="0"/>
          </a:p>
        </p:txBody>
      </p:sp>
      <p:sp>
        <p:nvSpPr>
          <p:cNvPr id="13" name="Shape 11"/>
          <p:cNvSpPr/>
          <p:nvPr/>
        </p:nvSpPr>
        <p:spPr>
          <a:xfrm>
            <a:off x="548640" y="4370832"/>
            <a:ext cx="438912" cy="438912"/>
          </a:xfrm>
          <a:prstGeom prst="ellipse">
            <a:avLst/>
          </a:prstGeom>
          <a:solidFill>
            <a:srgbClr val="2E7D6B"/>
          </a:solidFill>
          <a:ln w="12700">
            <a:solidFill>
              <a:srgbClr val="2E7D6B"/>
            </a:solidFill>
            <a:prstDash val="solid"/>
          </a:ln>
        </p:spPr>
      </p:sp>
      <p:sp>
        <p:nvSpPr>
          <p:cNvPr id="14" name="Text 12"/>
          <p:cNvSpPr txBox="1"/>
          <p:nvPr/>
        </p:nvSpPr>
        <p:spPr>
          <a:xfrm>
            <a:off x="548640" y="437083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5" name="Text 13"/>
          <p:cNvSpPr txBox="1"/>
          <p:nvPr/>
        </p:nvSpPr>
        <p:spPr>
          <a:xfrm>
            <a:off x="1170432" y="4343400"/>
            <a:ext cx="4724248" cy="850392"/>
          </a:xfrm>
          <a:prstGeom prst="rect">
            <a:avLst/>
          </a:prstGeom>
          <a:noFill/>
          <a:ln/>
        </p:spPr>
        <p:txBody>
          <a:bodyPr wrap="square" lIns="0" tIns="0" rIns="0" bIns="0" rtlCol="0" anchor="t"/>
          <a:lstStyle/>
          <a:p>
            <a:pPr indent="0" marL="0">
              <a:buNone/>
            </a:pPr>
            <a:r>
              <a:rPr lang="en-US" sz="2200" dirty="0">
                <a:solidFill>
                  <a:srgbClr val="222222"/>
                </a:solidFill>
              </a:rPr>
              <a:t>해양 골분 산분 기준 세 가지 이상</a:t>
            </a:r>
            <a:endParaRPr lang="en-US" sz="2200" dirty="0"/>
          </a:p>
        </p:txBody>
      </p:sp>
      <p:sp>
        <p:nvSpPr>
          <p:cNvPr id="16" name="Shape 14"/>
          <p:cNvSpPr/>
          <p:nvPr/>
        </p:nvSpPr>
        <p:spPr>
          <a:xfrm>
            <a:off x="548640" y="5294376"/>
            <a:ext cx="438912" cy="438912"/>
          </a:xfrm>
          <a:prstGeom prst="ellipse">
            <a:avLst/>
          </a:prstGeom>
          <a:solidFill>
            <a:srgbClr val="2E7D6B"/>
          </a:solidFill>
          <a:ln w="12700">
            <a:solidFill>
              <a:srgbClr val="2E7D6B"/>
            </a:solidFill>
            <a:prstDash val="solid"/>
          </a:ln>
        </p:spPr>
      </p:sp>
      <p:sp>
        <p:nvSpPr>
          <p:cNvPr id="17" name="Text 15"/>
          <p:cNvSpPr txBox="1"/>
          <p:nvPr/>
        </p:nvSpPr>
        <p:spPr>
          <a:xfrm>
            <a:off x="548640" y="529437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8" name="Text 16"/>
          <p:cNvSpPr txBox="1"/>
          <p:nvPr/>
        </p:nvSpPr>
        <p:spPr>
          <a:xfrm>
            <a:off x="1170432" y="5266944"/>
            <a:ext cx="4724248" cy="850392"/>
          </a:xfrm>
          <a:prstGeom prst="rect">
            <a:avLst/>
          </a:prstGeom>
          <a:noFill/>
          <a:ln/>
        </p:spPr>
        <p:txBody>
          <a:bodyPr wrap="square" lIns="0" tIns="0" rIns="0" bIns="0" rtlCol="0" anchor="t"/>
          <a:lstStyle/>
          <a:p>
            <a:pPr indent="0" marL="0">
              <a:buNone/>
            </a:pPr>
            <a:r>
              <a:rPr lang="en-US" sz="2200" dirty="0">
                <a:solidFill>
                  <a:srgbClr val="222222"/>
                </a:solidFill>
              </a:rPr>
              <a:t>자연장과 “아무 곳에나 묻는 행위”의 차이</a:t>
            </a:r>
            <a:endParaRPr lang="en-US" sz="2200" dirty="0"/>
          </a:p>
        </p:txBody>
      </p:sp>
      <p:sp>
        <p:nvSpPr>
          <p:cNvPr id="19" name="Shape 17"/>
          <p:cNvSpPr/>
          <p:nvPr/>
        </p:nvSpPr>
        <p:spPr>
          <a:xfrm>
            <a:off x="6233008" y="1600200"/>
            <a:ext cx="438912" cy="438912"/>
          </a:xfrm>
          <a:prstGeom prst="ellipse">
            <a:avLst/>
          </a:prstGeom>
          <a:solidFill>
            <a:srgbClr val="2E7D6B"/>
          </a:solidFill>
          <a:ln w="12700">
            <a:solidFill>
              <a:srgbClr val="2E7D6B"/>
            </a:solidFill>
            <a:prstDash val="solid"/>
          </a:ln>
        </p:spPr>
      </p:sp>
      <p:sp>
        <p:nvSpPr>
          <p:cNvPr id="20" name="Text 18"/>
          <p:cNvSpPr txBox="1"/>
          <p:nvPr/>
        </p:nvSpPr>
        <p:spPr>
          <a:xfrm>
            <a:off x="6233008"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1" name="Text 19"/>
          <p:cNvSpPr txBox="1"/>
          <p:nvPr/>
        </p:nvSpPr>
        <p:spPr>
          <a:xfrm>
            <a:off x="6854800" y="1572768"/>
            <a:ext cx="4724248" cy="850392"/>
          </a:xfrm>
          <a:prstGeom prst="rect">
            <a:avLst/>
          </a:prstGeom>
          <a:noFill/>
          <a:ln/>
        </p:spPr>
        <p:txBody>
          <a:bodyPr wrap="square" lIns="0" tIns="0" rIns="0" bIns="0" rtlCol="0" anchor="t"/>
          <a:lstStyle/>
          <a:p>
            <a:pPr indent="0" marL="0">
              <a:buNone/>
            </a:pPr>
            <a:r>
              <a:rPr lang="en-US" sz="2200" dirty="0">
                <a:solidFill>
                  <a:srgbClr val="222222"/>
                </a:solidFill>
              </a:rPr>
              <a:t>무연고 사망자 장례의 기본 원칙</a:t>
            </a:r>
            <a:endParaRPr lang="en-US" sz="2200" dirty="0"/>
          </a:p>
        </p:txBody>
      </p:sp>
      <p:sp>
        <p:nvSpPr>
          <p:cNvPr id="22" name="Shape 20"/>
          <p:cNvSpPr/>
          <p:nvPr/>
        </p:nvSpPr>
        <p:spPr>
          <a:xfrm>
            <a:off x="6233008" y="2523744"/>
            <a:ext cx="438912" cy="438912"/>
          </a:xfrm>
          <a:prstGeom prst="ellipse">
            <a:avLst/>
          </a:prstGeom>
          <a:solidFill>
            <a:srgbClr val="2E7D6B"/>
          </a:solidFill>
          <a:ln w="12700">
            <a:solidFill>
              <a:srgbClr val="2E7D6B"/>
            </a:solidFill>
            <a:prstDash val="solid"/>
          </a:ln>
        </p:spPr>
      </p:sp>
      <p:sp>
        <p:nvSpPr>
          <p:cNvPr id="23" name="Text 21"/>
          <p:cNvSpPr txBox="1"/>
          <p:nvPr/>
        </p:nvSpPr>
        <p:spPr>
          <a:xfrm>
            <a:off x="6233008" y="252374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7</a:t>
            </a:r>
            <a:endParaRPr lang="en-US" sz="1500" dirty="0"/>
          </a:p>
        </p:txBody>
      </p:sp>
      <p:sp>
        <p:nvSpPr>
          <p:cNvPr id="24" name="Text 22"/>
          <p:cNvSpPr txBox="1"/>
          <p:nvPr/>
        </p:nvSpPr>
        <p:spPr>
          <a:xfrm>
            <a:off x="6854800" y="2496312"/>
            <a:ext cx="4724248" cy="850392"/>
          </a:xfrm>
          <a:prstGeom prst="rect">
            <a:avLst/>
          </a:prstGeom>
          <a:noFill/>
          <a:ln/>
        </p:spPr>
        <p:txBody>
          <a:bodyPr wrap="square" lIns="0" tIns="0" rIns="0" bIns="0" rtlCol="0" anchor="t"/>
          <a:lstStyle/>
          <a:p>
            <a:pPr indent="0" marL="0">
              <a:buNone/>
            </a:pPr>
            <a:r>
              <a:rPr lang="en-US" sz="2200" dirty="0">
                <a:solidFill>
                  <a:srgbClr val="222222"/>
                </a:solidFill>
              </a:rPr>
              <a:t>가족장·소규모 장례와 법정 장사방법의 구분</a:t>
            </a:r>
            <a:endParaRPr lang="en-US" sz="2200" dirty="0"/>
          </a:p>
        </p:txBody>
      </p:sp>
      <p:sp>
        <p:nvSpPr>
          <p:cNvPr id="25" name="Shape 23"/>
          <p:cNvSpPr/>
          <p:nvPr/>
        </p:nvSpPr>
        <p:spPr>
          <a:xfrm>
            <a:off x="6233008" y="3447288"/>
            <a:ext cx="438912" cy="438912"/>
          </a:xfrm>
          <a:prstGeom prst="ellipse">
            <a:avLst/>
          </a:prstGeom>
          <a:solidFill>
            <a:srgbClr val="2E7D6B"/>
          </a:solidFill>
          <a:ln w="12700">
            <a:solidFill>
              <a:srgbClr val="2E7D6B"/>
            </a:solidFill>
            <a:prstDash val="solid"/>
          </a:ln>
        </p:spPr>
      </p:sp>
      <p:sp>
        <p:nvSpPr>
          <p:cNvPr id="26" name="Text 24"/>
          <p:cNvSpPr txBox="1"/>
          <p:nvPr/>
        </p:nvSpPr>
        <p:spPr>
          <a:xfrm>
            <a:off x="6233008" y="344728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8</a:t>
            </a:r>
            <a:endParaRPr lang="en-US" sz="1500" dirty="0"/>
          </a:p>
        </p:txBody>
      </p:sp>
      <p:sp>
        <p:nvSpPr>
          <p:cNvPr id="27" name="Text 25"/>
          <p:cNvSpPr txBox="1"/>
          <p:nvPr/>
        </p:nvSpPr>
        <p:spPr>
          <a:xfrm>
            <a:off x="6854800" y="3419856"/>
            <a:ext cx="4724248" cy="850392"/>
          </a:xfrm>
          <a:prstGeom prst="rect">
            <a:avLst/>
          </a:prstGeom>
          <a:noFill/>
          <a:ln/>
        </p:spPr>
        <p:txBody>
          <a:bodyPr wrap="square" lIns="0" tIns="0" rIns="0" bIns="0" rtlCol="0" anchor="t"/>
          <a:lstStyle/>
          <a:p>
            <a:pPr indent="0" marL="0">
              <a:buNone/>
            </a:pPr>
            <a:r>
              <a:rPr lang="en-US" sz="2200" dirty="0">
                <a:solidFill>
                  <a:srgbClr val="222222"/>
                </a:solidFill>
              </a:rPr>
              <a:t>e하늘에서 WLC가 활용할 기능 네 가지</a:t>
            </a:r>
            <a:endParaRPr lang="en-US" sz="2200" dirty="0"/>
          </a:p>
        </p:txBody>
      </p:sp>
      <p:sp>
        <p:nvSpPr>
          <p:cNvPr id="28" name="Shape 26"/>
          <p:cNvSpPr/>
          <p:nvPr/>
        </p:nvSpPr>
        <p:spPr>
          <a:xfrm>
            <a:off x="6233008" y="4370832"/>
            <a:ext cx="438912" cy="438912"/>
          </a:xfrm>
          <a:prstGeom prst="ellipse">
            <a:avLst/>
          </a:prstGeom>
          <a:solidFill>
            <a:srgbClr val="2E7D6B"/>
          </a:solidFill>
          <a:ln w="12700">
            <a:solidFill>
              <a:srgbClr val="2E7D6B"/>
            </a:solidFill>
            <a:prstDash val="solid"/>
          </a:ln>
        </p:spPr>
      </p:sp>
      <p:sp>
        <p:nvSpPr>
          <p:cNvPr id="29" name="Text 27"/>
          <p:cNvSpPr txBox="1"/>
          <p:nvPr/>
        </p:nvSpPr>
        <p:spPr>
          <a:xfrm>
            <a:off x="6233008" y="437083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9</a:t>
            </a:r>
            <a:endParaRPr lang="en-US" sz="1500" dirty="0"/>
          </a:p>
        </p:txBody>
      </p:sp>
      <p:sp>
        <p:nvSpPr>
          <p:cNvPr id="30" name="Text 28"/>
          <p:cNvSpPr txBox="1"/>
          <p:nvPr/>
        </p:nvSpPr>
        <p:spPr>
          <a:xfrm>
            <a:off x="6854800" y="4343400"/>
            <a:ext cx="4724248" cy="850392"/>
          </a:xfrm>
          <a:prstGeom prst="rect">
            <a:avLst/>
          </a:prstGeom>
          <a:noFill/>
          <a:ln/>
        </p:spPr>
        <p:txBody>
          <a:bodyPr wrap="square" lIns="0" tIns="0" rIns="0" bIns="0" rtlCol="0" anchor="t"/>
          <a:lstStyle/>
          <a:p>
            <a:pPr indent="0" marL="0">
              <a:buNone/>
            </a:pPr>
            <a:r>
              <a:rPr lang="en-US" sz="2200" dirty="0">
                <a:solidFill>
                  <a:srgbClr val="222222"/>
                </a:solidFill>
              </a:rPr>
              <a:t>장례비용을 총액만 비교하면 안 되는 이유</a:t>
            </a:r>
            <a:endParaRPr lang="en-US" sz="2200" dirty="0"/>
          </a:p>
        </p:txBody>
      </p:sp>
      <p:sp>
        <p:nvSpPr>
          <p:cNvPr id="31" name="Shape 29"/>
          <p:cNvSpPr/>
          <p:nvPr/>
        </p:nvSpPr>
        <p:spPr>
          <a:xfrm>
            <a:off x="6233008" y="5294376"/>
            <a:ext cx="438912" cy="438912"/>
          </a:xfrm>
          <a:prstGeom prst="ellipse">
            <a:avLst/>
          </a:prstGeom>
          <a:solidFill>
            <a:srgbClr val="2E7D6B"/>
          </a:solidFill>
          <a:ln w="12700">
            <a:solidFill>
              <a:srgbClr val="2E7D6B"/>
            </a:solidFill>
            <a:prstDash val="solid"/>
          </a:ln>
        </p:spPr>
      </p:sp>
      <p:sp>
        <p:nvSpPr>
          <p:cNvPr id="32" name="Text 30"/>
          <p:cNvSpPr txBox="1"/>
          <p:nvPr/>
        </p:nvSpPr>
        <p:spPr>
          <a:xfrm>
            <a:off x="6233008" y="529437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10</a:t>
            </a:r>
            <a:endParaRPr lang="en-US" sz="1500" dirty="0"/>
          </a:p>
        </p:txBody>
      </p:sp>
      <p:sp>
        <p:nvSpPr>
          <p:cNvPr id="33" name="Text 31"/>
          <p:cNvSpPr txBox="1"/>
          <p:nvPr/>
        </p:nvSpPr>
        <p:spPr>
          <a:xfrm>
            <a:off x="6854800" y="5266944"/>
            <a:ext cx="4724248" cy="850392"/>
          </a:xfrm>
          <a:prstGeom prst="rect">
            <a:avLst/>
          </a:prstGeom>
          <a:noFill/>
          <a:ln/>
        </p:spPr>
        <p:txBody>
          <a:bodyPr wrap="square" lIns="0" tIns="0" rIns="0" bIns="0" rtlCol="0" anchor="t"/>
          <a:lstStyle/>
          <a:p>
            <a:pPr indent="0" marL="0">
              <a:buNone/>
            </a:pPr>
            <a:r>
              <a:rPr lang="en-US" sz="2200" dirty="0">
                <a:solidFill>
                  <a:srgbClr val="222222"/>
                </a:solidFill>
              </a:rPr>
              <a:t>장례·장묘 영역의 WLC 역할 경계 네 가지</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21절 핵심정리</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제6강에서 꼭 기억할 여섯 문장</a:t>
            </a:r>
            <a:endParaRPr lang="en-US" sz="2800" dirty="0"/>
          </a:p>
        </p:txBody>
      </p:sp>
      <p:sp>
        <p:nvSpPr>
          <p:cNvPr id="4" name="Shape 2"/>
          <p:cNvSpPr/>
          <p:nvPr/>
        </p:nvSpPr>
        <p:spPr>
          <a:xfrm>
            <a:off x="548640" y="1600200"/>
            <a:ext cx="438912" cy="438912"/>
          </a:xfrm>
          <a:prstGeom prst="ellipse">
            <a:avLst/>
          </a:prstGeom>
          <a:solidFill>
            <a:srgbClr val="2E7D6B"/>
          </a:solidFill>
          <a:ln w="12700">
            <a:solidFill>
              <a:srgbClr val="2E7D6B"/>
            </a:solidFill>
            <a:prstDash val="solid"/>
          </a:ln>
        </p:spPr>
      </p:sp>
      <p:sp>
        <p:nvSpPr>
          <p:cNvPr id="5" name="Text 3"/>
          <p:cNvSpPr txBox="1"/>
          <p:nvPr/>
        </p:nvSpPr>
        <p:spPr>
          <a:xfrm>
            <a:off x="548640"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170432" y="1572768"/>
            <a:ext cx="10408615" cy="696468"/>
          </a:xfrm>
          <a:prstGeom prst="rect">
            <a:avLst/>
          </a:prstGeom>
          <a:noFill/>
          <a:ln/>
        </p:spPr>
        <p:txBody>
          <a:bodyPr wrap="square" lIns="0" tIns="0" rIns="0" bIns="0" rtlCol="0" anchor="t"/>
          <a:lstStyle/>
          <a:p>
            <a:pPr indent="0" marL="0">
              <a:buNone/>
            </a:pPr>
            <a:r>
              <a:rPr lang="en-US" sz="2000" b="1" dirty="0">
                <a:solidFill>
                  <a:srgbClr val="1F4E4A"/>
                </a:solidFill>
              </a:rPr>
              <a:t>장례문화는 화장 이후의 선택으로 이동한다. </a:t>
            </a:r>
            <a:pPr indent="0" marL="0">
              <a:buNone/>
            </a:pPr>
            <a:r>
              <a:rPr lang="en-US" sz="2000" dirty="0">
                <a:solidFill>
                  <a:srgbClr val="222222"/>
                </a:solidFill>
              </a:rPr>
              <a:t> 봉안·자연장·골분 산분이 중요해졌다.</a:t>
            </a:r>
            <a:endParaRPr lang="en-US" sz="2000" dirty="0"/>
          </a:p>
        </p:txBody>
      </p:sp>
      <p:sp>
        <p:nvSpPr>
          <p:cNvPr id="7" name="Shape 5"/>
          <p:cNvSpPr/>
          <p:nvPr/>
        </p:nvSpPr>
        <p:spPr>
          <a:xfrm>
            <a:off x="548640" y="2369820"/>
            <a:ext cx="438912" cy="438912"/>
          </a:xfrm>
          <a:prstGeom prst="ellipse">
            <a:avLst/>
          </a:prstGeom>
          <a:solidFill>
            <a:srgbClr val="2E7D6B"/>
          </a:solidFill>
          <a:ln w="12700">
            <a:solidFill>
              <a:srgbClr val="2E7D6B"/>
            </a:solidFill>
            <a:prstDash val="solid"/>
          </a:ln>
        </p:spPr>
      </p:sp>
      <p:sp>
        <p:nvSpPr>
          <p:cNvPr id="8" name="Text 6"/>
          <p:cNvSpPr txBox="1"/>
          <p:nvPr/>
        </p:nvSpPr>
        <p:spPr>
          <a:xfrm>
            <a:off x="548640" y="23698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1170432" y="2342388"/>
            <a:ext cx="10408615" cy="696468"/>
          </a:xfrm>
          <a:prstGeom prst="rect">
            <a:avLst/>
          </a:prstGeom>
          <a:noFill/>
          <a:ln/>
        </p:spPr>
        <p:txBody>
          <a:bodyPr wrap="square" lIns="0" tIns="0" rIns="0" bIns="0" rtlCol="0" anchor="t"/>
          <a:lstStyle/>
          <a:p>
            <a:pPr indent="0" marL="0">
              <a:buNone/>
            </a:pPr>
            <a:r>
              <a:rPr lang="en-US" sz="2000" b="1" dirty="0">
                <a:solidFill>
                  <a:srgbClr val="1F4E4A"/>
                </a:solidFill>
              </a:rPr>
              <a:t>법정 용어와 생활용어를 구분한다. </a:t>
            </a:r>
            <a:pPr indent="0" marL="0">
              <a:buNone/>
            </a:pPr>
            <a:r>
              <a:rPr lang="en-US" sz="2000" dirty="0">
                <a:solidFill>
                  <a:srgbClr val="222222"/>
                </a:solidFill>
              </a:rPr>
              <a:t> 산분장·바다장·가족장은 법적 방법과 다를 수 있다.</a:t>
            </a:r>
            <a:endParaRPr lang="en-US" sz="2000" dirty="0"/>
          </a:p>
        </p:txBody>
      </p:sp>
      <p:sp>
        <p:nvSpPr>
          <p:cNvPr id="10" name="Shape 8"/>
          <p:cNvSpPr/>
          <p:nvPr/>
        </p:nvSpPr>
        <p:spPr>
          <a:xfrm>
            <a:off x="548640" y="3139440"/>
            <a:ext cx="438912" cy="438912"/>
          </a:xfrm>
          <a:prstGeom prst="ellipse">
            <a:avLst/>
          </a:prstGeom>
          <a:solidFill>
            <a:srgbClr val="2E7D6B"/>
          </a:solidFill>
          <a:ln w="12700">
            <a:solidFill>
              <a:srgbClr val="2E7D6B"/>
            </a:solidFill>
            <a:prstDash val="solid"/>
          </a:ln>
        </p:spPr>
      </p:sp>
      <p:sp>
        <p:nvSpPr>
          <p:cNvPr id="11" name="Text 9"/>
          <p:cNvSpPr txBox="1"/>
          <p:nvPr/>
        </p:nvSpPr>
        <p:spPr>
          <a:xfrm>
            <a:off x="548640" y="313944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10"/>
          <p:cNvSpPr txBox="1"/>
          <p:nvPr/>
        </p:nvSpPr>
        <p:spPr>
          <a:xfrm>
            <a:off x="1170432" y="3112008"/>
            <a:ext cx="10408615" cy="696468"/>
          </a:xfrm>
          <a:prstGeom prst="rect">
            <a:avLst/>
          </a:prstGeom>
          <a:noFill/>
          <a:ln/>
        </p:spPr>
        <p:txBody>
          <a:bodyPr wrap="square" lIns="0" tIns="0" rIns="0" bIns="0" rtlCol="0" anchor="t"/>
          <a:lstStyle/>
          <a:p>
            <a:pPr indent="0" marL="0">
              <a:buNone/>
            </a:pPr>
            <a:r>
              <a:rPr lang="en-US" sz="2000" b="1" dirty="0">
                <a:solidFill>
                  <a:srgbClr val="1F4E4A"/>
                </a:solidFill>
              </a:rPr>
              <a:t>자연장은 법이 정한 장사방법이다. </a:t>
            </a:r>
            <a:pPr indent="0" marL="0">
              <a:buNone/>
            </a:pPr>
            <a:r>
              <a:rPr lang="en-US" sz="2000" dirty="0">
                <a:solidFill>
                  <a:srgbClr val="222222"/>
                </a:solidFill>
              </a:rPr>
              <a:t> 아무 곳에나 묻거나 뿌리는 행위가 아니다.</a:t>
            </a:r>
            <a:endParaRPr lang="en-US" sz="2000" dirty="0"/>
          </a:p>
        </p:txBody>
      </p:sp>
      <p:sp>
        <p:nvSpPr>
          <p:cNvPr id="13" name="Shape 11"/>
          <p:cNvSpPr/>
          <p:nvPr/>
        </p:nvSpPr>
        <p:spPr>
          <a:xfrm>
            <a:off x="548640" y="3909060"/>
            <a:ext cx="438912" cy="438912"/>
          </a:xfrm>
          <a:prstGeom prst="ellipse">
            <a:avLst/>
          </a:prstGeom>
          <a:solidFill>
            <a:srgbClr val="2E7D6B"/>
          </a:solidFill>
          <a:ln w="12700">
            <a:solidFill>
              <a:srgbClr val="2E7D6B"/>
            </a:solidFill>
            <a:prstDash val="solid"/>
          </a:ln>
        </p:spPr>
      </p:sp>
      <p:sp>
        <p:nvSpPr>
          <p:cNvPr id="14" name="Text 12"/>
          <p:cNvSpPr txBox="1"/>
          <p:nvPr/>
        </p:nvSpPr>
        <p:spPr>
          <a:xfrm>
            <a:off x="548640" y="39090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5" name="Text 13"/>
          <p:cNvSpPr txBox="1"/>
          <p:nvPr/>
        </p:nvSpPr>
        <p:spPr>
          <a:xfrm>
            <a:off x="1170432" y="3881628"/>
            <a:ext cx="10408615" cy="696468"/>
          </a:xfrm>
          <a:prstGeom prst="rect">
            <a:avLst/>
          </a:prstGeom>
          <a:noFill/>
          <a:ln/>
        </p:spPr>
        <p:txBody>
          <a:bodyPr wrap="square" lIns="0" tIns="0" rIns="0" bIns="0" rtlCol="0" anchor="t"/>
          <a:lstStyle/>
          <a:p>
            <a:pPr indent="0" marL="0">
              <a:buNone/>
            </a:pPr>
            <a:r>
              <a:rPr lang="en-US" sz="2000" b="1" dirty="0">
                <a:solidFill>
                  <a:srgbClr val="1F4E4A"/>
                </a:solidFill>
              </a:rPr>
              <a:t>무연고의 죽음도 장례의 대상이다. </a:t>
            </a:r>
            <a:pPr indent="0" marL="0">
              <a:buNone/>
            </a:pPr>
            <a:r>
              <a:rPr lang="en-US" sz="2000" dirty="0">
                <a:solidFill>
                  <a:srgbClr val="222222"/>
                </a:solidFill>
              </a:rPr>
              <a:t> 공영장례는 존엄을 사회가 함께 지키는 제도다.</a:t>
            </a:r>
            <a:endParaRPr lang="en-US" sz="2000" dirty="0"/>
          </a:p>
        </p:txBody>
      </p:sp>
      <p:sp>
        <p:nvSpPr>
          <p:cNvPr id="16" name="Shape 14"/>
          <p:cNvSpPr/>
          <p:nvPr/>
        </p:nvSpPr>
        <p:spPr>
          <a:xfrm>
            <a:off x="548640" y="4678680"/>
            <a:ext cx="438912" cy="438912"/>
          </a:xfrm>
          <a:prstGeom prst="ellipse">
            <a:avLst/>
          </a:prstGeom>
          <a:solidFill>
            <a:srgbClr val="2E7D6B"/>
          </a:solidFill>
          <a:ln w="12700">
            <a:solidFill>
              <a:srgbClr val="2E7D6B"/>
            </a:solidFill>
            <a:prstDash val="solid"/>
          </a:ln>
        </p:spPr>
      </p:sp>
      <p:sp>
        <p:nvSpPr>
          <p:cNvPr id="17" name="Text 15"/>
          <p:cNvSpPr txBox="1"/>
          <p:nvPr/>
        </p:nvSpPr>
        <p:spPr>
          <a:xfrm>
            <a:off x="548640" y="46786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8" name="Text 16"/>
          <p:cNvSpPr txBox="1"/>
          <p:nvPr/>
        </p:nvSpPr>
        <p:spPr>
          <a:xfrm>
            <a:off x="1170432" y="4651248"/>
            <a:ext cx="10408615" cy="696468"/>
          </a:xfrm>
          <a:prstGeom prst="rect">
            <a:avLst/>
          </a:prstGeom>
          <a:noFill/>
          <a:ln/>
        </p:spPr>
        <p:txBody>
          <a:bodyPr wrap="square" lIns="0" tIns="0" rIns="0" bIns="0" rtlCol="0" anchor="t"/>
          <a:lstStyle/>
          <a:p>
            <a:pPr indent="0" marL="0">
              <a:buNone/>
            </a:pPr>
            <a:r>
              <a:rPr lang="en-US" sz="2000" b="1" dirty="0">
                <a:solidFill>
                  <a:srgbClr val="1F4E4A"/>
                </a:solidFill>
              </a:rPr>
              <a:t>장례의 크기보다 의미가 중요하다. </a:t>
            </a:r>
            <a:pPr indent="0" marL="0">
              <a:buNone/>
            </a:pPr>
            <a:r>
              <a:rPr lang="en-US" sz="2000" dirty="0">
                <a:solidFill>
                  <a:srgbClr val="222222"/>
                </a:solidFill>
              </a:rPr>
              <a:t> 이별·기억·관계의 지지가 핵심 기능이다.</a:t>
            </a:r>
            <a:endParaRPr lang="en-US" sz="2000" dirty="0"/>
          </a:p>
        </p:txBody>
      </p:sp>
      <p:sp>
        <p:nvSpPr>
          <p:cNvPr id="19" name="Shape 17"/>
          <p:cNvSpPr/>
          <p:nvPr/>
        </p:nvSpPr>
        <p:spPr>
          <a:xfrm>
            <a:off x="548640" y="5448300"/>
            <a:ext cx="438912" cy="438912"/>
          </a:xfrm>
          <a:prstGeom prst="ellipse">
            <a:avLst/>
          </a:prstGeom>
          <a:solidFill>
            <a:srgbClr val="2E7D6B"/>
          </a:solidFill>
          <a:ln w="12700">
            <a:solidFill>
              <a:srgbClr val="2E7D6B"/>
            </a:solidFill>
            <a:prstDash val="solid"/>
          </a:ln>
        </p:spPr>
      </p:sp>
      <p:sp>
        <p:nvSpPr>
          <p:cNvPr id="20" name="Text 18"/>
          <p:cNvSpPr txBox="1"/>
          <p:nvPr/>
        </p:nvSpPr>
        <p:spPr>
          <a:xfrm>
            <a:off x="548640" y="54483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1" name="Text 19"/>
          <p:cNvSpPr txBox="1"/>
          <p:nvPr/>
        </p:nvSpPr>
        <p:spPr>
          <a:xfrm>
            <a:off x="1170432" y="5420868"/>
            <a:ext cx="10408615" cy="696468"/>
          </a:xfrm>
          <a:prstGeom prst="rect">
            <a:avLst/>
          </a:prstGeom>
          <a:noFill/>
          <a:ln/>
        </p:spPr>
        <p:txBody>
          <a:bodyPr wrap="square" lIns="0" tIns="0" rIns="0" bIns="0" rtlCol="0" anchor="t"/>
          <a:lstStyle/>
          <a:p>
            <a:pPr indent="0" marL="0">
              <a:buNone/>
            </a:pPr>
            <a:r>
              <a:rPr lang="en-US" sz="2000" b="1" dirty="0">
                <a:solidFill>
                  <a:srgbClr val="1F4E4A"/>
                </a:solidFill>
              </a:rPr>
              <a:t>WLC는 공식정보를 연결하는 안내자다. </a:t>
            </a:r>
            <a:pPr indent="0" marL="0">
              <a:buNone/>
            </a:pPr>
            <a:r>
              <a:rPr lang="en-US" sz="2000" dirty="0">
                <a:solidFill>
                  <a:srgbClr val="222222"/>
                </a:solidFill>
              </a:rPr>
              <a:t> e하늘·국가법령정보센터·지자체 자료를 기준으로.</a:t>
            </a:r>
            <a:endParaRPr lang="en-US" sz="20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22절 WLC 코치 노트</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현장에서 기억할 여덟 가지</a:t>
            </a:r>
            <a:endParaRPr lang="en-US" sz="2800" dirty="0"/>
          </a:p>
        </p:txBody>
      </p:sp>
      <p:sp>
        <p:nvSpPr>
          <p:cNvPr id="4" name="Shape 2"/>
          <p:cNvSpPr/>
          <p:nvPr/>
        </p:nvSpPr>
        <p:spPr>
          <a:xfrm>
            <a:off x="548640" y="1600200"/>
            <a:ext cx="438912" cy="438912"/>
          </a:xfrm>
          <a:prstGeom prst="ellipse">
            <a:avLst/>
          </a:prstGeom>
          <a:solidFill>
            <a:srgbClr val="2E7D6B"/>
          </a:solidFill>
          <a:ln w="12700">
            <a:solidFill>
              <a:srgbClr val="2E7D6B"/>
            </a:solidFill>
            <a:prstDash val="solid"/>
          </a:ln>
        </p:spPr>
      </p:sp>
      <p:sp>
        <p:nvSpPr>
          <p:cNvPr id="5" name="Text 3"/>
          <p:cNvSpPr txBox="1"/>
          <p:nvPr/>
        </p:nvSpPr>
        <p:spPr>
          <a:xfrm>
            <a:off x="548640"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170432" y="1572768"/>
            <a:ext cx="4724248" cy="1081278"/>
          </a:xfrm>
          <a:prstGeom prst="rect">
            <a:avLst/>
          </a:prstGeom>
          <a:noFill/>
          <a:ln/>
        </p:spPr>
        <p:txBody>
          <a:bodyPr wrap="square" lIns="0" tIns="0" rIns="0" bIns="0" rtlCol="0" anchor="t"/>
          <a:lstStyle/>
          <a:p>
            <a:pPr indent="0" marL="0">
              <a:buNone/>
            </a:pPr>
            <a:r>
              <a:rPr lang="en-US" sz="2200" dirty="0">
                <a:solidFill>
                  <a:srgbClr val="222222"/>
                </a:solidFill>
              </a:rPr>
              <a:t>법보다 관행을 앞세우지 않는다</a:t>
            </a:r>
            <a:endParaRPr lang="en-US" sz="2200" dirty="0"/>
          </a:p>
        </p:txBody>
      </p:sp>
      <p:sp>
        <p:nvSpPr>
          <p:cNvPr id="7" name="Shape 5"/>
          <p:cNvSpPr/>
          <p:nvPr/>
        </p:nvSpPr>
        <p:spPr>
          <a:xfrm>
            <a:off x="548640" y="2754630"/>
            <a:ext cx="438912" cy="438912"/>
          </a:xfrm>
          <a:prstGeom prst="ellipse">
            <a:avLst/>
          </a:prstGeom>
          <a:solidFill>
            <a:srgbClr val="2E7D6B"/>
          </a:solidFill>
          <a:ln w="12700">
            <a:solidFill>
              <a:srgbClr val="2E7D6B"/>
            </a:solidFill>
            <a:prstDash val="solid"/>
          </a:ln>
        </p:spPr>
      </p:sp>
      <p:sp>
        <p:nvSpPr>
          <p:cNvPr id="8" name="Text 6"/>
          <p:cNvSpPr txBox="1"/>
          <p:nvPr/>
        </p:nvSpPr>
        <p:spPr>
          <a:xfrm>
            <a:off x="548640" y="275463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1170432" y="2727198"/>
            <a:ext cx="4724248" cy="1081278"/>
          </a:xfrm>
          <a:prstGeom prst="rect">
            <a:avLst/>
          </a:prstGeom>
          <a:noFill/>
          <a:ln/>
        </p:spPr>
        <p:txBody>
          <a:bodyPr wrap="square" lIns="0" tIns="0" rIns="0" bIns="0" rtlCol="0" anchor="t"/>
          <a:lstStyle/>
          <a:p>
            <a:pPr indent="0" marL="0">
              <a:buNone/>
            </a:pPr>
            <a:r>
              <a:rPr lang="en-US" sz="2200" dirty="0">
                <a:solidFill>
                  <a:srgbClr val="222222"/>
                </a:solidFill>
              </a:rPr>
              <a:t>“산분장”을 단순하게 안내하지 않는다</a:t>
            </a:r>
            <a:endParaRPr lang="en-US" sz="2200" dirty="0"/>
          </a:p>
        </p:txBody>
      </p:sp>
      <p:sp>
        <p:nvSpPr>
          <p:cNvPr id="10" name="Shape 8"/>
          <p:cNvSpPr/>
          <p:nvPr/>
        </p:nvSpPr>
        <p:spPr>
          <a:xfrm>
            <a:off x="548640" y="3909060"/>
            <a:ext cx="438912" cy="438912"/>
          </a:xfrm>
          <a:prstGeom prst="ellipse">
            <a:avLst/>
          </a:prstGeom>
          <a:solidFill>
            <a:srgbClr val="2E7D6B"/>
          </a:solidFill>
          <a:ln w="12700">
            <a:solidFill>
              <a:srgbClr val="2E7D6B"/>
            </a:solidFill>
            <a:prstDash val="solid"/>
          </a:ln>
        </p:spPr>
      </p:sp>
      <p:sp>
        <p:nvSpPr>
          <p:cNvPr id="11" name="Text 9"/>
          <p:cNvSpPr txBox="1"/>
          <p:nvPr/>
        </p:nvSpPr>
        <p:spPr>
          <a:xfrm>
            <a:off x="548640" y="39090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10"/>
          <p:cNvSpPr txBox="1"/>
          <p:nvPr/>
        </p:nvSpPr>
        <p:spPr>
          <a:xfrm>
            <a:off x="1170432" y="3881628"/>
            <a:ext cx="4724248" cy="1081278"/>
          </a:xfrm>
          <a:prstGeom prst="rect">
            <a:avLst/>
          </a:prstGeom>
          <a:noFill/>
          <a:ln/>
        </p:spPr>
        <p:txBody>
          <a:bodyPr wrap="square" lIns="0" tIns="0" rIns="0" bIns="0" rtlCol="0" anchor="t"/>
          <a:lstStyle/>
          <a:p>
            <a:pPr indent="0" marL="0">
              <a:buNone/>
            </a:pPr>
            <a:r>
              <a:rPr lang="en-US" sz="2200" dirty="0">
                <a:solidFill>
                  <a:srgbClr val="222222"/>
                </a:solidFill>
              </a:rPr>
              <a:t>장례의 크기로 존엄을 판단하지 않는다</a:t>
            </a:r>
            <a:endParaRPr lang="en-US" sz="2200" dirty="0"/>
          </a:p>
        </p:txBody>
      </p:sp>
      <p:sp>
        <p:nvSpPr>
          <p:cNvPr id="13" name="Shape 11"/>
          <p:cNvSpPr/>
          <p:nvPr/>
        </p:nvSpPr>
        <p:spPr>
          <a:xfrm>
            <a:off x="548640" y="5063490"/>
            <a:ext cx="438912" cy="438912"/>
          </a:xfrm>
          <a:prstGeom prst="ellipse">
            <a:avLst/>
          </a:prstGeom>
          <a:solidFill>
            <a:srgbClr val="2E7D6B"/>
          </a:solidFill>
          <a:ln w="12700">
            <a:solidFill>
              <a:srgbClr val="2E7D6B"/>
            </a:solidFill>
            <a:prstDash val="solid"/>
          </a:ln>
        </p:spPr>
      </p:sp>
      <p:sp>
        <p:nvSpPr>
          <p:cNvPr id="14" name="Text 12"/>
          <p:cNvSpPr txBox="1"/>
          <p:nvPr/>
        </p:nvSpPr>
        <p:spPr>
          <a:xfrm>
            <a:off x="548640" y="506349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5" name="Text 13"/>
          <p:cNvSpPr txBox="1"/>
          <p:nvPr/>
        </p:nvSpPr>
        <p:spPr>
          <a:xfrm>
            <a:off x="1170432" y="5036058"/>
            <a:ext cx="4724248" cy="1081278"/>
          </a:xfrm>
          <a:prstGeom prst="rect">
            <a:avLst/>
          </a:prstGeom>
          <a:noFill/>
          <a:ln/>
        </p:spPr>
        <p:txBody>
          <a:bodyPr wrap="square" lIns="0" tIns="0" rIns="0" bIns="0" rtlCol="0" anchor="t"/>
          <a:lstStyle/>
          <a:p>
            <a:pPr indent="0" marL="0">
              <a:buNone/>
            </a:pPr>
            <a:r>
              <a:rPr lang="en-US" sz="2200" dirty="0">
                <a:solidFill>
                  <a:srgbClr val="222222"/>
                </a:solidFill>
              </a:rPr>
              <a:t>가족에게 관리 부담을 묻는다</a:t>
            </a:r>
            <a:endParaRPr lang="en-US" sz="2200" dirty="0"/>
          </a:p>
        </p:txBody>
      </p:sp>
      <p:sp>
        <p:nvSpPr>
          <p:cNvPr id="16" name="Shape 14"/>
          <p:cNvSpPr/>
          <p:nvPr/>
        </p:nvSpPr>
        <p:spPr>
          <a:xfrm>
            <a:off x="6233008" y="1600200"/>
            <a:ext cx="438912" cy="438912"/>
          </a:xfrm>
          <a:prstGeom prst="ellipse">
            <a:avLst/>
          </a:prstGeom>
          <a:solidFill>
            <a:srgbClr val="2E7D6B"/>
          </a:solidFill>
          <a:ln w="12700">
            <a:solidFill>
              <a:srgbClr val="2E7D6B"/>
            </a:solidFill>
            <a:prstDash val="solid"/>
          </a:ln>
        </p:spPr>
      </p:sp>
      <p:sp>
        <p:nvSpPr>
          <p:cNvPr id="17" name="Text 15"/>
          <p:cNvSpPr txBox="1"/>
          <p:nvPr/>
        </p:nvSpPr>
        <p:spPr>
          <a:xfrm>
            <a:off x="6233008"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8" name="Text 16"/>
          <p:cNvSpPr txBox="1"/>
          <p:nvPr/>
        </p:nvSpPr>
        <p:spPr>
          <a:xfrm>
            <a:off x="6854800" y="1572768"/>
            <a:ext cx="4724248" cy="1081278"/>
          </a:xfrm>
          <a:prstGeom prst="rect">
            <a:avLst/>
          </a:prstGeom>
          <a:noFill/>
          <a:ln/>
        </p:spPr>
        <p:txBody>
          <a:bodyPr wrap="square" lIns="0" tIns="0" rIns="0" bIns="0" rtlCol="0" anchor="t"/>
          <a:lstStyle/>
          <a:p>
            <a:pPr indent="0" marL="0">
              <a:buNone/>
            </a:pPr>
            <a:r>
              <a:rPr lang="en-US" sz="2200" dirty="0">
                <a:solidFill>
                  <a:srgbClr val="222222"/>
                </a:solidFill>
              </a:rPr>
              <a:t>공영장례를 부끄러운 장례로 말하지 않는다</a:t>
            </a:r>
            <a:endParaRPr lang="en-US" sz="2200" dirty="0"/>
          </a:p>
        </p:txBody>
      </p:sp>
      <p:sp>
        <p:nvSpPr>
          <p:cNvPr id="19" name="Shape 17"/>
          <p:cNvSpPr/>
          <p:nvPr/>
        </p:nvSpPr>
        <p:spPr>
          <a:xfrm>
            <a:off x="6233008" y="2754630"/>
            <a:ext cx="438912" cy="438912"/>
          </a:xfrm>
          <a:prstGeom prst="ellipse">
            <a:avLst/>
          </a:prstGeom>
          <a:solidFill>
            <a:srgbClr val="2E7D6B"/>
          </a:solidFill>
          <a:ln w="12700">
            <a:solidFill>
              <a:srgbClr val="2E7D6B"/>
            </a:solidFill>
            <a:prstDash val="solid"/>
          </a:ln>
        </p:spPr>
      </p:sp>
      <p:sp>
        <p:nvSpPr>
          <p:cNvPr id="20" name="Text 18"/>
          <p:cNvSpPr txBox="1"/>
          <p:nvPr/>
        </p:nvSpPr>
        <p:spPr>
          <a:xfrm>
            <a:off x="6233008" y="275463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1" name="Text 19"/>
          <p:cNvSpPr txBox="1"/>
          <p:nvPr/>
        </p:nvSpPr>
        <p:spPr>
          <a:xfrm>
            <a:off x="6854800" y="2727198"/>
            <a:ext cx="4724248" cy="1081278"/>
          </a:xfrm>
          <a:prstGeom prst="rect">
            <a:avLst/>
          </a:prstGeom>
          <a:noFill/>
          <a:ln/>
        </p:spPr>
        <p:txBody>
          <a:bodyPr wrap="square" lIns="0" tIns="0" rIns="0" bIns="0" rtlCol="0" anchor="t"/>
          <a:lstStyle/>
          <a:p>
            <a:pPr indent="0" marL="0">
              <a:buNone/>
            </a:pPr>
            <a:r>
              <a:rPr lang="en-US" sz="2200" dirty="0">
                <a:solidFill>
                  <a:srgbClr val="222222"/>
                </a:solidFill>
              </a:rPr>
              <a:t>가격보다 구조를 본다</a:t>
            </a:r>
            <a:endParaRPr lang="en-US" sz="2200" dirty="0"/>
          </a:p>
        </p:txBody>
      </p:sp>
      <p:sp>
        <p:nvSpPr>
          <p:cNvPr id="22" name="Shape 20"/>
          <p:cNvSpPr/>
          <p:nvPr/>
        </p:nvSpPr>
        <p:spPr>
          <a:xfrm>
            <a:off x="6233008" y="3909060"/>
            <a:ext cx="438912" cy="438912"/>
          </a:xfrm>
          <a:prstGeom prst="ellipse">
            <a:avLst/>
          </a:prstGeom>
          <a:solidFill>
            <a:srgbClr val="2E7D6B"/>
          </a:solidFill>
          <a:ln w="12700">
            <a:solidFill>
              <a:srgbClr val="2E7D6B"/>
            </a:solidFill>
            <a:prstDash val="solid"/>
          </a:ln>
        </p:spPr>
      </p:sp>
      <p:sp>
        <p:nvSpPr>
          <p:cNvPr id="23" name="Text 21"/>
          <p:cNvSpPr txBox="1"/>
          <p:nvPr/>
        </p:nvSpPr>
        <p:spPr>
          <a:xfrm>
            <a:off x="6233008" y="39090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7</a:t>
            </a:r>
            <a:endParaRPr lang="en-US" sz="1500" dirty="0"/>
          </a:p>
        </p:txBody>
      </p:sp>
      <p:sp>
        <p:nvSpPr>
          <p:cNvPr id="24" name="Text 22"/>
          <p:cNvSpPr txBox="1"/>
          <p:nvPr/>
        </p:nvSpPr>
        <p:spPr>
          <a:xfrm>
            <a:off x="6854800" y="3881628"/>
            <a:ext cx="4724248" cy="1081278"/>
          </a:xfrm>
          <a:prstGeom prst="rect">
            <a:avLst/>
          </a:prstGeom>
          <a:noFill/>
          <a:ln/>
        </p:spPr>
        <p:txBody>
          <a:bodyPr wrap="square" lIns="0" tIns="0" rIns="0" bIns="0" rtlCol="0" anchor="t"/>
          <a:lstStyle/>
          <a:p>
            <a:pPr indent="0" marL="0">
              <a:buNone/>
            </a:pPr>
            <a:r>
              <a:rPr lang="en-US" sz="2200" dirty="0">
                <a:solidFill>
                  <a:srgbClr val="222222"/>
                </a:solidFill>
              </a:rPr>
              <a:t>공식정보를 습관화한다</a:t>
            </a:r>
            <a:endParaRPr lang="en-US" sz="2200" dirty="0"/>
          </a:p>
        </p:txBody>
      </p:sp>
      <p:sp>
        <p:nvSpPr>
          <p:cNvPr id="25" name="Shape 23"/>
          <p:cNvSpPr/>
          <p:nvPr/>
        </p:nvSpPr>
        <p:spPr>
          <a:xfrm>
            <a:off x="6233008" y="5063490"/>
            <a:ext cx="438912" cy="438912"/>
          </a:xfrm>
          <a:prstGeom prst="ellipse">
            <a:avLst/>
          </a:prstGeom>
          <a:solidFill>
            <a:srgbClr val="2E7D6B"/>
          </a:solidFill>
          <a:ln w="12700">
            <a:solidFill>
              <a:srgbClr val="2E7D6B"/>
            </a:solidFill>
            <a:prstDash val="solid"/>
          </a:ln>
        </p:spPr>
      </p:sp>
      <p:sp>
        <p:nvSpPr>
          <p:cNvPr id="26" name="Text 24"/>
          <p:cNvSpPr txBox="1"/>
          <p:nvPr/>
        </p:nvSpPr>
        <p:spPr>
          <a:xfrm>
            <a:off x="6233008" y="506349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8</a:t>
            </a:r>
            <a:endParaRPr lang="en-US" sz="1500" dirty="0"/>
          </a:p>
        </p:txBody>
      </p:sp>
      <p:sp>
        <p:nvSpPr>
          <p:cNvPr id="27" name="Text 25"/>
          <p:cNvSpPr txBox="1"/>
          <p:nvPr/>
        </p:nvSpPr>
        <p:spPr>
          <a:xfrm>
            <a:off x="6854800" y="5036058"/>
            <a:ext cx="4724248" cy="1081278"/>
          </a:xfrm>
          <a:prstGeom prst="rect">
            <a:avLst/>
          </a:prstGeom>
          <a:noFill/>
          <a:ln/>
        </p:spPr>
        <p:txBody>
          <a:bodyPr wrap="square" lIns="0" tIns="0" rIns="0" bIns="0" rtlCol="0" anchor="t"/>
          <a:lstStyle/>
          <a:p>
            <a:pPr indent="0" marL="0">
              <a:buNone/>
            </a:pPr>
            <a:r>
              <a:rPr lang="en-US" sz="2200" dirty="0">
                <a:solidFill>
                  <a:srgbClr val="222222"/>
                </a:solidFill>
              </a:rPr>
              <a:t>장례 뒤의 애도를 잊지 않는다</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이번 주 과제와 실천</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다음 시간까지 해 올 세 가지</a:t>
            </a:r>
            <a:endParaRPr lang="en-US" sz="2800" dirty="0"/>
          </a:p>
        </p:txBody>
      </p:sp>
      <p:sp>
        <p:nvSpPr>
          <p:cNvPr id="4" name="Shape 2"/>
          <p:cNvSpPr/>
          <p:nvPr/>
        </p:nvSpPr>
        <p:spPr>
          <a:xfrm>
            <a:off x="548640" y="1554480"/>
            <a:ext cx="3515258" cy="4617720"/>
          </a:xfrm>
          <a:prstGeom prst="roundRect">
            <a:avLst>
              <a:gd name="adj" fmla="val 3121"/>
            </a:avLst>
          </a:prstGeom>
          <a:solidFill>
            <a:srgbClr val="EAF3F0"/>
          </a:solidFill>
          <a:ln w="12700">
            <a:solidFill>
              <a:srgbClr val="EAF3F0"/>
            </a:solidFill>
            <a:prstDash val="solid"/>
          </a:ln>
        </p:spPr>
      </p:sp>
      <p:sp>
        <p:nvSpPr>
          <p:cNvPr id="5" name="Shape 3"/>
          <p:cNvSpPr/>
          <p:nvPr/>
        </p:nvSpPr>
        <p:spPr>
          <a:xfrm>
            <a:off x="777240" y="1783080"/>
            <a:ext cx="548640" cy="548640"/>
          </a:xfrm>
          <a:prstGeom prst="ellipse">
            <a:avLst/>
          </a:prstGeom>
          <a:solidFill>
            <a:srgbClr val="2E7D6B"/>
          </a:solidFill>
          <a:ln w="12700">
            <a:solidFill>
              <a:srgbClr val="2E7D6B"/>
            </a:solidFill>
            <a:prstDash val="solid"/>
          </a:ln>
        </p:spPr>
      </p:sp>
      <p:pic>
        <p:nvPicPr>
          <p:cNvPr id="6" name="Image 0" descr="preencoded.png">    </p:cNvPr>
          <p:cNvPicPr>
            <a:picLocks noChangeAspect="1"/>
          </p:cNvPicPr>
          <p:nvPr/>
        </p:nvPicPr>
        <p:blipFill>
          <a:blip r:embed="rId1"/>
          <a:stretch>
            <a:fillRect/>
          </a:stretch>
        </p:blipFill>
        <p:spPr>
          <a:xfrm>
            <a:off x="919886" y="1925726"/>
            <a:ext cx="263347" cy="263347"/>
          </a:xfrm>
          <a:prstGeom prst="rect">
            <a:avLst/>
          </a:prstGeom>
        </p:spPr>
      </p:pic>
      <p:sp>
        <p:nvSpPr>
          <p:cNvPr id="7" name="Text 4"/>
          <p:cNvSpPr txBox="1"/>
          <p:nvPr/>
        </p:nvSpPr>
        <p:spPr>
          <a:xfrm>
            <a:off x="777240" y="2468880"/>
            <a:ext cx="3058058" cy="3566160"/>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e하늘에서 비교하기</a:t>
            </a:r>
            <a:endParaRPr lang="en-US" sz="2200" dirty="0"/>
          </a:p>
          <a:p>
            <a:pPr indent="0" marL="0">
              <a:buNone/>
            </a:pPr>
            <a:r>
              <a:rPr lang="en-US" sz="2200" dirty="0">
                <a:solidFill>
                  <a:srgbClr val="222222"/>
                </a:solidFill>
              </a:rPr>
              <a:t>우리 지역 봉안시설·자연장지 1곳씩 찾아 비교표의 “추가 확인할 정보”를 채웁니다.</a:t>
            </a:r>
            <a:endParaRPr lang="en-US" sz="2200" dirty="0"/>
          </a:p>
        </p:txBody>
      </p:sp>
      <p:sp>
        <p:nvSpPr>
          <p:cNvPr id="8" name="Shape 5"/>
          <p:cNvSpPr/>
          <p:nvPr/>
        </p:nvSpPr>
        <p:spPr>
          <a:xfrm>
            <a:off x="4338218" y="1554480"/>
            <a:ext cx="3515258" cy="4617720"/>
          </a:xfrm>
          <a:prstGeom prst="roundRect">
            <a:avLst>
              <a:gd name="adj" fmla="val 3121"/>
            </a:avLst>
          </a:prstGeom>
          <a:solidFill>
            <a:srgbClr val="EAF3F0"/>
          </a:solidFill>
          <a:ln w="12700">
            <a:solidFill>
              <a:srgbClr val="EAF3F0"/>
            </a:solidFill>
            <a:prstDash val="solid"/>
          </a:ln>
        </p:spPr>
      </p:sp>
      <p:sp>
        <p:nvSpPr>
          <p:cNvPr id="9" name="Shape 6"/>
          <p:cNvSpPr/>
          <p:nvPr/>
        </p:nvSpPr>
        <p:spPr>
          <a:xfrm>
            <a:off x="4566818" y="1783080"/>
            <a:ext cx="548640" cy="548640"/>
          </a:xfrm>
          <a:prstGeom prst="ellipse">
            <a:avLst/>
          </a:prstGeom>
          <a:solidFill>
            <a:srgbClr val="2E7D6B"/>
          </a:solidFill>
          <a:ln w="12700">
            <a:solidFill>
              <a:srgbClr val="2E7D6B"/>
            </a:solidFill>
            <a:prstDash val="solid"/>
          </a:ln>
        </p:spPr>
      </p:sp>
      <p:pic>
        <p:nvPicPr>
          <p:cNvPr id="10" name="Image 1" descr="preencoded.png">    </p:cNvPr>
          <p:cNvPicPr>
            <a:picLocks noChangeAspect="1"/>
          </p:cNvPicPr>
          <p:nvPr/>
        </p:nvPicPr>
        <p:blipFill>
          <a:blip r:embed="rId2"/>
          <a:stretch>
            <a:fillRect/>
          </a:stretch>
        </p:blipFill>
        <p:spPr>
          <a:xfrm>
            <a:off x="4709465" y="1925726"/>
            <a:ext cx="263347" cy="263347"/>
          </a:xfrm>
          <a:prstGeom prst="rect">
            <a:avLst/>
          </a:prstGeom>
        </p:spPr>
      </p:pic>
      <p:sp>
        <p:nvSpPr>
          <p:cNvPr id="11" name="Text 7"/>
          <p:cNvSpPr txBox="1"/>
          <p:nvPr/>
        </p:nvSpPr>
        <p:spPr>
          <a:xfrm>
            <a:off x="4566818" y="2468880"/>
            <a:ext cx="3058058" cy="3566160"/>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사전 장례설계 옮기기</a:t>
            </a:r>
            <a:endParaRPr lang="en-US" sz="2200" dirty="0"/>
          </a:p>
          <a:p>
            <a:pPr indent="0" marL="0">
              <a:buNone/>
            </a:pPr>
            <a:r>
              <a:rPr lang="en-US" sz="2200" dirty="0">
                <a:solidFill>
                  <a:srgbClr val="222222"/>
                </a:solidFill>
              </a:rPr>
              <a:t>8영역의 바람을 엔딩노트 “장례·추모” 쪽에 옮겨 적습니다.</a:t>
            </a:r>
            <a:endParaRPr lang="en-US" sz="2200" dirty="0"/>
          </a:p>
        </p:txBody>
      </p:sp>
      <p:sp>
        <p:nvSpPr>
          <p:cNvPr id="12" name="Shape 8"/>
          <p:cNvSpPr/>
          <p:nvPr/>
        </p:nvSpPr>
        <p:spPr>
          <a:xfrm>
            <a:off x="8127797" y="1554480"/>
            <a:ext cx="3515258" cy="4617720"/>
          </a:xfrm>
          <a:prstGeom prst="roundRect">
            <a:avLst>
              <a:gd name="adj" fmla="val 3121"/>
            </a:avLst>
          </a:prstGeom>
          <a:solidFill>
            <a:srgbClr val="E8EFF8"/>
          </a:solidFill>
          <a:ln w="12700">
            <a:solidFill>
              <a:srgbClr val="E8EFF8"/>
            </a:solidFill>
            <a:prstDash val="solid"/>
          </a:ln>
        </p:spPr>
      </p:sp>
      <p:sp>
        <p:nvSpPr>
          <p:cNvPr id="13" name="Shape 9"/>
          <p:cNvSpPr/>
          <p:nvPr/>
        </p:nvSpPr>
        <p:spPr>
          <a:xfrm>
            <a:off x="8356397" y="1783080"/>
            <a:ext cx="548640" cy="548640"/>
          </a:xfrm>
          <a:prstGeom prst="ellipse">
            <a:avLst/>
          </a:prstGeom>
          <a:solidFill>
            <a:srgbClr val="3A6EA5"/>
          </a:solidFill>
          <a:ln w="12700">
            <a:solidFill>
              <a:srgbClr val="3A6EA5"/>
            </a:solidFill>
            <a:prstDash val="solid"/>
          </a:ln>
        </p:spPr>
      </p:sp>
      <p:pic>
        <p:nvPicPr>
          <p:cNvPr id="14" name="Image 2" descr="preencoded.png">    </p:cNvPr>
          <p:cNvPicPr>
            <a:picLocks noChangeAspect="1"/>
          </p:cNvPicPr>
          <p:nvPr/>
        </p:nvPicPr>
        <p:blipFill>
          <a:blip r:embed="rId3"/>
          <a:stretch>
            <a:fillRect/>
          </a:stretch>
        </p:blipFill>
        <p:spPr>
          <a:xfrm>
            <a:off x="8499043" y="1925726"/>
            <a:ext cx="263347" cy="263347"/>
          </a:xfrm>
          <a:prstGeom prst="rect">
            <a:avLst/>
          </a:prstGeom>
        </p:spPr>
      </p:pic>
      <p:sp>
        <p:nvSpPr>
          <p:cNvPr id="15" name="Text 10"/>
          <p:cNvSpPr txBox="1"/>
          <p:nvPr/>
        </p:nvSpPr>
        <p:spPr>
          <a:xfrm>
            <a:off x="8356397" y="2468880"/>
            <a:ext cx="3058058" cy="3566160"/>
          </a:xfrm>
          <a:prstGeom prst="rect">
            <a:avLst/>
          </a:prstGeom>
          <a:noFill/>
          <a:ln/>
        </p:spPr>
        <p:txBody>
          <a:bodyPr wrap="square" lIns="0" tIns="0" rIns="0" bIns="0" rtlCol="0" anchor="t"/>
          <a:lstStyle/>
          <a:p>
            <a:pPr indent="0" marL="0">
              <a:spcAft>
                <a:spcPts val="600"/>
              </a:spcAft>
              <a:buNone/>
            </a:pPr>
            <a:r>
              <a:rPr lang="en-US" sz="2200" b="1" dirty="0">
                <a:solidFill>
                  <a:srgbClr val="3A6EA5"/>
                </a:solidFill>
              </a:rPr>
              <a:t>가족대화 한 번</a:t>
            </a:r>
            <a:endParaRPr lang="en-US" sz="2200" dirty="0"/>
          </a:p>
          <a:p>
            <a:pPr indent="0" marL="0">
              <a:buNone/>
            </a:pPr>
            <a:r>
              <a:rPr lang="en-US" sz="2200" dirty="0">
                <a:solidFill>
                  <a:srgbClr val="222222"/>
                </a:solidFill>
              </a:rPr>
              <a:t>만든 시작 문장으로 가족에게 장례 바람 하나를 이야기합니다.</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548640" y="1463040"/>
            <a:ext cx="11094415" cy="457200"/>
          </a:xfrm>
          <a:prstGeom prst="rect">
            <a:avLst/>
          </a:prstGeom>
          <a:noFill/>
          <a:ln/>
        </p:spPr>
        <p:txBody>
          <a:bodyPr wrap="square" lIns="0" tIns="0" rIns="0" bIns="0" rtlCol="0" anchor="t"/>
          <a:lstStyle/>
          <a:p>
            <a:pPr algn="ctr" indent="0" marL="0">
              <a:buNone/>
            </a:pPr>
            <a:r>
              <a:rPr lang="en-US" sz="1800" b="1" dirty="0">
                <a:solidFill>
                  <a:srgbClr val="8FB9A8"/>
                </a:solidFill>
              </a:rPr>
              <a:t>제6강의 마지막 질문</a:t>
            </a:r>
            <a:endParaRPr lang="en-US" sz="1800" dirty="0"/>
          </a:p>
        </p:txBody>
      </p:sp>
      <p:sp>
        <p:nvSpPr>
          <p:cNvPr id="3" name="Text 1"/>
          <p:cNvSpPr txBox="1"/>
          <p:nvPr/>
        </p:nvSpPr>
        <p:spPr>
          <a:xfrm>
            <a:off x="1005840" y="2103120"/>
            <a:ext cx="10180015" cy="2011680"/>
          </a:xfrm>
          <a:prstGeom prst="rect">
            <a:avLst/>
          </a:prstGeom>
          <a:noFill/>
          <a:ln/>
        </p:spPr>
        <p:txBody>
          <a:bodyPr wrap="square" lIns="0" tIns="0" rIns="0" bIns="0" rtlCol="0" anchor="ctr"/>
          <a:lstStyle/>
          <a:p>
            <a:pPr algn="ctr" indent="0" marL="0">
              <a:buNone/>
            </a:pPr>
            <a:r>
              <a:rPr lang="en-US" sz="4000" b="1" dirty="0">
                <a:solidFill>
                  <a:srgbClr val="FFFFFF"/>
                </a:solidFill>
              </a:rPr>
              <a:t>“내 장례가 가족에게</a:t>
            </a:r>
            <a:endParaRPr lang="en-US" sz="4000" dirty="0"/>
          </a:p>
          <a:p>
            <a:pPr algn="ctr" indent="0" marL="0">
              <a:buNone/>
            </a:pPr>
            <a:r>
              <a:rPr lang="en-US" sz="4000" b="1" dirty="0">
                <a:solidFill>
                  <a:srgbClr val="FFFFFF"/>
                </a:solidFill>
              </a:rPr>
              <a:t>어떤 이별의 시간이</a:t>
            </a:r>
            <a:endParaRPr lang="en-US" sz="4000" dirty="0"/>
          </a:p>
          <a:p>
            <a:pPr algn="ctr" indent="0" marL="0">
              <a:buNone/>
            </a:pPr>
            <a:r>
              <a:rPr lang="en-US" sz="4000" b="1" dirty="0">
                <a:solidFill>
                  <a:srgbClr val="FFFFFF"/>
                </a:solidFill>
              </a:rPr>
              <a:t>되기를 바라는가?”</a:t>
            </a:r>
            <a:endParaRPr lang="en-US" sz="4000" dirty="0"/>
          </a:p>
        </p:txBody>
      </p:sp>
      <p:sp>
        <p:nvSpPr>
          <p:cNvPr id="4" name="Text 2"/>
          <p:cNvSpPr txBox="1"/>
          <p:nvPr/>
        </p:nvSpPr>
        <p:spPr>
          <a:xfrm>
            <a:off x="548640" y="4480560"/>
            <a:ext cx="11094415" cy="548640"/>
          </a:xfrm>
          <a:prstGeom prst="rect">
            <a:avLst/>
          </a:prstGeom>
          <a:noFill/>
          <a:ln/>
        </p:spPr>
        <p:txBody>
          <a:bodyPr wrap="square" lIns="0" tIns="0" rIns="0" bIns="0" rtlCol="0" anchor="t"/>
          <a:lstStyle/>
          <a:p>
            <a:pPr algn="ctr" indent="0" marL="0">
              <a:buNone/>
            </a:pPr>
            <a:r>
              <a:rPr lang="en-US" sz="1800" dirty="0">
                <a:solidFill>
                  <a:srgbClr val="CFE3DC"/>
                </a:solidFill>
              </a:rPr>
              <a:t>“어떤 장례방식을 원하는가”보다 먼저 묻는 질문</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다음 회차 예고</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다음 시간에 만날 이야기</a:t>
            </a:r>
            <a:endParaRPr lang="en-US" sz="2800" dirty="0"/>
          </a:p>
        </p:txBody>
      </p:sp>
      <p:sp>
        <p:nvSpPr>
          <p:cNvPr id="4" name="Shape 2"/>
          <p:cNvSpPr/>
          <p:nvPr/>
        </p:nvSpPr>
        <p:spPr>
          <a:xfrm>
            <a:off x="548640" y="1554480"/>
            <a:ext cx="4937760" cy="4572000"/>
          </a:xfrm>
          <a:prstGeom prst="roundRect">
            <a:avLst>
              <a:gd name="adj" fmla="val 2400"/>
            </a:avLst>
          </a:prstGeom>
          <a:solidFill>
            <a:srgbClr val="1F4E4A"/>
          </a:solidFill>
          <a:ln w="12700">
            <a:solidFill>
              <a:srgbClr val="1F4E4A"/>
            </a:solidFill>
            <a:prstDash val="solid"/>
          </a:ln>
        </p:spPr>
      </p:sp>
      <p:sp>
        <p:nvSpPr>
          <p:cNvPr id="5" name="Text 3"/>
          <p:cNvSpPr txBox="1"/>
          <p:nvPr/>
        </p:nvSpPr>
        <p:spPr>
          <a:xfrm>
            <a:off x="868680" y="1783080"/>
            <a:ext cx="4389120" cy="365760"/>
          </a:xfrm>
          <a:prstGeom prst="rect">
            <a:avLst/>
          </a:prstGeom>
          <a:noFill/>
          <a:ln/>
        </p:spPr>
        <p:txBody>
          <a:bodyPr wrap="square" lIns="0" tIns="0" rIns="0" bIns="0" rtlCol="0" anchor="t"/>
          <a:lstStyle/>
          <a:p>
            <a:pPr indent="0" marL="0">
              <a:buNone/>
            </a:pPr>
            <a:r>
              <a:rPr lang="en-US" sz="1500" b="1" dirty="0">
                <a:solidFill>
                  <a:srgbClr val="8FB9A8"/>
                </a:solidFill>
              </a:rPr>
              <a:t>다음 시간  ·  제7강</a:t>
            </a:r>
            <a:endParaRPr lang="en-US" sz="1500" dirty="0"/>
          </a:p>
        </p:txBody>
      </p:sp>
      <p:sp>
        <p:nvSpPr>
          <p:cNvPr id="6" name="Text 4"/>
          <p:cNvSpPr txBox="1"/>
          <p:nvPr/>
        </p:nvSpPr>
        <p:spPr>
          <a:xfrm>
            <a:off x="868680" y="2194560"/>
            <a:ext cx="4389120" cy="1188720"/>
          </a:xfrm>
          <a:prstGeom prst="rect">
            <a:avLst/>
          </a:prstGeom>
          <a:noFill/>
          <a:ln/>
        </p:spPr>
        <p:txBody>
          <a:bodyPr wrap="square" lIns="0" tIns="0" rIns="0" bIns="0" rtlCol="0" anchor="t"/>
          <a:lstStyle/>
          <a:p>
            <a:pPr indent="0" marL="0">
              <a:buNone/>
            </a:pPr>
            <a:r>
              <a:rPr lang="en-US" sz="2600" b="1" dirty="0">
                <a:solidFill>
                  <a:srgbClr val="FFFFFF"/>
                </a:solidFill>
              </a:rPr>
              <a:t>생전정리·유품정리와 디지털 유산</a:t>
            </a:r>
            <a:endParaRPr lang="en-US" sz="2600" dirty="0"/>
          </a:p>
        </p:txBody>
      </p:sp>
      <p:sp>
        <p:nvSpPr>
          <p:cNvPr id="7" name="Text 5"/>
          <p:cNvSpPr txBox="1"/>
          <p:nvPr/>
        </p:nvSpPr>
        <p:spPr>
          <a:xfrm>
            <a:off x="868680" y="3749040"/>
            <a:ext cx="4389120" cy="2194560"/>
          </a:xfrm>
          <a:prstGeom prst="rect">
            <a:avLst/>
          </a:prstGeom>
          <a:noFill/>
          <a:ln/>
        </p:spPr>
        <p:txBody>
          <a:bodyPr wrap="square" lIns="0" tIns="0" rIns="0" bIns="0" rtlCol="0" anchor="t"/>
          <a:lstStyle/>
          <a:p>
            <a:pPr indent="0" marL="0">
              <a:spcAft>
                <a:spcPts val="400"/>
              </a:spcAft>
              <a:buNone/>
            </a:pPr>
            <a:r>
              <a:rPr lang="en-US" sz="1400" b="1" dirty="0">
                <a:solidFill>
                  <a:srgbClr val="8FB9A8"/>
                </a:solidFill>
              </a:rPr>
              <a:t>다음 질문
</a:t>
            </a:r>
            <a:pPr indent="0" marL="0">
              <a:buNone/>
            </a:pPr>
            <a:r>
              <a:rPr lang="en-US" sz="2100" dirty="0">
                <a:solidFill>
                  <a:srgbClr val="FFFFFF"/>
                </a:solidFill>
              </a:rPr>
              <a:t>“살아 있을 때 무엇을 정리하고 무엇을 남겨야, 가족의 부담을 줄이고 나의 삶을 더 잘 기록할 수 있는가?”</a:t>
            </a:r>
            <a:endParaRPr lang="en-US" sz="1400" dirty="0"/>
          </a:p>
        </p:txBody>
      </p:sp>
      <p:sp>
        <p:nvSpPr>
          <p:cNvPr id="8" name="Text 6"/>
          <p:cNvSpPr txBox="1"/>
          <p:nvPr/>
        </p:nvSpPr>
        <p:spPr>
          <a:xfrm>
            <a:off x="5760720" y="1554480"/>
            <a:ext cx="5882335" cy="365760"/>
          </a:xfrm>
          <a:prstGeom prst="rect">
            <a:avLst/>
          </a:prstGeom>
          <a:noFill/>
          <a:ln/>
        </p:spPr>
        <p:txBody>
          <a:bodyPr wrap="square" lIns="0" tIns="0" rIns="0" bIns="0" rtlCol="0" anchor="t"/>
          <a:lstStyle/>
          <a:p>
            <a:pPr indent="0" marL="0">
              <a:buNone/>
            </a:pPr>
            <a:r>
              <a:rPr lang="en-US" sz="1600" b="1" dirty="0">
                <a:solidFill>
                  <a:srgbClr val="2E7D6B"/>
                </a:solidFill>
              </a:rPr>
              <a:t>이런 내용을 다룹니다</a:t>
            </a:r>
            <a:endParaRPr lang="en-US" sz="1600" dirty="0"/>
          </a:p>
        </p:txBody>
      </p:sp>
      <p:sp>
        <p:nvSpPr>
          <p:cNvPr id="9" name="Shape 7"/>
          <p:cNvSpPr/>
          <p:nvPr/>
        </p:nvSpPr>
        <p:spPr>
          <a:xfrm>
            <a:off x="5760720" y="2029968"/>
            <a:ext cx="347472" cy="347472"/>
          </a:xfrm>
          <a:prstGeom prst="ellipse">
            <a:avLst/>
          </a:prstGeom>
          <a:solidFill>
            <a:srgbClr val="2E7D6B"/>
          </a:solidFill>
          <a:ln w="12700">
            <a:solidFill>
              <a:srgbClr val="2E7D6B"/>
            </a:solidFill>
            <a:prstDash val="solid"/>
          </a:ln>
        </p:spPr>
      </p:sp>
      <p:sp>
        <p:nvSpPr>
          <p:cNvPr id="10" name="Text 8"/>
          <p:cNvSpPr txBox="1"/>
          <p:nvPr/>
        </p:nvSpPr>
        <p:spPr>
          <a:xfrm>
            <a:off x="5760720" y="20299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9"/>
          <p:cNvSpPr txBox="1"/>
          <p:nvPr/>
        </p:nvSpPr>
        <p:spPr>
          <a:xfrm>
            <a:off x="6263640" y="2011680"/>
            <a:ext cx="5379415" cy="576072"/>
          </a:xfrm>
          <a:prstGeom prst="rect">
            <a:avLst/>
          </a:prstGeom>
          <a:noFill/>
          <a:ln/>
        </p:spPr>
        <p:txBody>
          <a:bodyPr wrap="square" lIns="0" tIns="0" rIns="0" bIns="0" rtlCol="0" anchor="t"/>
          <a:lstStyle/>
          <a:p>
            <a:pPr indent="0" marL="0">
              <a:buNone/>
            </a:pPr>
            <a:r>
              <a:rPr lang="en-US" sz="1900" dirty="0">
                <a:solidFill>
                  <a:srgbClr val="222222"/>
                </a:solidFill>
              </a:rPr>
              <a:t>생전정리와 유품정리는 다르다</a:t>
            </a:r>
            <a:endParaRPr lang="en-US" sz="1900" dirty="0"/>
          </a:p>
        </p:txBody>
      </p:sp>
      <p:sp>
        <p:nvSpPr>
          <p:cNvPr id="12" name="Shape 10"/>
          <p:cNvSpPr/>
          <p:nvPr/>
        </p:nvSpPr>
        <p:spPr>
          <a:xfrm>
            <a:off x="5760720" y="2606040"/>
            <a:ext cx="347472" cy="347472"/>
          </a:xfrm>
          <a:prstGeom prst="ellipse">
            <a:avLst/>
          </a:prstGeom>
          <a:solidFill>
            <a:srgbClr val="2E7D6B"/>
          </a:solidFill>
          <a:ln w="12700">
            <a:solidFill>
              <a:srgbClr val="2E7D6B"/>
            </a:solidFill>
            <a:prstDash val="solid"/>
          </a:ln>
        </p:spPr>
      </p:sp>
      <p:sp>
        <p:nvSpPr>
          <p:cNvPr id="13" name="Text 11"/>
          <p:cNvSpPr txBox="1"/>
          <p:nvPr/>
        </p:nvSpPr>
        <p:spPr>
          <a:xfrm>
            <a:off x="5760720" y="26060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2"/>
          <p:cNvSpPr txBox="1"/>
          <p:nvPr/>
        </p:nvSpPr>
        <p:spPr>
          <a:xfrm>
            <a:off x="6263640" y="2587752"/>
            <a:ext cx="5379415" cy="576072"/>
          </a:xfrm>
          <a:prstGeom prst="rect">
            <a:avLst/>
          </a:prstGeom>
          <a:noFill/>
          <a:ln/>
        </p:spPr>
        <p:txBody>
          <a:bodyPr wrap="square" lIns="0" tIns="0" rIns="0" bIns="0" rtlCol="0" anchor="t"/>
          <a:lstStyle/>
          <a:p>
            <a:pPr indent="0" marL="0">
              <a:buNone/>
            </a:pPr>
            <a:r>
              <a:rPr lang="en-US" sz="1800" dirty="0">
                <a:solidFill>
                  <a:srgbClr val="222222"/>
                </a:solidFill>
              </a:rPr>
              <a:t>물건·문서·금융·사진·기록 정리의 기본 틀</a:t>
            </a:r>
            <a:endParaRPr lang="en-US" sz="1800" dirty="0"/>
          </a:p>
        </p:txBody>
      </p:sp>
      <p:sp>
        <p:nvSpPr>
          <p:cNvPr id="15" name="Shape 13"/>
          <p:cNvSpPr/>
          <p:nvPr/>
        </p:nvSpPr>
        <p:spPr>
          <a:xfrm>
            <a:off x="5760720" y="3182112"/>
            <a:ext cx="347472" cy="347472"/>
          </a:xfrm>
          <a:prstGeom prst="ellipse">
            <a:avLst/>
          </a:prstGeom>
          <a:solidFill>
            <a:srgbClr val="2E7D6B"/>
          </a:solidFill>
          <a:ln w="12700">
            <a:solidFill>
              <a:srgbClr val="2E7D6B"/>
            </a:solidFill>
            <a:prstDash val="solid"/>
          </a:ln>
        </p:spPr>
      </p:sp>
      <p:sp>
        <p:nvSpPr>
          <p:cNvPr id="16" name="Text 14"/>
          <p:cNvSpPr txBox="1"/>
          <p:nvPr/>
        </p:nvSpPr>
        <p:spPr>
          <a:xfrm>
            <a:off x="5760720" y="31821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5"/>
          <p:cNvSpPr txBox="1"/>
          <p:nvPr/>
        </p:nvSpPr>
        <p:spPr>
          <a:xfrm>
            <a:off x="6263640" y="3163824"/>
            <a:ext cx="5379415" cy="576072"/>
          </a:xfrm>
          <a:prstGeom prst="rect">
            <a:avLst/>
          </a:prstGeom>
          <a:noFill/>
          <a:ln/>
        </p:spPr>
        <p:txBody>
          <a:bodyPr wrap="square" lIns="0" tIns="0" rIns="0" bIns="0" rtlCol="0" anchor="t"/>
          <a:lstStyle/>
          <a:p>
            <a:pPr indent="0" marL="0">
              <a:buNone/>
            </a:pPr>
            <a:r>
              <a:rPr lang="en-US" sz="1800" dirty="0">
                <a:solidFill>
                  <a:srgbClr val="222222"/>
                </a:solidFill>
              </a:rPr>
              <a:t>유품정리의 위험: 상속재산·귀중품·개인정보</a:t>
            </a:r>
            <a:endParaRPr lang="en-US" sz="1800" dirty="0"/>
          </a:p>
        </p:txBody>
      </p:sp>
      <p:sp>
        <p:nvSpPr>
          <p:cNvPr id="18" name="Shape 16"/>
          <p:cNvSpPr/>
          <p:nvPr/>
        </p:nvSpPr>
        <p:spPr>
          <a:xfrm>
            <a:off x="5760720" y="3758184"/>
            <a:ext cx="347472" cy="347472"/>
          </a:xfrm>
          <a:prstGeom prst="ellipse">
            <a:avLst/>
          </a:prstGeom>
          <a:solidFill>
            <a:srgbClr val="2E7D6B"/>
          </a:solidFill>
          <a:ln w="12700">
            <a:solidFill>
              <a:srgbClr val="2E7D6B"/>
            </a:solidFill>
            <a:prstDash val="solid"/>
          </a:ln>
        </p:spPr>
      </p:sp>
      <p:sp>
        <p:nvSpPr>
          <p:cNvPr id="19" name="Text 17"/>
          <p:cNvSpPr txBox="1"/>
          <p:nvPr/>
        </p:nvSpPr>
        <p:spPr>
          <a:xfrm>
            <a:off x="5760720" y="375818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0" name="Text 18"/>
          <p:cNvSpPr txBox="1"/>
          <p:nvPr/>
        </p:nvSpPr>
        <p:spPr>
          <a:xfrm>
            <a:off x="6263640" y="3739896"/>
            <a:ext cx="5379415" cy="576072"/>
          </a:xfrm>
          <a:prstGeom prst="rect">
            <a:avLst/>
          </a:prstGeom>
          <a:noFill/>
          <a:ln/>
        </p:spPr>
        <p:txBody>
          <a:bodyPr wrap="square" lIns="0" tIns="0" rIns="0" bIns="0" rtlCol="0" anchor="t"/>
          <a:lstStyle/>
          <a:p>
            <a:pPr indent="0" marL="0">
              <a:buNone/>
            </a:pPr>
            <a:r>
              <a:rPr lang="en-US" sz="1900" dirty="0">
                <a:solidFill>
                  <a:srgbClr val="222222"/>
                </a:solidFill>
              </a:rPr>
              <a:t>디지털 유산과 플랫폼별 사후계정 정책</a:t>
            </a:r>
            <a:endParaRPr lang="en-US" sz="1900" dirty="0"/>
          </a:p>
        </p:txBody>
      </p:sp>
      <p:sp>
        <p:nvSpPr>
          <p:cNvPr id="21" name="Shape 19"/>
          <p:cNvSpPr/>
          <p:nvPr/>
        </p:nvSpPr>
        <p:spPr>
          <a:xfrm>
            <a:off x="5760720" y="4334256"/>
            <a:ext cx="347472" cy="347472"/>
          </a:xfrm>
          <a:prstGeom prst="ellipse">
            <a:avLst/>
          </a:prstGeom>
          <a:solidFill>
            <a:srgbClr val="2E7D6B"/>
          </a:solidFill>
          <a:ln w="12700">
            <a:solidFill>
              <a:srgbClr val="2E7D6B"/>
            </a:solidFill>
            <a:prstDash val="solid"/>
          </a:ln>
        </p:spPr>
      </p:sp>
      <p:sp>
        <p:nvSpPr>
          <p:cNvPr id="22" name="Text 20"/>
          <p:cNvSpPr txBox="1"/>
          <p:nvPr/>
        </p:nvSpPr>
        <p:spPr>
          <a:xfrm>
            <a:off x="5760720" y="433425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3" name="Text 21"/>
          <p:cNvSpPr txBox="1"/>
          <p:nvPr/>
        </p:nvSpPr>
        <p:spPr>
          <a:xfrm>
            <a:off x="6263640" y="4315968"/>
            <a:ext cx="5379415" cy="576072"/>
          </a:xfrm>
          <a:prstGeom prst="rect">
            <a:avLst/>
          </a:prstGeom>
          <a:noFill/>
          <a:ln/>
        </p:spPr>
        <p:txBody>
          <a:bodyPr wrap="square" lIns="0" tIns="0" rIns="0" bIns="0" rtlCol="0" anchor="t"/>
          <a:lstStyle/>
          <a:p>
            <a:pPr indent="0" marL="0">
              <a:buNone/>
            </a:pPr>
            <a:r>
              <a:rPr lang="en-US" sz="1900" dirty="0">
                <a:solidFill>
                  <a:srgbClr val="222222"/>
                </a:solidFill>
              </a:rPr>
              <a:t>비밀번호 전달의 위험과 AI 추모 윤리</a:t>
            </a:r>
            <a:endParaRPr lang="en-US" sz="1900" dirty="0"/>
          </a:p>
        </p:txBody>
      </p:sp>
      <p:sp>
        <p:nvSpPr>
          <p:cNvPr id="24" name="Shape 22"/>
          <p:cNvSpPr/>
          <p:nvPr/>
        </p:nvSpPr>
        <p:spPr>
          <a:xfrm>
            <a:off x="5760720" y="5029200"/>
            <a:ext cx="5882335" cy="1097280"/>
          </a:xfrm>
          <a:prstGeom prst="roundRect">
            <a:avLst>
              <a:gd name="adj" fmla="val 10000"/>
            </a:avLst>
          </a:prstGeom>
          <a:solidFill>
            <a:srgbClr val="FDF1DC"/>
          </a:solidFill>
          <a:ln w="12700">
            <a:solidFill>
              <a:srgbClr val="FDF1DC"/>
            </a:solidFill>
            <a:prstDash val="solid"/>
          </a:ln>
        </p:spPr>
      </p:sp>
      <p:sp>
        <p:nvSpPr>
          <p:cNvPr id="25" name="Shape 23"/>
          <p:cNvSpPr/>
          <p:nvPr/>
        </p:nvSpPr>
        <p:spPr>
          <a:xfrm>
            <a:off x="5943600" y="5257800"/>
            <a:ext cx="548640" cy="548640"/>
          </a:xfrm>
          <a:prstGeom prst="ellipse">
            <a:avLst/>
          </a:prstGeom>
          <a:solidFill>
            <a:srgbClr val="D98E04"/>
          </a:solidFill>
          <a:ln w="12700">
            <a:solidFill>
              <a:srgbClr val="D98E04"/>
            </a:solidFill>
            <a:prstDash val="solid"/>
          </a:ln>
        </p:spPr>
      </p:sp>
      <p:pic>
        <p:nvPicPr>
          <p:cNvPr id="26" name="Image 0" descr="preencoded.png">    </p:cNvPr>
          <p:cNvPicPr>
            <a:picLocks noChangeAspect="1"/>
          </p:cNvPicPr>
          <p:nvPr/>
        </p:nvPicPr>
        <p:blipFill>
          <a:blip r:embed="rId1"/>
          <a:stretch>
            <a:fillRect/>
          </a:stretch>
        </p:blipFill>
        <p:spPr>
          <a:xfrm>
            <a:off x="6086246" y="5400446"/>
            <a:ext cx="263347" cy="263347"/>
          </a:xfrm>
          <a:prstGeom prst="rect">
            <a:avLst/>
          </a:prstGeom>
        </p:spPr>
      </p:pic>
      <p:sp>
        <p:nvSpPr>
          <p:cNvPr id="27" name="Text 24"/>
          <p:cNvSpPr txBox="1"/>
          <p:nvPr/>
        </p:nvSpPr>
        <p:spPr>
          <a:xfrm>
            <a:off x="6675120" y="5074920"/>
            <a:ext cx="4785055" cy="1005840"/>
          </a:xfrm>
          <a:prstGeom prst="rect">
            <a:avLst/>
          </a:prstGeom>
          <a:noFill/>
          <a:ln/>
        </p:spPr>
        <p:txBody>
          <a:bodyPr wrap="square" lIns="0" tIns="0" rIns="0" bIns="0" rtlCol="0" anchor="ctr"/>
          <a:lstStyle/>
          <a:p>
            <a:pPr indent="0" marL="0">
              <a:buNone/>
            </a:pPr>
            <a:r>
              <a:rPr lang="en-US" sz="1800" dirty="0">
                <a:solidFill>
                  <a:srgbClr val="222222"/>
                </a:solidFill>
              </a:rPr>
              <a:t>미리 읽기: 교재 제7장  ·  가져올 것: 5강 “물건 하나의 사연”, 휴대폰(계정 목록 작성용)</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erif KR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erif KR Blac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WLC 2급 제6강 장례·장묘 제도의 변화와 새로운 장사문화</dc:title>
  <dc:subject>PptxGenJS Presentation</dc:subject>
  <dc:creator>삶잇다협동조합</dc:creator>
  <cp:lastModifiedBy>삶잇다협동조합</cp:lastModifiedBy>
  <cp:revision>1</cp:revision>
  <dcterms:created xsi:type="dcterms:W3CDTF">2026-10-29T23:51:30Z</dcterms:created>
  <dcterms:modified xsi:type="dcterms:W3CDTF">2026-10-29T23:51:30Z</dcterms:modified>
</cp:coreProperties>
</file>