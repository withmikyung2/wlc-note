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notesMasterIdLst>
    <p:notesMasterId r:id="rId5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열기" id="{056902d6-9b36-044e-7a65-7d3c64e7f243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1교시 애도를 이해하는 지도" id="{5ec025ed-a1a0-aad2-1658-a36814907ae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</p14:sldIdLst>
        </p14:section>
        <p14:section name="2교시 말하기 어려운 상실과 안전" id="{28a777b1-8d7b-d8b5-0c1f-c54e9479b7a5}">
          <p14:sldIdLst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</p14:sldIdLst>
        </p14:section>
        <p14:section name="3교시 애도와 관계회복 워크숍" id="{47e742a5-e9f2-e6c9-6be8-ba9ee839576d}">
          <p14:sldIdLst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</p14:sldIdLst>
        </p14:section>
        <p14:section name="정리와 예고" id="{73c6ec18-ecc9-e5e1-eaf6-44111fc6b96b}">
          <p14:sldIdLst>
            <p14:sldId id="301"/>
            <p14:sldId id="302"/>
            <p14:sldId id="303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notesMaster" Target="notesMasters/notesMaster1.xml"/><Relationship Id="rId54" Type="http://schemas.openxmlformats.org/officeDocument/2006/relationships/presProps" Target="presProps.xml"/><Relationship Id="rId55" Type="http://schemas.openxmlformats.org/officeDocument/2006/relationships/viewProps" Target="viewProps.xml"/><Relationship Id="rId56" Type="http://schemas.openxmlformats.org/officeDocument/2006/relationships/theme" Target="theme/theme1.xml"/><Relationship Id="rId5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0:00–0:01 (1분)
인사. 제4부(상실과 임종을 동행하다)의 첫 시간.
"오늘은 남겨진 사람의 시간을 이야기합니다. 애도의 목표는 잊는 것이 아니라, 상실과 함께 다시 살아가는 법을 배우는 것입니다."
수업 시작 전 안전 안내: 최근 사별한 수강생은 언제든 쉬어도 되고, 개인 상실을 발표할 의무가 없다. 강사는 지역 정신건강복지센터·자살예방상담전화(109) 등 연결처를 미리 확인해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0:01–0:02 (1분)
📖 교재: 교재 목차
제4부: 11강 상실·애도 → 12강 예기치 않은 죽음·재난 → 13강 임종 돌봄 → 14강 사망 직후 지원.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0:02–0:03 (1분)
오늘의 결과물: 나의 상실지도(비공개), 미완의 편지, 상실·회복 균형표. 모든 개인 기록은 발표하지 않아도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0:03–0:05 (2분)
📖 교재: 18.1 실습 안전
1강의 교실 약속을 다시 꺼낸다. 오늘은 특히 개인 상실을 건드리는 회차.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0:05–0:09 (4분)
📖 교재: 7강 30일 프로젝트 · 10강 과제
정리 과정에서 사진·유품을 보며 상실을 다시 만난 수강생이 많다 — 오늘 주제(상실)로 자연스럽게 연결. 3번은 말하지 않고 떠올리기만.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0:09–0:13 (4분)
📖 교재: 3절 · 피해야 할 말
대부분 "곁에 있어 준 사람", "아무 말 없이 들어 준 것", "밥 한 끼"를 말한다. 반대로 상처가 된 말("이제 잊어", "강해져야지")도 나올 수 있다 → 3절로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0:13–0:14 (1분)
📖 교재: 11장 표제 · 핵심 메시지
천천히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0:14–0:16 (2분)
📖 교재: 11장 학습목표 1~10
굵은 키워드만 짚는다.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0:16–0:20 (4분)
📖 교재: 1절 · 표
4강 펫로스, 5·7강 유품, 8강 은퇴 등이 모두 상실의 다른 얼굴.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0:20–0:23 (3분)
📖 교재: 2절 · 표
서술형 Q1. 객관식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0:23–0:26 (3분)
📖 교재: 3절 · 피해야 할 말
오프닝에서 나온 "상처가 된 말"을 여기 연결. 코치노트 1: "이제 그만할 때"를 코치가 정하지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0:26–0:30 (4분)
📖 교재: 4절 · 표
1강의 5단계(죽어가는 사람)를 사별 애도로 다시 본다. 서술형 Q2. 코치노트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0:30–0:35 (5분)
📖 교재: 5절 · 표 · William Worden
서술형 Q3. 객관식 2번.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0:35–0:40 (5분)
📖 교재: 6절 · 표
예: 아침엔 사진을 보며 울고 오후엔 산책·장보기. 서술형 Q4. OX 2번. 3교시 균형표 실습과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0:40–0:44 (4분)
📖 교재: 7절
서술형 Q5. 5강 멕시코 죽은 자의 날, 7강 기억유산과 연결. OX 1번.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0:44–0:48 (4분)
📖 교재: 7절 · 5절 과제 4
상실을 떠올리기 어려운 수강생은 "은퇴한 직장", "떠나온 고향"처럼 사람이 아닌 상실로 해도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0:48–1:00 (12분)
1교시 정리 2분 + 휴식 10분. 표정이 무거운 수강생이 있으면 휴식 중 가볍게 안부를 묻는다.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1:00–1:06 (6분)
📖 교재: 8.1~8.2절
서술형 Q6. 4강 펫로스 복습. OX 3번. 코치노트 2: 상실의 크기를 비교하지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1:06–1:11 (5분)
📖 교재: 9.1~9.2절
외상반응이나 자살위험이 의심되면 즉시 전문 연계.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1:11–1:16 (5분)
📖 교재: 10절 · 표
2강 생애주기별 죽음교육과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1:16–1:20 (4분)
📖 교재: 10절 · 아동·청소년 주의
예: "할머니는 돌아가셨어. 몸이 더 이상 움직이지 않아서 다시 올 수 없어. 네가 뭘 잘못해서 그런 게 아니야. 할머니가 보고 싶을 땐 같이 사진을 보자."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1:20–1:26 (6분)
📖 교재: 11절 · 표
서술형 Q7·Q8. 객관식 3번. 코치노트 6·7: 기간만으로 병리화하지 않고, DSM과 ICD를 혼동하지 않는다.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1:26–1:32 (6분)
📖 교재: 12절 · 표
서술형 Q10(네 가지 이상). 객관식 5번. 자살예방상담전화 109·정신건강위기상담 등 연락처는 수업 시점 재확인. 코치노트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1:32–1:37 (5분)
📖 교재: 14.1~14.3절
"다시 가지면 된다", "그래도 살아 계시잖아" 같은 말이 박탈된 애도를 만든다.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1:37–1:42 (5분)
📖 교재: 16절 · 역할 경계
학교·직장 추모는 모방위험과 사생활을 고려해 전문지침을 따른다(12강 심화).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1:42–1:49 (7분)
📖 교재: 15절 · 3절
3교시 롤플레이의 예행연습. 흔한 실수: "6개월이면 아직 짧아요"(기간으로 판단).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1:49–2:00 (11분)
2교시 정리 1분 + 휴식 10분. 3교시는 개인 기록이 많으니 조용한 배경음악을 준비해도 좋다.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전환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2:00–2:03 (3분)
📖 교재: 15절 · 표
상황: 6개월 전 남편을 잃은 60대 여성.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2:03–2:13 (10분)
📖 교재: 15절 · 8절 · 14절
감정이 깊어질 수 있다. 끝나면 역할에서 나오는 시간을 갖는다.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2:13–2:21 (8분)
📖 교재: 18.1절 · 실습 안전
실습 안전: 공개하고 싶지 않은 상실은 발표할 의무가 없다. 개인 기록만으로 참여하거나 가상 사례를 써도 된다. 사람의 죽음 외에 건강·역할·관계 상실도 포함하게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2:21–2:24 (3분)
📖 교재: 13.1절 · 표
서술형 Q9. 객관식 4번.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2:24–2:34 (10분)
📖 교재: 18.2절 · 실습지
조용한 배경음악. 쓴 편지는 가져가서 보관하거나, 원하면 의식처럼 접어서 봉투에 넣는다. 끝나면 3번 깊게 숨 쉬는 시간을 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2:34–2:39 (5분)
📖 교재: 18.3절 · 6절
이중과정모형을 내 일주일에 적용. 회복의 기준: 웃었다고 잊은 것도, 울었다고 회복 못 한 것도 아니다(13.3).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2:39–2:43 (4분)
📖 교재: 18.5절 · 12절
정답 예: 1 단독 지지(정상 애도) / 2 연계(기능 손상·PGD 가능성, 진단은 전문가) / 3 즉시 연계(자살위험) / 4 단독 지지(박탈된 애도 인정) / 5 연계(외상반응).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2:43–2:46 (3분)
📖 교재: 17절 · 표
오늘 실습을 마친 수강생 자신에게도 적용. "오늘 집에 가서 나를 위해 할 한 가지"를 생각하게 한다. 코치노트 9. 16강(전문직 윤리)과 연결.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2:46–2:47 (1분)
📖 교재: 6·7·8·11절
정답: 1 X / 2 O / 3 O / 4 X
※ 11강 퀴즈는 강사용 해설서에 문제은행이 없어 교재 본문을 근거로 새로 작성한 문항입니다.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2:47–2:48 (1분)
📖 교재: 2절
정답 ③.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2:48–2:49 (1분)
📖 교재: 5절
정답 ③. 제4과제는 연결을 유지하며 삶을 이어감.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2:49–2:50 (1분)
📖 교재: 11절
정답 ④. 아동·청소년은 최소 6개월. ICD-11은 통상 최소 6개월.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2:50–2:51 (1분)
📖 교재: 13.1절
정답 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2:51–2:52 (1분)
📖 교재: 12절
정답 ③. 기념일 반응은 흔한 정상 애도 반응일 수 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2:52–2:54 (2분)
📖 교재: 11장 본문 (강사 제작 문항)
객관식 5번 정답 ③(기념일 반응)은 구두로 확인.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2:54–2:55 (1분)
📖 교재: 20절 학습점검 Q1~Q10
채점 기준(문항당 10점): 핵심요소 3개 10점 / 2개 7점 / 1개 4점 / 없음 0점, 역할경계 이탈 -3점.
※ 11장 모범답안은 강사용 해설서(제1~4장)에 없으므로 교재 핵심정리·본문을 기준으로 채점.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2:55–2:56 (1분)
📖 교재: 21절 핵심정리
굵은 부분을 함께 읽는다.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2:56–2:57 (1분)
📖 교재: 22절 코치 노트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2:57–2:58 (1분)
📖 교재: 18절 · 17절
12강은 재난·자살 등 무거운 주제를 다룬다고 미리 알리고, 필요하면 개별 상담을 안내한다.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2:58–2:59 (1분)
📖 교재: 21절 · 제11장의 마지막 질문
10초 침묵. 오늘 자신의 상실을 마주한 수강생들에게 감사를 전한다.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⏱ 2:59–3:00 (1분)
📖 교재: 23절 제12장으로의 연결
사고·재난·자살·학교사건처럼 갑작스럽고 집단적인 죽음은 일반 애도교육을 넘어 안전과 위기 대응의 관점이 필요하다.
마무리 인사.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F4E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제11강 상실·애도와 관계회복 코칭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CTIVITY">
    <p:bg>
      <p:bgPr>
        <a:solidFill>
          <a:srgbClr val="EAF3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</a:rPr>
              <a:t>WLC 2급 자격과정  ·  제11강 상실·애도와 관계회복 코칭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dirty="0">
                <a:solidFill>
                  <a:srgbClr val="2E7D6B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4E4A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5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slideLayout" Target="../slideLayouts/slideLayout5.xml"/><Relationship Id="rId8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32-2.png"/><Relationship Id="rId3" Type="http://schemas.openxmlformats.org/officeDocument/2006/relationships/image" Target="../media/image-32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image" Target="../media/image-35-3.png"/><Relationship Id="rId4" Type="http://schemas.openxmlformats.org/officeDocument/2006/relationships/slideLayout" Target="../slideLayouts/slideLayout6.xml"/><Relationship Id="rId5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63840" y="-1463040"/>
            <a:ext cx="5852160" cy="5852160"/>
          </a:xfrm>
          <a:prstGeom prst="ellipse">
            <a:avLst/>
          </a:prstGeom>
          <a:solidFill>
            <a:srgbClr val="2E7D6B">
              <a:alpha val="45000"/>
            </a:srgbClr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509760" y="3566160"/>
            <a:ext cx="3840480" cy="3840480"/>
          </a:xfrm>
          <a:prstGeom prst="ellipse">
            <a:avLst/>
          </a:prstGeom>
          <a:solidFill>
            <a:srgbClr val="8FB9A8">
              <a:alpha val="30000"/>
            </a:srgbClr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A8C5BC"/>
                </a:solidFill>
              </a:rPr>
              <a:t>WLC 2급 자격과정  ·  제4부 상실과 임종을 동행하다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제11강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60320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Noto Serif KR Black" pitchFamily="34" charset="0"/>
                <a:ea typeface="Noto Serif KR Black" pitchFamily="34" charset="-122"/>
                <a:cs typeface="Noto Serif KR Black" pitchFamily="34" charset="-120"/>
              </a:rPr>
              <a:t>상실·애도와 관계회복 코칭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703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FE3DC"/>
                </a:solidFill>
              </a:rPr>
              <a:t>Loss, Grief &amp; Relationship Recovery Coaching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5120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3시간 과정  ·  1교시 50분 · 2교시 50분 · 3교시 60분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56692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삶잇다협동조합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과정 안내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WLC 2급 16강 로드맵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제1부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삶과 죽음을 이해하다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85800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죽음을 이해하는 통찰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초고령사회와 죽음교육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웰빙·웰다잉·엔딩 통합철학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04099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941259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제2부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변화하는 죽음문화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2804099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2941259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웰다잉 문화와 엔딩산업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804099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41259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일본 슈카츠와 세계 웰다잉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804099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941259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장례·장묘 제도의 변화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804099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941259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생전정리·유품·디지털 유산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059558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196718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제3부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삶의 존엄을 준비하다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059558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196718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경제적 웰다잉과 재산 보호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59558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5196718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의료결정·사전돌봄·후견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59558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196718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가족소통·생명윤리·갈등중재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7315017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7452177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제4부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상실과 임종을 동행하다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7315017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452177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11강 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상실·애도와 관계회복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7315017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452177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예기치 않은 죽음·재난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315017" y="4105656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452177" y="4151376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임종 단계별 돌봄 실무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7315017" y="4946904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7452177" y="4992624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사망 직후 초기지원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9570476" y="1508760"/>
            <a:ext cx="2072579" cy="777240"/>
          </a:xfrm>
          <a:prstGeom prst="roundRect">
            <a:avLst>
              <a:gd name="adj" fmla="val 14118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707636" y="1581912"/>
            <a:ext cx="179825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A8C5BC"/>
                </a:solidFill>
              </a:rPr>
              <a:t>제5부
</a:t>
            </a:r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WLC로 활동하다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9570476" y="2423160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9707636" y="2468880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WLC 코칭 실무·교육 운영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9570476" y="3264408"/>
            <a:ext cx="2072579" cy="731520"/>
          </a:xfrm>
          <a:prstGeom prst="roundRect">
            <a:avLst>
              <a:gd name="adj" fmla="val 150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9707636" y="3310128"/>
            <a:ext cx="17982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16강  </a:t>
            </a:r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</a:rPr>
              <a:t>전문직 윤리·자격검정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오늘의 3시간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오늘은 이렇게 진행합니다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94360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애도를 이해하는 지도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30일 프로젝트 돌아보기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상실·비탄·애도의 구분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5단계·Worden·이중과정·지속적 유대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3630422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721862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246778" y="1737360"/>
            <a:ext cx="3026918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338218" y="1828800"/>
            <a:ext cx="28440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50분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292498" y="3063240"/>
            <a:ext cx="2935478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말하기 어려운 상실과 안전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박탈된 애도·모호한 상실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예기애도·생애단계·PGD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전문가 연계 신호·자살사별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328560" y="1737360"/>
            <a:ext cx="561492" cy="1051560"/>
          </a:xfrm>
          <a:prstGeom prst="roundRect">
            <a:avLst>
              <a:gd name="adj" fmla="val 19542"/>
            </a:avLst>
          </a:prstGeom>
          <a:solidFill>
            <a:srgbClr val="D9DEDC"/>
          </a:solidFill>
          <a:ln w="12700">
            <a:solidFill>
              <a:srgbClr val="D9DED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420000" y="1828800"/>
            <a:ext cx="37861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6B6B6B"/>
                </a:solidFill>
              </a:rPr>
              <a:t>휴식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6B6B6B"/>
                </a:solidFill>
              </a:rPr>
              <a:t>10분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944917" y="1737360"/>
            <a:ext cx="3643274" cy="1051560"/>
          </a:xfrm>
          <a:prstGeom prst="roundRect">
            <a:avLst>
              <a:gd name="adj" fmla="val 10435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36357" y="1828800"/>
            <a:ext cx="346039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3교시</a:t>
            </a:r>
            <a:endParaRPr lang="en-US" sz="20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60분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7990637" y="3063240"/>
            <a:ext cx="3551834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애도와 관계회복 워크숍
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코칭 사례 롤플레이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상실지도·미완의 편지·균형표</a:t>
            </a:r>
            <a:endParaRPr lang="en-US" sz="22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연계 판단·자기돌봄·예고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안전한 배움을 위한 약속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수업의 네 가지 약속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말하지 않을 권리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개인 상실은 발표하지 않아도 됩니다.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3390824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619424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2070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619424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쉬어도 괜찮음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마음이 무거우면 언제든 잠시 나가도 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6233008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6160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4254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6461608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비밀 유지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들은 이야기는 교실 밖으로 가져가지 않습니다.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9075191" y="1554480"/>
            <a:ext cx="2567864" cy="3520440"/>
          </a:xfrm>
          <a:prstGeom prst="roundRect">
            <a:avLst>
              <a:gd name="adj" fmla="val 4273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9303791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46438" y="192572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9303791" y="2468880"/>
            <a:ext cx="2110664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도움 요청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힘들면 강사에게 말해 주세요. 연결처를 안내합니다.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강사 안내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실습에서는 실제 상실 대신 가상의 사례를 써도 됩니다. 1강의 약속을 오늘 다시 확인합니다.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30일 프로젝트 돌아보기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한 달 동안 무엇이 달라졌나요?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7강에서 시작한 30일 프로젝트(서류 → 사진 → 디지털 → 가족대화)를 마무리합니다.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2분씩 4주 동안 해낸 것을 이야기합니다.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가장 어려웠던 주와 그 이유를 말합니다.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정리하며 만난 “잃어버린 것”이나 “그리운 사람”이 있었다면 마음속으로 떠올려 봅니다.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30일 동안 해낸 것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610" y="1311250"/>
            <a:ext cx="395021" cy="395021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600200" y="12344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A8C5BC"/>
                </a:solidFill>
              </a:rPr>
              <a:t>오프닝 질문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40280"/>
            <a:ext cx="1109441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“무언가를 잃었을 때,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나에게 가장 위로가 되었던 것은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무엇이었나요?”</a:t>
            </a:r>
            <a:endParaRPr lang="en-US" sz="3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206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말이었나요, 사람이었나요, 시간이었나요?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48640" y="4983480"/>
            <a:ext cx="11094415" cy="1051560"/>
          </a:xfrm>
          <a:prstGeom prst="roundRect">
            <a:avLst>
              <a:gd name="adj" fmla="val 10435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77240" y="5230368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5373014"/>
            <a:ext cx="263347" cy="263347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554480" y="5074920"/>
            <a:ext cx="99056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</a:rPr>
              <a:t>1분 동안 떠올려 단어 하나를 적습니다. 원하는 사람만 그 단어를 함께 나눕니다.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1371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0" b="1" dirty="0">
                <a:solidFill>
                  <a:srgbClr val="8FB9A8"/>
                </a:solidFill>
              </a:rPr>
              <a:t>“</a:t>
            </a:r>
            <a:endParaRPr lang="en-US" sz="11000" dirty="0"/>
          </a:p>
        </p:txBody>
      </p:sp>
      <p:sp>
        <p:nvSpPr>
          <p:cNvPr id="3" name="Text 1"/>
          <p:cNvSpPr txBox="1"/>
          <p:nvPr/>
        </p:nvSpPr>
        <p:spPr>
          <a:xfrm>
            <a:off x="914400" y="1828800"/>
            <a:ext cx="1036289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애도의 목표는 잊는 것이 아니라,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상실과 함께 다시 살아가는 법을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배우는 것이다.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914400" y="324612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A8C5BC"/>
                </a:solidFill>
              </a:rPr>
              <a:t>— WLC 교육 메시지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4206240"/>
            <a:ext cx="11094415" cy="1600200"/>
          </a:xfrm>
          <a:prstGeom prst="roundRect">
            <a:avLst>
              <a:gd name="adj" fmla="val 6857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4343400"/>
            <a:ext cx="104543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rgbClr val="8FB9A8"/>
                </a:solidFill>
              </a:rPr>
              <a:t>이 강의의 핵심 메시지
</a:t>
            </a:r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애도는 고인을 잊는 과정이 아니다. 상실의 현실을 받아들이고, 고통을 안전하게 경험하며, 달라진 삶과 관계에 적응하고, 고인이나 잃은 대상과 새로운 방식의 유대를 만들어 가는 과정이다.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학습목표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오늘 수업을 마치면 할 수 있는 것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개념 구분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상실·비탄(grief)·애도(mourning)를 구분한다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다양한 상실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죽음 외의 관계·건강·역할 상실을 인식한다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애도 이론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5단계·Worden 4과제·이중과정모형을 적용한다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지속적 유대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잊기가 아닌 새로운 관계방식을 지원한다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854800" y="157276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어려운 상실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박탈된 애도·모호한 상실·갑작스러운 상실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275463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275463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272719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PGD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일반 애도와 구분하되 진단하지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388162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코칭 도구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미완의 편지·추억상자·일상회복 계획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506349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506349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5036058"/>
            <a:ext cx="4724248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F4E4A"/>
                </a:solidFill>
              </a:rPr>
              <a:t>연계와 자기돌봄 </a:t>
            </a:r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위험신호 시 즉시 연계, 코치의 공감피로 예방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1교시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애도를 이해하는 지도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정해진 한 가지 모습은 없습니다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상실은 죽음보다 넓다 · grief와 mourning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퀴블러 로스 5단계와 Worden의 4과제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이중과정모형 · 지속적 유대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1절 상실은 죽음보다 넓다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우리는 여러 방식으로 무언가를 잃는다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291840"/>
                <a:gridCol w="53949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유형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WLC가 놓치지 말아야 할 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사망에 의한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배우자·부모·자녀·친구 사별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관계의 깊이와 죽음의 상황이 영향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관계의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이혼·별거·절교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사회적으로 충분히 인정받지 못할 수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건강·기능의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질병·장애·노화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“예전의 나”를 잃는 애도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인지적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치매 가족의 기억·성격 변화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살아 있으나 관계가 변하는 “살아 있는 상실”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생식 관련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유산·사산·난임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축소되거나 공개하기 어려울 수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반려동물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반려동물 사별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가족 같은 관계여도 인정이 적을 수 있음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역할·환경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은퇴·실직·이주·재난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정체성·소속감·안전감의 상실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질문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“무엇을 잃으셨나요?”뿐 아니라 “그 상실과 함께 삶에서 무엇이 달라졌나요?”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2절 grief와 mourning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사건·감정·표현을 구분한다</a:t>
            </a:r>
            <a:endParaRPr lang="en-US" sz="2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4754880"/>
                <a:gridCol w="37490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개념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(Loss)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무언가를 잃은 사건 또는 상태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배우자의 죽음, 건강 상실, 은퇴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비탄·슬픔 (Grief)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 후의 내적 정서·인지·신체 반응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그리움, 분노, 멍함, 수면 변화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애도 (Mourning)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상실을 표현·통합해 가는 개인적·사회적 과정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장례, 추모, 이야기, 관계 재구성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3절 정상적 애도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정상적 애도에는 “정상적인 한 가지 모습”이 없다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8E6E1"/>
          </a:solidFill>
          <a:ln w="12700">
            <a:solidFill>
              <a:srgbClr val="F8E6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B5452F"/>
          </a:solidFill>
          <a:ln w="12700">
            <a:solidFill>
              <a:srgbClr val="B5452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피해야 할 말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“이제 그만 잊으세요.”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“6개월이면 충분하지 않나요?”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“강해져야죠.”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“좋은 곳에 가셨으니 슬퍼하지 마세요.”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나타날 수 있는 반응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슬픔·그리움·분노·죄책감·안도감·멍함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불면·집중저하·식욕변화·고인을 찾는 느낌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자주 울기도, 실무 뒤에 늦게 오기도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종교·일·운동·돌봄으로 애도하기도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4절 퀴블러 로스 5단계 — 사별 애도에서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체크리스트가 아니라 이해의 지도</a:t>
            </a:r>
            <a:endParaRPr lang="en-US" sz="28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023360"/>
                <a:gridCol w="557784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단계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나타날 수 있는 반응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태도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부정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“실감이 안 나요.” “금방 들어올 것 같아요.”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현실을 강요하지 않고 안전하게 말할 시간을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분노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의료진·가족·신·자신에 대한 분노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평가하지 않고 분노 아래의 상실을 듣는다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타협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“그때 내가 더 했더라면…”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통제할 수 있었던 것과 없었던 것을 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우울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깊은 슬픔·의욕저하·외로움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섣부른 격려보다 침묵과 실질적 지지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상실을 삶의 현실로 받아들이기 시작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새 일상과 의미로 연결, “완치”로 보지 않기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사람은 단계를 오가거나 여러 감정을 동시에 겪습니다. “지금 몇 단계인가요?”라고 진단하지 않습니다.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5절 Worden의 애도 4과제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애도는 능동적인 적응 과정이다</a:t>
            </a:r>
            <a:endParaRPr lang="en-US" sz="28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023360"/>
                <a:gridCol w="402336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과제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의미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질문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1. 상실의 현실 수용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돌아오지 않는다는 현실을 조금씩 받아들임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“아직 실감되지 않는 순간은 언제인가요?”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2. 슬픔의 고통 경험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감정을 억압하지 않고 안전하게 경험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“가장 말하기 어려운 감정은 무엇인가요?”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3. 달라진 세상에 적응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역할·생활·정체성·관계의 변화에 적응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“이제 혼자 해야 해서 가장 어려운 일은요?”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4. 연결을 유지하며 삶을 이어감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고인을 마음속 새 자리에 두고 현재 삶에 투자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“그분의 어떤 가치를 이어가고 싶나요?”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개정 표현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현대 애도에서는 고인을 잊거나 끊어내기보다 적절한 연결을 유지하며 삶을 이어가는 것으로 이해합니다.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6절 이중과정모형 (Stroebe &amp; Schut)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슬픔과 일상 사이를 오간다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062429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062429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상실지향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고인·상실·감정에 초점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사진 보기·울기·미안함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 rot="5400000">
            <a:off x="4106570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353458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867248" y="201168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67248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490618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1F4E4A"/>
                </a:solidFill>
              </a:rPr>
              <a:t>진자운동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두 방향을 자연스럽게 오감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 rot="5400000">
            <a:off x="7911389" y="2761488"/>
            <a:ext cx="182880" cy="237744"/>
          </a:xfrm>
          <a:prstGeom prst="triangle">
            <a:avLst/>
          </a:prstGeom>
          <a:solidFill>
            <a:srgbClr val="8FB9A8"/>
          </a:solidFill>
          <a:ln w="12700">
            <a:solidFill>
              <a:srgbClr val="8FB9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8277" y="1828800"/>
            <a:ext cx="3484778" cy="2103120"/>
          </a:xfrm>
          <a:prstGeom prst="roundRect">
            <a:avLst>
              <a:gd name="adj" fmla="val 5217"/>
            </a:avLst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72066" y="2011680"/>
            <a:ext cx="457200" cy="457200"/>
          </a:xfrm>
          <a:prstGeom prst="ellipse">
            <a:avLst/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672066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295437" y="2606040"/>
            <a:ext cx="321045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rgbClr val="FFFFFF"/>
                </a:solidFill>
              </a:rPr>
              <a:t>회복지향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새 역할·생활·관계에 초점</a:t>
            </a:r>
            <a:endParaRPr lang="en-US" sz="20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식사·은행업무·친구 만나기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WLC 관찰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상실지향만 오래 압도하면 일상이 무너지고, 회복지향만 강요하면 슬픔을 표현할 기회를 잃습니다. 두 방향을 모두 허용합니다.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7절 지속적 유대 (Continuing Bonds)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잊지 않고, 다른 방식으로 함께하기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08760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추억상자·앨범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사진과 사연을 정리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298338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기념일의 의례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좋아하던 음식, 의미 있는 장소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087917" y="175564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가치 잇기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고인이 중요하게 여긴 봉사·가치</a:t>
            </a:r>
            <a:endParaRPr lang="en-US" sz="2200" dirty="0"/>
          </a:p>
        </p:txBody>
      </p:sp>
      <p:sp>
        <p:nvSpPr>
          <p:cNvPr id="16" name="Shape 11"/>
          <p:cNvSpPr/>
          <p:nvPr/>
        </p:nvSpPr>
        <p:spPr>
          <a:xfrm>
            <a:off x="548640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Shape 12"/>
          <p:cNvSpPr/>
          <p:nvPr/>
        </p:nvSpPr>
        <p:spPr>
          <a:xfrm>
            <a:off x="777240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9886" y="3823106"/>
            <a:ext cx="263347" cy="263347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508760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마음속 대화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편지나 일기로 기록</a:t>
            </a:r>
            <a:endParaRPr lang="en-US" sz="2200" dirty="0"/>
          </a:p>
        </p:txBody>
      </p:sp>
      <p:sp>
        <p:nvSpPr>
          <p:cNvPr id="20" name="Shape 14"/>
          <p:cNvSpPr/>
          <p:nvPr/>
        </p:nvSpPr>
        <p:spPr>
          <a:xfrm>
            <a:off x="4338218" y="3451860"/>
            <a:ext cx="3515258" cy="1623060"/>
          </a:xfrm>
          <a:prstGeom prst="roundRect">
            <a:avLst>
              <a:gd name="adj" fmla="val 676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566818" y="368046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465" y="3823106"/>
            <a:ext cx="263347" cy="263347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298338" y="3653028"/>
            <a:ext cx="2326538" cy="12847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세대 간 이야기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가족에게 고인 이야기 들려주기</a:t>
            </a:r>
            <a:endParaRPr lang="en-US" sz="2200" dirty="0"/>
          </a:p>
        </p:txBody>
      </p:sp>
      <p:sp>
        <p:nvSpPr>
          <p:cNvPr id="24" name="Shape 17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지속적 유대는 “고인이 실제로 살아 있다고 믿게 하는 것”이 아닙니다. 죽음을 인정하면서 관계의 의미를 이어가는 것입니다.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개인 성찰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나에게 남아 있는 유대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4A"/>
                </a:solidFill>
              </a:rPr>
              <a:t>떠나보낸 사람(또는 잃은 대상)을 한 명 떠올리고, 지금도 이어지고 있는 것을 찾아봅니다.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 사람에게서 배운 말·습관·가치 하나를 적습니다.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그것이 지금 내 삶에서 어떻게 이어지고 있는지 한 줄 적습니다.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원하는 사람만 짝과 나눕니다.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성찰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 삶에 이어진 가치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애도에는 정해진 한 가지 모습이 없다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5단계는 순서표가 아니라 이해의 지도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슬픔과 일상 사이를 오가며, 잊지 않고 잇는다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2교시 — 말하기 어려운 상실과 안전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2교시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말하기 어려운 상실과 안전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모든 상실에는 애도할 권리가 있습니다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박탈된 애도 · 모호한 상실 · 예기애도와 갑작스러운 상실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생애단계별 애도 · 지속성 애도장애(PGD)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전문가 연계 신호 · 자살사별 · 사례별 접근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8절 말하기 어려운 상실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박탈된 애도와 모호한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박탈된 애도 (Kenneth Doka)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상실이 사회적으로 충분히 인정받지 못함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반려동물 사별, 유산·사산, 비공개 관계 등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</a:rPr>
              <a:t>“왜 아직 슬퍼해?”라는 무시가 슬픔을 깊게 함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모호한 상실 (Pauline Boss)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상실이 분명하게 끝나지 않아 경계가 흐림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실종: 몸은 없지만 마음속엔 존재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222222"/>
                </a:solidFill>
              </a:rPr>
              <a:t>치매: 몸은 있지만 그 사람이 달라짐</a:t>
            </a:r>
            <a:endParaRPr lang="en-US" sz="21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E7D6B"/>
                </a:solidFill>
              </a:rPr>
              <a:t>WLC 원칙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상실을 “죽었는가 아닌가”로만 판단하지 않습니다. 무엇이 사라졌고 무엇이 아직 남아 있는지 함께 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9절 예기애도와 갑작스러운 상실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미리 슬퍼하는 상실, 준비 없이 오는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548640" cy="548640"/>
          </a:xfrm>
          <a:prstGeom prst="ellipse">
            <a:avLst/>
          </a:prstGeom>
          <a:solidFill>
            <a:srgbClr val="6B6B6B"/>
          </a:solidFill>
          <a:ln w="12700">
            <a:solidFill>
              <a:srgbClr val="6B6B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1953158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554480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6B6B6B"/>
                </a:solidFill>
              </a:rPr>
              <a:t>예기애도 (Anticipatory Grief)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말기질환·장기 치매 돌봄에서 사망 전부터 상실을 경험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앞으로 잃을 관계를 슬퍼하면서 돌봄을 지속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죄책감·소진이 함께 올 수 있음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6278728" y="1554480"/>
            <a:ext cx="5364328" cy="3520440"/>
          </a:xfrm>
          <a:prstGeom prst="roundRect">
            <a:avLst>
              <a:gd name="adj" fmla="val 3117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553048" y="1810512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5694" y="1953158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84568" y="1810512"/>
            <a:ext cx="40841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D98E04"/>
                </a:solidFill>
              </a:rPr>
              <a:t>갑작스럽고 외상적인 상실</a:t>
            </a:r>
            <a:endParaRPr 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6553048" y="2560320"/>
            <a:ext cx="481568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사고·재난·범죄·자살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죽음의 장면·원인에 대한 반복적 생각, 죄책감, 분노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222222"/>
                </a:solidFill>
              </a:rPr>
              <a:t>사건 세부를 재현하게 하지 않고 안전·일상·지지를 우선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A6EA5"/>
                </a:solidFill>
              </a:rPr>
              <a:t>연결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재난·사고·자살사별·학교와 지역사회의 집단적 상실은 제12강에서 더 깊게 다룹니다.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10절 생애단계와 애도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나이에 따라 애도 표현도 달라진다</a:t>
            </a:r>
            <a:endParaRPr lang="en-US" sz="28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4572000"/>
                <a:gridCol w="5029200"/>
              </a:tblGrid>
              <a:tr h="58521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대상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나타날 수 있는 특징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WLC·교육적 접근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아동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죽음의 영속성을 덜 이해, 반복 질문, 놀이 속 표현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정직하고 단순한 언어, “네 탓이 아니야”, 안정적 보호자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청소년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또래와 달라 보일까 숨김, 분노·위축·학업변화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선택권, 또래·성인 지지, 도움요청 경로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직장·양육·행정처리 속 애도 지연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역할부담과 감정표현을 함께 다룸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중·노년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배우자·형제·친구 상실 누적, 역할·건강상실 동반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사회적 연결, 새 일상·역할 만들기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초고령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반복적 사별, 관계망 축소, 기억·기능 변화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작은 관계·일상·기억의 연속성</a:t>
                      </a:r>
                      <a:endParaRPr lang="en-US" sz="13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아동·청소년 주의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“잠들었다”, “멀리 갔다”처럼 모호하게 말하면 혼란과 불안을 키울 수 있습니다. 발달수준에 맞게 사실을 명확하고 안전하게 전합니다.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아이에게 어떻게 말할까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“일곱 살 손녀가 ‘할머니는 언제 와?’라고 묻습니다.”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“잠들었어”, “멀리 갔어” 대신 쓸 수 있는 정직하고 단순한 문장을 만듭니다.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8892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889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87096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“네 탓이 아니야”를 담은 문장을 하나 덧붙입니다.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9255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925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907280"/>
            <a:ext cx="630936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짝과 서로 읽어 주고, 아이 입장에서 이해되는지 확인합니다.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1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4분</a:t>
            </a:r>
            <a:endParaRPr lang="en-US" sz="2800" dirty="0"/>
          </a:p>
        </p:txBody>
      </p:sp>
      <p:sp>
        <p:nvSpPr>
          <p:cNvPr id="20" name="Shape 17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3" name="Text 19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4" name="Text 20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5" name="Shape 21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Shape 22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28" name="Text 23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29" name="Text 24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아이에게 전할 두 문장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11절 지속성 애도장애(PGD)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알아야 하지만, 진단하지 않는 영역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572000"/>
                <a:gridCol w="4663440"/>
              </a:tblGrid>
              <a:tr h="7772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구분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DSM-5-TR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ICD-11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기간의 핵심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성인: 사망 후 최소 12개월 / 아동·청소년: 최소 6개월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통상 최소 6개월, 문화·사회적 규범을 현저히 넘어 지속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핵심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강한 그리움·몰두와 관련 증상 + 임상적으로 유의한 고통·기능손상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지속적 그리움·몰두 + 강한 정서적 고통 + 기능손상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문화 고려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개인의 사회·문화·종교적 기대를 넘어서는지 평가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문화·종교적 맥락에서 예상되는 기간·강도 고려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최신 임상기준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DSM-5-TR의 정식 진단명은 “지속성 애도장애(PGD)”입니다. 두 분류체계의 기간 기준은 같지 않으며, 진단은 정신건강 전문가의 영역입니다.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12절 전문가 연계 신호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언제 전문가에게 연결해야 하는가</a:t>
            </a:r>
            <a:endParaRPr lang="en-US" sz="28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3816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연계 신호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예시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지속적 기능 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식사·수면·위생·직장·학교생활이 장기간 심각하게 무너짐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압도적 그리움·몰두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고인 생각이 거의 모든 시간을 차지해 일상 참여가 어려움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강한 절망·무의미감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삶을 계속할 이유가 없다고 반복적으로 느낌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자살·자해 위험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죽고 싶다는 생각, 계획·위험신호가 의심됨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심한 외상반응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사건 장면의 침투, 극심한 회피·과각성으로 기능 손상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물질사용·위험행동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알코올·약물·도박 등으로 감정을 견디려 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정신질환 동반 가능성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중증 우울·불안·정신증 등 평가가 필요한 증상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WLC의 안전 기준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위험이 의심되면 “조금 더 코칭해 보고” 기다리지 않습니다. 즉시 정신건강·의료·응급 지원체계로 연결합니다.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14절 사례별 섬세한 접근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주변이 축소하기 쉬운 세 가지 상실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펫로스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“사람이 아니잖아요”라는 비교를 하지 않고, 그 관계가 일상에서 어떤 의미였는지 듣습니다.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치매 가족의 “살아 있는 상실”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“아직 살아 계신데 왜 슬퍼하느냐”가 아니라, 반복되는 관계의 상실을 인정합니다.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유산·사산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상실의 의미를 대신 정하지 않고, 원하면 이름·기록·추모 방식을 함께 생각합니다.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16절 자살사별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자살로 가까운 사람을 잃은 유족 곁에서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011680"/>
          </a:xfrm>
          <a:prstGeom prst="roundRect">
            <a:avLst>
              <a:gd name="adj" fmla="val 5455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68680" y="1965960"/>
            <a:ext cx="822960" cy="82296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2650" y="2179930"/>
            <a:ext cx="395021" cy="395021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65960" y="1783080"/>
            <a:ext cx="935705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자살유족은 슬픔과 함께 “내가 막았어야 했다”는 죄책감, 분노, 수치심, 사회적 낙인을 겪을 수 있습니다.</a:t>
            </a:r>
            <a:endParaRPr lang="en-US" sz="2600" dirty="0"/>
          </a:p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WLC 단독 코칭으로 장기 관리할 영역이 아닙니다.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548640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77240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말의 원칙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원인을 하나로 설명하지 않고, 유족 책임을 암시하지 않습니다.</a:t>
            </a:r>
            <a:endParaRPr lang="en-US" sz="2100" dirty="0"/>
          </a:p>
        </p:txBody>
      </p:sp>
      <p:sp>
        <p:nvSpPr>
          <p:cNvPr id="10" name="Shape 7"/>
          <p:cNvSpPr/>
          <p:nvPr/>
        </p:nvSpPr>
        <p:spPr>
          <a:xfrm>
            <a:off x="4338218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66818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함께 살필 것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다른 가족의 자살위험과 정신건강 상태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8127797" y="3886200"/>
            <a:ext cx="3515258" cy="2240280"/>
          </a:xfrm>
          <a:prstGeom prst="roundRect">
            <a:avLst>
              <a:gd name="adj" fmla="val 4898"/>
            </a:avLst>
          </a:prstGeom>
          <a:solidFill>
            <a:srgbClr val="F3F4F3"/>
          </a:solidFill>
          <a:ln w="12700">
            <a:solidFill>
              <a:srgbClr val="F3F4F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356397" y="4069080"/>
            <a:ext cx="30580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100" b="1" dirty="0">
                <a:solidFill>
                  <a:srgbClr val="D98E04"/>
                </a:solidFill>
              </a:rPr>
              <a:t>연계</a:t>
            </a:r>
            <a:endParaRPr lang="en-US" sz="21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자살유족 지원기관·정신건강복지센터와 연결합니다.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짝 연습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“이제 그만 슬퍼해야 하는데…”에 답하기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“남편 떠난 지 6개월인데 아직도 아무것도 못 해요. 제가 너무 약한 것 같아요.”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A가 내담자 역할로 위 문장을 말합니다.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B는 “정상화” 한 문장으로 답합니다(조언·기간 언급 금지).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이어서 “압박 탐색” 질문 하나를 합니다: “그만해야 한다고 느끼게 하는 말이 있었나요?”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역할을 바꿉니다.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7분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2인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정상화 문장 1개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47208" y="1005840"/>
            <a:ext cx="1097280" cy="109728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32500" y="1291133"/>
            <a:ext cx="526694" cy="52669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28600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휴식 10분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29184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8FB9A8"/>
                </a:solidFill>
              </a:rPr>
              <a:t>지금까지 기억할 세 가지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말하기 어려운 상실도 애도할 권리가 있다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4338218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566818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PGD는 알되 진단하지 않는다 — DSM·ICD 기준은 다르다</a:t>
            </a:r>
            <a:endParaRPr lang="en-US" sz="2000" dirty="0"/>
          </a:p>
        </p:txBody>
      </p:sp>
      <p:sp>
        <p:nvSpPr>
          <p:cNvPr id="10" name="Shape 7"/>
          <p:cNvSpPr/>
          <p:nvPr/>
        </p:nvSpPr>
        <p:spPr>
          <a:xfrm>
            <a:off x="8127797" y="3840480"/>
            <a:ext cx="3515258" cy="1371600"/>
          </a:xfrm>
          <a:prstGeom prst="roundRect">
            <a:avLst>
              <a:gd name="adj" fmla="val 8000"/>
            </a:avLst>
          </a:prstGeom>
          <a:solidFill>
            <a:srgbClr val="2A5F5A"/>
          </a:solidFill>
          <a:ln w="12700">
            <a:solidFill>
              <a:srgbClr val="2A5F5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56397" y="3931920"/>
            <a:ext cx="305805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</a:rPr>
              <a:t>위험신호는 기다리지 않고 즉시 연결</a:t>
            </a:r>
            <a:endParaRPr lang="en-US" sz="2000" dirty="0"/>
          </a:p>
        </p:txBody>
      </p:sp>
      <p:sp>
        <p:nvSpPr>
          <p:cNvPr id="12" name="Text 9"/>
          <p:cNvSpPr txBox="1"/>
          <p:nvPr/>
        </p:nvSpPr>
        <p:spPr>
          <a:xfrm>
            <a:off x="548640" y="562356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FE3DC"/>
                </a:solidFill>
              </a:rPr>
              <a:t>다음  ▸  3교시 — 애도와 관계회복 워크숍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8FB9A8"/>
                </a:solidFill>
              </a:rPr>
              <a:t>3교시</a:t>
            </a:r>
            <a:endParaRPr lang="en-US" sz="2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65176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애도와 관계회복 워크숍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FE3DC"/>
                </a:solidFill>
              </a:rPr>
              <a:t>이 사람을 잊지 않고도, 다시 살아가기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480560"/>
            <a:ext cx="1109441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코칭 사례와 롤플레이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1 상실지도 · 실습 2 미완의 편지 · 실습 3 균형표</a:t>
            </a:r>
            <a:endParaRPr lang="en-US" sz="19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900" dirty="0">
                <a:solidFill>
                  <a:srgbClr val="FFFFFF"/>
                </a:solidFill>
              </a:rPr>
              <a:t>실습 5 연계 판단 · WLC의 자기돌봄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15절 코칭 사례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“이제 그만 슬퍼해야 하는데…”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정상화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“오래 함께한 분을 잃은 뒤 그리움이 계속되는 것 자체가 약함은 아니에요.”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압박 탐색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“‘이제 그만해야 한다’고 느끼게 하는 말이나 상황이 있었나요?”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관계 탐색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“남편분을 떠올릴 때 가장 먼저 생각나는 일상의 장면은요?”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지속적 유대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“그분과의 기억을 부담 없이 이어갈 작은 방식이 있을까요? 사진 한 장, 음악, 커피 한 잔도 좋아요.”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기능 점검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“슬픔과 별개로 식사·수면·외출은 어느 정도 유지되고 있나요?”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필요 시 연계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 “일상이 많이 무너졌거나 삶을 포기하고 싶다면 전문상담도 함께 연결할게요.”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롤플레이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애도 코칭 여섯 단계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내담자는 세 가지 상황 중 하나를 골라 이야기합니다.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상황: “남편 떠난 지 6개월” / “펫로스를 유난이래요” / “치매 어머니”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3인 1조: 내담자·WLC·관찰자를 정합니다.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WLC는 정상화 → 압박 탐색 → 관계 → 지속적 유대 → 기능 점검 순으로 4분간 대화합니다.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관찰자는 WLC가 기간·단계로 판단하지 않았는지, 기능 점검을 했는지 체크합니다.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3인 1조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내담자가 정한 “작은 유대의 방식” 1가지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18.1 실습 1 · 발표하지 않습니다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나의 상실지도</a:t>
            </a:r>
            <a:endParaRPr lang="en-US" sz="28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463040"/>
                <a:gridCol w="2468880"/>
                <a:gridCol w="2468880"/>
                <a:gridCol w="2468880"/>
              </a:tblGrid>
              <a:tr h="7132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상실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언제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그때 잃은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남아 있는 감정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지금 필요한 것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13.1 미완의 편지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전하지 못한 마음을 글로</a:t>
            </a:r>
            <a:endParaRPr lang="en-US" sz="28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85039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방향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문장 시작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미안함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“그때 내가 하지 못해 마음에 남는 것은…”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서운함·분노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“당신에게 말하지 못했던 속상함은…”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용서 또는 이해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“지금 돌아보면 조금 다르게 이해되는 것은…”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감사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“내 삶에 남겨 준 가장 고마운 것은…”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사랑·작별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“앞으로 나는 당신을 …로 기억하며 살아가고 싶어.”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303520"/>
            <a:ext cx="11094415" cy="868680"/>
          </a:xfrm>
          <a:prstGeom prst="roundRect">
            <a:avLst>
              <a:gd name="adj" fmla="val 12632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77240" y="5509260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6112" y="5628132"/>
            <a:ext cx="219456" cy="219456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463040" y="5394960"/>
            <a:ext cx="99056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98E04"/>
                </a:solidFill>
              </a:rPr>
              <a:t>중요   </a:t>
            </a:r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편지를 쓰는 것이 목적이 아니라 감정을 안전하게 표현하는 것이 목적입니다. 원하지 않으면 말하기·그림·음성기록으로 바꿀 수 있습니다.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18.2 실습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미완의 편지 쓰기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7406640" cy="457200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737360"/>
            <a:ext cx="6858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4A"/>
                </a:solidFill>
              </a:rPr>
              <a:t>수신인을 정하고, 다섯 문장 중 쓰고 싶은 것부터 적습니다. 모두 쓰지 않아도 됩니다.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822960" y="285292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52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1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1371600" y="283464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수신인: 사람·반려동물·떠나온 곳·예전의 나 등 누구든 괜찮습니다.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822960" y="363016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6301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371600" y="361188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“내가 미처 말하지 못한 것은…”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822960" y="440740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22960" y="4407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371600" y="438912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“마음에 남아 있는 서운함 또는 미안함은…” / “그래도 고마웠던 것은…”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822960" y="5184648"/>
            <a:ext cx="384048" cy="384048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22960" y="51846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371600" y="5166360"/>
            <a:ext cx="6309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dirty="0">
                <a:solidFill>
                  <a:srgbClr val="222222"/>
                </a:solidFill>
              </a:rPr>
              <a:t>“앞으로 당신을 이렇게 기억하고 싶다…”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8229600" y="1554480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430768" y="1755648"/>
            <a:ext cx="457200" cy="45720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49640" y="1874520"/>
            <a:ext cx="219456" cy="219456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9006840" y="1755648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A8C5BC"/>
                </a:solidFill>
              </a:rPr>
              <a:t>시간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8430768" y="2267712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10분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8229600" y="3127248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430768" y="3328416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3447288"/>
            <a:ext cx="219456" cy="219456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9006840" y="3328416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방식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8430768" y="3840480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개인 작성 (발표 없음)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8229600" y="4700016"/>
            <a:ext cx="3413455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8430768" y="4901184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9640" y="5020056"/>
            <a:ext cx="219456" cy="219456"/>
          </a:xfrm>
          <a:prstGeom prst="rect">
            <a:avLst/>
          </a:prstGeom>
        </p:spPr>
      </p:pic>
      <p:sp>
        <p:nvSpPr>
          <p:cNvPr id="31" name="Text 26"/>
          <p:cNvSpPr txBox="1"/>
          <p:nvPr/>
        </p:nvSpPr>
        <p:spPr>
          <a:xfrm>
            <a:off x="9006840" y="4901184"/>
            <a:ext cx="2499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6B"/>
                </a:solidFill>
              </a:rPr>
              <a:t>결과물</a:t>
            </a:r>
            <a:endParaRPr lang="en-US" sz="1400" dirty="0"/>
          </a:p>
        </p:txBody>
      </p:sp>
      <p:sp>
        <p:nvSpPr>
          <p:cNvPr id="32" name="Text 27"/>
          <p:cNvSpPr txBox="1"/>
          <p:nvPr/>
        </p:nvSpPr>
        <p:spPr>
          <a:xfrm>
            <a:off x="8430768" y="5413248"/>
            <a:ext cx="30019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나의 미완의 편지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18.3 실습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상실지향·회복지향 균형표</a:t>
            </a:r>
            <a:endParaRPr lang="en-US" sz="28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9144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주 상실을 느끼는 시간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이번 주 일상을 회복하는 행동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예) 사진 보기 / 편지 쓰기 / 추모하기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예) 산책 / 식사 / 친구 연락 / 행정업무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계획: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계획:</a:t>
                      </a: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9144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18.5 실습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전문가 연계 판단 연습</a:t>
            </a:r>
            <a:endParaRPr lang="en-US" sz="28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1645920"/>
                <a:gridCol w="1645920"/>
                <a:gridCol w="2651760"/>
              </a:tblGrid>
              <a:tr h="60350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WLC 단독 지지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전문가 연계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이유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2개월, 슬프지만 출근·식사 가능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14개월, 극심한 그리움과 사회생활 중단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사별 후 “나도 죽고 싶다”는 말 반복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반려동물 사별 후 가족이 슬픔을 무시함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재난사별 후 사건 장면이 반복 떠올라 외출 불가</a:t>
                      </a: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4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17절 WLC의 자기돌봄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공감피로와 대리외상을 예방한다</a:t>
            </a:r>
            <a:endParaRPr lang="en-US" sz="28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21040"/>
              </a:tblGrid>
              <a:tr h="51206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자기돌봄 원칙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실천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4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감정의 경계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“함께 느끼지만 이 슬픔은 내 것이 아니다”라는 내적 경계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사례 종료 의식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상담 후 짧은 기록·호흡·산책으로 정서적 전환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수퍼비전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어려운 사례를 동료·전문 수퍼바이저와 정기적으로 검토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신체 리듬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수면·운동·식사·휴식 유지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업무 한계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위기·임상사례를 혼자 맡지 않고 즉시 연계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1F4E4A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개인 상실 점검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222222"/>
                          </a:solidFill>
                          <a:latin typeface="Noto Serif KR Black" pitchFamily="34" charset="0"/>
                          <a:ea typeface="Noto Serif KR Black" pitchFamily="34" charset="-122"/>
                          <a:cs typeface="Noto Serif KR Black" pitchFamily="34" charset="-120"/>
                        </a:rPr>
                        <a:t>나의 미해결 애도가 사례에 투사되지 않는지 확인</a:t>
                      </a:r>
                      <a:endParaRPr lang="en-US" sz="1500" dirty="0">
                        <a:latin typeface="Noto Serif KR Black" charset="0"/>
                        <a:ea typeface="Noto Serif KR Black" charset="0"/>
                        <a:cs typeface="Noto Serif KR Black" charset="0"/>
                      </a:endParaRPr>
                    </a:p>
                  </a:txBody>
                  <a:tcPr marL="109728" marR="109728" marT="54864" marB="54864" anchor="ctr">
                    <a:lnL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8D3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8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OX 퀵퀴즈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맞으면 O, 틀리면 X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81165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81165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63040" y="155448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건강한 애도는 고인과의 관계를 완전히 끊고 잊는 것이다.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97228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7228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0637215" y="172021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637215" y="172021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270891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7240" y="296608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296608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463040" y="270891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이중과정모형에서는 상실지향과 회복지향 사이를 오가는 것이 자연스럽다.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97228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7228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10637215" y="287464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637215" y="287464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48640" y="386334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77240" y="412051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412051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63040" y="386334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반려동물 사별은 박탈된 애도가 될 수 있다.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7228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7228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10637215" y="402907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10637215" y="402907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548640" y="5017770"/>
            <a:ext cx="11094415" cy="971550"/>
          </a:xfrm>
          <a:prstGeom prst="roundRect">
            <a:avLst>
              <a:gd name="adj" fmla="val 11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7240" y="5274945"/>
            <a:ext cx="457200" cy="45720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777240" y="5274945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1463040" y="5017770"/>
            <a:ext cx="7985455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사별 후 12개월이 지나면 WLC가 지속성 애도장애로 판단할 수 있다.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97228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A6EA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7228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A6EA5"/>
                </a:solidFill>
              </a:rPr>
              <a:t>O</a:t>
            </a:r>
            <a:endParaRPr lang="en-US" sz="2200" dirty="0"/>
          </a:p>
        </p:txBody>
      </p:sp>
      <p:sp>
        <p:nvSpPr>
          <p:cNvPr id="34" name="Shape 32"/>
          <p:cNvSpPr/>
          <p:nvPr/>
        </p:nvSpPr>
        <p:spPr>
          <a:xfrm>
            <a:off x="10637215" y="5183505"/>
            <a:ext cx="640080" cy="6400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B5452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637215" y="5183505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5452F"/>
                </a:solidFill>
              </a:rPr>
              <a:t>X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1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grief와 mourning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E4A"/>
                </a:solidFill>
              </a:rPr>
              <a:t>상실을 표현·통합해 가는 개인적·사회적 과정을 뜻하는 개념은?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상실(Loss)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비탄(Grief)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애도(Mourning)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예기불안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2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Worden의 애도 과제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Worden의 애도 4과제에 해당하지 않는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상실의 현실 수용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슬픔의 고통 경험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고인을 완전히 잊기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달라진 세상에 적응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3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PGD 기간 기준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DSM-5-TR의 성인 지속성 애도장애 기간 기준은?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1개월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3개월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6개월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사망 후 최소 12개월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4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미완의 편지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미완의 편지 기법에 대한 설명으로 가장 적절한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반드시 다섯 문장을 모두 써야 한다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감정을 안전하게 표현하는 것이 목적이며 다른 방식으로 바꿀 수 있다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쓴 편지를 모두 앞에서 발표한다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외상기억을 반복해서 자세히 쓰게 한다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필기 대비 객관식 5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전문가 연계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애도 코칭 중 즉시 전문가 연계가 필요한 신호가 아닌 것은?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①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645920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죽고 싶다는 말이 반복됨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233008" y="256032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07328" y="299923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07328" y="299923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②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7330288" y="265176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사건 장면이 반복 떠올라 외출이 불가함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2960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③</a:t>
            </a:r>
            <a:endParaRPr 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1645920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기념일에 슬픔이 다시 커짐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6233008" y="4297680"/>
            <a:ext cx="5410048" cy="1463040"/>
          </a:xfrm>
          <a:prstGeom prst="roundRect">
            <a:avLst>
              <a:gd name="adj" fmla="val 7500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07328" y="4736592"/>
            <a:ext cx="585216" cy="585216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07328" y="473659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④</a:t>
            </a:r>
            <a:endParaRPr 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7330288" y="4389120"/>
            <a:ext cx="408416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식사·수면·위생이 장기간 심각하게 무너짐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정답과 해설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퀴즈 정답 확인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31520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2331720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지속적 유대 — 잊지 않고 잇는다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48640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2331720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진자운동이 자연스럽다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3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O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2331720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사회적 인정이 적은 상실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548640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31520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OX 4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508760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X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2331720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진단은 정신건강 전문가의 영역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33008" y="150876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15888" y="150876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1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7193128" y="150876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8016088" y="155448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애도(Mourning)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233008" y="268605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15888" y="268605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2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7193128" y="268605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③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8016088" y="273177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잊기가 아니라 연결 유지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6233008" y="386334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415888" y="386334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3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7193128" y="386334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④</a:t>
            </a:r>
            <a:endParaRPr lang="en-US" sz="2200" dirty="0"/>
          </a:p>
        </p:txBody>
      </p:sp>
      <p:sp>
        <p:nvSpPr>
          <p:cNvPr id="31" name="Text 29"/>
          <p:cNvSpPr txBox="1"/>
          <p:nvPr/>
        </p:nvSpPr>
        <p:spPr>
          <a:xfrm>
            <a:off x="8016088" y="390906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성인 최소 12개월(DSM-5-TR)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6233008" y="5040630"/>
            <a:ext cx="5410048" cy="1040130"/>
          </a:xfrm>
          <a:prstGeom prst="roundRect">
            <a:avLst>
              <a:gd name="adj" fmla="val 10549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415888" y="5040630"/>
            <a:ext cx="91440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6B6B"/>
                </a:solidFill>
              </a:rPr>
              <a:t>객관식 4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7193128" y="5040630"/>
            <a:ext cx="731520" cy="10401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7D6B"/>
                </a:solidFill>
              </a:rPr>
              <a:t>②</a:t>
            </a:r>
            <a:endParaRPr lang="en-US" sz="2200" dirty="0"/>
          </a:p>
        </p:txBody>
      </p:sp>
      <p:sp>
        <p:nvSpPr>
          <p:cNvPr id="35" name="Text 33"/>
          <p:cNvSpPr txBox="1"/>
          <p:nvPr/>
        </p:nvSpPr>
        <p:spPr>
          <a:xfrm>
            <a:off x="8016088" y="5086350"/>
            <a:ext cx="3444088" cy="9486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안전한 표현이 목적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20절 학습점검 · 복습 과제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서술형으로 정리해 보세요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상실·grief·mourning의 차이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5단계를 쓸 때 주의할 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Worden의 애도 4과제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상실지향과 회복지향의 차이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지속적 유대와 “잊지 못하는 상태”의 구분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박탈된 애도와 모호한 상실의 차이(사례)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DSM-5-TR과 ICD-11의 PGD 기간 기준 차이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WLC가 PGD를 진단하면 안 되는 이유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미완의 편지의 목적과 안전 주의점</a:t>
            </a:r>
            <a:endParaRPr lang="en-US" sz="2200" dirty="0"/>
          </a:p>
        </p:txBody>
      </p:sp>
      <p:sp>
        <p:nvSpPr>
          <p:cNvPr id="31" name="Shape 29"/>
          <p:cNvSpPr/>
          <p:nvPr/>
        </p:nvSpPr>
        <p:spPr>
          <a:xfrm>
            <a:off x="6233008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233008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10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6854800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즉시 전문가 연계가 필요한 신호 네 가지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21절 핵심정리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제11강에서 꼭 기억할 여섯 문장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애도에는 정해진 한 가지 모습이 없다.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관계·문화·상황·지지에 따라 다양하다.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982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36982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34238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5단계는 순서표가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감정을 이해하는 지도이지 진단표가 아니다.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13944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13944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11200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애도는 슬픔과 일상 사이를 오간다.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상실지향과 회복지향의 진자운동.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90906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9090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388162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건강한 애도는 잊는 것이 아니다.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지속적 유대로 관계를 새롭게 잇는다.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868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67868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465124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말하기 어려운 상실도 애도할 권리가 있다.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박탈된 애도를 놓치지 않는다.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54483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54483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5420868"/>
            <a:ext cx="10408615" cy="6964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F4E4A"/>
                </a:solidFill>
              </a:rPr>
              <a:t>WLC는 진단자가 아니라 동행자다. </a:t>
            </a:r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</a:rPr>
              <a:t> 위험신호는 전문가에게 연결한다.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22절 WLC 코치 노트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현장에서 기억할 아홉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70432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판단 중지를 몸에 익힌다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상실의 크기를 비교하지 않는다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48640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3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70432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5단계를 순서대로 적용하지 않는다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548640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4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70432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슬픔과 회복을 모두 허용한다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48640" y="5294376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5294376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5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5266944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고인을 잊게 하지 않는다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233008" y="1600200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233008" y="1600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6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4800" y="1572768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기간만으로 병리화하지 않는다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6233008" y="2523744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233008" y="252374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7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2496312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DSM과 ICD 기준을 혼동하지 않는다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6233008" y="3447288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33008" y="34472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8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6854800" y="3419856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위험신호는 즉시 연계한다</a:t>
            </a:r>
            <a:endParaRPr lang="en-US" sz="2200" dirty="0"/>
          </a:p>
        </p:txBody>
      </p:sp>
      <p:sp>
        <p:nvSpPr>
          <p:cNvPr id="28" name="Shape 26"/>
          <p:cNvSpPr/>
          <p:nvPr/>
        </p:nvSpPr>
        <p:spPr>
          <a:xfrm>
            <a:off x="6233008" y="4370832"/>
            <a:ext cx="438912" cy="43891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33008" y="437083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9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4343400"/>
            <a:ext cx="4724248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WLC 자신도 돌봄을 받는다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이번 주 과제와 실천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시간까지 해 올 세 가지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192572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작은 유대의 의례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떠올린 사람을 위해 음악·음식·장소 등 작은 의례를 한 번 해 봅니다.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4338218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AF3F0"/>
          </a:solidFill>
          <a:ln w="12700">
            <a:solidFill>
              <a:srgbClr val="EAF3F0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4566818" y="1783080"/>
            <a:ext cx="548640" cy="548640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465" y="1925726"/>
            <a:ext cx="263347" cy="263347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566818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2E7D6B"/>
                </a:solidFill>
              </a:rPr>
              <a:t>균형표 실천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이번 주 상실의 시간과 회복의 행동을 하나씩 실천합니다.</a:t>
            </a:r>
            <a:endParaRPr lang="en-US" sz="2200" dirty="0"/>
          </a:p>
        </p:txBody>
      </p:sp>
      <p:sp>
        <p:nvSpPr>
          <p:cNvPr id="12" name="Shape 8"/>
          <p:cNvSpPr/>
          <p:nvPr/>
        </p:nvSpPr>
        <p:spPr>
          <a:xfrm>
            <a:off x="8127797" y="1554480"/>
            <a:ext cx="3515258" cy="4617720"/>
          </a:xfrm>
          <a:prstGeom prst="roundRect">
            <a:avLst>
              <a:gd name="adj" fmla="val 3121"/>
            </a:avLst>
          </a:prstGeom>
          <a:solidFill>
            <a:srgbClr val="E8EFF8"/>
          </a:solidFill>
          <a:ln w="12700">
            <a:solidFill>
              <a:srgbClr val="E8EFF8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8356397" y="1783080"/>
            <a:ext cx="548640" cy="548640"/>
          </a:xfrm>
          <a:prstGeom prst="ellipse">
            <a:avLst/>
          </a:prstGeom>
          <a:solidFill>
            <a:srgbClr val="3A6EA5"/>
          </a:solidFill>
          <a:ln w="12700">
            <a:solidFill>
              <a:srgbClr val="3A6EA5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99043" y="1925726"/>
            <a:ext cx="263347" cy="263347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356397" y="2468880"/>
            <a:ext cx="305805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2200" b="1" dirty="0">
                <a:solidFill>
                  <a:srgbClr val="3A6EA5"/>
                </a:solidFill>
              </a:rPr>
              <a:t>나를 위한 한 가지</a:t>
            </a:r>
            <a:endParaRPr lang="en-US" sz="2200" dirty="0"/>
          </a:p>
          <a:p>
            <a:pPr indent="0" marL="0">
              <a:buNone/>
            </a:pPr>
            <a:r>
              <a:rPr lang="en-US" sz="2200" dirty="0">
                <a:solidFill>
                  <a:srgbClr val="222222"/>
                </a:solidFill>
              </a:rPr>
              <a:t>오늘 수업으로 지친 나를 위해 자기돌봄 하나를 합니다.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4630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8FB9A8"/>
                </a:solidFill>
              </a:rPr>
              <a:t>제11강의 마지막 질문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1005840" y="2103120"/>
            <a:ext cx="10180015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“이 사람을 잊지 않고도,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나는 어떻게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다시 살아갈 수 있을까?”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4805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FE3DC"/>
                </a:solidFill>
              </a:rPr>
              <a:t>애도는 잊기가 아니라, 다른 방식으로 함께 살아가는 일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A8C5BC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body" hasCustomPrompt="1"/>
          </p:nvPr>
        </p:nvSpPr>
        <p:spPr>
          <a:xfrm>
            <a:off x="548640" y="292608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6B"/>
                </a:solidFill>
              </a:rPr>
              <a:t>다음 회차 예고</a:t>
            </a:r>
            <a:endParaRPr lang="en-US" sz="1300" dirty="0"/>
          </a:p>
        </p:txBody>
      </p:sp>
      <p:sp>
        <p:nvSpPr>
          <p:cNvPr id="3" name="Text 1"/>
          <p:cNvSpPr/>
          <p:nvPr>
            <p:ph idx="102" type="title" hasCustomPrompt="1"/>
          </p:nvPr>
        </p:nvSpPr>
        <p:spPr>
          <a:xfrm>
            <a:off x="548640" y="603504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4E4A"/>
                </a:solidFill>
              </a:rPr>
              <a:t>다음 시간에 만날 이야기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4937760" cy="4572000"/>
          </a:xfrm>
          <a:prstGeom prst="roundRect">
            <a:avLst>
              <a:gd name="adj" fmla="val 2400"/>
            </a:avLst>
          </a:prstGeom>
          <a:solidFill>
            <a:srgbClr val="1F4E4A"/>
          </a:solidFill>
          <a:ln w="12700">
            <a:solidFill>
              <a:srgbClr val="1F4E4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6868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8FB9A8"/>
                </a:solidFill>
              </a:rPr>
              <a:t>다음 시간  ·  제12강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94560"/>
            <a:ext cx="4389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</a:rPr>
              <a:t>예기치 않은 죽음·재난·사고와 애도교육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749040"/>
            <a:ext cx="4389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8FB9A8"/>
                </a:solidFill>
              </a:rPr>
              <a:t>다음 질문
</a:t>
            </a:r>
            <a:pPr indent="0" marL="0">
              <a:buNone/>
            </a:pPr>
            <a:r>
              <a:rPr lang="en-US" sz="2100" dirty="0">
                <a:solidFill>
                  <a:srgbClr val="FFFFFF"/>
                </a:solidFill>
              </a:rPr>
              <a:t>“예기치 않은 죽음이 학교·직장·지역사회를 흔들 때, WLC는 무엇을 하고 무엇은 하지 말아야 하는가?”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760720" y="1554480"/>
            <a:ext cx="58823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E7D6B"/>
                </a:solidFill>
              </a:rPr>
              <a:t>이런 내용을 다룹니다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760720" y="2029968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760720" y="20299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2011680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갑작스러운 죽음과 집단적 상실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760720" y="2606040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760720" y="2606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587752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심리적 응급지원의 기본 원칙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5760720" y="3182112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760720" y="31821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263640" y="3163824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학교·지역사회의 대응과 추모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5760720" y="3758184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760720" y="3758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3739896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자살사별과 미디어 노출</a:t>
            </a:r>
            <a:endParaRPr lang="en-US" sz="1900" dirty="0"/>
          </a:p>
        </p:txBody>
      </p:sp>
      <p:sp>
        <p:nvSpPr>
          <p:cNvPr id="21" name="Shape 19"/>
          <p:cNvSpPr/>
          <p:nvPr/>
        </p:nvSpPr>
        <p:spPr>
          <a:xfrm>
            <a:off x="5760720" y="4334256"/>
            <a:ext cx="347472" cy="347472"/>
          </a:xfrm>
          <a:prstGeom prst="ellipse">
            <a:avLst/>
          </a:prstGeom>
          <a:solidFill>
            <a:srgbClr val="2E7D6B"/>
          </a:solidFill>
          <a:ln w="12700">
            <a:solidFill>
              <a:srgbClr val="2E7D6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760720" y="433425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6263640" y="4315968"/>
            <a:ext cx="5379415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222222"/>
                </a:solidFill>
              </a:rPr>
              <a:t>기념일 반응과 WLC의 역할 경계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760720" y="5029200"/>
            <a:ext cx="5882335" cy="1097280"/>
          </a:xfrm>
          <a:prstGeom prst="roundRect">
            <a:avLst>
              <a:gd name="adj" fmla="val 10000"/>
            </a:avLst>
          </a:prstGeom>
          <a:solidFill>
            <a:srgbClr val="FDF1DC"/>
          </a:solidFill>
          <a:ln w="12700">
            <a:solidFill>
              <a:srgbClr val="FDF1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43600" y="5257800"/>
            <a:ext cx="548640" cy="548640"/>
          </a:xfrm>
          <a:prstGeom prst="ellipse">
            <a:avLst/>
          </a:prstGeom>
          <a:solidFill>
            <a:srgbClr val="D98E04"/>
          </a:solidFill>
          <a:ln w="12700">
            <a:solidFill>
              <a:srgbClr val="D98E04"/>
            </a:solidFill>
            <a:prstDash val="solid"/>
          </a:ln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86246" y="5400446"/>
            <a:ext cx="263347" cy="263347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6675120" y="5074920"/>
            <a:ext cx="478505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</a:rPr>
              <a:t>미리 읽기: 교재 제12장  ·  가져올 것: 2강 지역 위험·자원 지도(정신건강 연계처 확인)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11535" y="6473952"/>
            <a:ext cx="7315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B6B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KR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erif KR Black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51</Slides>
  <Notes>51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WLC 2급 제11강 상실·애도와 관계회복 코칭</dc:title>
  <dc:subject>PptxGenJS Presentation</dc:subject>
  <dc:creator>삶잇다협동조합</dc:creator>
  <cp:lastModifiedBy>삶잇다협동조합</cp:lastModifiedBy>
  <cp:revision>1</cp:revision>
  <dcterms:created xsi:type="dcterms:W3CDTF">2026-10-29T23:51:33Z</dcterms:created>
  <dcterms:modified xsi:type="dcterms:W3CDTF">2026-10-29T23:51:33Z</dcterms:modified>
</cp:coreProperties>
</file>