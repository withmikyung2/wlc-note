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689e4bfb-1eea-d99f-f9b9-42ff41beac6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교시 애도를 이해하는 지도" id="{5fc730ed-5cc4-c5f5-8a3c-d9fe067d98a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교시 말하기 어려운 상실과 안전" id="{42ffaf5f-b309-71fe-e458-1f6b8bfcd7ad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3교시 애도와 관계회복 워크숍" id="{1bbfa564-f590-9497-af49-6bdf31ae9d2f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정리와 예고" id="{b9ad7755-52bc-fce2-d29f-e52480efe07c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제4부(상실과 임종을 동행하다)의 첫 시간.
"오늘은 남겨진 사람의 시간을 이야기합니다. 애도의 목표는 잊는 것이 아니라, 상실과 함께 다시 살아가는 법을 배우는 것입니다."
수업 시작 전 안전 안내: 최근 사별한 수강생은 언제든 쉬어도 되고, 개인 상실을 발표할 의무가 없다. 강사는 지역 정신건강복지센터·자살예방상담전화(109) 등 연결처를 미리 확인해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제4부: 11강 상실·애도 → 12강 예기치 않은 죽음·재난 → 13강 임종 돌봄 → 14강 사망 직후 지원.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나의 상실지도(비공개), 미완의 편지, 상실·회복 균형표. 모든 개인 기록은 발표하지 않아도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0:03–0:05 (2분)
📖 교재: 18.1 실습 안전
1강의 교실 약속을 다시 꺼낸다. 오늘은 특히 개인 상실을 건드리는 회차.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0:05–0:09 (4분)
📖 교재: 7강 30일 프로젝트 · 10강 과제
정리 과정에서 사진·유품을 보며 상실을 다시 만난 수강생이 많다 — 오늘 주제(상실)로 자연스럽게 연결. 3번은 말하지 않고 떠올리기만.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0:09–0:13 (4분)
📖 교재: 3절 · 피해야 할 말
대부분 "곁에 있어 준 사람", "아무 말 없이 들어 준 것", "밥 한 끼"를 말한다. 반대로 상처가 된 말("이제 잊어", "강해져야지")도 나올 수 있다 → 3절로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0:13–0:14 (1분)
📖 교재: 11장 표제 · 핵심 메시지
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0:14–0:16 (2분)
📖 교재: 11장 학습목표 1~10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0:16–0:20 (4분)
📖 교재: 1절 · 표
4강 펫로스, 5·7강 유품, 8강 은퇴 등이 모두 상실의 다른 얼굴.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0:20–0:23 (3분)
📖 교재: 2절 · 표
서술형 Q1. 객관식 1번.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0:23–0:26 (3분)
📖 교재: 3절 · 피해야 할 말
오프닝에서 나온 "상처가 된 말"을 여기 연결. 코치노트 1: "이제 그만할 때"를 코치가 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0:26–0:30 (4분)
📖 교재: 4절 · 표
1강의 5단계(죽어가는 사람)를 사별 애도로 다시 본다. 서술형 Q2. 코치노트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0:30–0:35 (5분)
📖 교재: 5절 · 표 · William Worden
서술형 Q3. 객관식 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0:35–0:40 (5분)
📖 교재: 6절 · 표
예: 아침엔 사진을 보며 울고 오후엔 산책·장보기. 서술형 Q4. OX 2번. 3교시 균형표 실습과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0:40–0:44 (4분)
📖 교재: 7절
서술형 Q5. 5강 멕시코 죽은 자의 날, 7강 기억유산과 연결. OX 1번.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0:44–0:48 (4분)
📖 교재: 7절 · 5절 과제 4
상실을 떠올리기 어려운 수강생은 "은퇴한 직장", "떠나온 고향"처럼 사람이 아닌 상실로 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 표정이 무거운 수강생이 있으면 휴식 중 가볍게 안부를 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1:00–1:06 (6분)
📖 교재: 8.1~8.2절
서술형 Q6. 4강 펫로스 복습. OX 3번. 코치노트 2: 상실의 크기를 비교하지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1:06–1:11 (5분)
📖 교재: 9.1~9.2절
외상반응이나 자살위험이 의심되면 즉시 전문 연계.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1:11–1:16 (5분)
📖 교재: 10절 · 표
2강 생애주기별 죽음교육과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1:16–1:20 (4분)
📖 교재: 10절 · 아동·청소년 주의
예: "할머니는 돌아가셨어. 몸이 더 이상 움직이지 않아서 다시 올 수 없어. 네가 뭘 잘못해서 그런 게 아니야. 할머니가 보고 싶을 땐 같이 사진을 보자."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1:20–1:26 (6분)
📖 교재: 11절 · 표
서술형 Q7·Q8. 객관식 3번. 코치노트 6·7: 기간만으로 병리화하지 않고, DSM과 ICD를 혼동하지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1:26–1:32 (6분)
📖 교재: 12절 · 표
서술형 Q10(네 가지 이상). 객관식 5번. 자살예방상담전화 109·정신건강위기상담 등 연락처는 수업 시점 재확인. 코치노트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1:32–1:37 (5분)
📖 교재: 14.1~14.3절
"다시 가지면 된다", "그래도 살아 계시잖아" 같은 말이 박탈된 애도를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1:37–1:42 (5분)
📖 교재: 16절 · 역할 경계
학교·직장 추모는 모방위험과 사생활을 고려해 전문지침을 따른다(12강 심화).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1:42–1:49 (7분)
📖 교재: 15절 · 3절
3교시 롤플레이의 예행연습. 흔한 실수: "6개월이면 아직 짧아요"(기간으로 판단).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3교시는 개인 기록이 많으니 조용한 배경음악을 준비해도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2:00–2:03 (3분)
📖 교재: 15절 · 표
상황: 6개월 전 남편을 잃은 60대 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2:03–2:13 (10분)
📖 교재: 15절 · 8절 · 14절
감정이 깊어질 수 있다. 끝나면 역할에서 나오는 시간을 갖는다.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2:13–2:21 (8분)
📖 교재: 18.1절 · 실습 안전
실습 안전: 공개하고 싶지 않은 상실은 발표할 의무가 없다. 개인 기록만으로 참여하거나 가상 사례를 써도 된다. 사람의 죽음 외에 건강·역할·관계 상실도 포함하게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2:21–2:24 (3분)
📖 교재: 13.1절 · 표
서술형 Q9. 객관식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2:24–2:34 (10분)
📖 교재: 18.2절 · 실습지
조용한 배경음악. 쓴 편지는 가져가서 보관하거나, 원하면 의식처럼 접어서 봉투에 넣는다. 끝나면 3번 깊게 숨 쉬는 시간을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2:34–2:39 (5분)
📖 교재: 18.3절 · 6절
이중과정모형을 내 일주일에 적용. 회복의 기준: 웃었다고 잊은 것도, 울었다고 회복 못 한 것도 아니다(13.3).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2:39–2:43 (4분)
📖 교재: 18.5절 · 12절
정답 예: 1 단독 지지(정상 애도) / 2 연계(기능 손상·PGD 가능성, 진단은 전문가) / 3 즉시 연계(자살위험) / 4 단독 지지(박탈된 애도 인정) / 5 연계(외상반응).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2:43–2:46 (3분)
📖 교재: 17절 · 표
오늘 실습을 마친 수강생 자신에게도 적용. "오늘 집에 가서 나를 위해 할 한 가지"를 생각하게 한다. 코치노트 9. 16강(전문직 윤리)과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6·7·8·11절
정답: 1 X / 2 O / 3 O / 4 X
※ 11강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2절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5절
정답 ③. 제4과제는 연결을 유지하며 삶을 이어감.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11절
정답 ④. 아동·청소년은 최소 6개월. ICD-11은 통상 최소 6개월.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13.1절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2:51–2:52 (1분)
📖 교재: 12절
정답 ③. 기념일 반응은 흔한 정상 애도 반응일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2:52–2:54 (2분)
📖 교재: 11장 본문 (강사 제작 문항)
객관식 5번 정답 ③(기념일 반응)은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20절 학습점검 Q1~Q10
채점 기준(문항당 10점): 핵심요소 3개 10점 / 2개 7점 / 1개 4점 / 없음 0점, 역할경계 이탈 -3점.
※ 11장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21절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22절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18절 · 17절
12강은 재난·자살 등 무거운 주제를 다룬다고 미리 알리고, 필요하면 개별 상담을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21절 · 제11장의 마지막 질문
10초 침묵. 오늘 자신의 상실을 마주한 수강생들에게 감사를 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23절 제12장으로의 연결
사고·재난·자살·학교사건처럼 갑작스럽고 집단적인 죽음은 일반 애도교육을 넘어 안전과 위기 대응의 관점이 필요하다.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제11강 상실·애도와 관계회복 코칭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제11강 상실·애도와 관계회복 코칭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제4부 상실과 임종을 동행하다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제11강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상실·애도와 관계회복 코칭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Loss, Grief &amp; Relationship Recovery Coaching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애도를 이해하는 지도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30일 프로젝트 돌아보기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상실·비탄·애도의 구분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5단계·Worden·이중과정·지속적 유대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말하기 어려운 상실과 안전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박탈된 애도·모호한 상실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예기애도·생애단계·PGD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전문가 연계 신호·자살사별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애도와 관계회복 워크숍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상실지도·미완의 편지·균형표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연계 판단·자기돌봄·예고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안전한 배움을 위한 약속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수업의 네 가지 약속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말하지 않을 권리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개인 상실은 발표하지 않아도 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쉬어도 괜찮음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마음이 무거우면 언제든 잠시 나가도 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비밀 유지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들은 이야기는 교실 밖으로 가져가지 않습니다.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도움 요청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힘들면 강사에게 말해 주세요. 연결처를 안내합니다.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강사 안내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실습에서는 실제 상실 대신 가상의 사례를 써도 됩니다. 1강의 약속을 오늘 다시 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30일 프로젝트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한 달 동안 무엇이 달라졌나요?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7강에서 시작한 30일 프로젝트(서류 → 사진 → 디지털 → 가족대화)를 마무리합니다.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4주 동안 해낸 것을 이야기합니다.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가장 어려웠던 주와 그 이유를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정리하며 만난 “잃어버린 것”이나 “그리운 사람”이 있었다면 마음속으로 떠올려 봅니다.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30일 동안 해낸 것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“무언가를 잃었을 때,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나에게 가장 위로가 되었던 것은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무엇이었나요?”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말이었나요, 사람이었나요, 시간이었나요?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1분 동안 떠올려 단어 하나를 적습니다. 원하는 사람만 그 단어를 함께 나눕니다.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애도의 목표는 잊는 것이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상실과 함께 다시 살아가는 법을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배우는 것이다.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애도는 고인을 잊는 과정이 아니다. 상실의 현실을 받아들이고, 고통을 안전하게 경험하며, 달라진 삶과 관계에 적응하고, 고인이나 잃은 대상과 새로운 방식의 유대를 만들어 가는 과정이다.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개념 구분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상실·비탄(grief)·애도(mourning)를 구분한다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다양한 상실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 외의 관계·건강·역할 상실을 인식한다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애도 이론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5단계·Worden 4과제·이중과정모형을 적용한다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지속적 유대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잊기가 아닌 새로운 관계방식을 지원한다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어려운 상실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박탈된 애도·모호한 상실·갑작스러운 상실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PGD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일반 애도와 구분하되 진단하지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코칭 도구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미완의 편지·추억상자·일상회복 계획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연계와 자기돌봄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위험신호 시 즉시 연계, 코치의 공감피로 예방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애도를 이해하는 지도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정해진 한 가지 모습은 없습니다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상실은 죽음보다 넓다 · grief와 mourning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퀴블러 로스 5단계와 Worden의 4과제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이중과정모형 · 지속적 유대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상실은 죽음보다 넓다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우리는 여러 방식으로 무언가를 잃는다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 유형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놓치지 말아야 할 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사망에 의한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배우자·부모·자녀·친구 사별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관계의 깊이와 죽음의 상황이 영향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관계의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이혼·별거·절교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사회적으로 충분히 인정받지 못할 수 있음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건강·기능의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질병·장애·노화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“예전의 나”를 잃는 애도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인지적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치매 가족의 기억·성격 변화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살아 있으나 관계가 변하는 “살아 있는 상실”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생식 관련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유산·사산·난임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축소되거나 공개하기 어려울 수 있음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반려동물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반려동물 사별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같은 관계여도 인정이 적을 수 있음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역할·환경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은퇴·실직·이주·재난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정체성·소속감·안전감의 상실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“무엇을 잃으셨나요?”뿐 아니라 “그 상실과 함께 삶에서 무엇이 달라졌나요?”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grief와 mourning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사건·감정·표현을 구분한다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74904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개념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 (Loss)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무언가를 잃은 사건 또는 상태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배우자의 죽음, 건강 상실, 은퇴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비탄·슬픔 (Grief)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 후의 내적 정서·인지·신체 반응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그리움, 분노, 멍함, 수면 변화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 (Mourning)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상실을 표현·통합해 가는 개인적·사회적 과정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장례, 추모, 이야기, 관계 재구성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정상적 애도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정상적 애도에는 “정상적인 한 가지 모습”이 없다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피해야 할 말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“이제 그만 잊으세요.”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“6개월이면 충분하지 않나요?”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“강해져야죠.”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“좋은 곳에 가셨으니 슬퍼하지 마세요.”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나타날 수 있는 반응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슬픔·그리움·분노·죄책감·안도감·멍함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불면·집중저하·식욕변화·고인을 찾는 느낌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자주 울기도, 실무 뒤에 늦게 오기도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종교·일·운동·돌봄으로 애도하기도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퀴블러 로스 5단계 — 사별 애도에서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체크리스트가 아니라 이해의 지도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5577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나타날 수 있는 반응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태도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“실감이 안 나요.” “금방 들어올 것 같아요.”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현실을 강요하지 않고 안전하게 말할 시간을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의료진·가족·신·자신에 대한 분노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평가하지 않고 분노 아래의 상실을 듣는다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타협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“그때 내가 더 했더라면…”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통제할 수 있었던 것과 없었던 것을 구분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깊은 슬픔·의욕저하·외로움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섣부른 격려보다 침묵과 실질적 지지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상실을 삶의 현실로 받아들이기 시작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새 일상과 의미로 연결, “완치”로 보지 않기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사람은 단계를 오가거나 여러 감정을 동시에 겪습니다. “지금 몇 단계인가요?”라고 진단하지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Worden의 애도 4과제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애도는 능동적인 적응 과정이다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상실의 현실 수용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돌아오지 않는다는 현실을 조금씩 받아들임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“아직 실감되지 않는 순간은 언제인가요?”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슬픔의 고통 경험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감정을 억압하지 않고 안전하게 경험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“가장 말하기 어려운 감정은 무엇인가요?”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달라진 세상에 적응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역할·생활·정체성·관계의 변화에 적응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“이제 혼자 해야 해서 가장 어려운 일은요?”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연결을 유지하며 삶을 이어감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고인을 마음속 새 자리에 두고 현재 삶에 투자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“그분의 어떤 가치를 이어가고 싶나요?”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개정 표현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현대 애도에서는 고인을 잊거나 끊어내기보다 적절한 연결을 유지하며 삶을 이어가는 것으로 이해합니다.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이중과정모형 (Stroebe &amp; Schut)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슬픔과 일상 사이를 오간다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2103120"/>
          </a:xfrm>
          <a:prstGeom prst="roundRect">
            <a:avLst>
              <a:gd name="adj" fmla="val 52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2429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6242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상실지향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고인·상실·감정에 초점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사진 보기·울기·미안함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4106570" y="27614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3458" y="1828800"/>
            <a:ext cx="3484778" cy="2103120"/>
          </a:xfrm>
          <a:prstGeom prst="roundRect">
            <a:avLst>
              <a:gd name="adj" fmla="val 52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7248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672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0618" y="260604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진자운동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두 방향을 자연스럽게 오감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911389" y="27614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8277" y="1828800"/>
            <a:ext cx="3484778" cy="2103120"/>
          </a:xfrm>
          <a:prstGeom prst="roundRect">
            <a:avLst>
              <a:gd name="adj" fmla="val 5217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2066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7206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260604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회복지향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새 역할·생활·관계에 초점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식사·은행업무·친구 만나기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관찰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상실지향만 오래 압도하면 일상이 무너지고, 회복지향만 강요하면 슬픔을 표현할 기회를 잃습니다. 두 방향을 모두 허용합니다.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지속적 유대 (Continuing Bonds)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잊지 않고, 다른 방식으로 함께하기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추억상자·앨범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사진과 사연을 정리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기념일의 의례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좋아하던 음식, 의미 있는 장소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가치 잇기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고인이 중요하게 여긴 봉사·가치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2310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마음속 대화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편지나 일기로 기록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2310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세대 간 이야기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가족에게 고인 이야기 들려주기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지속적 유대는 “고인이 실제로 살아 있다고 믿게 하는 것”이 아닙니다. 죽음을 인정하면서 관계의 의미를 이어가는 것입니다.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개인 성찰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나에게 남아 있는 유대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4A"/>
                </a:solidFill>
              </a:rPr>
              <a:t>떠나보낸 사람(또는 잃은 대상)을 한 명 떠올리고, 지금도 이어지고 있는 것을 찾아봅니다.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사람에게서 배운 말·습관·가치 하나를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그것이 지금 내 삶에서 어떻게 이어지고 있는지 한 줄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원하는 사람만 짝과 나눕니다.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성찰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내 삶에 이어진 가치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애도에는 정해진 한 가지 모습이 없다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5단계는 순서표가 아니라 이해의 지도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슬픔과 일상 사이를 오가며, 잊지 않고 잇는다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말하기 어려운 상실과 안전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말하기 어려운 상실과 안전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모든 상실에는 애도할 권리가 있습니다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박탈된 애도 · 모호한 상실 · 예기애도와 갑작스러운 상실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생애단계별 애도 · 지속성 애도장애(PGD)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전문가 연계 신호 · 자살사별 · 사례별 접근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말하기 어려운 상실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박탈된 애도와 모호한 상실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박탈된 애도 (Kenneth Doka)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상실이 사회적으로 충분히 인정받지 못함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반려동물 사별, 유산·사산, 비공개 관계 등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“왜 아직 슬퍼해?”라는 무시가 슬픔을 깊게 함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모호한 상실 (Pauline Boss)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상실이 분명하게 끝나지 않아 경계가 흐림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실종: 몸은 없지만 마음속엔 존재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치매: 몸은 있지만 그 사람이 달라짐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상실을 “죽었는가 아닌가”로만 판단하지 않습니다. 무엇이 사라졌고 무엇이 아직 남아 있는지 함께 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예기애도와 갑작스러운 상실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미리 슬퍼하는 상실, 준비 없이 오는 상실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예기애도 (Anticipatory Grief)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말기질환·장기 치매 돌봄에서 사망 전부터 상실을 경험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앞으로 잃을 관계를 슬퍼하면서 돌봄을 지속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죄책감·소진이 함께 올 수 있음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갑작스럽고 외상적인 상실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사고·재난·범죄·자살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죽음의 장면·원인에 대한 반복적 생각, 죄책감, 분노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사건 세부를 재현하게 하지 않고 안전·일상·지지를 우선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연결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재난·사고·자살사별·학교와 지역사회의 집단적 상실은 제12강에서 더 깊게 다룹니다.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생애단계와 애도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나이에 따라 애도 표현도 달라진다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502920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나타날 수 있는 특징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WLC·교육적 접근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아동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죽음의 영속성을 덜 이해, 반복 질문, 놀이 속 표현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정직하고 단순한 언어, “네 탓이 아니야”, 안정적 보호자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청소년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또래와 달라 보일까 숨김, 분노·위축·학업변화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선택권, 또래·성인 지지, 도움요청 경로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성인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직장·양육·행정처리 속 애도 지연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역할부담과 감정표현을 함께 다룸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중·노년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배우자·형제·친구 상실 누적, 역할·건강상실 동반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사회적 연결, 새 일상·역할 만들기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초고령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반복적 사별, 관계망 축소, 기억·기능 변화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작은 관계·일상·기억의 연속성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아동·청소년 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“잠들었다”, “멀리 갔다”처럼 모호하게 말하면 혼란과 불안을 키울 수 있습니다. 발달수준에 맞게 사실을 명확하고 안전하게 전합니다.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아이에게 어떻게 말할까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“일곱 살 손녀가 ‘할머니는 언제 와?’라고 묻습니다.”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“잠들었어”, “멀리 갔어” 대신 쓸 수 있는 정직하고 단순한 문장을 만듭니다.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“네 탓이 아니야”를 담은 문장을 하나 덧붙입니다.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서로 읽어 주고, 아이 입장에서 이해되는지 확인합니다.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아이에게 전할 두 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지속성 애도장애(PGD)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알아야 하지만, 진단하지 않는 영역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6344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DSM-5-TR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ICD-11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기간의 핵심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성인: 사망 후 최소 12개월 / 아동·청소년: 최소 6개월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통상 최소 6개월, 문화·사회적 규범을 현저히 넘어 지속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강한 그리움·몰두와 관련 증상 + 임상적으로 유의한 고통·기능손상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지속적 그리움·몰두 + 강한 정서적 고통 + 기능손상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문화 고려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개인의 사회·문화·종교적 기대를 넘어서는지 평가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문화·종교적 맥락에서 예상되는 기간·강도 고려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최신 임상기준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DSM-5-TR의 정식 진단명은 “지속성 애도장애(PGD)”입니다. 두 분류체계의 기간 기준은 같지 않으며, 진단은 정신건강 전문가의 영역입니다.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전문가 연계 신호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언제 전문가에게 연결해야 하는가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신호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지속적 기능 손상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식사·수면·위생·직장·학교생활이 장기간 심각하게 무너짐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압도적 그리움·몰두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 생각이 거의 모든 시간을 차지해 일상 참여가 어려움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강한 절망·무의미감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삶을 계속할 이유가 없다고 반복적으로 느낌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자살·자해 위험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죽고 싶다는 생각, 계획·위험신호가 의심됨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심한 외상반응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사건 장면의 침투, 극심한 회피·과각성으로 기능 손상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물질사용·위험행동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알코올·약물·도박 등으로 감정을 견디려 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정신질환 동반 가능성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중증 우울·불안·정신증 등 평가가 필요한 증상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WLC의 안전 기준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위험이 의심되면 “조금 더 코칭해 보고” 기다리지 않습니다. 즉시 정신건강·의료·응급 지원체계로 연결합니다.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사례별 섬세한 접근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주변이 축소하기 쉬운 세 가지 상실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펫로스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“사람이 아니잖아요”라는 비교를 하지 않고, 그 관계가 일상에서 어떤 의미였는지 듣습니다.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치매 가족의 “살아 있는 상실”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“아직 살아 계신데 왜 슬퍼하느냐”가 아니라, 반복되는 관계의 상실을 인정합니다.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유산·사산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상실의 의미를 대신 정하지 않고, 원하면 이름·기록·추모 방식을 함께 생각합니다.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자살사별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자살로 가까운 사람을 잃은 유족 곁에서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자살유족은 슬픔과 함께 “내가 막았어야 했다”는 죄책감, 분노, 수치심, 사회적 낙인을 겪을 수 있습니다.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WLC 단독 코칭으로 장기 관리할 영역이 아닙니다.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말의 원칙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원인을 하나로 설명하지 않고, 유족 책임을 암시하지 않습니다.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함께 살필 것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다른 가족의 자살위험과 정신건강 상태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연계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자살유족 지원기관·정신건강복지센터와 연결합니다.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“이제 그만 슬퍼해야 하는데…”에 답하기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“남편 떠난 지 6개월인데 아직도 아무것도 못 해요. 제가 너무 약한 것 같아요.”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A가 내담자 역할로 위 문장을 말합니다.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B는 “정상화” 한 문장으로 답합니다(조언·기간 언급 금지).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이어서 “압박 탐색” 질문 하나를 합니다: “그만해야 한다고 느끼게 하는 말이 있었나요?”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바꿉니다.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정상화 문장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말하기 어려운 상실도 애도할 권리가 있다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PGD는 알되 진단하지 않는다 — DSM·ICD 기준은 다르다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위험신호는 기다리지 않고 즉시 연결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애도와 관계회복 워크숍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애도와 관계회복 워크숍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이 사람을 잊지 않고도, 다시 살아가기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사례와 롤플레이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 상실지도 · 실습 2 미완의 편지 · 실습 3 균형표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5 연계 판단 · WLC의 자기돌봄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코칭 사례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“이제 그만 슬퍼해야 하는데…”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정상화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 “오래 함께한 분을 잃은 뒤 그리움이 계속되는 것 자체가 약함은 아니에요.”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압박 탐색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 “‘이제 그만해야 한다’고 느끼게 하는 말이나 상황이 있었나요?”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관계 탐색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 “남편분을 떠올릴 때 가장 먼저 생각나는 일상의 장면은요?”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지속적 유대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 “그분과의 기억을 부담 없이 이어갈 작은 방식이 있을까요? 사진 한 장, 음악, 커피 한 잔도 좋아요.”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기능 점검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 “슬픔과 별개로 식사·수면·외출은 어느 정도 유지되고 있나요?”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필요 시 연계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 “일상이 많이 무너졌거나 삶을 포기하고 싶다면 전문상담도 함께 연결할게요.”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애도 코칭 여섯 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내담자는 세 가지 상황 중 하나를 골라 이야기합니다.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상황: “남편 떠난 지 6개월” / “펫로스를 유난이래요” / “치매 어머니”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내담자·WLC·관찰자를 정합니다.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정상화 → 압박 탐색 → 관계 → 지속적 유대 → 기능 점검 순으로 4분간 대화합니다.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WLC가 기간·단계로 판단하지 않았는지, 기능 점검을 했는지 체크합니다.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내담자가 정한 “작은 유대의 방식”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18.1 실습 1 · 발표하지 않습니다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상실지도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2468880"/>
                <a:gridCol w="2468880"/>
                <a:gridCol w="246888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언제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그때 잃은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남아 있는 감정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지금 필요한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13.1 미완의 편지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전하지 못한 마음을 글로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방향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문장 시작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미안함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“그때 내가 하지 못해 마음에 남는 것은…”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서운함·분노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“당신에게 말하지 못했던 속상함은…”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용서 또는 이해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“지금 돌아보면 조금 다르게 이해되는 것은…”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 삶에 남겨 준 가장 고마운 것은…”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사랑·작별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“앞으로 나는 당신을 …로 기억하며 살아가고 싶어.”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편지를 쓰는 것이 목적이 아니라 감정을 안전하게 표현하는 것이 목적입니다. 원하지 않으면 말하기·그림·음성기록으로 바꿀 수 있습니다.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미완의 편지 쓰기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수신인을 정하고, 다섯 문장 중 쓰고 싶은 것부터 적습니다. 모두 쓰지 않아도 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수신인: 사람·반려동물·떠나온 곳·예전의 나 등 누구든 괜찮습니다.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“내가 미처 말하지 못한 것은…”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“마음에 남아 있는 서운함 또는 미안함은…” / “그래도 고마웠던 것은…”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“앞으로 당신을 이렇게 기억하고 싶다…”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 (발표 없음)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미완의 편지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상실지향·회복지향 균형표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주 상실을 느끼는 시간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주 일상을 회복하는 행동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예) 사진 보기 / 편지 쓰기 / 추모하기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예) 산책 / 식사 / 친구 연락 / 행정업무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계획: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계획: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18.5 실습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전문가 연계 판단 연습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645920"/>
                <a:gridCol w="1645920"/>
                <a:gridCol w="265176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단독 지지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전문가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사별 2개월, 슬프지만 출근·식사 가능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사별 14개월, 극심한 그리움과 사회생활 중단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사별 후 “나도 죽고 싶다”는 말 반복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반려동물 사별 후 가족이 슬픔을 무시함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재난사별 후 사건 장면이 반복 떠올라 외출 불가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WLC의 자기돌봄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공감피로와 대리외상을 예방한다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자기돌봄 원칙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감정의 경계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“함께 느끼지만 이 슬픔은 내 것이 아니다”라는 내적 경계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사례 종료 의식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상담 후 짧은 기록·호흡·산책으로 정서적 전환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수퍼비전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어려운 사례를 동료·전문 수퍼바이저와 정기적으로 검토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신체 리듬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수면·운동·식사·휴식 유지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업무 한계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위기·임상사례를 혼자 맡지 않고 즉시 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 상실 점검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미해결 애도가 사례에 투사되지 않는지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건강한 애도는 고인과의 관계를 완전히 끊고 잊는 것이다.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이중과정모형에서는 상실지향과 회복지향 사이를 오가는 것이 자연스럽다.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반려동물 사별은 박탈된 애도가 될 수 있다.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사별 후 12개월이 지나면 WLC가 지속성 애도장애로 판단할 수 있다.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grief와 mourning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4A"/>
                </a:solidFill>
              </a:rPr>
              <a:t>상실을 표현·통합해 가는 개인적·사회적 과정을 뜻하는 개념은?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상실(Loss)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비탄(Grief)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애도(Mourning)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예기불안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Worden의 애도 과제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Worden의 애도 4과제에 해당하지 않는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상실의 현실 수용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슬픔의 고통 경험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고인을 완전히 잊기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달라진 세상에 적응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PGD 기간 기준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DSM-5-TR의 성인 지속성 애도장애 기간 기준은?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후 최소 1개월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후 최소 3개월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후 최소 6개월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후 최소 12개월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미완의 편지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미완의 편지 기법에 대한 설명으로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반드시 다섯 문장을 모두 써야 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감정을 안전하게 표현하는 것이 목적이며 다른 방식으로 바꿀 수 있다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쓴 편지를 모두 앞에서 발표한다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외상기억을 반복해서 자세히 쓰게 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전문가 연계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애도 코칭 중 즉시 전문가 연계가 필요한 신호가 아닌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죽고 싶다는 말이 반복됨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사건 장면이 반복 떠올라 외출이 불가함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기념일에 슬픔이 다시 커짐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식사·수면·위생이 장기간 심각하게 무너짐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지속적 유대 — 잊지 않고 잇는다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진자운동이 자연스럽다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사회적 인정이 적은 상실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진단은 정신건강 전문가의 영역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애도(Mourning)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잊기가 아니라 연결 유지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④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성인 최소 12개월(DSM-5-TR)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안전한 표현이 목적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상실·grief·mourning의 차이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5단계를 쓸 때 주의할 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Worden의 애도 4과제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상실지향과 회복지향의 차이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지속적 유대와 “잊지 못하는 상태”의 구분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박탈된 애도와 모호한 상실의 차이(사례)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DSM-5-TR과 ICD-11의 PGD 기간 기준 차이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PGD를 진단하면 안 되는 이유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미완의 편지의 목적과 안전 주의점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즉시 전문가 연계가 필요한 신호 네 가지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제11강에서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애도에는 정해진 한 가지 모습이 없다.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관계·문화·상황·지지에 따라 다양하다.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5단계는 순서표가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감정을 이해하는 지도이지 진단표가 아니다.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애도는 슬픔과 일상 사이를 오간다.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상실지향과 회복지향의 진자운동.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건강한 애도는 잊는 것이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지속적 유대로 관계를 새롭게 잇는다.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말하기 어려운 상실도 애도할 권리가 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박탈된 애도를 놓치지 않는다.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진단자가 아니라 동행자다.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위험신호는 전문가에게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22절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아홉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판단 중지를 몸에 익힌다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상실의 크기를 비교하지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5단계를 순서대로 적용하지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슬픔과 회복을 모두 허용한다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고인을 잊게 하지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기간만으로 병리화하지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DSM과 ICD 기준을 혼동하지 않는다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위험신호는 즉시 연계한다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 자신도 돌봄을 받는다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작은 유대의 의례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떠올린 사람을 위해 음악·음식·장소 등 작은 의례를 한 번 해 봅니다.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균형표 실천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이번 주 상실의 시간과 회복의 행동을 하나씩 실천합니다.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나를 위한 한 가지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오늘 수업으로 지친 나를 위해 자기돌봄 하나를 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제11강의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“이 사람을 잊지 않고도,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나는 어떻게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다시 살아갈 수 있을까?”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애도는 잊기가 아니라, 다른 방식으로 함께 살아가는 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제12강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예기치 않은 죽음·재난·사고와 애도교육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“예기치 않은 죽음이 학교·직장·지역사회를 흔들 때, WLC는 무엇을 하고 무엇은 하지 말아야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갑작스러운 죽음과 집단적 상실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심리적 응급지원의 기본 원칙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학교·지역사회의 대응과 추모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자살사별과 미디어 노출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기념일 반응과 WLC의 역할 경계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제12장  ·  가져올 것: 2강 지역 위험·자원 지도(정신건강 연계처 확인)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제11강 상실·애도와 관계회복 코칭</dc:title>
  <dc:subject>PptxGenJS Presentation</dc:subject>
  <dc:creator>삶잇다협동조합</dc:creator>
  <cp:lastModifiedBy>삶잇다협동조합</cp:lastModifiedBy>
  <cp:revision>1</cp:revision>
  <dcterms:created xsi:type="dcterms:W3CDTF">2026-10-29T23:31:54Z</dcterms:created>
  <dcterms:modified xsi:type="dcterms:W3CDTF">2026-10-29T23:31:54Z</dcterms:modified>
</cp:coreProperties>
</file>