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3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열기" id="{58554c4c-0e06-fa79-73b2-5ed33343191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1교시 엔딩산업의 지도" id="{12c5b659-b967-ad9f-5072-9e333bacb587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2교시 변화하는 장례와 새로운 상실" id="{632a579b-0fac-24f6-7002-4db9daf7f7ac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3교시 선택을 돕는 WLC" id="{81c0477d-c83a-914b-1570-f293d3683f3a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</p14:sldIdLst>
        </p14:section>
        <p14:section name="정리와 예고" id="{4247337f-6e2f-5e49-30a1-fb133265fa3a}">
          <p14:sldIdLst>
            <p14:sldId id="304"/>
            <p14:sldId id="305"/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4E4A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F4E4A"/>
                </a:solidFill>
                <a:latin typeface="+mn-lt"/>
              </a:rPr>
              <a:t>계약자 수 (만 명)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계약자 수 (만 명)</c:v>
                </c:pt>
              </c:strCache>
            </c:strRef>
          </c:tx>
          <c:spPr>
            <a:solidFill>
              <a:srgbClr val="2E7D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8E0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2024.3</c:v>
                  </c:pt>
                  <c:pt idx="1">
                    <c:v>2025.3</c:v>
                  </c:pt>
                  <c:pt idx="2">
                    <c:v>2026.3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892</c:v>
                </c:pt>
                <c:pt idx="1">
                  <c:v>960</c:v>
                </c:pt>
                <c:pt idx="2">
                  <c:v>1131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2222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4E4A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F4E4A"/>
                </a:solidFill>
                <a:latin typeface="+mn-lt"/>
              </a:rPr>
              <a:t>선수금 (조 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선수금 (조 원)</c:v>
                </c:pt>
              </c:strCache>
            </c:strRef>
          </c:tx>
          <c:spPr>
            <a:solidFill>
              <a:srgbClr val="2E7D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8E0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2024.3</c:v>
                  </c:pt>
                  <c:pt idx="1">
                    <c:v>2025.3</c:v>
                  </c:pt>
                  <c:pt idx="2">
                    <c:v>2026.3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9.4486</c:v>
                </c:pt>
                <c:pt idx="1">
                  <c:v>10.3348</c:v>
                </c:pt>
                <c:pt idx="2">
                  <c:v>11.3544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2222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4E4A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F4E4A"/>
                </a:solidFill>
                <a:latin typeface="+mn-lt"/>
              </a:rPr>
              <a:t>화장률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화장률</c:v>
                </c:pt>
              </c:strCache>
            </c:strRef>
          </c:tx>
          <c:spPr>
            <a:solidFill>
              <a:srgbClr val="2E7D6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8E0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2005</c:v>
                  </c:pt>
                  <c:pt idx="1">
                    <c:v>2023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52.6</c:v>
                </c:pt>
                <c:pt idx="1">
                  <c:v>92.9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2222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0:00–0:01 (1분)
인사. 제2부(변화하는 죽음문화와 엔딩사회)의 첫 시간.
"제1부에서 한 사람의 삶을 보았다면, 이제 그 사람을 둘러싼 문화와 시장을 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0:01–0:02 (1분)
📖 교재: 교재 목차
제2부: 4강 엔딩산업 → 5강 세계 웰다잉 → 6강 장례·장묘 제도 → 7강 생전정리·디지털 유산.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0:02–0:03 (1분)
오늘의 결과물: 엔딩서비스 자원지도, 조별 죽음대화 모임 기획안.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0:03–0:08 (5분)
📖 교재: 3강 과제
"엔딩노트 쓰기 어려웠던 점"을 2~3개 모아 둔다. 5강(일본 엔딩노트)·7강(생전정리)과 연결된다.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0:08–0:10 (2분)
📖 교재: 1~3장 핵심정리
짧게 복습.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0:10–0:14 (4분)
📖 교재: 1절 · 3절 생태계
예상: 상조, 장례식장, 요양병원, 호스피스, 화장장, 납골당, 수목장, 유품정리, 보험, 변호사, 온라인 추모…
"이렇게 많은 서비스 앞에서, 사람들은 무엇을 기준으로 고를까요? 오늘의 질문입니다."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0:14–0:15 (1분)
📖 교재: 4장 표제 · 핵심 메시지
핵심 메시지를 천천히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0:15–0:17 (2분)
📖 교재: 4장 학습목표 1~8
굵은 키워드만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0:17–0:18 (1분)
📖 교재: 4장 핵심 키워드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0:18–0:21 (3분)
📖 교재: 1절 · WLC의 중심 질문
WLC는 변화를 무조건 긍정하거나 부정하지 않는다. 서비스가 늘수록 "무엇을 왜 선택하는가"를 분명히 하도록 돕는다.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0:21–0:25 (4분)
📖 교재: 2.1~2.2절 · 편집 원칙
서술형 Q1·Q2. OX 1번(엔딩산업은 공식 산업분류 명칭 → 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0:25–0:30 (5분)
📖 교재: 3절 · 표
16강 전체가 이 생태계를 따라간다: 8강(경제)·9강(의료)·6·14강(장례)·7강(정리)·11강(애도).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0:30–0:34 (4분)
📖 교재: 4절 · 표
2026.3 기준 계약자 1,131만 명, 선수금 11조 3,544억 원(객관식 1·2번).
코치노트 2: 가입자가 많다는 이유로 특정 서비스가 모두에게 적합하다고 보지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0:34–0:36 (2분)
📖 교재: 4.1절
"라이프케어", "라이프 큐레이션"이라는 표현. WLC는 특정 회사나 상품을 추천하지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0:36–0:41 (5분)
📖 교재: 5절 · 표
서술형 Q4(점검 항목 4가지). 객관식 5번. 선불식 할부거래에는 선수금 보전제도가 적용된다.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0:41–0:43 (2분)
📖 교재: 5절 WLC 금지선 · 4절 소비자 보호 포인트
객관식 5번 정답: 점검 항목 안내 + 선택은 당사자.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0:43–0:48 (5분)
📖 교재: 5절 · 12절 공포 마케팅
특정 업체를 비난하는 시간이 아니라 "정보비대칭"을 체험하는 시간임을 미리 말한다. 실제 회사명은 칠판에 적지 않는다.
광고를 가져오지 않은 경우 강사가 업체명을 가린 예시를 준비.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0:48–1:00 (12분)
1교시 정리 2분 + 휴식 10분.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1:00–1:04 (4분)
📖 교재: 6절 · 공공정보 인프라
서술형 Q5: 화장의 보편화가 봉안·자연장·산분·공영장례 등 선택지를 다양하게 만들었다.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1:04–1:07 (3분)
📖 교재: 6절
선택지가 늘수록 정보와 가치판단이 더 많이 필요하다. 세부 요건은 6강에서 최신 법령으로 재확인.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1:07–1:11 (4분)
📖 교재: 7절
세 가지를 구분해 안내한다. 핵심정리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1:11–1:14 (3분)
📖 교재: 8절
중요한 것은 규모보다 원칙(다음 슬라이드).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1:14–1:18 (4분)
📖 교재: 8절 · 표 / WLC에게 매우 중요
객관식 3번, 서술형 Q6, OX 3번. 3교시 실습 3(죽음대화 모임 설계)과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1:18–1:21 (3분)
📖 교재: 9.2절
Doka의 박탈된 애도 개념. 객관식 4번, 서술형 Q7. 11강(상실·애도)에서 심화.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1:21–1:24 (3분)
📖 교재: 9.1·9.3절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1:24–1:28 (4분)
📖 교재: 10절 · WLC 질문
서술형 Q8(윤리적 질문 3가지). 코치노트 7: 기술을 인간관계보다 앞세우지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1:28–1:32 (4분)
📖 교재: 10절
정답 없음. 최근 사별을 겪은 수강생이 있으면 주제를 "나라면 내 목소리가 AI로 남기를 원할까?"로 바꿔도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1:32–1:36 (4분)
📖 교재: 11절 · 표
3교시 실습 1(자원지도)의 기준표로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1:36–1:41 (5분)
📖 교재: 12절 · 표
서술형 Q9(위험 3가지 + 대응). OX 4번(결정 유예 구분 → 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1:41–1:45 (4분)
📖 교재: 13절 · 표
WLC는 장례지도사·의사·변호사·세무사·보험설계사·상조판매자·심리치료사를 대체하지 않는다. 서술형 Q10(문화 번역자이자 통합 코디네이터).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1:45–1:49 (4분)
📖 교재: 17절 · WLC의 미래역량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1:49–2:00 (11분)
2교시 정리 1분 + 휴식 10분. 2강 지역 자원 지도를 꺼내 두게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2:00–2:08 (8분)
📖 교재: 14절 · 실습지
2강에서 만든 지역 위험·자원 지도를 확장한다. 휴대폰으로 e하늘(장사시설·가격) 검색 허용.
원칙: 특정 업체의 광고목록이 아니라 "연계망"으로 관리한다.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2:08–2:13 (5분)
📖 교재: 15절 · 표
상황: 70대 부부가 "자녀에게 부담을 주고 싶지 않다"며 상조상품과 장례·봉안까지 한 번에 준비하려 한다. 여러 업체 설명을 들었지만 무엇을 골라야 할지 모르겠다.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2:13–2:25 (12분)
📖 교재: 15절
실기 시연과 같은 구조. 강사는 순회하며 "특정 상품명이 나오면" 바로 짚어 준다(금지선).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2:25–2:27 (2분)
📖 교재: 15절 코칭 핵심
롤플레이 소감 1~2개를 들은 뒤 정리.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2:27–2:39 (12분)
📖 교재: 16절 · 실습지
2강의 60분 프로그램 설계 경험을 활용. 대화질문은 최소 3개 만들게 한다. 금지사항과 위기연계 칸을 반드시 채운다.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2:39–2:44 (5분)
📖 교재: 16절 · 8절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2:44–2:46 (2분)
📖 교재: 2.2·4·8·12절
정답: 1 X / 2 X / 3 O / 4 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2:46–2:47 (1분)
📖 교재: 4절
정답 ③. 선수금은 11조 3,544억 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2:47–2:48 (1분)
📖 교재: 4절
정답 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2:48–2:49 (1분)
📖 교재: 8절
정답 ③. 결론·상품·행동으로 유도하지 않는 것이 핵심 원칙.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2:49–2:50 (1분)
📖 교재: 9.2절
정답 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2:50–2:51 (1분)
📖 교재: 5절
정답 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2:51–2:54 (3분)
📖 교재: 강사용 해설서 제4장 B
객관식 5번 정답 ③(점검 안내, 선택은 당사자)은 구두로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2:54–2:55 (1분)
📖 교재: 18절 학습점검 Q1~Q10
채점 기준(문항당 10점): 핵심요소 3개 10점 / 2개 7점 / 1개 4점 / 없음 0점, 역할경계 이탈 -3점. 모범답안은 강사용 해설서 제4장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2:55–2:56 (1분)
📖 교재: 19절 핵심정리
굵은 부분을 함께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2:56–2:57 (1분)
📖 교재: 20절 코치 노트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2:57–2:58 (1분)
📖 교재: 14~16절
계약서 개인정보(이름·번호)는 가리고 가져오도록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2:58–2:59 (1분)
📖 교재: 19절 · 제4장의 마지막 질문
10초 침묵 후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2:59–3:00 (1분)
📖 교재: 21절 제5장으로의 연결
제4장에서 한국 엔딩산업의 지도를 보았다면, 제5장은 국제사례로 한국의 미래를 본다.
마무리 인사.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제4강 웰다잉 문화와 엔딩산업의 확장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">
    <p:bg>
      <p:bgPr>
        <a:solidFill>
          <a:srgbClr val="EA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제4강 웰다잉 문화와 엔딩산업의 확장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14-1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21-1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2E7D6B">
              <a:alpha val="45000"/>
            </a:srgbClr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566160"/>
            <a:ext cx="3840480" cy="3840480"/>
          </a:xfrm>
          <a:prstGeom prst="ellipse">
            <a:avLst/>
          </a:prstGeom>
          <a:solidFill>
            <a:srgbClr val="8FB9A8">
              <a:alpha val="30000"/>
            </a:srgbClr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C5BC"/>
                </a:solidFill>
              </a:rPr>
              <a:t>WLC 2급 자격과정  ·  제2부 변화하는 죽음문화와 엔딩사회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제4강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웰다잉 문화와 엔딩산업의 확장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E3DC"/>
                </a:solidFill>
              </a:rPr>
              <a:t>Expansion of Well-dying Culture &amp; the Ending Industry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3시간 과정  ·  1교시 50분 · 2교시 50분 · 3교시 60분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669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삶잇다협동조합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과정 안내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 2급 16강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제1부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삶과 죽음을 이해하다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죽음을 이해하는 통찰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초고령사회와 죽음교육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웰빙·웰다잉·엔딩 통합철학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04099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41259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제2부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변화하는 죽음문화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04099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41259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4강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웰다잉 문화와 엔딩산업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04099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41259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일본 슈카츠와 세계 웰다잉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04099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41259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장례·장묘 제도의 변화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04099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41259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생전정리·유품·디지털 유산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59558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96718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제3부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삶의 존엄을 준비하다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59558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96718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경제적 웰다잉과 재산 보호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59558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96718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의료결정·사전돌봄·후견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59558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96718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가족소통·생명윤리·갈등중재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017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52177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제4부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상실과 임종을 동행하다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5017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52177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상실·애도와 관계회복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017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52177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예기치 않은 죽음·재난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15017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52177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임종 단계별 돌봄 실무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017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52177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사망 직후 초기지원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570476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707636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제5부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WLC로 활동하다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570476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07636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WLC 코칭 실무·교육 운영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570476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707636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전문직 윤리·자격검정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오늘의 3시간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오늘은 이렇게 진행합니다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엔딩산업의 지도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과제 나눔·오프닝 질문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타나톨로지와 라이프엔딩 생태계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상조산업과 확인 질문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30422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21862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46778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8218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92498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변화하는 장례와 새로운 상실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화장 중심 장례·공공서비스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데스카페·펫로스·AI 추모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윤리적 위험과 WLC의 정체성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28560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20000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44917" y="1737360"/>
            <a:ext cx="3643274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36357" y="1828800"/>
            <a:ext cx="3460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60분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990637" y="3063240"/>
            <a:ext cx="355183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선택을 돕는 WLC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엔딩서비스 자원지도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서비스 선택 코칭 롤플레이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죽음대화 모임 설계·퀴즈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과제 나눔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레거시 선언문, 누구에게 읽어 주셨나요?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3강 과제 — 이번 달 첫 행동, 엔딩노트 “나의 삶” 한 쪽, 레거시 선언문 나누기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짝과 2분씩 과제 경험을 나눕니다.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선언문을 들은 사람의 반응이 어땠는지 이야기합니다.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엔딩노트를 쓰며 어려웠던 점 하나를 말합니다.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엔딩노트 작성의 어려움 1가지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제1부 돌아보기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제1부에서 가져올 세 문장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1강 — 나의 죽음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죽음의 의미는 사람마다 다르니 직접 묻는다.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38218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681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2강 — 우리 사회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죽음을 말할 수 있는 사회가 삶을 더 잘 돌본다.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27797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6397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3강 — 나의 삶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죽음을 성찰하는 것은 남은 삶을 다시 선택하는 일.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오늘의 확장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이제 그 사람을 둘러싼 서비스와 시장을 봅니다. 선택지가 많아질수록 “그 사람의 가치”가 더 중요해집니다.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13112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1234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C5BC"/>
                </a:solidFill>
              </a:rPr>
              <a:t>오프닝 질문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“죽음을 둘러싼 서비스,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몇 가지나 떠오르나요?”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병원에서 장례식장, 그리고 그 이후까지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5230368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5373014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507492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1분 동안 떠오르는 서비스 이름을 적고, 조별로 모아 개수를 세어 봅니다.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8FB9A8"/>
                </a:solidFill>
              </a:rPr>
              <a:t>“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서비스가 커질수록, 사람의 가치와 선택을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중심에 두는 안내자가 더 필요하다.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2461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C5BC"/>
                </a:solidFill>
              </a:rPr>
              <a:t>— WLC 교육 메시지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11094415" cy="1600200"/>
          </a:xfrm>
          <a:prstGeom prst="roundRect">
            <a:avLst>
              <a:gd name="adj" fmla="val 6857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343400"/>
            <a:ext cx="104543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8FB9A8"/>
                </a:solidFill>
              </a:rPr>
              <a:t>이 강의의 핵심 메시지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초고령사회의 엔딩산업은 장례 한 분야가 아니다. 돌봄·호스피스·의료결정·상조·장례·장묘·생전정리·유품정리·디지털 추모·애도·웰다잉 교육이 연결된 생태계이며, WLC는 그 안에서 판매자가 아닌 안내자다.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학습목표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수업을 마치면 할 수 있는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개념 구분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타나톨로지와 엔딩산업을 구분하고 생태계로 설명한다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상조·장례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상조·장례·장묘 서비스의 변화와 제도 흐름을 이해한다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생태계 연결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돌봄부터 애도·교육까지 하나로 연결해 설명한다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48640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소비자 관점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상품 선택을 대신하지 않고 점검 요소를 안내한다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4800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데스카페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본래 원칙을 이해하고 교육·홍보 행사와 구분한다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6233008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새로운 상실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고독사·펫로스·디지털 유산을 인식한다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233008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윤리적 중립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상업화·정보비대칭 위험 속에서 중립성을 지킨다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6233008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자원 연계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지역 엔딩서비스 자원지도를 만들고 연결한다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핵심 키워드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만날 단어들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531620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15316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타나톨로지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1428" y="1691640"/>
            <a:ext cx="2295144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1428" y="1691640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라이프엔딩 생태계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77740" y="1691640"/>
            <a:ext cx="1531620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77740" y="1691640"/>
            <a:ext cx="15316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라이프케어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10528" y="1691640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0528" y="1691640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상조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598664" y="1691640"/>
            <a:ext cx="2080260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98664" y="1691640"/>
            <a:ext cx="2080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선불식 할부거래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880092" y="1691640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80092" y="169164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장례식장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2487168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487168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화장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636776" y="2487168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36776" y="2487168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봉안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724912" y="2487168"/>
            <a:ext cx="1101852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24912" y="2487168"/>
            <a:ext cx="11018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자연장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027932" y="2487168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27932" y="2487168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산분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116068" y="2487168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16068" y="248716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생전정리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633972" y="2487168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33972" y="248716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유품정리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151876" y="2487168"/>
            <a:ext cx="1650492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51876" y="2487168"/>
            <a:ext cx="16504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디지털 유산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003536" y="2487168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003536" y="248716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데스카페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48640" y="3282696"/>
            <a:ext cx="1101852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3282696"/>
            <a:ext cx="11018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펫로스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851660" y="3282696"/>
            <a:ext cx="1650492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851660" y="3282696"/>
            <a:ext cx="16504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박탈된 애도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3703320" y="3282696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703320" y="3282696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공영장례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221224" y="3282696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221224" y="3282696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윤리적 중립성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43" name="Text 40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시험 포인트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계약자 1,131만 명(2026.3), 화장률 92.9%(2023), 데스카페 원칙, “WLC는 판매자가 아니라 안내자”가 자주 나옵니다.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1교시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엔딩산업의 지도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죽음의 서비스화가 아니라, 삶의 마무리 방식의 다양화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가족의 일에서 사회의 서비스로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타나톨로지와 라이프엔딩 생태계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상조산업과 소비자가 확인할 질문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1절 마무리 방식의 다양화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가족의 일에서 사회의 서비스로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6B6B"/>
                </a:solidFill>
              </a:rPr>
              <a:t>과거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가족·친족·마을공동체가 담당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돌봄·장례·애도를 가정 안에서 해결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현재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의료·요양·호스피스·상조·장례식장·장사시설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법률·신탁·보험·정리업체·디지털 플랫폼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작아진 가족, 길어진 돌봄, 다양해진 가치관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WLC의 중심 질문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“어떤 상품이 가장 좋은가?”가 아니라 “이 서비스가 당신의 가치와 필요를 실제로 충족하는가?”를 묻습니다.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2절 타나톨로지와 엔딩산업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학문의 이름과 시장의 이름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타나톨로지 (Thanatology)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죽음·죽어감·상실·애도를 다학제적으로 연구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의학·심리학·사회학·철학·종교·윤리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본래 학문적·교육적 개념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엔딩산업 (Ending Industry)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삶의 후반기·임종·사후 서비스를 묶은 실무적 개념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공식 산업분류 명칭이 아님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하나의 시장 규모로 단정하지 않음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편집 원칙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“엔딩산업”은 교육을 위한 통합 개념입니다. 개별 영역의 통계와 법제도는 각각 공식자료로 확인합니다.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3절 라이프엔딩 생태계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죽음 이전부터 사후까지, 일곱 단계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926080"/>
                <a:gridCol w="3291840"/>
                <a:gridCol w="32918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단계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주요 필요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관련 서비스·기관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역할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삶의 후반기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건강·주거·경제·관계·돌봄 준비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평생교육·복지·금융·법률·커뮤니티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삶 설계와 자원 연결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질병·돌봄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치료·요양·간병·돌봄 부담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병원·요양기관·재가돌봄·장기요양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가치·돌봄 선호를 언어화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생애말기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통증·증상·의료결정·가족대화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호스피스·완화의료, 연명의료제도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정보 이해와 가족대화 지원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사망 직후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장례·행정·의례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상조·장례식장·장례지도사·지자체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선택 기준 정리, 과잉결정 방지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장묘·추모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화장·봉안·자연장·산분·추모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화장·봉안시설·자연장지·공영장례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가치·비용·접근성 비교 지원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사후정리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유품·문서·디지털 흔적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유품정리·법률·세무·플랫폼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정리 범위 파악과 전문가 연결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애도·회복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사별·관계 재구성·기억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상담·자조모임·종교·지역공동체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정상 애도 지지와 전문연계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4절 상조산업의 성장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선불식 할부거래, 얼마나 커졌나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685800" y="1645920"/>
          <a:ext cx="509000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7" name="Chart 1" descr=""/>
          <p:cNvGraphicFramePr/>
          <p:nvPr/>
        </p:nvGraphicFramePr>
        <p:xfrm>
          <a:off x="6415888" y="1645920"/>
          <a:ext cx="509000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120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출처: 공정거래위원회 「선불식 할부거래업자 주요 정보」(2024·2025·2026년 3월 말 기준)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544068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77240" y="560070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71957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5532120"/>
            <a:ext cx="9905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해석 주의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상조상품과 적립식 여행상품 등을 포함한 업권 전체 통계입니다. “1,131만 명 = 상조 가입자”로 보지 않습니다.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4.1 장례에서 생애서비스로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“라이프케어”로 넓어지는 상조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장례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본래의 핵심 서비스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390824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19424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9424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여행·웨딩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적립식 상품과 결합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233008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61608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가전결합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상품을 묶어 판매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9075191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303791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192572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303791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돌봄·시니어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생애 후반 서비스로 확장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주의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서비스가 넓어질수록 계약구조는 복잡해집니다. “내게 실제로 필요한 서비스인가, 내는 비용과 받는 서비스가 일치하는가”를 확인합니다.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5절 확인할 기본 질문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상조·장례서비스, 이것을 확인하세요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9611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점검 영역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확인 질문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계약 주체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계약한 회사의 정확한 상호와 등록상태를 알고 있는가?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납입금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총 납입금, 납입기간, 현재 납입액을 알고 있는가?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서비스 범위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관·수의·차량·인력·장례지도사 등 포함 항목과 추가 항목은?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해약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중도해약 시 환급기준과 예상 환급액을 확인했는가?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선수금 보전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어떤 은행·공제조합을 통해 선수금이 보전되는가?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추가비용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빈소·음식·화장·봉안·묘지 등 상품 외 비용을 구분했는가?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대체서비스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다른 서비스로 전환할 때 조건과 가치는 어떻게 달라지는가?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 공유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가입 사실과 계약서 위치를 가족이 알고 있는가?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5절 WLC 금지선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WLC는 상품을 팔지 않는다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4A"/>
                </a:solidFill>
              </a:rPr>
              <a:t>WLC는 상조상품을 판매하거나 특정 사업자의 우수성을 보증하지 않습니다.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4E4A"/>
                </a:solidFill>
              </a:rPr>
              <a:t>이해관계가 있는 상품을 교육 중에 홍보하지 않습니다.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안전하다/위험하다 단정 금지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계약서·납입현황·해약환급·보전기관을 소비자가 직접 확인하게 돕습니다.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선택은 당사자가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점검 항목을 안내하고 결정은 내담자가 합니다.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이해관계 공개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교육과 판매를 분리하고 관계가 있다면 밝힙니다.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짝 활동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광고 속에서 찾아보기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가져온 상조·장례 광고(또는 강사가 보여 주는 예시)를 8가지 질문으로 살펴봅니다.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광고에서 확인할 수 있는 항목에 ○, 알 수 없는 항목에 ×를 표시합니다.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“두려움을 자극하는 문구”가 있는지 찾아봅니다.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소비자가 추가로 물어야 할 질문 하나를 적습니다.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광고에서 알 수 없는 항목과 추가 질문 1개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엔딩산업은 장례보다 넓은 생태계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1,131만 명은 상조 가입자 수가 아니다 — 업권 전체 통계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WLC는 판매자가 아니라 안내자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2교시 — 변화하는 장례와 새로운 상실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2교시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변화하는 장례와 새로운 상실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화장 중심의 장례, 공공서비스, 그리고 장례 밖의 상실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화장률 92.9%와 늘어난 장묘 선택지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공공서비스와 데스카페의 원칙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펫로스·디지털 유산·AI 추모 · 윤리적 위험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6절 장례·장묘 문화의 변화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매장에서 화장으로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685800" y="1645920"/>
          <a:ext cx="10820095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20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출처: 한국장례문화진흥원 「2025년 장사업무 안내」 — 2005년 화장률이 매장률을 처음 넘어섬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544068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560070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57195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5532120"/>
            <a:ext cx="9905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공공정보 인프라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보건복지부 e하늘 장사정보시스템: 화장예약, 장사시설·가격, 지자체 지원, 공영장례, 통계, 디지털 추모. 업체 설명보다 공식 플랫폼을 먼저 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6절 늘어난 선택지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화장 이후, 선택은 더 다양해졌다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봉안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봉안당 등에 유골을 안치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390824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19424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9424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자연장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수목장·잔디장 등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233008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61608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산분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최근 제도화된 방식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9075191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303791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192572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303791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공영장례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무연고 사망자 장례 지원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연결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장사법, 자연장·산분의 법적 정의와 허용범위, 장사시설은 제6강에서 자세히 다룹니다.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7절 공공서비스의 확대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엔딩은 시장만의 영역이 아니다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구매하는 서비스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상조·장례식장·정리업체 등 민간 상품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법에 따른 공공서비스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공영장례·무연고 지원·호스피스·장기요양·지역돌봄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6397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지역사회 자원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보건소·정신건강복지센터·자조모임·종교·이웃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핵심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경제적 여건 때문에 존엄한 마무리가 어렵다고 느끼는 내담자에게 공공지원 정보를 연결하는 것도 WLC의 역할입니다.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8절 데스카페(Death Cafe)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차 한 잔과 함께하는 죽음 대화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5258" cy="4069080"/>
          </a:xfrm>
          <a:prstGeom prst="roundRect">
            <a:avLst>
              <a:gd name="adj" fmla="val 3121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31494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2011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E3DC"/>
                </a:solidFill>
              </a:rPr>
              <a:t>영국에서 시작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03320"/>
            <a:ext cx="31494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Jon Underwood가 Bernard Crettaz의 아이디어에서 영향을 받아 시작했습니다.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38218" y="1600200"/>
            <a:ext cx="3515258" cy="406908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1098" y="1874520"/>
            <a:ext cx="31494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7D6B"/>
                </a:solidFill>
              </a:rPr>
              <a:t>100개국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521098" y="292608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세계로 확산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21098" y="3703320"/>
            <a:ext cx="31494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2026.9.25 확인 기준, 2만 4천 회 이상 열렸습니다.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27797" y="1600200"/>
            <a:ext cx="3515258" cy="406908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10677" y="1874520"/>
            <a:ext cx="31494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E7D6B"/>
                </a:solidFill>
              </a:rPr>
              <a:t>차와 케이크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8310677" y="292608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비공식적 분위기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10677" y="3703320"/>
            <a:ext cx="31494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정해진 의제·광고·결론 없이 자유롭게 이야기합니다.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출처: Death Cafe 공식 운영 가이드 및 worldwide map (2026.9.25 확인)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8절 데스카페의 원칙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데스카페가 지키는 네 가지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066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원칙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의미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비영리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수익을 목적으로 운영하지 않는다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접근 가능하고 존중받는 공간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안전하고 존중되는 분위기와 비밀보장을 지향한다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결론·상품·행동으로 유도하지 않음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특정 죽음관·서비스·상품·결론을 설득하지 않는다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차와 음식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편안하고 비공식적인 대화 분위기를 만든다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WLC에게 매우 중요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공식 가이드는 강의·정보제공·상담·연구·홍보 목적의 운영을 권하지 않습니다. 교육 목적 모임은 “죽음대화 모임” 등 다른 이름을 씁니다.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9.2 펫로스(Pet Loss)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“동물 하나 죽은 일”이 아니다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반려동물 사별은 주변에서 축소되어 충분한 지지를 받지 못할 수 있습니다.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이를 “박탈된 애도(disenfranchised grief)”라고 합니다.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관계로 판단하지 않는다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상실의 크기를 관계의 종류로 재지 않습니다.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의미를 듣는다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그 관계가 어떤 의미였는지 묻습니다.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필요하면 연결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펫로스 상담·자조모임 등과 연결합니다.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9.1·9.3 장례 밖의 상실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고독사의 사후정리, 그리고 디지털 유산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1004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495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고독사와 사후정리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사망 이후 행정·유품·주거·장례의 공백이 드러납니다. 공영장례·무연고 처리 등 공공과 민간이 함께 개입합니다.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233008" y="1554480"/>
            <a:ext cx="541004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61608" y="2468880"/>
            <a:ext cx="495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디지털 유산·온라인 추모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SNS·이메일·클라우드·구독·계정이 남습니다. e하늘도 디지털 추모서비스를 제공합니다.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주의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디지털 계정·가상자산·저작권·개인정보는 법적 성격이 다릅니다. “상속된다/삭제된다”고 단정하지 않습니다(제7강).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10절 AI 추모와 새로운 기술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기억의 확장인가, 관계의 대체인가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기억인가, 붙잡음인가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“이 기술이 고인을 기억하도록 돕는가, 살아 있는 것처럼 붙잡게 하는가?”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가족의 동의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“가족 모두가 이 방식에 동의하는가?”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6397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고인의 뜻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“고인이 생전에 이 사용을 원했을까?”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WLC의 자리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WLC는 사용 여부를 판단해 주지 않습니다. 목적·감정적 영향·동의·생전 의사·데이터 보관방식을 질문하도록 돕습니다.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짝 토론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돌아가신 부모님 목소리로 대화하는 AI, 나는 쓸까?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쓰겠다 / 쓰지 않겠다 / 잘 모르겠다 — 하나를 고르고 이유를 나눕니다.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자신의 선택과 이유를 한 문장으로 적습니다.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짝과 1분씩 이야기합니다.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앞 슬라이드의 세 질문 중 내 선택에 가장 영향을 준 질문을 고릅니다.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나의 선택과 영향을 준 질문 1개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11절 WLC를 위한 엔딩산업 지도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영역별로 알아야 할 것과 연결할 곳</a:t>
            </a:r>
            <a:endParaRPr lang="en-US" sz="2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634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영역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WLC가 알아야 할 것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전문 연계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돌봄·요양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공적제도와 사적서비스 구분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사회복지사·케어매니저·의료진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호스피스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이용대상과 접근경로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호스피스 전문기관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상조·장례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계약·추가비용·소비자보호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공정위·소비자기관·장례지도사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장묘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법적 허용범위와 시설정보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e하늘·지자체·장사시설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재산·법률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교육정보와 개별자문 구분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변호사·공증인·세무사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생전·유품정리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정리와 처분·개인정보 문제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전문 정리업체·법률·폐기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디지털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플랫폼별 정책 차이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플랫폼·법률·IT 전문가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애도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정상애도와 위험신호 구분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정신건강 전문가·애도상담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교육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대상별 교육설계와 윤리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WLC·평생교육·학교·복지기관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12절 윤리적 위험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엔딩산업이 커질수록 커지는 위험</a:t>
            </a:r>
            <a:endParaRPr lang="en-US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6344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위험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문제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대응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공포 마케팅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질병·고독사·장례비 부담을 과도하게 강조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두려움을 행동강요 수단으로 쓰지 않는다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정보비대칭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가격·구성·계약 조건이 복잡함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공식정보와 계약서를 직접 확인하게 돕는다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묶음판매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필요 없는 서비스까지 패키지화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필요한 것/원하지 않는 것을 구분하게 한다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이해충돌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교육자가 동시에 판매자일 수 있음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교육과 판매를 분리하고 이해관계를 공개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취약상태 이용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사별 직후 가족의 급한 결정을 이용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결정 유예가 가능한 부분과 즉시 필요한 부분 구분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기술 과신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AI가 애도를 “해결”한다고 광고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기술의 한계와 심리적 영향을 함께 검토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13절 WLC의 정체성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엔딩산업 속에서 WLC는 누구인가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5564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문화 번역자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새로운 장례·돌봄·추모 문화를 쉬운 말로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98338" y="175564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의사결정 촉진자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장단점을 정리해 자기 가치로 선택하게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087917" y="175564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서비스 내비게이터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기관·전문가·공공서비스를 찾아 연결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548640" y="400050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422910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37174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20166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가족대화 퍼실리테이터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상충하는 가치와 부담을 안전하게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4338218" y="400050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566818" y="422910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65" y="437174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298338" y="420166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교육자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판매와 분리된 중립적 웰다잉 교육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8127797" y="400050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8356397" y="422910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043" y="4371746"/>
            <a:ext cx="263347" cy="26334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087917" y="420166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윤리적 경계 관리자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자신의 이해관계와 역할한계를 분명히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17절 앞으로의 변화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엔딩산업은 이렇게 달라질 것이다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가족 대행형 → 생전설계형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 본인이 미리 선택한다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075688"/>
            <a:ext cx="1040861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장례식 중심 → 생애말기 전 과정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 돌봄·의료·주거·재산·정리·추모까지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606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2578608"/>
            <a:ext cx="1040861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획일적 의례 → 개인화된 추모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 가족장·소규모 장례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108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081528"/>
            <a:ext cx="1040861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오프라인 → 디지털 결합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 디지털 부고·온라인 추모·아카이빙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611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3584448"/>
            <a:ext cx="1040861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사후정리 → 생전정리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 유품·디지털 유산 관리의 중요성 확대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114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087368"/>
            <a:ext cx="1040861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상업서비스 + 공공영역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 공영장례·지역돌봄·고독사 예방의 확대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617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70432" y="4590288"/>
            <a:ext cx="1040861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소비자 보호 필요 증가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 가격·품질·계약·개인정보·AI 윤리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WLC의 미래역량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무엇이 공식제도이고, 무엇이 민간상품이며, 무엇이 아직 법·윤리가 정리되지 않은 영역인지 구분하는 힘.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공식 데스카페는 비영리·비지시적 — 교육모임과 구분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펫로스는 박탈된 애도, 관계로 상실을 재지 않는다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공포 마케팅·정보비대칭 앞에서 중립을 지킨다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3교시 — 선택을 돕는 WLC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3교시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선택을 돕는 WLC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필요를 나누고, 정보를 확인하고, 스스로 선택하도록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실습 1 나의 지역 엔딩서비스 자원지도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실습 2 서비스 선택 코칭 롤플레이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실습 3 죽음대화 모임 설계 · 퀴즈 · 예고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14절 실습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나의 지역 엔딩서비스 자원지도</a:t>
            </a:r>
            <a:endParaRPr lang="en-US" sz="2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3108960"/>
                <a:gridCol w="21031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영역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기관·전문가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연락·확인 경로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비고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보건소·지역돌봄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호스피스·완화의료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정신건강복지센터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상조·장례식장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화장·봉안·자연장 시설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공영장례·무연고 지원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유품·생전정리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법률·공증·세무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애도상담·자조모임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15절 실습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서비스 선택 코칭 — 여섯 단계 질문</a:t>
            </a:r>
            <a:endParaRPr lang="en-US" sz="2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5256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코칭 단계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질문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가치 확인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“자녀에게 부담을 주기 싫다는 말에서 가장 중요한 것은 비용, 결정, 돌봄 중 무엇인가요?”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필요 분리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“장례·장묘·의료·돌봄·문서정리 중 지금 가장 먼저 정리하고 싶은 것은요?”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정보 확인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“포함되는 것과 별도비용인 것을 구분해 보셨나요?”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 공유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“자녀에게 계약 내용과 원하는 장례방식을 알려 둘 생각이 있으신가요?”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전문 연결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“법률·재무·장례시설과 관련해 따로 확인할 부분은 무엇인가요?”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결정 지원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“오늘 당장 계약할 것과 조금 더 비교해도 되는 것을 나눠 볼까요?”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롤플레이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70대 부부의 선택을 돕기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“자녀에게 부담 주기 싫어서, 상조랑 봉안까지 한 번에 하려고요. 뭘 골라야 할지 모르겠어요.”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3인 1조: 부부 역할(1명이 해도 됨) · WLC · 관찰자를 정합니다.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WLC는 여섯 단계 질문으로 5분간 대화합니다.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관찰자는 “상품을 추천했는지”, “결정을 서두르게 했는지”를 체크합니다.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역할을 바꿔 한 번 더 진행합니다.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12분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3인 1조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“오늘 할 것 / 더 비교할 것” 구분표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15절 코칭 핵심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목표는 계약 성사가 아니다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필요를 나누고, 정보비대칭을 줄이고,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내담자가 자기 기준으로 선택하도록 돕는 것.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필요 분해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“부담”을 비용·결정·돌봄으로 나눕니다.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정보 확인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포함·별도 비용을 구분하고 공식정보를 봅니다.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결정 유예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오늘 할 것과 더 비교할 것을 나눕니다.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16절 실습 3 · 조별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죽음대화 모임 설계 (공식 데스카페 명칭 사용 안 함)</a:t>
            </a:r>
            <a:endParaRPr lang="en-US" sz="2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9611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항목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기획 가이드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프로그램명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예: 웰다잉 대화살롱 / 삶과 죽음 이야기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대상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연령·상황·장소를 구체적으로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목적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죽음 공포 해소보다 삶·관계·가치 성찰에 초점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시간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60~90분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공간원칙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안전·비밀·비판단·말하지 않을 권리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대화질문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“죽음을 생각할 때 먼저 떠오르는 것은?” “남은 삶에서 더 하고 싶은 것은?”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금지사항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상품홍보, 특정 종교 강요, 경험 공개 강요, 치료·상담 대체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위기연계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강한 위기반응이 있을 때 연결할 지역기관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조별 발표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우리 조의 죽음대화 모임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한 조당 1분 — 프로그램명, 첫 대화질문, 금지사항 하나를 발표합니다.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프로그램명과 대상을 소개합니다.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첫 대화질문을 직접 던져 봅니다.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다른 조는 “데스카페 원칙과 구분된 점”을 하나 찾아 말해 줍니다.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조별 1분 발표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피드백 받은 모임 기획안 1장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OX 퀵퀴즈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맞으면 O, 틀리면 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165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116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55448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“엔딩산업”은 국가 공식 산업분류 명칭이다.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7228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228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6372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372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7089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6608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9660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70891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2026년 3월 선불식 할부거래 계약자 1,131만 명은 모두 상조 가입자이다.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7228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228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6372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372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8633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12051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1205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386334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교육 목적의 WLC 모임은 “데스카페”가 아닌 다른 이름을 쓰는 것이 원칙에 맞다.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228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228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6372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372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48640" y="50177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27494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2749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501777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WLC는 사별 직후 가족이 결정 유예가 가능한 부분과 즉시 필요한 부분을 구분하도록 돕는다.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7228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228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06372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372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선불식 할부거래 계약자 수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공정거래위원회 자료에 따른 2026년 3월 말 선불식 할부거래업 계약자 수는?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960만 명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1,051만 명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1,131만 명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1,300만 명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통계를 해석하는 태도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위 통계를 해석하는 태도로 가장 적절한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모두 상조 가입자로 본다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적립식 여행상품 등을 포함한 업권 전체 통계로 이해한다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가입자가 많으므로 상조 가입을 권한다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선수금이 많으므로 안전하다고 안내한다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데스카페의 원칙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공식 Death Cafe의 원칙에 해당하지 않는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비영리로 운영한다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존중받는 공간을 지향한다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참가자를 특정 상품이나 결론으로 안내한다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차와 음식을 나눈다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4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펫로스와 박탈된 애도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펫로스를 “박탈된 애도”로 보는 이유는?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반려동물의 수명이 짧기 때문에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사회적으로 충분히 인정받지 못하는 상실이기 때문에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법적 장례 절차가 없기 때문에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애도 기간이 짧기 때문에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5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상조상품 점검과 WLC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상조상품 점검을 도울 때 WLC의 태도로 옳은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가장 저렴한 상품을 골라 준다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제휴 업체 상품을 소개한다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해약 환급기준·선수금 보전 등 점검 항목을 안내하고 선택은 당사자가 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가입 여부를 대신 결정한다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정답과 해설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퀴즈 정답 확인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교육을 위한 통합 개념, 공식 분류 아님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적립식 여행상품 등 포함한 업권 전체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O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공식 가이드는 교육·홍보 목적 운영을 권하지 않음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O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취약상태 이용 위험에 대한 대응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33008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5888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93128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016088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1,131만 명 (선수금 11조 3,544억 원)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33008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15888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2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93128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②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016088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업권 전체 통계로 이해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233008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15888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3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93128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016088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결론·상품으로 유도하지 않음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33008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15888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93128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②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8016088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사회적으로 인정받지 못하는 상실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18절 학습점검 · 복습 과제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서술형으로 정리해 보세요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타나톨로지와 엔딩산업의 차이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엔딩산업을 “생태계”로 이해하는 이유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2026.3 선불식 할부거래 규모와 해석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상조상품 점검 항목 네 가지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화장 중심 전환이 장묘 선택에 미친 영향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데스카페 원칙과 WLC 교육행사의 구분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펫로스를 박탈된 애도로 설명하기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디지털·AI 추모의 윤리적 질문 세 가지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233008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3008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상업화의 윤리적 위험 세 가지와 대응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33008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33008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4800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WLC가 “문화 번역자이자 통합 코디네이터”인 이유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19절 핵심정리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제4강에서 꼭 기억할 여섯 문장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엔딩산업은 장례산업보다 넓다.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돌봄부터 애도·교육까지 연결된 생태계다.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6982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698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34238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선불식 할부거래는 대규모 시장이다.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그러나 성장이 개별 서비스의 적합성을 보장하지 않는다.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13944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39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11200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장례문화는 화장 중심에서 더 다양해진다.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봉안·자연장·산분·공영장례·디지털 추모.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88162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공공과 민간을 함께 본다.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여건과 관계없이 존엄한 마무리에 접근하도록.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7868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67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65124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데스카페는 상품·교육·상담이 아니다.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비영리·비지시적 죽음대화를 존중한다.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4483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483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54208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WLC는 판매자가 아니라 안내자다.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정보를 번역하고 선택을 돕고 연결한다.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20절 WLC 코치 노트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현장에서 기억할 일곱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서비스보다 사람을 먼저 본다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시장통계를 권위로 쓰지 않는다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공식정보를 우선한다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가격과 계약을 분리해 본다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4800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데스카페를 마케팅에 쓰지 않는다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새로운 상실을 가볍게 여기지 않는다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기술을 인간관계보다 앞세우지 않는다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이번 주 과제와 실천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시간까지 해 올 세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e하늘에서 확인하기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우리 지역 장사시설 1곳의 위치와 가격 정보를 찾아 자원지도에 적습니다.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우리 집 계약 점검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상조 계약이 있다면 8가지 질문으로 점검하고, 없다면 장례에 대한 바람 한 문장을 가족과 나눕니다.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6397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대화질문 다듬기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조별 모임 기획안의 대화질문 3개를 내 말로 다듬어 옵니다.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9A8"/>
                </a:solidFill>
              </a:rPr>
              <a:t>제4강의 마지막 질문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03120"/>
            <a:ext cx="101800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“엔딩서비스가 아무리 많아져도,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그 선택의 중심에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‘그 사람의 삶’이 남아 있는가?”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80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서비스를 고르는 일이 아니라, 삶을 지키는 일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다음 회차 예고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시간에 만날 이야기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937760" cy="4572000"/>
          </a:xfrm>
          <a:prstGeom prst="roundRect">
            <a:avLst>
              <a:gd name="adj" fmla="val 2400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B9A8"/>
                </a:solidFill>
              </a:rPr>
              <a:t>다음 시간  ·  제5강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일본 슈카츠와 세계의 웰다잉 문화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4904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FB9A8"/>
                </a:solidFill>
              </a:rPr>
              <a:t>다음 질문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“일본의 슈카츠는 왜 하나의 사회문화와 산업이 되었고, 한국은 무엇을 배울 수 있는가?”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554480"/>
            <a:ext cx="5882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</a:rPr>
              <a:t>이런 내용을 다룹니다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2029968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011680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일본 초고령사회와 슈카츠(終活)의 확산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760720" y="2606040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587752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엔딩노트·생전정리·유품정리·사후사무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760720" y="3182112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163824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지자체의 종활정보 등록과 사후지원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760720" y="3758184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739896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묘지 계승·개장·무연묘와 한국의 장묘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760720" y="4334256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4315968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스웨덴 데스클리닝·싱가포르 ACP·미국 호스피스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760720" y="5029200"/>
            <a:ext cx="5882335" cy="1097280"/>
          </a:xfrm>
          <a:prstGeom prst="roundRect">
            <a:avLst>
              <a:gd name="adj" fmla="val 10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5257800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246" y="5400446"/>
            <a:ext cx="263347" cy="263347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675120" y="5074920"/>
            <a:ext cx="4785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미리 읽기: 교재 제5장  ·  가져올 것: 엔딩서비스 자원지도, 3강 엔딩노트 “나의 삶” 한 쪽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KR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erif KR Blac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WLC 2급 제4강 웰다잉 문화와 엔딩산업의 확장</dc:title>
  <dc:subject>PptxGenJS Presentation</dc:subject>
  <dc:creator>삶잇다협동조합</dc:creator>
  <cp:lastModifiedBy>삶잇다협동조합</cp:lastModifiedBy>
  <cp:revision>1</cp:revision>
  <dcterms:created xsi:type="dcterms:W3CDTF">2026-10-29T23:51:29Z</dcterms:created>
  <dcterms:modified xsi:type="dcterms:W3CDTF">2026-10-29T23:51:29Z</dcterms:modified>
</cp:coreProperties>
</file>